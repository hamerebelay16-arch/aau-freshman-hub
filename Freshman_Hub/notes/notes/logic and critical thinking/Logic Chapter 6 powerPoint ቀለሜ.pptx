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CE20C2"/>
    <a:srgbClr val="0066FF"/>
    <a:srgbClr val="00421E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Chapter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Four</a:t>
            </a:r>
          </a:p>
          <a:p>
            <a:pPr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4.1. Proposition 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4.1.1.Categorical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proposition</a:t>
            </a:r>
          </a:p>
          <a:p>
            <a:pPr algn="ctr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Category: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group, collection, or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 of similar things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Proposition: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refers to statement. A declarative sentence that can be evaluated as either true or false.</a:t>
            </a:r>
          </a:p>
          <a:p>
            <a:pPr lvl="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Categorical proposition: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simple statement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 expresses relation of two classes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asserting that one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either totally or partially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included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excluded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another class.</a:t>
            </a:r>
          </a:p>
          <a:p>
            <a:pPr lvl="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Any categorical proposition has two terms: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subject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term and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predicate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term.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 fontScale="92500"/>
          </a:bodyPr>
          <a:lstStyle/>
          <a:p>
            <a:pPr algn="ctr"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4.1. Components and Standard Forms of Categorical Proposition</a:t>
            </a:r>
            <a:endParaRPr lang="en-US" sz="24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A. Components</a:t>
            </a:r>
            <a:endParaRPr lang="en-US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Every CP, if it is stated in standard from,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has exactly four distinct components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These are: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Quantifier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“All”, “No” or “Some”. Note that “some” in logic refers to at least one.</a:t>
            </a: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Subject term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term which is stated by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referring to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other class 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(predicate).</a:t>
            </a: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Copula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term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that connects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subject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predicate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term.</a:t>
            </a: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Predicate term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term that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serve as a reference for the subject term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09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1. All human beings are mortal.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2. Some birds are mammals.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1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example;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Quantifier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All,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subject 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human beings,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Copula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are;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Predicate 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mortal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2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example: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Quantifier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=some;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Subject 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birds;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Copula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are; and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Predicate 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 mammals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Correct order of categorical proposition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5410200"/>
          <a:ext cx="7620000" cy="701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620000"/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>
                          <a:latin typeface="Times New Roman" pitchFamily="18" charset="0"/>
                          <a:cs typeface="Times New Roman" pitchFamily="18" charset="0"/>
                        </a:rPr>
                        <a:t>Quantifier            subject term            copula              predicate term</a:t>
                      </a:r>
                    </a:p>
                    <a:p>
                      <a:r>
                        <a:rPr lang="en-US" sz="2000" dirty="0" smtClean="0"/>
                        <a:t>   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1981200" y="5638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486400" y="5638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962400" y="5638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10600" cy="63246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B. Standard Forms</a:t>
            </a:r>
            <a:endParaRPr lang="en-US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Forms are designed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based on the rules of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partial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whole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inclusion or exclusion.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1. The whole ST is included in the PT.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2. The whole ST is excluded from PT.</a:t>
            </a:r>
          </a:p>
          <a:p>
            <a:pPr lvl="0">
              <a:lnSpc>
                <a:spcPct val="150000"/>
              </a:lnSpc>
              <a:buNone/>
            </a:pPr>
            <a:r>
              <a:rPr lang="en-US" dirty="0" smtClean="0"/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Partially, the ST is included in the PT.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4. Partially, ST is excluded from the PT.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above forms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have the following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symbolic representations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S are P                   all members of S are in P.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S are p                   No members of S are in P.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S are p.             at least one member of S is in P class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S are not p.       at least one member of S is not in P class.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Note: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form ‘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 S are not 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 is </a:t>
            </a:r>
            <a:r>
              <a:rPr lang="en-US" sz="24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not a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standard form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This form is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ambiguous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can be rendered as either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‘‘No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’’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‘‘Some </a:t>
            </a:r>
            <a:r>
              <a:rPr lang="en-US" sz="2400" i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sz="2400" i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,’’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depending on the content.</a:t>
            </a:r>
          </a:p>
          <a:p>
            <a:pPr lvl="0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exactly three forms of quantifiers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two forms of copulas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‘‘are’’ and ‘‘are not.’’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209800" y="1447800"/>
            <a:ext cx="978408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286000" y="2057400"/>
            <a:ext cx="978408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2438400" y="2667000"/>
            <a:ext cx="8382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2971800" y="3276600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7700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Other texts allow the various forms of the verb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‘‘to be’’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(such as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‘‘is,’’ ‘‘is not,’’ ‘‘will,’’ and ‘‘will not’’)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serve as the copula.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sake of uniformity, we are restricted on the above two copula.	</a:t>
            </a:r>
          </a:p>
          <a:p>
            <a:pPr lvl="1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4.2 Quality, quantity and distribution</a:t>
            </a:r>
            <a:endParaRPr lang="en-US" sz="2400" dirty="0" smtClean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Quality and quantity are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attributes of categorical propositions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order to see how these attributes pertain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it is useful to rephrase the meaning of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categorical propositions in class terminology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pPr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/>
          </a:bodyPr>
          <a:lstStyle/>
          <a:p>
            <a:pPr lvl="0" algn="just">
              <a:buNone/>
            </a:pPr>
            <a:r>
              <a:rPr lang="en-US" b="1" dirty="0" smtClean="0"/>
              <a:t>	</a:t>
            </a:r>
            <a:r>
              <a:rPr lang="en-US" sz="2400" b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A. Quality: </a:t>
            </a:r>
            <a:endParaRPr lang="en-US" sz="2400" dirty="0" smtClean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quality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a categorical proposition is either affirmative or negative depending on whether it affirms or denies class membership.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Affirmative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ST is partially or entirely included in the PT</a:t>
            </a:r>
          </a:p>
          <a:p>
            <a:pPr lvl="0"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ii. 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Negative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ST is partially or entirely excluded from the PT.</a:t>
            </a: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‘‘All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and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‘‘Some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have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affirmative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quality, and ‘‘No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		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and</a:t>
            </a: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	 ‘‘Some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have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negative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quality.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B. Quantity:</a:t>
            </a:r>
            <a:endParaRPr lang="en-US" sz="2400" dirty="0" smtClean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 be either universal or particular.</a:t>
            </a:r>
          </a:p>
          <a:p>
            <a:pPr lvl="0" algn="just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I. </a:t>
            </a: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Universal: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full inclusion or exclusion of ST from the PT</a:t>
            </a:r>
          </a:p>
          <a:p>
            <a:pPr lvl="0" algn="just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II.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Particular: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partial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inclusion or exclusion of ST from the PT</a:t>
            </a:r>
          </a:p>
          <a:p>
            <a:pPr algn="just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‘‘All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and ‘‘No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each assert something about        every member of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and thus are </a:t>
            </a: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universal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‘‘Some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and ‘‘Some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 not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’’ assert something about one or more members of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and hence are 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particular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But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categorical propositions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have no ‘‘qualifier.’’ 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universal propositions,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quality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determined by 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quantifier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in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particular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propositions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determined by the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copula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N.B: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 letters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that represent 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four forms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categorical proposition: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A, E, I &amp; 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universal affirmative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called 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proposition, the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universal negative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proposition, 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particular affirmative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proposition, and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the particular negative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proposition.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C. Distribution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an attribute of terms (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subject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predicate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unlike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quality and quantity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which are attributes of proposition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term is said to be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distributed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if it is stated without ambiguity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(when it asserts all of its members).</a:t>
            </a: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term is said to be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undistributed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if it doesn’t state the class of things in it.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82000" cy="264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0220"/>
                <a:gridCol w="830580"/>
                <a:gridCol w="1295400"/>
                <a:gridCol w="1371600"/>
                <a:gridCol w="1371600"/>
                <a:gridCol w="1752600"/>
              </a:tblGrid>
              <a:tr h="457200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Standard from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Letter name 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Quantity 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Quality 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 smtClean="0">
                          <a:latin typeface="Times New Roman"/>
                          <a:ea typeface="Times New Roman"/>
                        </a:rPr>
                        <a:t>Distribution 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>
                          <a:latin typeface="Times New Roman"/>
                          <a:ea typeface="Times New Roman"/>
                        </a:rPr>
                        <a:t>Term distributed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Term Undistributed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All S are 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Universal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Affirmative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b="1">
                          <a:latin typeface="Times New Roman"/>
                          <a:ea typeface="Times New Roman"/>
                        </a:rPr>
                        <a:t>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</a:t>
                      </a: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No S are 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Universal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Negative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S &amp; 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--------</a:t>
                      </a: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Some S are 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Particular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Affirmative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------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 &amp; P</a:t>
                      </a: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Some S </a:t>
                      </a:r>
                      <a:r>
                        <a:rPr lang="en-US" sz="2000" dirty="0" err="1" smtClean="0">
                          <a:latin typeface="Times New Roman"/>
                          <a:ea typeface="Times New Roman"/>
                        </a:rPr>
                        <a:t>are’t</a:t>
                      </a:r>
                      <a:r>
                        <a:rPr lang="en-US" sz="2000" dirty="0" smtClean="0">
                          <a:latin typeface="Times New Roman"/>
                          <a:ea typeface="Times New Roman"/>
                        </a:rPr>
                        <a:t>  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Particular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Negative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>
            <a:noAutofit/>
          </a:bodyPr>
          <a:lstStyle/>
          <a:p>
            <a:pPr lvl="1" algn="just">
              <a:lnSpc>
                <a:spcPct val="170000"/>
              </a:lnSpc>
              <a:buNone/>
            </a:pPr>
            <a:r>
              <a:rPr lang="en-US" sz="2400" b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4.3 Interpretation of categorical propositions</a:t>
            </a:r>
            <a:endParaRPr lang="en-US" sz="2400" dirty="0" smtClean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Two types of interpretations: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Aristotelian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Boolean.</a:t>
            </a:r>
          </a:p>
          <a:p>
            <a:pPr lvl="2" algn="just">
              <a:lnSpc>
                <a:spcPct val="17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two interpretations </a:t>
            </a:r>
            <a:r>
              <a:rPr lang="en-US" sz="20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vary only in connection </a:t>
            </a:r>
            <a:r>
              <a:rPr lang="en-US" sz="2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with universal categorical propositions.	</a:t>
            </a:r>
          </a:p>
          <a:p>
            <a:pPr lvl="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All S are P - 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members of S are included in 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asserts that all members of S actually exist. (Aristotelian Interpretation)</a:t>
            </a:r>
          </a:p>
          <a:p>
            <a:pPr lvl="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 S are P - </a:t>
            </a:r>
            <a:r>
              <a:rPr lang="en-US" sz="20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no members of S are included in 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members of S are  actually exist. (Aristotelian interpretation)</a:t>
            </a:r>
          </a:p>
          <a:p>
            <a:pPr lvl="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Boole is neutral about existence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He stated universal categorical propositions </a:t>
            </a:r>
            <a:r>
              <a:rPr lang="en-US" sz="2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like Aristotle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but for </a:t>
            </a:r>
            <a:r>
              <a:rPr lang="en-US" sz="20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Boole it is not assumed that members of </a:t>
            </a:r>
            <a:r>
              <a:rPr lang="en-US" sz="2000" i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actually exist.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324600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However, 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interpretations are the same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 compatible with regard to particular propositions.</a:t>
            </a:r>
          </a:p>
          <a:p>
            <a:pPr lvl="0" algn="just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Since,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therefore Boolean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neutral about existence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is simple than Aristotelian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So our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focus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on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Boolean interpretation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r>
              <a:rPr lang="en-US" b="1" dirty="0" smtClean="0"/>
              <a:t>	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Boolean Interpretation: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S are P = No members of S are outside p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S are P = No members of S are inside P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S are P = at least one S exists and that S is p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S are not  P = at least one S exists and that S is not P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228600" y="228600"/>
            <a:ext cx="8610600" cy="6324600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  <a:buNone/>
            </a:pP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4.3.1 Venn Diagram and Square of Opposition </a:t>
            </a:r>
            <a:endParaRPr lang="en-US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Venn diagram: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arrangement of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overlapping circles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which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each circle represents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class denoted by a term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in a categorical proposition.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Since a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categorical proposition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has two terms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Venn diagram has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two overlapping circles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Conventionally, the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 circle represents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second circle represents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4495800"/>
            <a:ext cx="2590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10600" cy="624840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use two marks: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shading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(refers to empty) and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 marking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(refers to something.)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Shading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for universals and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marking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for particulars.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4.3.3.1 Modern Square of Opposition (MSO)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the above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Venn-diagrams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 &amp; O are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contradictory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also E &amp; I.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MSO is a diagram that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shows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relationship of contradictory propositions.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			         A                       E</a:t>
            </a:r>
          </a:p>
          <a:p>
            <a:pPr>
              <a:lnSpc>
                <a:spcPct val="150000"/>
              </a:lnSpc>
              <a:buNone/>
            </a:pPr>
            <a:endParaRPr lang="en-US" sz="2400" dirty="0" smtClean="0"/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			           I                      O</a:t>
            </a:r>
          </a:p>
          <a:p>
            <a:pPr>
              <a:lnSpc>
                <a:spcPct val="150000"/>
              </a:lnSpc>
              <a:buNone/>
            </a:pPr>
            <a:endParaRPr lang="en-US" sz="2400" dirty="0" smtClean="0"/>
          </a:p>
          <a:p>
            <a:pPr>
              <a:lnSpc>
                <a:spcPct val="150000"/>
              </a:lnSpc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71800" y="4724400"/>
            <a:ext cx="14478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971800" y="4724400"/>
            <a:ext cx="14478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2971800" y="4724400"/>
            <a:ext cx="14478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10600" cy="6400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Immediate Inference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proposition having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one premise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drawn from this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single premise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 MSO, if we know the truth value of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“A” is true, “O” is false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vice versa.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“E” is true, “I” is false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vice versa</a:t>
            </a:r>
          </a:p>
          <a:p>
            <a:pPr lvl="1">
              <a:lnSpc>
                <a:spcPct val="150000"/>
              </a:lnSpc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Venn diagram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used to test immediate inference as </a:t>
            </a:r>
            <a:r>
              <a:rPr lang="en-US" sz="2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valid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invalid.</a:t>
            </a:r>
          </a:p>
          <a:p>
            <a:pPr lvl="1"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Valid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if information </a:t>
            </a:r>
            <a:r>
              <a:rPr lang="en-US" sz="20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expressed by the conclusion is presented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premise. If not,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invalid.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324600"/>
          </a:xfrm>
        </p:spPr>
        <p:txBody>
          <a:bodyPr/>
          <a:lstStyle/>
          <a:p>
            <a:pPr lvl="2">
              <a:buNone/>
            </a:pP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4.3.1.2 Traditional Square of Opposition</a:t>
            </a:r>
            <a:endParaRPr lang="en-US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Depends on </a:t>
            </a:r>
            <a:r>
              <a:rPr lang="en-US" sz="24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Aristotelian Interpretation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 square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 oppositions: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Contradictory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contrary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Sub-contrary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Sub-alternation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			A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contrary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E		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			                        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			I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Subcontrary</a:t>
            </a:r>
            <a:r>
              <a:rPr lang="en-US" dirty="0" smtClean="0"/>
              <a:t>	    O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3200" y="3886200"/>
            <a:ext cx="1524000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743200" y="3886200"/>
            <a:ext cx="1524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2743200" y="3886200"/>
            <a:ext cx="152400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4382294" y="4456906"/>
            <a:ext cx="1295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3962400" y="4419600"/>
            <a:ext cx="1371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1829594" y="4419600"/>
            <a:ext cx="106600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1447800" y="44196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248400"/>
          </a:xfrm>
        </p:spPr>
        <p:txBody>
          <a:bodyPr/>
          <a:lstStyle/>
          <a:p>
            <a:pPr lvl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A. Contradictory:</a:t>
            </a:r>
            <a:endParaRPr lang="en-US" sz="2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same as we discussed under section of Modern Square of Opposition.</a:t>
            </a:r>
          </a:p>
          <a:p>
            <a:pPr lvl="0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B. Contrary:</a:t>
            </a:r>
            <a:endParaRPr lang="en-US" sz="2400" dirty="0" smtClean="0">
              <a:solidFill>
                <a:srgbClr val="CE20C2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Top linear square between A &amp; E.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have the same quantity but different quality.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So, it is partial opposition.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can be false at the same times but not true.</a:t>
            </a:r>
          </a:p>
          <a:p>
            <a:pPr lvl="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Either of the two should be false if no fallacy of illicit contrary will be committed.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dirty="0" smtClean="0"/>
              <a:t>	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So, if A true, E is false.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If E true, A False                  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Valid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But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/>
          </a:p>
          <a:p>
            <a:pPr lvl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If A is false, E is undetermined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If E  is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fasle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E is undermined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      </a:t>
            </a: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Invalid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--------- illicit 						contrary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4419600" y="533400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5334000" y="2438400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172200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60000"/>
              </a:lnSpc>
              <a:buNone/>
            </a:pPr>
            <a:r>
              <a:rPr lang="en-US" sz="26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C. Sub-contrary</a:t>
            </a:r>
            <a:r>
              <a:rPr lang="en-US" sz="2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6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6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Partial relationship</a:t>
            </a:r>
          </a:p>
          <a:p>
            <a:pPr lvl="0">
              <a:lnSpc>
                <a:spcPct val="16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Bottom linear relationship between T &amp; O</a:t>
            </a:r>
          </a:p>
          <a:p>
            <a:pPr lvl="0">
              <a:lnSpc>
                <a:spcPct val="160000"/>
              </a:lnSpc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Different in quality but the same in quantity.</a:t>
            </a:r>
          </a:p>
          <a:p>
            <a:pPr lvl="0">
              <a:lnSpc>
                <a:spcPct val="160000"/>
              </a:lnSpc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Both can’t be false simultaneously. 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I is false_ O is true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O is false_ I is true       </a:t>
            </a:r>
            <a:r>
              <a:rPr lang="en-US" sz="2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valid/ no fallacy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I is true _O is undetermined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O is true _ I is undetermined      </a:t>
            </a:r>
            <a:r>
              <a:rPr lang="en-US" sz="26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invalid/fallacious----- 							illicit sub-contrary</a:t>
            </a:r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3581400" y="3581400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4572000" y="4953000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324600"/>
          </a:xfrm>
        </p:spPr>
        <p:txBody>
          <a:bodyPr>
            <a:normAutofit fontScale="92500" lnSpcReduction="20000"/>
          </a:bodyPr>
          <a:lstStyle/>
          <a:p>
            <a:pPr lvl="0">
              <a:buNone/>
            </a:pPr>
            <a:r>
              <a:rPr lang="en-US" sz="2400" b="1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D. Sub-alternation </a:t>
            </a:r>
            <a:endParaRPr lang="en-US" sz="2400" dirty="0" smtClean="0">
              <a:solidFill>
                <a:srgbClr val="0099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Vertical relationship.</a:t>
            </a:r>
          </a:p>
          <a:p>
            <a:pPr lvl="0"/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Same in quality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differ in quantity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Represented by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arrows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truth down arrow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the false up arrow.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dawn ward arrow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transmits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only true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up-ward arrow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only false.</a:t>
            </a:r>
          </a:p>
          <a:p>
            <a:pPr lvl="0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So:   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A is true _I is true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valid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E is true_ O is true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I is true _ A is false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valid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O is false _ E is false	Illicit 	Su alternation 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A is false _ I is undetermined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invalid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E is false _O is undetermined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I is true _ A is undetermined  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invalid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If O is true _E is undetermined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248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 that whenever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contrary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sub-contrary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sub-alteration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used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on propositions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about things that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do not actually exist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we commit </a:t>
            </a:r>
            <a:r>
              <a:rPr lang="en-US" sz="2400" b="1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existential fallacy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4.4 Conversion,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obversion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and contraposition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A. Conversion </a:t>
            </a: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Simplest of the three.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Interchanging the place of S &amp; P.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10600" cy="6400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Accordingly, by</a:t>
            </a:r>
            <a:r>
              <a:rPr lang="en-GB" sz="3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conversion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31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four propositions </a:t>
            </a:r>
            <a:r>
              <a:rPr lang="en-GB" sz="3100" dirty="0" smtClean="0">
                <a:latin typeface="Times New Roman" pitchFamily="18" charset="0"/>
                <a:cs typeface="Times New Roman" pitchFamily="18" charset="0"/>
              </a:rPr>
              <a:t>look like the following. </a:t>
            </a:r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b="1" dirty="0" smtClean="0"/>
          </a:p>
          <a:p>
            <a:pPr lvl="0"/>
            <a:endParaRPr lang="en-US" b="1" dirty="0" smtClean="0"/>
          </a:p>
          <a:p>
            <a:pPr lvl="0"/>
            <a:endParaRPr lang="en-US" b="1" dirty="0" smtClean="0"/>
          </a:p>
          <a:p>
            <a:pPr lvl="0"/>
            <a:endParaRPr lang="en-US" b="1" dirty="0" smtClean="0"/>
          </a:p>
          <a:p>
            <a:pPr lvl="0"/>
            <a:endParaRPr lang="en-US" b="1" dirty="0" smtClean="0"/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 &amp; I are </a:t>
            </a:r>
            <a:r>
              <a:rPr lang="en-US" sz="28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identical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conversion. </a:t>
            </a:r>
          </a:p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&amp; O are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illicit conversion.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Some men are people. -------- Some people are men. (T)</a:t>
            </a:r>
          </a:p>
          <a:p>
            <a:pPr>
              <a:buNone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	No men are eternal------ no eternal are men. (T)</a:t>
            </a:r>
          </a:p>
          <a:p>
            <a:pPr>
              <a:buNone/>
            </a:pPr>
            <a:r>
              <a:rPr lang="en-US" sz="2900" b="1" dirty="0" smtClean="0"/>
              <a:t> </a:t>
            </a:r>
            <a:endParaRPr lang="en-US" sz="2900" dirty="0" smtClean="0"/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1295400"/>
          <a:ext cx="7315200" cy="224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223"/>
                <a:gridCol w="2290338"/>
                <a:gridCol w="3303639"/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Times New Roman"/>
                          <a:ea typeface="Times New Roman"/>
                        </a:rPr>
                        <a:t>Letter Name 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Times New Roman"/>
                          <a:ea typeface="Times New Roman"/>
                        </a:rPr>
                        <a:t> Given Proposition 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Times New Roman"/>
                          <a:ea typeface="Times New Roman"/>
                        </a:rPr>
                        <a:t>New Statement </a:t>
                      </a:r>
                      <a:r>
                        <a:rPr lang="en-GB" sz="1800" b="1" dirty="0">
                          <a:latin typeface="Times New Roman"/>
                          <a:ea typeface="Times New Roman"/>
                        </a:rPr>
                        <a:t>by Conversion</a:t>
                      </a:r>
                      <a:endParaRPr lang="en-US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Times New Roman"/>
                          <a:ea typeface="Times New Roman"/>
                        </a:rPr>
                        <a:t>A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Times New Roman"/>
                          <a:ea typeface="Times New Roman"/>
                        </a:rPr>
                        <a:t>All S are P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All P are S 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E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No S are P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No P are 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I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Some S are P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Some P are S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latin typeface="Times New Roman"/>
                          <a:ea typeface="Times New Roman"/>
                        </a:rPr>
                        <a:t>O</a:t>
                      </a:r>
                      <a:endParaRPr lang="en-US" sz="20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Times New Roman"/>
                          <a:ea typeface="Times New Roman"/>
                        </a:rPr>
                        <a:t>Some S are not P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Times New Roman"/>
                          <a:ea typeface="Times New Roman"/>
                        </a:rPr>
                        <a:t>Some P are not S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534400" cy="6248400"/>
          </a:xfrm>
        </p:spPr>
        <p:txBody>
          <a:bodyPr/>
          <a:lstStyle/>
          <a:p>
            <a:pPr lvl="0">
              <a:buNone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2400" b="1" dirty="0" err="1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Obversion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change the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quality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replacing the predicate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its </a:t>
            </a:r>
            <a:r>
              <a:rPr lang="en-US" sz="24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complement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 that 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complement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refers to a </a:t>
            </a:r>
            <a:r>
              <a:rPr lang="en-US" sz="2400" dirty="0" smtClean="0">
                <a:solidFill>
                  <a:srgbClr val="CE20C2"/>
                </a:solidFill>
                <a:latin typeface="Times New Roman" pitchFamily="18" charset="0"/>
                <a:cs typeface="Times New Roman" pitchFamily="18" charset="0"/>
              </a:rPr>
              <a:t>group of anything outside that class.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complement of “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chairs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 is “</a:t>
            </a:r>
            <a:r>
              <a:rPr lang="en-US" sz="2400" dirty="0" smtClean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non -chairs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algn="just">
              <a:buNone/>
            </a:pP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Accordingly, when we apply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obversion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four propositions look like the following. Study the following tabular demonstration: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66800" y="42672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981200"/>
                <a:gridCol w="2895600"/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</a:rPr>
                        <a:t>Letter Name </a:t>
                      </a:r>
                      <a:endParaRPr lang="en-US" sz="14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</a:rPr>
                        <a:t>Given Proposition</a:t>
                      </a:r>
                      <a:endParaRPr lang="en-US" sz="14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dirty="0">
                          <a:latin typeface="Times New Roman"/>
                          <a:ea typeface="Times New Roman"/>
                        </a:rPr>
                        <a:t>New Statement </a:t>
                      </a:r>
                      <a:r>
                        <a:rPr lang="en-GB" sz="1400" b="1" dirty="0" smtClean="0">
                          <a:latin typeface="Times New Roman"/>
                          <a:ea typeface="Times New Roman"/>
                        </a:rPr>
                        <a:t>by </a:t>
                      </a:r>
                      <a:r>
                        <a:rPr lang="en-GB" sz="1400" b="1" dirty="0" err="1">
                          <a:latin typeface="Times New Roman"/>
                          <a:ea typeface="Times New Roman"/>
                        </a:rPr>
                        <a:t>Obversion</a:t>
                      </a:r>
                      <a:r>
                        <a:rPr lang="en-GB" sz="1400" b="1" dirty="0">
                          <a:latin typeface="Times New Roman"/>
                          <a:ea typeface="Times New Roman"/>
                        </a:rPr>
                        <a:t> </a:t>
                      </a:r>
                      <a:endParaRPr lang="en-US" sz="14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A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All S are P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No S are non-P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E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No S are P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All S are non -P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I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Some S are P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Some S are not non-P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>
                          <a:latin typeface="Times New Roman"/>
                          <a:ea typeface="Times New Roman"/>
                        </a:rPr>
                        <a:t>O</a:t>
                      </a:r>
                      <a:endParaRPr lang="en-US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Some S are not P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latin typeface="Times New Roman"/>
                          <a:ea typeface="Times New Roman"/>
                        </a:rPr>
                        <a:t>Some S are non-P</a:t>
                      </a:r>
                      <a:endParaRPr lang="en-US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534400" cy="63246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All categorical proposition forms have the same truth value 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obversion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So, no illicit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obversion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C. Contraposition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replacing the ST with the complement of the PT.</a:t>
            </a:r>
          </a:p>
          <a:p>
            <a:pPr lvl="2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replacing the PT with the complement of the ST.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Study the following table: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3962400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600200"/>
                <a:gridCol w="2971800"/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latin typeface="Times New Roman"/>
                          <a:ea typeface="Times New Roman"/>
                        </a:rPr>
                        <a:t>Letter Name </a:t>
                      </a:r>
                      <a:endParaRPr lang="en-US" sz="1200" b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latin typeface="Times New Roman"/>
                          <a:ea typeface="Times New Roman"/>
                        </a:rPr>
                        <a:t>Give Proposition</a:t>
                      </a:r>
                      <a:endParaRPr lang="en-US" sz="1200" b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</a:rPr>
                        <a:t>New Statement </a:t>
                      </a:r>
                      <a:r>
                        <a:rPr lang="en-GB" sz="1200" b="1" dirty="0" smtClean="0">
                          <a:latin typeface="Times New Roman"/>
                          <a:ea typeface="Times New Roman"/>
                        </a:rPr>
                        <a:t>by</a:t>
                      </a:r>
                      <a:r>
                        <a:rPr lang="en-US" sz="1200" b="1" baseline="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GB" sz="1200" b="1" dirty="0" smtClean="0">
                          <a:latin typeface="Times New Roman"/>
                          <a:ea typeface="Times New Roman"/>
                        </a:rPr>
                        <a:t>Contraposition  </a:t>
                      </a:r>
                      <a:endParaRPr lang="en-US" sz="12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A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All S are P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All non-P are non-S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latin typeface="Times New Roman"/>
                          <a:ea typeface="Times New Roman"/>
                        </a:rPr>
                        <a:t>E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No S are P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No non-P are non-S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I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Some S are P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Some non-P are non-S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O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>
                          <a:latin typeface="Times New Roman"/>
                          <a:ea typeface="Times New Roman"/>
                        </a:rPr>
                        <a:t>Some S are not P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>
                          <a:latin typeface="Times New Roman"/>
                          <a:ea typeface="Times New Roman"/>
                        </a:rPr>
                        <a:t>Some non-P are not non-S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10600" cy="6248400"/>
          </a:xfrm>
        </p:spPr>
        <p:txBody>
          <a:bodyPr/>
          <a:lstStyle/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From this we can see that A &amp; O have identical Venn diagram with their contrapositions.</a:t>
            </a:r>
          </a:p>
          <a:p>
            <a:pPr lvl="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 &amp; I are neither opposite nor identical. So, they are illicit in contraposition. 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1307</Words>
  <Application>Microsoft Office PowerPoint</Application>
  <PresentationFormat>On-screen Show (4:3)</PresentationFormat>
  <Paragraphs>284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sente</dc:creator>
  <cp:lastModifiedBy>Kebede</cp:lastModifiedBy>
  <cp:revision>138</cp:revision>
  <dcterms:created xsi:type="dcterms:W3CDTF">2006-08-16T00:00:00Z</dcterms:created>
  <dcterms:modified xsi:type="dcterms:W3CDTF">2019-03-26T18:26:58Z</dcterms:modified>
</cp:coreProperties>
</file>