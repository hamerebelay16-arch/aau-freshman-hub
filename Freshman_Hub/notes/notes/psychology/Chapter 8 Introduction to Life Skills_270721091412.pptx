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71" r:id="rId3"/>
    <p:sldId id="257" r:id="rId4"/>
    <p:sldId id="270" r:id="rId5"/>
    <p:sldId id="280" r:id="rId6"/>
    <p:sldId id="272" r:id="rId7"/>
    <p:sldId id="258" r:id="rId8"/>
    <p:sldId id="259" r:id="rId9"/>
    <p:sldId id="260" r:id="rId10"/>
    <p:sldId id="261" r:id="rId11"/>
    <p:sldId id="262" r:id="rId12"/>
    <p:sldId id="263" r:id="rId13"/>
    <p:sldId id="264" r:id="rId14"/>
    <p:sldId id="265" r:id="rId15"/>
    <p:sldId id="274" r:id="rId16"/>
    <p:sldId id="266" r:id="rId17"/>
    <p:sldId id="278" r:id="rId18"/>
    <p:sldId id="267" r:id="rId19"/>
    <p:sldId id="273" r:id="rId20"/>
    <p:sldId id="279"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B87277-4FB2-430C-B2FE-CC129C100454}" type="datetimeFigureOut">
              <a:rPr lang="en-US" smtClean="0"/>
              <a:pPr/>
              <a:t>1/23/2020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1D18D9-8FC9-4498-975A-29BBF980185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6C1AC54-F222-47D1-A6DE-F18E6F5069E2}" type="datetimeFigureOut">
              <a:rPr lang="en-US" smtClean="0"/>
              <a:pPr/>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C1AC54-F222-47D1-A6DE-F18E6F5069E2}" type="datetimeFigureOut">
              <a:rPr lang="en-US" smtClean="0"/>
              <a:pPr/>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1AC54-F222-47D1-A6DE-F18E6F5069E2}" type="datetimeFigureOut">
              <a:rPr lang="en-US" smtClean="0"/>
              <a:pPr/>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1AC54-F222-47D1-A6DE-F18E6F5069E2}" type="datetimeFigureOut">
              <a:rPr lang="en-US" smtClean="0"/>
              <a:pPr/>
              <a:t>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1AC54-F222-47D1-A6DE-F18E6F5069E2}" type="datetimeFigureOut">
              <a:rPr lang="en-US" smtClean="0"/>
              <a:pPr/>
              <a:t>1/23/2020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6C1AC54-F222-47D1-A6DE-F18E6F5069E2}" type="datetimeFigureOut">
              <a:rPr lang="en-US" smtClean="0"/>
              <a:pPr/>
              <a:t>1/23/2020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C1AC54-F222-47D1-A6DE-F18E6F5069E2}" type="datetimeFigureOut">
              <a:rPr lang="en-US" smtClean="0"/>
              <a:pPr/>
              <a:t>1/23/2020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C1AC54-F222-47D1-A6DE-F18E6F5069E2}" type="datetimeFigureOut">
              <a:rPr lang="en-US" smtClean="0"/>
              <a:pPr/>
              <a:t>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C1AC54-F222-47D1-A6DE-F18E6F5069E2}" type="datetimeFigureOut">
              <a:rPr lang="en-US" smtClean="0"/>
              <a:pPr/>
              <a:t>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C1AC54-F222-47D1-A6DE-F18E6F5069E2}" type="datetimeFigureOut">
              <a:rPr lang="en-US" smtClean="0"/>
              <a:pPr/>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C1AC54-F222-47D1-A6DE-F18E6F5069E2}" type="datetimeFigureOut">
              <a:rPr lang="en-US" smtClean="0"/>
              <a:pPr/>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D2E647-608F-40BC-BB6B-51863F34B8D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1AC54-F222-47D1-A6DE-F18E6F5069E2}" type="datetimeFigureOut">
              <a:rPr lang="en-US" smtClean="0"/>
              <a:pPr/>
              <a:t>1/23/2020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D2E647-608F-40BC-BB6B-51863F34B8D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917575"/>
          </a:xfrm>
        </p:spPr>
        <p:txBody>
          <a:bodyPr>
            <a:normAutofit/>
          </a:bodyPr>
          <a:lstStyle/>
          <a:p>
            <a:r>
              <a:rPr lang="en-US" b="1" dirty="0" smtClean="0"/>
              <a:t>CHAPTER EIGHT</a:t>
            </a:r>
            <a:endParaRPr lang="en-US" dirty="0"/>
          </a:p>
        </p:txBody>
      </p:sp>
      <p:sp>
        <p:nvSpPr>
          <p:cNvPr id="3" name="Subtitle 2"/>
          <p:cNvSpPr>
            <a:spLocks noGrp="1"/>
          </p:cNvSpPr>
          <p:nvPr>
            <p:ph type="subTitle" idx="1"/>
          </p:nvPr>
        </p:nvSpPr>
        <p:spPr>
          <a:xfrm>
            <a:off x="228600" y="3733800"/>
            <a:ext cx="8686800" cy="914400"/>
          </a:xfrm>
        </p:spPr>
        <p:txBody>
          <a:bodyPr>
            <a:normAutofit/>
          </a:bodyPr>
          <a:lstStyle/>
          <a:p>
            <a:r>
              <a:rPr lang="en-US" sz="4000" b="1" dirty="0" smtClean="0">
                <a:solidFill>
                  <a:schemeClr val="tx1"/>
                </a:solidFill>
              </a:rPr>
              <a:t>INTRODUCTION </a:t>
            </a:r>
            <a:r>
              <a:rPr lang="en-US" sz="4000" b="1" dirty="0">
                <a:solidFill>
                  <a:schemeClr val="tx1"/>
                </a:solidFill>
              </a:rPr>
              <a:t>TO LIFE SKILLS</a:t>
            </a:r>
            <a:r>
              <a:rPr lang="en-US" sz="4000" dirty="0" smtClean="0">
                <a:solidFill>
                  <a:schemeClr val="tx1"/>
                </a:solidFill>
              </a:rPr>
              <a:t> </a:t>
            </a:r>
            <a:endParaRPr lang="en-US" sz="40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pic>
        <p:nvPicPr>
          <p:cNvPr id="4" name="Picture 6" descr="Sch Couns 2"/>
          <p:cNvPicPr>
            <a:picLocks noGrp="1" noChangeAspect="1" noChangeArrowheads="1"/>
          </p:cNvPicPr>
          <p:nvPr>
            <p:ph idx="1"/>
          </p:nvPr>
        </p:nvPicPr>
        <p:blipFill>
          <a:blip r:embed="rId2"/>
          <a:srcRect l="21658" t="24652" r="-1016" b="4904"/>
          <a:stretch>
            <a:fillRect/>
          </a:stretch>
        </p:blipFill>
        <p:spPr bwMode="auto">
          <a:xfrm>
            <a:off x="609600" y="609600"/>
            <a:ext cx="8001000" cy="57150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a:t>8.1. Nature and Definition of Life </a:t>
            </a:r>
            <a:r>
              <a:rPr lang="en-US" b="1" dirty="0" smtClean="0"/>
              <a:t>skills</a:t>
            </a:r>
            <a:endParaRPr lang="en-US" dirty="0"/>
          </a:p>
        </p:txBody>
      </p:sp>
      <p:sp>
        <p:nvSpPr>
          <p:cNvPr id="3" name="Content Placeholder 2"/>
          <p:cNvSpPr>
            <a:spLocks noGrp="1"/>
          </p:cNvSpPr>
          <p:nvPr>
            <p:ph idx="1"/>
          </p:nvPr>
        </p:nvSpPr>
        <p:spPr>
          <a:xfrm>
            <a:off x="228600" y="1066800"/>
            <a:ext cx="8686800" cy="5486400"/>
          </a:xfrm>
        </p:spPr>
        <p:txBody>
          <a:bodyPr>
            <a:normAutofit fontScale="25000" lnSpcReduction="20000"/>
          </a:bodyPr>
          <a:lstStyle/>
          <a:p>
            <a:pPr>
              <a:buNone/>
            </a:pPr>
            <a:r>
              <a:rPr lang="en-US" sz="11200" i="1" dirty="0" smtClean="0">
                <a:latin typeface="Arial Narrow" pitchFamily="34" charset="0"/>
              </a:rPr>
              <a:t>Life skills are “abilities for adaptive and positive behavior that enable individuals to deal effectively with the demands and </a:t>
            </a:r>
            <a:r>
              <a:rPr lang="en-US" sz="11200" i="1" dirty="0" smtClean="0">
                <a:solidFill>
                  <a:srgbClr val="FF0000"/>
                </a:solidFill>
                <a:latin typeface="Arial Narrow" pitchFamily="34" charset="0"/>
              </a:rPr>
              <a:t>challenges of everyday life</a:t>
            </a:r>
            <a:r>
              <a:rPr lang="en-US" sz="11200" i="1" dirty="0" smtClean="0">
                <a:latin typeface="Arial Narrow" pitchFamily="34" charset="0"/>
              </a:rPr>
              <a:t>.” (WHO).</a:t>
            </a:r>
          </a:p>
          <a:p>
            <a:pPr>
              <a:buNone/>
            </a:pPr>
            <a:r>
              <a:rPr lang="en-US" sz="11200" i="1" dirty="0" smtClean="0">
                <a:latin typeface="Arial Narrow" pitchFamily="34" charset="0"/>
              </a:rPr>
              <a:t> It is also defined as “behavioral changes or behavioral development approach designed to address </a:t>
            </a:r>
            <a:r>
              <a:rPr lang="en-US" sz="11200" i="1" dirty="0" smtClean="0">
                <a:solidFill>
                  <a:srgbClr val="FF0000"/>
                </a:solidFill>
                <a:latin typeface="Arial Narrow" pitchFamily="34" charset="0"/>
              </a:rPr>
              <a:t>a balance of three areas</a:t>
            </a:r>
            <a:r>
              <a:rPr lang="en-US" sz="11200" i="1" dirty="0" smtClean="0">
                <a:latin typeface="Arial Narrow" pitchFamily="34" charset="0"/>
              </a:rPr>
              <a:t>: knowledge attitude and skills” (UNICEF).</a:t>
            </a:r>
          </a:p>
          <a:p>
            <a:pPr>
              <a:buNone/>
            </a:pPr>
            <a:r>
              <a:rPr lang="en-US" sz="11200" dirty="0" smtClean="0">
                <a:latin typeface="Arial Narrow" pitchFamily="34" charset="0"/>
              </a:rPr>
              <a:t>Life skills are tools at our hands that </a:t>
            </a:r>
            <a:r>
              <a:rPr lang="en-US" sz="11200" dirty="0" smtClean="0">
                <a:solidFill>
                  <a:srgbClr val="FF0000"/>
                </a:solidFill>
                <a:latin typeface="Arial Narrow" pitchFamily="34" charset="0"/>
              </a:rPr>
              <a:t>help us prevent, improve, and manage mind and behavior</a:t>
            </a:r>
            <a:r>
              <a:rPr lang="en-US" sz="11200" dirty="0" smtClean="0">
                <a:latin typeface="Arial Narrow" pitchFamily="34" charset="0"/>
              </a:rPr>
              <a:t> for effective psychological functioning.</a:t>
            </a:r>
            <a:endParaRPr lang="en-US" sz="11200" i="1" dirty="0" smtClean="0">
              <a:latin typeface="Arial Narrow" pitchFamily="34" charset="0"/>
            </a:endParaRPr>
          </a:p>
          <a:p>
            <a:pPr>
              <a:buNone/>
            </a:pPr>
            <a:r>
              <a:rPr lang="en-US" sz="11200" dirty="0" smtClean="0">
                <a:latin typeface="Arial Narrow" pitchFamily="34" charset="0"/>
              </a:rPr>
              <a:t>Life skills are essentially those abilities that help to promote </a:t>
            </a:r>
            <a:r>
              <a:rPr lang="en-US" sz="11200" dirty="0" smtClean="0">
                <a:solidFill>
                  <a:srgbClr val="FF0000"/>
                </a:solidFill>
                <a:latin typeface="Arial Narrow" pitchFamily="34" charset="0"/>
              </a:rPr>
              <a:t>mental well-being and competence </a:t>
            </a:r>
            <a:r>
              <a:rPr lang="en-US" sz="11200" dirty="0" smtClean="0">
                <a:latin typeface="Arial Narrow" pitchFamily="34" charset="0"/>
              </a:rPr>
              <a:t>in young people as they face the realities of life. </a:t>
            </a:r>
          </a:p>
          <a:p>
            <a:pPr>
              <a:buNone/>
            </a:pPr>
            <a:r>
              <a:rPr lang="en-US" sz="11200" dirty="0" smtClean="0">
                <a:latin typeface="Arial Narrow" pitchFamily="34" charset="0"/>
              </a:rPr>
              <a:t>Hence, students who are able to understand and use these skills, along with their educational qualifications, will be better placed to take advantage of educational &amp; employment opportunities. </a:t>
            </a:r>
            <a:r>
              <a:rPr lang="en-US" dirty="0" smtClean="0"/>
              <a:t/>
            </a:r>
            <a:br>
              <a:rPr lang="en-US" dirty="0" smtClean="0"/>
            </a:br>
            <a:endParaRPr lang="en-US" dirty="0" smtClean="0"/>
          </a:p>
          <a:p>
            <a:pPr>
              <a:buNone/>
            </a:pPr>
            <a:endParaRPr lang="en-US" dirty="0" smtClean="0"/>
          </a:p>
          <a:p>
            <a:pPr>
              <a:buNone/>
            </a:pPr>
            <a:r>
              <a:rPr lang="en-US" dirty="0" smtClean="0"/>
              <a:t/>
            </a:r>
            <a:br>
              <a:rPr lang="en-US" dirty="0" smtClean="0"/>
            </a:br>
            <a:r>
              <a:rPr lang="en-US" dirty="0" smtClean="0"/>
              <a:t> </a:t>
            </a:r>
            <a:br>
              <a:rPr lang="en-US" dirty="0" smtClean="0"/>
            </a:b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algn="l"/>
            <a:r>
              <a:rPr lang="en-US" b="1" dirty="0" smtClean="0"/>
              <a:t>8.2. </a:t>
            </a:r>
            <a:r>
              <a:rPr lang="en-US" b="1" dirty="0"/>
              <a:t>Goals of Life </a:t>
            </a:r>
            <a:r>
              <a:rPr lang="en-US" b="1" dirty="0" smtClean="0"/>
              <a:t>Skills</a:t>
            </a:r>
            <a:endParaRPr lang="en-US" dirty="0"/>
          </a:p>
        </p:txBody>
      </p:sp>
      <p:sp>
        <p:nvSpPr>
          <p:cNvPr id="3" name="Content Placeholder 2"/>
          <p:cNvSpPr>
            <a:spLocks noGrp="1"/>
          </p:cNvSpPr>
          <p:nvPr>
            <p:ph idx="1"/>
          </p:nvPr>
        </p:nvSpPr>
        <p:spPr>
          <a:xfrm>
            <a:off x="228600" y="990600"/>
            <a:ext cx="8686800" cy="5638800"/>
          </a:xfrm>
        </p:spPr>
        <p:txBody>
          <a:bodyPr>
            <a:normAutofit/>
          </a:bodyPr>
          <a:lstStyle/>
          <a:p>
            <a:r>
              <a:rPr lang="en-US" sz="2800" dirty="0" smtClean="0">
                <a:latin typeface="Arial Narrow" pitchFamily="34" charset="0"/>
              </a:rPr>
              <a:t>To </a:t>
            </a:r>
            <a:r>
              <a:rPr lang="en-US" sz="2800" dirty="0" smtClean="0">
                <a:solidFill>
                  <a:srgbClr val="FF0000"/>
                </a:solidFill>
                <a:latin typeface="Arial Narrow" pitchFamily="34" charset="0"/>
              </a:rPr>
              <a:t>live in harmony with ourselves and others </a:t>
            </a:r>
            <a:r>
              <a:rPr lang="en-US" sz="2800" dirty="0" smtClean="0">
                <a:latin typeface="Arial Narrow" pitchFamily="34" charset="0"/>
              </a:rPr>
              <a:t>around us, select the goods from the bad, choose gold from soil, simplify life etc. </a:t>
            </a:r>
          </a:p>
          <a:p>
            <a:r>
              <a:rPr lang="en-US" sz="2800" dirty="0" smtClean="0">
                <a:latin typeface="Arial Narrow" pitchFamily="34" charset="0"/>
              </a:rPr>
              <a:t>To update our skills and knowledge of dealing with life events and </a:t>
            </a:r>
            <a:r>
              <a:rPr lang="en-US" sz="2800" dirty="0" smtClean="0">
                <a:solidFill>
                  <a:srgbClr val="FF0000"/>
                </a:solidFill>
                <a:latin typeface="Arial Narrow" pitchFamily="34" charset="0"/>
              </a:rPr>
              <a:t>lead </a:t>
            </a:r>
            <a:r>
              <a:rPr lang="en-US" sz="2800" dirty="0">
                <a:solidFill>
                  <a:srgbClr val="FF0000"/>
                </a:solidFill>
                <a:latin typeface="Arial Narrow" pitchFamily="34" charset="0"/>
              </a:rPr>
              <a:t>a smooth and successful life </a:t>
            </a:r>
            <a:r>
              <a:rPr lang="en-US" sz="2800" dirty="0">
                <a:latin typeface="Arial Narrow" pitchFamily="34" charset="0"/>
              </a:rPr>
              <a:t>at </a:t>
            </a:r>
            <a:r>
              <a:rPr lang="en-US" sz="2800" dirty="0" smtClean="0">
                <a:latin typeface="Arial Narrow" pitchFamily="34" charset="0"/>
              </a:rPr>
              <a:t>home and work places.</a:t>
            </a:r>
          </a:p>
          <a:p>
            <a:r>
              <a:rPr lang="en-US" sz="2800" dirty="0" smtClean="0">
                <a:latin typeface="Arial Narrow" pitchFamily="34" charset="0"/>
              </a:rPr>
              <a:t>To empower </a:t>
            </a:r>
            <a:r>
              <a:rPr lang="en-US" sz="2800" dirty="0">
                <a:solidFill>
                  <a:srgbClr val="FF0000"/>
                </a:solidFill>
                <a:latin typeface="Arial Narrow" pitchFamily="34" charset="0"/>
              </a:rPr>
              <a:t>young people </a:t>
            </a:r>
            <a:r>
              <a:rPr lang="en-US" sz="2800" dirty="0">
                <a:latin typeface="Arial Narrow" pitchFamily="34" charset="0"/>
              </a:rPr>
              <a:t>to take positive action</a:t>
            </a:r>
            <a:r>
              <a:rPr lang="en-US" sz="2800" dirty="0">
                <a:solidFill>
                  <a:srgbClr val="FF0000"/>
                </a:solidFill>
                <a:latin typeface="Arial Narrow" pitchFamily="34" charset="0"/>
              </a:rPr>
              <a:t> to protect themselves </a:t>
            </a:r>
            <a:r>
              <a:rPr lang="en-US" sz="2800" dirty="0">
                <a:latin typeface="Arial Narrow" pitchFamily="34" charset="0"/>
              </a:rPr>
              <a:t>and promote </a:t>
            </a:r>
            <a:r>
              <a:rPr lang="en-US" sz="2800" dirty="0" smtClean="0">
                <a:latin typeface="Arial Narrow" pitchFamily="34" charset="0"/>
              </a:rPr>
              <a:t>health and </a:t>
            </a:r>
            <a:r>
              <a:rPr lang="en-US" sz="2800" dirty="0">
                <a:latin typeface="Arial Narrow" pitchFamily="34" charset="0"/>
              </a:rPr>
              <a:t>positive social relationships.</a:t>
            </a:r>
            <a:r>
              <a:rPr lang="en-US" sz="2800" dirty="0" smtClean="0">
                <a:latin typeface="Arial Narrow" pitchFamily="34" charset="0"/>
              </a:rPr>
              <a:t> </a:t>
            </a:r>
            <a:endParaRPr lang="en-US" sz="2800" dirty="0">
              <a:latin typeface="Arial Narrow" pitchFamily="34" charset="0"/>
            </a:endParaRPr>
          </a:p>
          <a:p>
            <a:r>
              <a:rPr lang="en-US" sz="2800" dirty="0" smtClean="0">
                <a:latin typeface="Arial Narrow" pitchFamily="34" charset="0"/>
              </a:rPr>
              <a:t>To enable explore alternatives, consider pros and cons and make </a:t>
            </a:r>
            <a:r>
              <a:rPr lang="en-US" sz="2800" dirty="0" smtClean="0">
                <a:solidFill>
                  <a:srgbClr val="FF0000"/>
                </a:solidFill>
                <a:latin typeface="Arial Narrow" pitchFamily="34" charset="0"/>
              </a:rPr>
              <a:t>rational decisions in solving</a:t>
            </a:r>
            <a:r>
              <a:rPr lang="en-US" sz="2800" dirty="0" smtClean="0">
                <a:latin typeface="Arial Narrow" pitchFamily="34" charset="0"/>
              </a:rPr>
              <a:t> each problem or issue as it arises.</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endParaRPr lang="en-US" dirty="0"/>
          </a:p>
        </p:txBody>
      </p:sp>
      <p:pic>
        <p:nvPicPr>
          <p:cNvPr id="5" name="Content Placeholder 4" descr="No photo description available."/>
          <p:cNvPicPr>
            <a:picLocks noGrp="1"/>
          </p:cNvPicPr>
          <p:nvPr>
            <p:ph idx="1"/>
          </p:nvPr>
        </p:nvPicPr>
        <p:blipFill>
          <a:blip r:embed="rId2"/>
          <a:srcRect/>
          <a:stretch>
            <a:fillRect/>
          </a:stretch>
        </p:blipFill>
        <p:spPr bwMode="auto">
          <a:xfrm>
            <a:off x="457200" y="990600"/>
            <a:ext cx="8305800" cy="57150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60438"/>
          </a:xfrm>
        </p:spPr>
        <p:txBody>
          <a:bodyPr/>
          <a:lstStyle/>
          <a:p>
            <a:endParaRPr lang="en-US"/>
          </a:p>
        </p:txBody>
      </p:sp>
      <p:pic>
        <p:nvPicPr>
          <p:cNvPr id="4" name="Content Placeholder 3" descr="C:\Program Files\Common Files\Microsoft Shared\Clipart\cagcat50\bd04972_.wmf"/>
          <p:cNvPicPr>
            <a:picLocks noGrp="1" noChangeAspect="1" noChangeArrowheads="1"/>
          </p:cNvPicPr>
          <p:nvPr>
            <p:ph idx="1"/>
          </p:nvPr>
        </p:nvPicPr>
        <p:blipFill>
          <a:blip r:embed="rId2"/>
          <a:srcRect/>
          <a:stretch>
            <a:fillRect/>
          </a:stretch>
        </p:blipFill>
        <p:spPr bwMode="auto">
          <a:xfrm>
            <a:off x="381000" y="304800"/>
            <a:ext cx="8305799" cy="60960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763000" cy="563562"/>
          </a:xfrm>
        </p:spPr>
        <p:txBody>
          <a:bodyPr>
            <a:normAutofit fontScale="90000"/>
          </a:bodyPr>
          <a:lstStyle/>
          <a:p>
            <a:pPr algn="l"/>
            <a:r>
              <a:rPr lang="en-US" b="1" dirty="0" smtClean="0"/>
              <a:t>8.3. </a:t>
            </a:r>
            <a:r>
              <a:rPr lang="en-US" b="1" dirty="0"/>
              <a:t>Components of Life </a:t>
            </a:r>
            <a:r>
              <a:rPr lang="en-US" b="1" dirty="0" smtClean="0"/>
              <a:t>Skills</a:t>
            </a:r>
            <a:endParaRPr lang="en-US" dirty="0"/>
          </a:p>
        </p:txBody>
      </p:sp>
      <p:sp>
        <p:nvSpPr>
          <p:cNvPr id="3" name="Content Placeholder 2"/>
          <p:cNvSpPr>
            <a:spLocks noGrp="1"/>
          </p:cNvSpPr>
          <p:nvPr>
            <p:ph idx="1"/>
          </p:nvPr>
        </p:nvSpPr>
        <p:spPr>
          <a:xfrm>
            <a:off x="228600" y="990600"/>
            <a:ext cx="8686800" cy="5486400"/>
          </a:xfrm>
        </p:spPr>
        <p:txBody>
          <a:bodyPr>
            <a:normAutofit fontScale="92500" lnSpcReduction="20000"/>
          </a:bodyPr>
          <a:lstStyle/>
          <a:p>
            <a:pPr>
              <a:buNone/>
            </a:pPr>
            <a:r>
              <a:rPr lang="en-US" dirty="0" smtClean="0"/>
              <a:t>1. </a:t>
            </a:r>
            <a:r>
              <a:rPr lang="en-US" b="1" dirty="0" smtClean="0"/>
              <a:t>Critical thinking</a:t>
            </a:r>
          </a:p>
          <a:p>
            <a:pPr>
              <a:buNone/>
            </a:pPr>
            <a:r>
              <a:rPr lang="en-US" b="1" dirty="0" smtClean="0"/>
              <a:t>2. </a:t>
            </a:r>
            <a:r>
              <a:rPr lang="en-US" b="1" dirty="0"/>
              <a:t>Self- </a:t>
            </a:r>
            <a:r>
              <a:rPr lang="en-US" b="1" dirty="0" smtClean="0"/>
              <a:t>confidence</a:t>
            </a:r>
          </a:p>
          <a:p>
            <a:pPr>
              <a:buNone/>
            </a:pPr>
            <a:r>
              <a:rPr lang="en-US" b="1" dirty="0" smtClean="0"/>
              <a:t>3. Self-awareness</a:t>
            </a:r>
          </a:p>
          <a:p>
            <a:pPr>
              <a:buNone/>
            </a:pPr>
            <a:r>
              <a:rPr lang="en-US" b="1" dirty="0" smtClean="0"/>
              <a:t>4. </a:t>
            </a:r>
            <a:r>
              <a:rPr lang="en-US" b="1" dirty="0"/>
              <a:t>Self- </a:t>
            </a:r>
            <a:r>
              <a:rPr lang="en-US" b="1" dirty="0" smtClean="0"/>
              <a:t>esteem</a:t>
            </a:r>
          </a:p>
          <a:p>
            <a:pPr>
              <a:buNone/>
            </a:pPr>
            <a:r>
              <a:rPr lang="en-US" b="1" dirty="0" smtClean="0"/>
              <a:t>5. </a:t>
            </a:r>
            <a:r>
              <a:rPr lang="en-US" b="1" dirty="0"/>
              <a:t>Decision </a:t>
            </a:r>
            <a:r>
              <a:rPr lang="en-US" b="1" dirty="0" smtClean="0"/>
              <a:t>making</a:t>
            </a:r>
          </a:p>
          <a:p>
            <a:pPr>
              <a:buNone/>
            </a:pPr>
            <a:r>
              <a:rPr lang="en-US" b="1" dirty="0" smtClean="0"/>
              <a:t>6. </a:t>
            </a:r>
            <a:r>
              <a:rPr lang="en-US" b="1" dirty="0"/>
              <a:t>Interpersonal </a:t>
            </a:r>
            <a:r>
              <a:rPr lang="en-US" b="1" dirty="0" smtClean="0"/>
              <a:t>relationship</a:t>
            </a:r>
          </a:p>
          <a:p>
            <a:pPr>
              <a:buNone/>
            </a:pPr>
            <a:r>
              <a:rPr lang="en-US" b="1" dirty="0" smtClean="0"/>
              <a:t>7. </a:t>
            </a:r>
            <a:r>
              <a:rPr lang="en-US" b="1" dirty="0"/>
              <a:t>Reflective </a:t>
            </a:r>
            <a:r>
              <a:rPr lang="en-US" b="1" dirty="0" smtClean="0"/>
              <a:t>communication</a:t>
            </a:r>
          </a:p>
          <a:p>
            <a:pPr>
              <a:buNone/>
            </a:pPr>
            <a:r>
              <a:rPr lang="en-US" b="1" dirty="0" smtClean="0"/>
              <a:t>8. </a:t>
            </a:r>
            <a:r>
              <a:rPr lang="en-US" b="1" dirty="0"/>
              <a:t>Peer </a:t>
            </a:r>
            <a:r>
              <a:rPr lang="en-US" b="1" dirty="0" smtClean="0"/>
              <a:t>resistance</a:t>
            </a:r>
          </a:p>
          <a:p>
            <a:pPr>
              <a:buNone/>
            </a:pPr>
            <a:r>
              <a:rPr lang="en-US" b="1" dirty="0" smtClean="0"/>
              <a:t>9. </a:t>
            </a:r>
            <a:r>
              <a:rPr lang="en-US" b="1" dirty="0"/>
              <a:t>Knowing rights and </a:t>
            </a:r>
            <a:r>
              <a:rPr lang="en-US" b="1" dirty="0" smtClean="0"/>
              <a:t>duties</a:t>
            </a:r>
          </a:p>
          <a:p>
            <a:pPr>
              <a:buNone/>
            </a:pPr>
            <a:r>
              <a:rPr lang="en-US" b="1" dirty="0" smtClean="0"/>
              <a:t>10. </a:t>
            </a:r>
            <a:r>
              <a:rPr lang="en-US" b="1" dirty="0"/>
              <a:t>Problem solving</a:t>
            </a:r>
            <a:r>
              <a:rPr lang="en-US" dirty="0" smtClean="0"/>
              <a:t> </a:t>
            </a:r>
          </a:p>
          <a:p>
            <a:pPr>
              <a:buNone/>
            </a:pPr>
            <a:r>
              <a:rPr lang="en-US" b="1" dirty="0" smtClean="0"/>
              <a:t>11. Stress management</a:t>
            </a: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pPr algn="l"/>
            <a:r>
              <a:rPr lang="en-US" b="1" i="1" dirty="0" smtClean="0"/>
              <a:t>1. Critical thinking</a:t>
            </a:r>
            <a:endParaRPr lang="en-US" dirty="0"/>
          </a:p>
        </p:txBody>
      </p:sp>
      <p:sp>
        <p:nvSpPr>
          <p:cNvPr id="3" name="Content Placeholder 2"/>
          <p:cNvSpPr>
            <a:spLocks noGrp="1"/>
          </p:cNvSpPr>
          <p:nvPr>
            <p:ph idx="1"/>
          </p:nvPr>
        </p:nvSpPr>
        <p:spPr>
          <a:xfrm>
            <a:off x="228600" y="1219200"/>
            <a:ext cx="8686800" cy="5334000"/>
          </a:xfrm>
        </p:spPr>
        <p:txBody>
          <a:bodyPr>
            <a:normAutofit/>
          </a:bodyPr>
          <a:lstStyle/>
          <a:p>
            <a:r>
              <a:rPr lang="en-US" dirty="0" smtClean="0"/>
              <a:t>It refers to </a:t>
            </a:r>
            <a:r>
              <a:rPr lang="en-US" dirty="0">
                <a:solidFill>
                  <a:srgbClr val="FF0000"/>
                </a:solidFill>
              </a:rPr>
              <a:t>thinking more</a:t>
            </a:r>
            <a:r>
              <a:rPr lang="en-US" dirty="0"/>
              <a:t> effectively within curricular subject areas, </a:t>
            </a:r>
            <a:r>
              <a:rPr lang="en-US" dirty="0" smtClean="0">
                <a:solidFill>
                  <a:srgbClr val="FF0000"/>
                </a:solidFill>
              </a:rPr>
              <a:t>understanding</a:t>
            </a:r>
            <a:r>
              <a:rPr lang="en-US" dirty="0" smtClean="0"/>
              <a:t> the </a:t>
            </a:r>
            <a:r>
              <a:rPr lang="en-US" dirty="0"/>
              <a:t>reasoning employed, </a:t>
            </a:r>
            <a:r>
              <a:rPr lang="en-US" dirty="0">
                <a:solidFill>
                  <a:srgbClr val="FF0000"/>
                </a:solidFill>
              </a:rPr>
              <a:t>assessing</a:t>
            </a:r>
            <a:r>
              <a:rPr lang="en-US" dirty="0"/>
              <a:t> independently and appropriately, and </a:t>
            </a:r>
            <a:r>
              <a:rPr lang="en-US" i="1" dirty="0"/>
              <a:t>solving problems</a:t>
            </a:r>
            <a:br>
              <a:rPr lang="en-US" i="1" dirty="0"/>
            </a:br>
            <a:r>
              <a:rPr lang="en-US" i="1" dirty="0"/>
              <a:t>effectively.</a:t>
            </a:r>
            <a:r>
              <a:rPr lang="en-US" u="sng" dirty="0"/>
              <a:t> </a:t>
            </a:r>
            <a:endParaRPr lang="en-US" u="sng" dirty="0" smtClean="0"/>
          </a:p>
          <a:p>
            <a:r>
              <a:rPr lang="en-US" dirty="0" smtClean="0"/>
              <a:t>It </a:t>
            </a:r>
            <a:r>
              <a:rPr lang="en-US" dirty="0"/>
              <a:t>involves, as well, </a:t>
            </a:r>
            <a:r>
              <a:rPr lang="en-US" dirty="0">
                <a:solidFill>
                  <a:srgbClr val="FF0000"/>
                </a:solidFill>
              </a:rPr>
              <a:t>improved thinking skills </a:t>
            </a:r>
            <a:r>
              <a:rPr lang="en-US" dirty="0"/>
              <a:t>in dealing with real life </a:t>
            </a:r>
            <a:r>
              <a:rPr lang="en-US" dirty="0" smtClean="0"/>
              <a:t>problems in </a:t>
            </a:r>
            <a:r>
              <a:rPr lang="en-US" dirty="0">
                <a:solidFill>
                  <a:srgbClr val="FF0000"/>
                </a:solidFill>
              </a:rPr>
              <a:t>assessing information and arguments</a:t>
            </a:r>
            <a:r>
              <a:rPr lang="en-US" dirty="0"/>
              <a:t> in social contexts and </a:t>
            </a:r>
            <a:r>
              <a:rPr lang="en-US" i="1" dirty="0"/>
              <a:t>making life decisions</a:t>
            </a:r>
            <a:r>
              <a:rPr lang="en-US" dirty="0"/>
              <a:t>.</a:t>
            </a:r>
            <a:r>
              <a:rPr lang="en-US" dirty="0" smtClean="0"/>
              <a:t> </a:t>
            </a:r>
            <a:br>
              <a:rPr lang="en-US" dirty="0" smtClean="0"/>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i="1" dirty="0" smtClean="0"/>
              <a:t>2. Self-confidence</a:t>
            </a:r>
            <a:endParaRPr lang="en-US" dirty="0"/>
          </a:p>
        </p:txBody>
      </p:sp>
      <p:sp>
        <p:nvSpPr>
          <p:cNvPr id="3" name="Content Placeholder 2"/>
          <p:cNvSpPr>
            <a:spLocks noGrp="1"/>
          </p:cNvSpPr>
          <p:nvPr>
            <p:ph idx="1"/>
          </p:nvPr>
        </p:nvSpPr>
        <p:spPr>
          <a:xfrm>
            <a:off x="304800" y="1447800"/>
            <a:ext cx="8534400" cy="5105400"/>
          </a:xfrm>
        </p:spPr>
        <p:txBody>
          <a:bodyPr>
            <a:normAutofit/>
          </a:bodyPr>
          <a:lstStyle/>
          <a:p>
            <a:pPr>
              <a:buNone/>
            </a:pPr>
            <a:r>
              <a:rPr lang="en-US" dirty="0" smtClean="0"/>
              <a:t>It</a:t>
            </a:r>
            <a:r>
              <a:rPr lang="en-US" b="1" dirty="0" smtClean="0"/>
              <a:t> </a:t>
            </a:r>
            <a:r>
              <a:rPr lang="en-US" dirty="0"/>
              <a:t>is the degree to which one can rely on his/her </a:t>
            </a:r>
            <a:r>
              <a:rPr lang="en-US" dirty="0">
                <a:solidFill>
                  <a:srgbClr val="FF0000"/>
                </a:solidFill>
              </a:rPr>
              <a:t>ability to perform </a:t>
            </a:r>
            <a:r>
              <a:rPr lang="en-US" dirty="0" smtClean="0">
                <a:solidFill>
                  <a:srgbClr val="FF0000"/>
                </a:solidFill>
              </a:rPr>
              <a:t>certain behavior </a:t>
            </a:r>
            <a:r>
              <a:rPr lang="en-US" dirty="0"/>
              <a:t>alone or in public. </a:t>
            </a:r>
            <a:endParaRPr lang="en-US" dirty="0" smtClean="0"/>
          </a:p>
          <a:p>
            <a:pPr>
              <a:buNone/>
            </a:pPr>
            <a:r>
              <a:rPr lang="en-US" dirty="0" smtClean="0"/>
              <a:t>It </a:t>
            </a:r>
            <a:r>
              <a:rPr lang="en-US" dirty="0"/>
              <a:t>is individual‘s</a:t>
            </a:r>
            <a:r>
              <a:rPr lang="en-US" dirty="0">
                <a:solidFill>
                  <a:srgbClr val="FF0000"/>
                </a:solidFill>
              </a:rPr>
              <a:t> trust in his or her own abilities, capacities, </a:t>
            </a:r>
            <a:r>
              <a:rPr lang="en-US" dirty="0" smtClean="0">
                <a:solidFill>
                  <a:srgbClr val="FF0000"/>
                </a:solidFill>
              </a:rPr>
              <a:t>and judgments</a:t>
            </a:r>
            <a:r>
              <a:rPr lang="en-US" dirty="0">
                <a:solidFill>
                  <a:srgbClr val="FF0000"/>
                </a:solidFill>
              </a:rPr>
              <a:t>, or belief</a:t>
            </a:r>
            <a:r>
              <a:rPr lang="en-US" dirty="0"/>
              <a:t> that he or she can successfully face day-to-day challenges and </a:t>
            </a:r>
            <a:r>
              <a:rPr lang="en-US" dirty="0" smtClean="0"/>
              <a:t>demands. </a:t>
            </a:r>
            <a:br>
              <a:rPr lang="en-US" dirty="0" smtClean="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b="1" i="1" dirty="0" smtClean="0"/>
              <a:t>3. Self-awareness</a:t>
            </a:r>
            <a:endParaRPr lang="en-US" dirty="0"/>
          </a:p>
        </p:txBody>
      </p:sp>
      <p:sp>
        <p:nvSpPr>
          <p:cNvPr id="3" name="Content Placeholder 2"/>
          <p:cNvSpPr>
            <a:spLocks noGrp="1"/>
          </p:cNvSpPr>
          <p:nvPr>
            <p:ph idx="1"/>
          </p:nvPr>
        </p:nvSpPr>
        <p:spPr>
          <a:xfrm>
            <a:off x="304800" y="1219200"/>
            <a:ext cx="8610600" cy="5334000"/>
          </a:xfrm>
        </p:spPr>
        <p:txBody>
          <a:bodyPr/>
          <a:lstStyle/>
          <a:p>
            <a:pPr>
              <a:buNone/>
            </a:pPr>
            <a:r>
              <a:rPr lang="en-US" dirty="0" smtClean="0"/>
              <a:t>It is </a:t>
            </a:r>
            <a:r>
              <a:rPr lang="en-US" dirty="0"/>
              <a:t>self-focused attention or knowledge.</a:t>
            </a:r>
            <a:r>
              <a:rPr lang="en-US" dirty="0" smtClean="0"/>
              <a:t> </a:t>
            </a:r>
          </a:p>
          <a:p>
            <a:pPr>
              <a:buNone/>
            </a:pPr>
            <a:r>
              <a:rPr lang="en-US" dirty="0" smtClean="0"/>
              <a:t>It is the</a:t>
            </a:r>
            <a:r>
              <a:rPr lang="en-US" b="1" dirty="0" smtClean="0"/>
              <a:t> </a:t>
            </a:r>
            <a:r>
              <a:rPr lang="en-US" dirty="0"/>
              <a:t>knowledge and </a:t>
            </a:r>
            <a:r>
              <a:rPr lang="en-US" dirty="0">
                <a:solidFill>
                  <a:srgbClr val="FF0000"/>
                </a:solidFill>
              </a:rPr>
              <a:t>understanding of one‘s strengthens and weaknesses</a:t>
            </a:r>
            <a:r>
              <a:rPr lang="en-US" dirty="0"/>
              <a:t>. </a:t>
            </a:r>
            <a:r>
              <a:rPr lang="en-US" dirty="0" smtClean="0"/>
              <a:t>Self-awareness </a:t>
            </a:r>
            <a:r>
              <a:rPr lang="en-US" dirty="0"/>
              <a:t>involves monitoring our inner worlds, thoughts, emotions, and beliefs. </a:t>
            </a:r>
            <a:endParaRPr lang="en-US" dirty="0" smtClean="0"/>
          </a:p>
          <a:p>
            <a:pPr>
              <a:buNone/>
            </a:pPr>
            <a:r>
              <a:rPr lang="en-US" dirty="0" smtClean="0"/>
              <a:t>It is important</a:t>
            </a:r>
            <a:r>
              <a:rPr lang="en-US" dirty="0"/>
              <a:t>, because it is a </a:t>
            </a:r>
            <a:r>
              <a:rPr lang="en-US" dirty="0">
                <a:solidFill>
                  <a:srgbClr val="FF0000"/>
                </a:solidFill>
              </a:rPr>
              <a:t>major mechanism influencing personal development</a:t>
            </a:r>
            <a:r>
              <a:rPr lang="en-US" dirty="0"/>
              <a:t>.</a:t>
            </a:r>
            <a:r>
              <a:rPr lang="en-US" dirty="0" smtClean="0"/>
              <a:t> </a:t>
            </a:r>
            <a:br>
              <a:rPr lang="en-US" dirty="0" smtClean="0"/>
            </a:b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algn="l"/>
            <a:r>
              <a:rPr lang="en-US" b="1" i="1" dirty="0" smtClean="0"/>
              <a:t>4. Self-esteem</a:t>
            </a:r>
            <a:endParaRPr lang="en-US" dirty="0"/>
          </a:p>
        </p:txBody>
      </p:sp>
      <p:sp>
        <p:nvSpPr>
          <p:cNvPr id="3" name="Content Placeholder 2"/>
          <p:cNvSpPr>
            <a:spLocks noGrp="1"/>
          </p:cNvSpPr>
          <p:nvPr>
            <p:ph idx="1"/>
          </p:nvPr>
        </p:nvSpPr>
        <p:spPr>
          <a:xfrm>
            <a:off x="228600" y="990600"/>
            <a:ext cx="8686800" cy="5638800"/>
          </a:xfrm>
        </p:spPr>
        <p:txBody>
          <a:bodyPr>
            <a:normAutofit fontScale="25000" lnSpcReduction="20000"/>
          </a:bodyPr>
          <a:lstStyle/>
          <a:p>
            <a:pPr>
              <a:buNone/>
            </a:pPr>
            <a:r>
              <a:rPr lang="en-US" sz="11200" dirty="0" smtClean="0">
                <a:latin typeface="Arial Narrow" pitchFamily="34" charset="0"/>
              </a:rPr>
              <a:t>It is</a:t>
            </a:r>
            <a:r>
              <a:rPr lang="en-US" sz="11200" b="1" dirty="0" smtClean="0">
                <a:latin typeface="Arial Narrow" pitchFamily="34" charset="0"/>
              </a:rPr>
              <a:t> </a:t>
            </a:r>
            <a:r>
              <a:rPr lang="en-US" sz="11200" dirty="0">
                <a:latin typeface="Arial Narrow" pitchFamily="34" charset="0"/>
              </a:rPr>
              <a:t>the degree to which we perceive ourselves positively or negatively; </a:t>
            </a:r>
            <a:r>
              <a:rPr lang="en-US" sz="11200" dirty="0">
                <a:solidFill>
                  <a:srgbClr val="FF0000"/>
                </a:solidFill>
                <a:latin typeface="Arial Narrow" pitchFamily="34" charset="0"/>
              </a:rPr>
              <a:t>our </a:t>
            </a:r>
            <a:r>
              <a:rPr lang="en-US" sz="11200" dirty="0" smtClean="0">
                <a:solidFill>
                  <a:srgbClr val="FF0000"/>
                </a:solidFill>
                <a:latin typeface="Arial Narrow" pitchFamily="34" charset="0"/>
              </a:rPr>
              <a:t>overall attitude </a:t>
            </a:r>
            <a:r>
              <a:rPr lang="en-US" sz="11200" dirty="0">
                <a:solidFill>
                  <a:srgbClr val="FF0000"/>
                </a:solidFill>
                <a:latin typeface="Arial Narrow" pitchFamily="34" charset="0"/>
              </a:rPr>
              <a:t>toward ourselves</a:t>
            </a:r>
            <a:r>
              <a:rPr lang="en-US" sz="11200" dirty="0">
                <a:latin typeface="Arial Narrow" pitchFamily="34" charset="0"/>
              </a:rPr>
              <a:t>, which can be measured explicitly or implicitly.</a:t>
            </a:r>
            <a:r>
              <a:rPr lang="en-US" sz="11200" dirty="0" smtClean="0">
                <a:latin typeface="Arial Narrow" pitchFamily="34" charset="0"/>
              </a:rPr>
              <a:t> </a:t>
            </a:r>
          </a:p>
          <a:p>
            <a:pPr>
              <a:buNone/>
            </a:pPr>
            <a:r>
              <a:rPr lang="en-US" sz="11200" dirty="0" smtClean="0">
                <a:latin typeface="Arial Narrow" pitchFamily="34" charset="0"/>
              </a:rPr>
              <a:t>It involves the </a:t>
            </a:r>
            <a:r>
              <a:rPr lang="en-US" sz="11200" dirty="0">
                <a:latin typeface="Arial Narrow" pitchFamily="34" charset="0"/>
              </a:rPr>
              <a:t>degree to which the qualities </a:t>
            </a:r>
            <a:r>
              <a:rPr lang="en-US" sz="11200" dirty="0" smtClean="0">
                <a:latin typeface="Arial Narrow" pitchFamily="34" charset="0"/>
              </a:rPr>
              <a:t>and characteristics </a:t>
            </a:r>
            <a:r>
              <a:rPr lang="en-US" sz="11200" dirty="0">
                <a:latin typeface="Arial Narrow" pitchFamily="34" charset="0"/>
              </a:rPr>
              <a:t>contained in one’s </a:t>
            </a:r>
            <a:r>
              <a:rPr lang="en-US" sz="11200" dirty="0">
                <a:solidFill>
                  <a:srgbClr val="FF0000"/>
                </a:solidFill>
                <a:latin typeface="Arial Narrow" pitchFamily="34" charset="0"/>
              </a:rPr>
              <a:t>self-concept</a:t>
            </a:r>
            <a:r>
              <a:rPr lang="en-US" sz="11200" dirty="0">
                <a:latin typeface="Arial Narrow" pitchFamily="34" charset="0"/>
              </a:rPr>
              <a:t> are perceived to be positive. It reflects a person’s physical</a:t>
            </a:r>
            <a:r>
              <a:rPr lang="en-US" sz="11200" dirty="0">
                <a:solidFill>
                  <a:srgbClr val="FF0000"/>
                </a:solidFill>
                <a:latin typeface="Arial Narrow" pitchFamily="34" charset="0"/>
              </a:rPr>
              <a:t> self-image</a:t>
            </a:r>
            <a:r>
              <a:rPr lang="en-US" sz="11200" dirty="0">
                <a:latin typeface="Arial Narrow" pitchFamily="34" charset="0"/>
              </a:rPr>
              <a:t>, view of his or her accomplishments and capabilities</a:t>
            </a:r>
            <a:r>
              <a:rPr lang="en-US" sz="11200" dirty="0" smtClean="0">
                <a:latin typeface="Arial Narrow" pitchFamily="34" charset="0"/>
              </a:rPr>
              <a:t>, and </a:t>
            </a:r>
            <a:r>
              <a:rPr lang="en-US" sz="11200" dirty="0">
                <a:latin typeface="Arial Narrow" pitchFamily="34" charset="0"/>
              </a:rPr>
              <a:t>values and perceived success in living up to them, </a:t>
            </a:r>
            <a:r>
              <a:rPr lang="en-US" sz="11200" dirty="0" smtClean="0">
                <a:latin typeface="Arial Narrow" pitchFamily="34" charset="0"/>
              </a:rPr>
              <a:t>as well </a:t>
            </a:r>
            <a:r>
              <a:rPr lang="en-US" sz="11200" dirty="0">
                <a:latin typeface="Arial Narrow" pitchFamily="34" charset="0"/>
              </a:rPr>
              <a:t>as the ways in which others view and respond to </a:t>
            </a:r>
            <a:r>
              <a:rPr lang="en-US" sz="11200" dirty="0" smtClean="0">
                <a:latin typeface="Arial Narrow" pitchFamily="34" charset="0"/>
              </a:rPr>
              <a:t>that person</a:t>
            </a:r>
            <a:r>
              <a:rPr lang="en-US" sz="11200" dirty="0">
                <a:latin typeface="Arial Narrow" pitchFamily="34" charset="0"/>
              </a:rPr>
              <a:t>. </a:t>
            </a:r>
            <a:endParaRPr lang="en-US" sz="11200" dirty="0" smtClean="0">
              <a:latin typeface="Arial Narrow" pitchFamily="34" charset="0"/>
            </a:endParaRPr>
          </a:p>
          <a:p>
            <a:pPr>
              <a:buNone/>
            </a:pPr>
            <a:r>
              <a:rPr lang="en-US" sz="11200" dirty="0" smtClean="0">
                <a:latin typeface="Arial Narrow" pitchFamily="34" charset="0"/>
              </a:rPr>
              <a:t>The </a:t>
            </a:r>
            <a:r>
              <a:rPr lang="en-US" sz="11200" dirty="0">
                <a:latin typeface="Arial Narrow" pitchFamily="34" charset="0"/>
              </a:rPr>
              <a:t>more positive the </a:t>
            </a:r>
            <a:r>
              <a:rPr lang="en-US" sz="11200" dirty="0">
                <a:solidFill>
                  <a:srgbClr val="FF0000"/>
                </a:solidFill>
                <a:latin typeface="Arial Narrow" pitchFamily="34" charset="0"/>
              </a:rPr>
              <a:t>cumulative perception </a:t>
            </a:r>
            <a:r>
              <a:rPr lang="en-US" sz="11200" dirty="0" smtClean="0">
                <a:latin typeface="Arial Narrow" pitchFamily="34" charset="0"/>
              </a:rPr>
              <a:t>of these </a:t>
            </a:r>
            <a:r>
              <a:rPr lang="en-US" sz="11200" dirty="0">
                <a:latin typeface="Arial Narrow" pitchFamily="34" charset="0"/>
              </a:rPr>
              <a:t>qualities and characteristics, the </a:t>
            </a:r>
            <a:r>
              <a:rPr lang="en-US" sz="11200" dirty="0">
                <a:solidFill>
                  <a:srgbClr val="FF0000"/>
                </a:solidFill>
                <a:latin typeface="Arial Narrow" pitchFamily="34" charset="0"/>
              </a:rPr>
              <a:t>higher one’s self-esteem</a:t>
            </a:r>
            <a:r>
              <a:rPr lang="en-US" sz="11200" dirty="0">
                <a:latin typeface="Arial Narrow" pitchFamily="34" charset="0"/>
              </a:rPr>
              <a:t>. </a:t>
            </a:r>
            <a:endParaRPr lang="en-US" sz="11200" dirty="0" smtClean="0">
              <a:latin typeface="Arial Narrow" pitchFamily="34" charset="0"/>
            </a:endParaRPr>
          </a:p>
          <a:p>
            <a:pPr>
              <a:buNone/>
            </a:pPr>
            <a:r>
              <a:rPr lang="en-US" sz="11200" dirty="0" smtClean="0">
                <a:latin typeface="Arial Narrow" pitchFamily="34" charset="0"/>
              </a:rPr>
              <a:t>A </a:t>
            </a:r>
            <a:r>
              <a:rPr lang="en-US" sz="11200" dirty="0">
                <a:latin typeface="Arial Narrow" pitchFamily="34" charset="0"/>
              </a:rPr>
              <a:t>reasonably high degree of self-esteem is considered</a:t>
            </a:r>
            <a:br>
              <a:rPr lang="en-US" sz="11200" dirty="0">
                <a:latin typeface="Arial Narrow" pitchFamily="34" charset="0"/>
              </a:rPr>
            </a:br>
            <a:r>
              <a:rPr lang="en-US" sz="11200" dirty="0">
                <a:latin typeface="Arial Narrow" pitchFamily="34" charset="0"/>
              </a:rPr>
              <a:t>an important ingredient of mental health, whereas low</a:t>
            </a:r>
            <a:br>
              <a:rPr lang="en-US" sz="11200" dirty="0">
                <a:latin typeface="Arial Narrow" pitchFamily="34" charset="0"/>
              </a:rPr>
            </a:br>
            <a:r>
              <a:rPr lang="en-US" sz="11200" dirty="0">
                <a:latin typeface="Arial Narrow" pitchFamily="34" charset="0"/>
              </a:rPr>
              <a:t>self-esteem and feelings of worthlessness are common </a:t>
            </a:r>
            <a:r>
              <a:rPr lang="en-US" sz="11200" dirty="0">
                <a:solidFill>
                  <a:srgbClr val="FF0000"/>
                </a:solidFill>
                <a:latin typeface="Arial Narrow" pitchFamily="34" charset="0"/>
              </a:rPr>
              <a:t>depressive symptoms</a:t>
            </a:r>
            <a:r>
              <a:rPr lang="en-US" sz="11200" dirty="0">
                <a:latin typeface="Arial Narrow" pitchFamily="34" charset="0"/>
              </a:rPr>
              <a:t>.</a:t>
            </a:r>
            <a:r>
              <a:rPr lang="en-US" sz="3600" dirty="0" smtClean="0">
                <a:latin typeface="Arial Narrow" pitchFamily="34" charset="0"/>
              </a:rPr>
              <a:t> </a:t>
            </a:r>
            <a:br>
              <a:rPr lang="en-US" sz="3600" dirty="0" smtClean="0">
                <a:latin typeface="Arial Narrow" pitchFamily="34" charset="0"/>
              </a:rPr>
            </a:br>
            <a:r>
              <a:rPr lang="en-US" dirty="0" smtClean="0"/>
              <a:t/>
            </a:r>
            <a:br>
              <a:rPr lang="en-US" dirty="0" smtClean="0"/>
            </a:b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i="1" dirty="0" smtClean="0"/>
              <a:t>5. Decision-making </a:t>
            </a:r>
            <a:endParaRPr lang="en-US" dirty="0"/>
          </a:p>
        </p:txBody>
      </p:sp>
      <p:sp>
        <p:nvSpPr>
          <p:cNvPr id="3" name="Content Placeholder 2"/>
          <p:cNvSpPr>
            <a:spLocks noGrp="1"/>
          </p:cNvSpPr>
          <p:nvPr>
            <p:ph idx="1"/>
          </p:nvPr>
        </p:nvSpPr>
        <p:spPr>
          <a:xfrm>
            <a:off x="228600" y="1219200"/>
            <a:ext cx="8686800" cy="5486400"/>
          </a:xfrm>
        </p:spPr>
        <p:txBody>
          <a:bodyPr/>
          <a:lstStyle/>
          <a:p>
            <a:pPr>
              <a:buNone/>
            </a:pPr>
            <a:r>
              <a:rPr lang="en-US" dirty="0" smtClean="0"/>
              <a:t>It is a processes </a:t>
            </a:r>
            <a:r>
              <a:rPr lang="en-US" dirty="0"/>
              <a:t>involved in </a:t>
            </a:r>
            <a:r>
              <a:rPr lang="en-US" dirty="0">
                <a:solidFill>
                  <a:srgbClr val="FF0000"/>
                </a:solidFill>
              </a:rPr>
              <a:t>combining and integrating available </a:t>
            </a:r>
            <a:r>
              <a:rPr lang="en-US" dirty="0"/>
              <a:t>information</a:t>
            </a:r>
            <a:r>
              <a:rPr lang="en-US" dirty="0">
                <a:solidFill>
                  <a:srgbClr val="FF0000"/>
                </a:solidFill>
              </a:rPr>
              <a:t> </a:t>
            </a:r>
            <a:r>
              <a:rPr lang="en-US" dirty="0" smtClean="0"/>
              <a:t>to choose</a:t>
            </a:r>
            <a:r>
              <a:rPr lang="en-US" dirty="0"/>
              <a:t>, implement and evaluate </a:t>
            </a:r>
            <a:r>
              <a:rPr lang="en-US" dirty="0">
                <a:solidFill>
                  <a:srgbClr val="FF0000"/>
                </a:solidFill>
              </a:rPr>
              <a:t>one out of several possible </a:t>
            </a:r>
            <a:r>
              <a:rPr lang="en-US" dirty="0"/>
              <a:t>courses of actions.</a:t>
            </a:r>
            <a:r>
              <a:rPr lang="en-US" dirty="0" smtClean="0"/>
              <a:t> </a:t>
            </a:r>
          </a:p>
          <a:p>
            <a:pPr>
              <a:buNone/>
            </a:pPr>
            <a:r>
              <a:rPr lang="en-US" dirty="0" smtClean="0"/>
              <a:t>Responsible Decision Making refers making decision after</a:t>
            </a:r>
            <a:r>
              <a:rPr lang="en-US" dirty="0" smtClean="0">
                <a:solidFill>
                  <a:srgbClr val="FF0000"/>
                </a:solidFill>
              </a:rPr>
              <a:t> examining the choices &amp; consequences </a:t>
            </a:r>
            <a:r>
              <a:rPr lang="en-US" dirty="0" smtClean="0"/>
              <a:t>in view of	one’s values and goals. </a:t>
            </a:r>
          </a:p>
          <a:p>
            <a:pPr>
              <a:buNone/>
            </a:pPr>
            <a:r>
              <a:rPr lang="en-US" dirty="0" smtClean="0"/>
              <a:t/>
            </a:r>
            <a:br>
              <a:rPr lang="en-US" dirty="0" smtClean="0"/>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i="1" dirty="0" smtClean="0"/>
              <a:t>6. Interpersonal relationships </a:t>
            </a:r>
            <a:endParaRPr lang="en-US" dirty="0"/>
          </a:p>
        </p:txBody>
      </p:sp>
      <p:sp>
        <p:nvSpPr>
          <p:cNvPr id="3" name="Content Placeholder 2"/>
          <p:cNvSpPr>
            <a:spLocks noGrp="1"/>
          </p:cNvSpPr>
          <p:nvPr>
            <p:ph idx="1"/>
          </p:nvPr>
        </p:nvSpPr>
        <p:spPr>
          <a:xfrm>
            <a:off x="228600" y="1219200"/>
            <a:ext cx="8686800" cy="5334000"/>
          </a:xfrm>
        </p:spPr>
        <p:txBody>
          <a:bodyPr>
            <a:normAutofit fontScale="92500"/>
          </a:bodyPr>
          <a:lstStyle/>
          <a:p>
            <a:pPr>
              <a:buNone/>
            </a:pPr>
            <a:r>
              <a:rPr lang="en-US" dirty="0" smtClean="0"/>
              <a:t>It is the </a:t>
            </a:r>
            <a:r>
              <a:rPr lang="en-US" dirty="0"/>
              <a:t>relationships a person have with others persons. They </a:t>
            </a:r>
            <a:r>
              <a:rPr lang="en-US" dirty="0" smtClean="0"/>
              <a:t>are social </a:t>
            </a:r>
            <a:r>
              <a:rPr lang="en-US" dirty="0"/>
              <a:t>associations, connections, or </a:t>
            </a:r>
            <a:r>
              <a:rPr lang="en-US" dirty="0">
                <a:solidFill>
                  <a:srgbClr val="FF0000"/>
                </a:solidFill>
              </a:rPr>
              <a:t>affiliations between two or more people having </a:t>
            </a:r>
            <a:r>
              <a:rPr lang="en-US" dirty="0" smtClean="0">
                <a:solidFill>
                  <a:srgbClr val="FF0000"/>
                </a:solidFill>
              </a:rPr>
              <a:t>various levels </a:t>
            </a:r>
            <a:r>
              <a:rPr lang="en-US" dirty="0">
                <a:solidFill>
                  <a:srgbClr val="FF0000"/>
                </a:solidFill>
              </a:rPr>
              <a:t>of intimacy and sharing</a:t>
            </a:r>
            <a:r>
              <a:rPr lang="en-US" dirty="0"/>
              <a:t>, and implying the discovery or establishment of </a:t>
            </a:r>
            <a:r>
              <a:rPr lang="en-US" dirty="0" smtClean="0"/>
              <a:t>common ground</a:t>
            </a:r>
            <a:r>
              <a:rPr lang="en-US" dirty="0"/>
              <a:t>.</a:t>
            </a:r>
            <a:r>
              <a:rPr lang="en-US" dirty="0" smtClean="0"/>
              <a:t> </a:t>
            </a:r>
          </a:p>
          <a:p>
            <a:r>
              <a:rPr lang="en-US" dirty="0" smtClean="0"/>
              <a:t>It involves developing &amp; nurturing </a:t>
            </a:r>
            <a:r>
              <a:rPr lang="en-US" dirty="0" smtClean="0">
                <a:solidFill>
                  <a:srgbClr val="FF0000"/>
                </a:solidFill>
              </a:rPr>
              <a:t>supportive networks</a:t>
            </a:r>
            <a:r>
              <a:rPr lang="en-US" dirty="0" smtClean="0"/>
              <a:t>; </a:t>
            </a:r>
            <a:r>
              <a:rPr lang="en-US" dirty="0" smtClean="0">
                <a:solidFill>
                  <a:srgbClr val="FF0000"/>
                </a:solidFill>
              </a:rPr>
              <a:t>ending relationships constructively</a:t>
            </a:r>
            <a:r>
              <a:rPr lang="en-US" dirty="0" smtClean="0"/>
              <a:t>; and helping individuals to </a:t>
            </a:r>
            <a:r>
              <a:rPr lang="en-US" dirty="0" smtClean="0">
                <a:solidFill>
                  <a:srgbClr val="FF0000"/>
                </a:solidFill>
              </a:rPr>
              <a:t>relate with people in positive ways.</a:t>
            </a:r>
          </a:p>
          <a:p>
            <a:pPr>
              <a:buNone/>
            </a:pPr>
            <a:r>
              <a:rPr lang="en-US" dirty="0" smtClean="0"/>
              <a:t/>
            </a:r>
            <a:br>
              <a:rPr lang="en-US" dirty="0" smtClean="0"/>
            </a:b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715962"/>
          </a:xfrm>
        </p:spPr>
        <p:txBody>
          <a:bodyPr>
            <a:normAutofit/>
          </a:bodyPr>
          <a:lstStyle/>
          <a:p>
            <a:pPr algn="l"/>
            <a:r>
              <a:rPr lang="en-US" sz="3200" b="1" i="1" dirty="0" smtClean="0"/>
              <a:t>7. Reflective communication </a:t>
            </a:r>
            <a:endParaRPr lang="en-US" sz="3200" dirty="0"/>
          </a:p>
        </p:txBody>
      </p:sp>
      <p:sp>
        <p:nvSpPr>
          <p:cNvPr id="3" name="Content Placeholder 2"/>
          <p:cNvSpPr>
            <a:spLocks noGrp="1"/>
          </p:cNvSpPr>
          <p:nvPr>
            <p:ph idx="1"/>
          </p:nvPr>
        </p:nvSpPr>
        <p:spPr>
          <a:xfrm>
            <a:off x="228600" y="990600"/>
            <a:ext cx="8686800" cy="5638800"/>
          </a:xfrm>
        </p:spPr>
        <p:txBody>
          <a:bodyPr>
            <a:normAutofit/>
          </a:bodyPr>
          <a:lstStyle/>
          <a:p>
            <a:pPr>
              <a:buNone/>
            </a:pPr>
            <a:r>
              <a:rPr lang="en-US" dirty="0" smtClean="0"/>
              <a:t>It is attending </a:t>
            </a:r>
            <a:r>
              <a:rPr lang="en-US" dirty="0"/>
              <a:t>communications with thoughtful and due attention </a:t>
            </a:r>
            <a:r>
              <a:rPr lang="en-US" dirty="0" smtClean="0"/>
              <a:t>to </a:t>
            </a:r>
            <a:r>
              <a:rPr lang="en-US" dirty="0" smtClean="0">
                <a:solidFill>
                  <a:srgbClr val="FF0000"/>
                </a:solidFill>
              </a:rPr>
              <a:t>reflect </a:t>
            </a:r>
            <a:r>
              <a:rPr lang="en-US" dirty="0">
                <a:solidFill>
                  <a:srgbClr val="FF0000"/>
                </a:solidFill>
              </a:rPr>
              <a:t>on one‘s own thinking, behaviors </a:t>
            </a:r>
            <a:r>
              <a:rPr lang="en-US" dirty="0"/>
              <a:t>and interaction with </a:t>
            </a:r>
            <a:r>
              <a:rPr lang="en-US" dirty="0" smtClean="0"/>
              <a:t>others.</a:t>
            </a:r>
          </a:p>
          <a:p>
            <a:pPr>
              <a:buNone/>
            </a:pPr>
            <a:r>
              <a:rPr lang="en-US" dirty="0" smtClean="0"/>
              <a:t>It requires </a:t>
            </a:r>
            <a:r>
              <a:rPr lang="en-US" dirty="0" smtClean="0">
                <a:solidFill>
                  <a:srgbClr val="FF0000"/>
                </a:solidFill>
              </a:rPr>
              <a:t>expressing ourselves verbally &amp; non-verbally</a:t>
            </a:r>
            <a:r>
              <a:rPr lang="en-US" dirty="0">
                <a:solidFill>
                  <a:srgbClr val="FF0000"/>
                </a:solidFill>
              </a:rPr>
              <a:t>;</a:t>
            </a:r>
            <a:r>
              <a:rPr lang="en-US" dirty="0" smtClean="0">
                <a:solidFill>
                  <a:srgbClr val="FF0000"/>
                </a:solidFill>
              </a:rPr>
              <a:t> our opinions, desires, needs &amp; fears; and advice and help</a:t>
            </a:r>
            <a:r>
              <a:rPr lang="en-US" dirty="0" smtClean="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US" b="1" i="1" dirty="0" smtClean="0"/>
              <a:t>8. Peer pressure resistance</a:t>
            </a:r>
            <a:endParaRPr lang="en-US" dirty="0"/>
          </a:p>
        </p:txBody>
      </p:sp>
      <p:sp>
        <p:nvSpPr>
          <p:cNvPr id="3" name="Content Placeholder 2"/>
          <p:cNvSpPr>
            <a:spLocks noGrp="1"/>
          </p:cNvSpPr>
          <p:nvPr>
            <p:ph idx="1"/>
          </p:nvPr>
        </p:nvSpPr>
        <p:spPr>
          <a:xfrm>
            <a:off x="228600" y="990600"/>
            <a:ext cx="8686800" cy="5638800"/>
          </a:xfrm>
        </p:spPr>
        <p:txBody>
          <a:bodyPr>
            <a:normAutofit fontScale="92500"/>
          </a:bodyPr>
          <a:lstStyle/>
          <a:p>
            <a:pPr>
              <a:buNone/>
            </a:pPr>
            <a:r>
              <a:rPr lang="en-US" dirty="0" smtClean="0"/>
              <a:t>Indicates individual‘s </a:t>
            </a:r>
            <a:r>
              <a:rPr lang="en-US" dirty="0" smtClean="0">
                <a:solidFill>
                  <a:srgbClr val="FF0000"/>
                </a:solidFill>
              </a:rPr>
              <a:t>abilities and skills to confront negative influences</a:t>
            </a:r>
            <a:r>
              <a:rPr lang="en-US" dirty="0" smtClean="0"/>
              <a:t> from his/her group members.</a:t>
            </a:r>
          </a:p>
          <a:p>
            <a:pPr>
              <a:buNone/>
            </a:pPr>
            <a:r>
              <a:rPr lang="en-US" dirty="0" smtClean="0"/>
              <a:t>Take Pleasure &amp; Pride in </a:t>
            </a:r>
            <a:r>
              <a:rPr lang="en-US" dirty="0" smtClean="0">
                <a:solidFill>
                  <a:srgbClr val="FF0000"/>
                </a:solidFill>
              </a:rPr>
              <a:t>saying NO when one wants to say “no”.</a:t>
            </a:r>
          </a:p>
          <a:p>
            <a:pPr>
              <a:buNone/>
            </a:pPr>
            <a:endParaRPr lang="en-US" b="1" i="1" dirty="0" smtClean="0"/>
          </a:p>
          <a:p>
            <a:pPr>
              <a:buNone/>
            </a:pPr>
            <a:r>
              <a:rPr lang="en-US" sz="3500" b="1" i="1" dirty="0" smtClean="0">
                <a:latin typeface="Arial Narrow" pitchFamily="34" charset="0"/>
              </a:rPr>
              <a:t>9. Knowing rights and duties </a:t>
            </a:r>
          </a:p>
          <a:p>
            <a:pPr>
              <a:buNone/>
            </a:pPr>
            <a:r>
              <a:rPr lang="en-US" dirty="0" smtClean="0"/>
              <a:t>It refers to one‘s </a:t>
            </a:r>
            <a:r>
              <a:rPr lang="en-US" dirty="0" smtClean="0">
                <a:solidFill>
                  <a:srgbClr val="FF0000"/>
                </a:solidFill>
              </a:rPr>
              <a:t>knowledge and understanding of rights and duties of individuals, groups, institutions </a:t>
            </a:r>
            <a:r>
              <a:rPr lang="en-US" dirty="0" smtClean="0"/>
              <a:t>and nations allowed to do or not to do by law and/or a culture. </a:t>
            </a:r>
            <a:br>
              <a:rPr lang="en-US" dirty="0" smtClean="0"/>
            </a:br>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685800"/>
          </a:xfrm>
        </p:spPr>
        <p:txBody>
          <a:bodyPr>
            <a:normAutofit fontScale="90000"/>
          </a:bodyPr>
          <a:lstStyle/>
          <a:p>
            <a:pPr algn="l"/>
            <a:r>
              <a:rPr lang="en-US" b="1" i="1" dirty="0" smtClean="0"/>
              <a:t>10. Problem solving </a:t>
            </a:r>
            <a:endParaRPr lang="en-US" dirty="0"/>
          </a:p>
        </p:txBody>
      </p:sp>
      <p:sp>
        <p:nvSpPr>
          <p:cNvPr id="3" name="Content Placeholder 2"/>
          <p:cNvSpPr>
            <a:spLocks noGrp="1"/>
          </p:cNvSpPr>
          <p:nvPr>
            <p:ph idx="1"/>
          </p:nvPr>
        </p:nvSpPr>
        <p:spPr>
          <a:xfrm>
            <a:off x="228600" y="990600"/>
            <a:ext cx="8686800" cy="5638800"/>
          </a:xfrm>
        </p:spPr>
        <p:txBody>
          <a:bodyPr>
            <a:normAutofit lnSpcReduction="10000"/>
          </a:bodyPr>
          <a:lstStyle/>
          <a:p>
            <a:pPr>
              <a:buNone/>
            </a:pPr>
            <a:r>
              <a:rPr lang="en-US" dirty="0" smtClean="0">
                <a:latin typeface="Arial Narrow" pitchFamily="34" charset="0"/>
              </a:rPr>
              <a:t>Refers to the </a:t>
            </a:r>
            <a:r>
              <a:rPr lang="en-US" dirty="0">
                <a:latin typeface="Arial Narrow" pitchFamily="34" charset="0"/>
              </a:rPr>
              <a:t>process of </a:t>
            </a:r>
            <a:r>
              <a:rPr lang="en-US" dirty="0">
                <a:solidFill>
                  <a:srgbClr val="FF0000"/>
                </a:solidFill>
                <a:latin typeface="Arial Narrow" pitchFamily="34" charset="0"/>
              </a:rPr>
              <a:t>identifying a discrepancy between an actual and </a:t>
            </a:r>
            <a:r>
              <a:rPr lang="en-US" dirty="0" smtClean="0">
                <a:solidFill>
                  <a:srgbClr val="FF0000"/>
                </a:solidFill>
                <a:latin typeface="Arial Narrow" pitchFamily="34" charset="0"/>
              </a:rPr>
              <a:t>desired state </a:t>
            </a:r>
            <a:r>
              <a:rPr lang="en-US" dirty="0">
                <a:solidFill>
                  <a:srgbClr val="FF0000"/>
                </a:solidFill>
                <a:latin typeface="Arial Narrow" pitchFamily="34" charset="0"/>
              </a:rPr>
              <a:t>of affairs</a:t>
            </a:r>
            <a:r>
              <a:rPr lang="en-US" dirty="0">
                <a:latin typeface="Arial Narrow" pitchFamily="34" charset="0"/>
              </a:rPr>
              <a:t>, difficulties, obstacles and complex issues and then </a:t>
            </a:r>
            <a:r>
              <a:rPr lang="en-US" dirty="0">
                <a:solidFill>
                  <a:srgbClr val="FF0000"/>
                </a:solidFill>
                <a:latin typeface="Arial Narrow" pitchFamily="34" charset="0"/>
              </a:rPr>
              <a:t>taking action to resolve </a:t>
            </a:r>
            <a:r>
              <a:rPr lang="en-US" dirty="0" smtClean="0">
                <a:solidFill>
                  <a:srgbClr val="FF0000"/>
                </a:solidFill>
                <a:latin typeface="Arial Narrow" pitchFamily="34" charset="0"/>
              </a:rPr>
              <a:t>the deficiency </a:t>
            </a:r>
            <a:r>
              <a:rPr lang="en-US" dirty="0">
                <a:latin typeface="Arial Narrow" pitchFamily="34" charset="0"/>
              </a:rPr>
              <a:t>or take advantage of the opportunity.</a:t>
            </a:r>
            <a:r>
              <a:rPr lang="en-US" dirty="0" smtClean="0">
                <a:latin typeface="Arial Narrow" pitchFamily="34" charset="0"/>
              </a:rPr>
              <a:t> </a:t>
            </a:r>
          </a:p>
          <a:p>
            <a:pPr>
              <a:buNone/>
            </a:pPr>
            <a:r>
              <a:rPr lang="en-US" dirty="0" smtClean="0">
                <a:latin typeface="Arial Narrow" pitchFamily="34" charset="0"/>
              </a:rPr>
              <a:t>It is the </a:t>
            </a:r>
            <a:r>
              <a:rPr lang="en-US" dirty="0">
                <a:latin typeface="Arial Narrow" pitchFamily="34" charset="0"/>
              </a:rPr>
              <a:t>process by which individuals attempt to </a:t>
            </a:r>
            <a:r>
              <a:rPr lang="en-US" dirty="0">
                <a:solidFill>
                  <a:srgbClr val="FF0000"/>
                </a:solidFill>
                <a:latin typeface="Arial Narrow" pitchFamily="34" charset="0"/>
              </a:rPr>
              <a:t>overcome difficulties</a:t>
            </a:r>
            <a:r>
              <a:rPr lang="en-US" dirty="0">
                <a:latin typeface="Arial Narrow" pitchFamily="34" charset="0"/>
              </a:rPr>
              <a:t>, achieve plans that move</a:t>
            </a:r>
            <a:r>
              <a:rPr lang="en-US" dirty="0" smtClean="0">
                <a:latin typeface="Arial Narrow" pitchFamily="34" charset="0"/>
              </a:rPr>
              <a:t> </a:t>
            </a:r>
            <a:r>
              <a:rPr lang="en-US" dirty="0">
                <a:latin typeface="Arial Narrow" pitchFamily="34" charset="0"/>
              </a:rPr>
              <a:t>them from a starting situation to a desired goal, or </a:t>
            </a:r>
            <a:r>
              <a:rPr lang="en-US" dirty="0">
                <a:solidFill>
                  <a:srgbClr val="FF0000"/>
                </a:solidFill>
                <a:latin typeface="Arial Narrow" pitchFamily="34" charset="0"/>
              </a:rPr>
              <a:t>reach</a:t>
            </a:r>
            <a:br>
              <a:rPr lang="en-US" dirty="0">
                <a:solidFill>
                  <a:srgbClr val="FF0000"/>
                </a:solidFill>
                <a:latin typeface="Arial Narrow" pitchFamily="34" charset="0"/>
              </a:rPr>
            </a:br>
            <a:r>
              <a:rPr lang="en-US" dirty="0">
                <a:solidFill>
                  <a:srgbClr val="FF0000"/>
                </a:solidFill>
                <a:latin typeface="Arial Narrow" pitchFamily="34" charset="0"/>
              </a:rPr>
              <a:t>conclusions through the use of higher mental </a:t>
            </a:r>
            <a:r>
              <a:rPr lang="en-US" dirty="0" smtClean="0">
                <a:solidFill>
                  <a:srgbClr val="FF0000"/>
                </a:solidFill>
                <a:latin typeface="Arial Narrow" pitchFamily="34" charset="0"/>
              </a:rPr>
              <a:t>functions</a:t>
            </a:r>
            <a:r>
              <a:rPr lang="en-US" dirty="0" smtClean="0">
                <a:latin typeface="Arial Narrow" pitchFamily="34" charset="0"/>
              </a:rPr>
              <a:t>. </a:t>
            </a:r>
            <a:r>
              <a:rPr lang="en-US" dirty="0" smtClean="0"/>
              <a:t/>
            </a:r>
            <a:br>
              <a:rPr lang="en-US" dirty="0" smtClean="0"/>
            </a:br>
            <a:r>
              <a:rPr lang="en-US" dirty="0" smtClean="0"/>
              <a:t> </a:t>
            </a:r>
            <a:br>
              <a:rPr lang="en-US" dirty="0" smtClean="0"/>
            </a:br>
            <a:r>
              <a:rPr lang="en-US" dirty="0" smtClean="0"/>
              <a:t> </a:t>
            </a:r>
            <a:br>
              <a:rPr lang="en-US" dirty="0" smtClean="0"/>
            </a:b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228600" y="152400"/>
            <a:ext cx="8763000" cy="701675"/>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en-US" sz="4000" b="1" dirty="0" smtClean="0">
                <a:latin typeface="Arial Narrow" pitchFamily="34" charset="0"/>
              </a:rPr>
              <a:t>11. Stress Management</a:t>
            </a:r>
            <a:endParaRPr lang="en-US" b="1" dirty="0" smtClean="0">
              <a:latin typeface="Arial Narrow" pitchFamily="34" charset="0"/>
            </a:endParaRPr>
          </a:p>
        </p:txBody>
      </p:sp>
      <p:sp>
        <p:nvSpPr>
          <p:cNvPr id="20483" name="Rectangle 3"/>
          <p:cNvSpPr>
            <a:spLocks noGrp="1" noChangeArrowheads="1"/>
          </p:cNvSpPr>
          <p:nvPr>
            <p:ph type="body" idx="1"/>
          </p:nvPr>
        </p:nvSpPr>
        <p:spPr bwMode="auto">
          <a:xfrm>
            <a:off x="152400" y="1066800"/>
            <a:ext cx="8839200" cy="5562600"/>
          </a:xfrm>
          <a:noFill/>
          <a:ln>
            <a:miter lim="800000"/>
            <a:headEnd/>
            <a:tailEnd/>
          </a:ln>
        </p:spPr>
        <p:txBody>
          <a:bodyPr vert="horz" wrap="square" lIns="91440" tIns="45720" rIns="91440" bIns="45720" numCol="1" anchor="t" anchorCtr="0" compatLnSpc="1">
            <a:prstTxWarp prst="textNoShape">
              <a:avLst/>
            </a:prstTxWarp>
            <a:normAutofit/>
          </a:bodyPr>
          <a:lstStyle/>
          <a:p>
            <a:pPr eaLnBrk="1" hangingPunct="1"/>
            <a:r>
              <a:rPr lang="en-US" sz="2800" dirty="0" smtClean="0">
                <a:solidFill>
                  <a:srgbClr val="FF0000"/>
                </a:solidFill>
                <a:latin typeface="Arial Narrow" pitchFamily="34" charset="0"/>
              </a:rPr>
              <a:t>Recognizing  effects of emotions </a:t>
            </a:r>
            <a:r>
              <a:rPr lang="en-US" sz="2800" dirty="0" smtClean="0">
                <a:latin typeface="Arial Narrow" pitchFamily="34" charset="0"/>
              </a:rPr>
              <a:t>on others and ourselves.</a:t>
            </a:r>
          </a:p>
          <a:p>
            <a:pPr eaLnBrk="1" hangingPunct="1"/>
            <a:r>
              <a:rPr lang="en-US" sz="2800" dirty="0" smtClean="0">
                <a:latin typeface="Arial Narrow" pitchFamily="34" charset="0"/>
              </a:rPr>
              <a:t>Being </a:t>
            </a:r>
            <a:r>
              <a:rPr lang="en-US" sz="2800" dirty="0" smtClean="0">
                <a:solidFill>
                  <a:srgbClr val="FF0000"/>
                </a:solidFill>
                <a:latin typeface="Arial Narrow" pitchFamily="34" charset="0"/>
              </a:rPr>
              <a:t>aware of how emotions influence </a:t>
            </a:r>
            <a:r>
              <a:rPr lang="en-US" sz="2800" dirty="0" smtClean="0">
                <a:latin typeface="Arial Narrow" pitchFamily="34" charset="0"/>
              </a:rPr>
              <a:t>behaviors.</a:t>
            </a:r>
          </a:p>
          <a:p>
            <a:pPr eaLnBrk="1" hangingPunct="1"/>
            <a:r>
              <a:rPr lang="en-US" sz="2800" dirty="0" smtClean="0">
                <a:latin typeface="Arial Narrow" pitchFamily="34" charset="0"/>
              </a:rPr>
              <a:t>Able to </a:t>
            </a:r>
            <a:r>
              <a:rPr lang="en-US" sz="2800" dirty="0" smtClean="0">
                <a:solidFill>
                  <a:srgbClr val="FF0000"/>
                </a:solidFill>
                <a:latin typeface="Arial Narrow" pitchFamily="34" charset="0"/>
              </a:rPr>
              <a:t>respond to emotions </a:t>
            </a:r>
            <a:r>
              <a:rPr lang="en-US" sz="2800" dirty="0" smtClean="0">
                <a:latin typeface="Arial Narrow" pitchFamily="34" charset="0"/>
              </a:rPr>
              <a:t>appropriately.</a:t>
            </a:r>
          </a:p>
          <a:p>
            <a:pPr eaLnBrk="1" hangingPunct="1">
              <a:buNone/>
            </a:pPr>
            <a:endParaRPr lang="en-US" sz="2800" dirty="0" smtClean="0">
              <a:solidFill>
                <a:schemeClr val="accent2"/>
              </a:solidFill>
              <a:latin typeface="Arial Narrow" pitchFamily="34" charset="0"/>
            </a:endParaRPr>
          </a:p>
          <a:p>
            <a:pPr>
              <a:lnSpc>
                <a:spcPct val="90000"/>
              </a:lnSpc>
              <a:buClr>
                <a:srgbClr val="FF0000"/>
              </a:buClr>
              <a:buNone/>
            </a:pPr>
            <a:r>
              <a:rPr lang="en-US" sz="2800" b="1" dirty="0" smtClean="0">
                <a:latin typeface="Arial Narrow" pitchFamily="34" charset="0"/>
              </a:rPr>
              <a:t>How to Cope with Stress</a:t>
            </a:r>
          </a:p>
          <a:p>
            <a:pPr>
              <a:lnSpc>
                <a:spcPct val="90000"/>
              </a:lnSpc>
              <a:buClr>
                <a:srgbClr val="FF0000"/>
              </a:buClr>
            </a:pPr>
            <a:r>
              <a:rPr lang="en-US" sz="2800" dirty="0" smtClean="0">
                <a:latin typeface="Arial Narrow" pitchFamily="34" charset="0"/>
              </a:rPr>
              <a:t>Recognize </a:t>
            </a:r>
            <a:r>
              <a:rPr lang="en-US" sz="2800" dirty="0" smtClean="0">
                <a:solidFill>
                  <a:srgbClr val="FF0000"/>
                </a:solidFill>
                <a:latin typeface="Arial Narrow" pitchFamily="34" charset="0"/>
              </a:rPr>
              <a:t>sources</a:t>
            </a:r>
            <a:r>
              <a:rPr lang="en-US" sz="2800" dirty="0" smtClean="0">
                <a:latin typeface="Arial Narrow" pitchFamily="34" charset="0"/>
              </a:rPr>
              <a:t> of stress in our life</a:t>
            </a:r>
          </a:p>
          <a:p>
            <a:pPr>
              <a:lnSpc>
                <a:spcPct val="90000"/>
              </a:lnSpc>
              <a:buClr>
                <a:srgbClr val="FF0000"/>
              </a:buClr>
            </a:pPr>
            <a:r>
              <a:rPr lang="en-US" sz="2800" dirty="0" smtClean="0">
                <a:latin typeface="Arial Narrow" pitchFamily="34" charset="0"/>
              </a:rPr>
              <a:t>Recognizing </a:t>
            </a:r>
            <a:r>
              <a:rPr lang="en-US" sz="2800" dirty="0" smtClean="0">
                <a:solidFill>
                  <a:srgbClr val="FF0000"/>
                </a:solidFill>
                <a:latin typeface="Arial Narrow" pitchFamily="34" charset="0"/>
              </a:rPr>
              <a:t>how these affect us</a:t>
            </a:r>
          </a:p>
          <a:p>
            <a:pPr>
              <a:lnSpc>
                <a:spcPct val="90000"/>
              </a:lnSpc>
              <a:buClr>
                <a:srgbClr val="FF0000"/>
              </a:buClr>
            </a:pPr>
            <a:r>
              <a:rPr lang="en-US" sz="2800" dirty="0" smtClean="0">
                <a:solidFill>
                  <a:srgbClr val="FF0000"/>
                </a:solidFill>
                <a:latin typeface="Arial Narrow" pitchFamily="34" charset="0"/>
              </a:rPr>
              <a:t>Identifying ways </a:t>
            </a:r>
            <a:r>
              <a:rPr lang="en-US" sz="2800" dirty="0" smtClean="0">
                <a:latin typeface="Arial Narrow" pitchFamily="34" charset="0"/>
              </a:rPr>
              <a:t>that help to </a:t>
            </a:r>
            <a:r>
              <a:rPr lang="en-US" sz="2800" dirty="0" smtClean="0">
                <a:solidFill>
                  <a:srgbClr val="FF0000"/>
                </a:solidFill>
                <a:latin typeface="Arial Narrow" pitchFamily="34" charset="0"/>
              </a:rPr>
              <a:t>control</a:t>
            </a:r>
            <a:r>
              <a:rPr lang="en-US" sz="2800" dirty="0" smtClean="0">
                <a:latin typeface="Arial Narrow" pitchFamily="34" charset="0"/>
              </a:rPr>
              <a:t> our levels of stress</a:t>
            </a:r>
          </a:p>
          <a:p>
            <a:pPr>
              <a:lnSpc>
                <a:spcPct val="90000"/>
              </a:lnSpc>
              <a:buClr>
                <a:srgbClr val="FF0000"/>
              </a:buClr>
            </a:pPr>
            <a:r>
              <a:rPr lang="en-US" sz="2800" dirty="0" smtClean="0">
                <a:latin typeface="Arial Narrow" pitchFamily="34" charset="0"/>
              </a:rPr>
              <a:t>Learning how to relax </a:t>
            </a:r>
            <a:r>
              <a:rPr lang="en-US" sz="2800" dirty="0" smtClean="0">
                <a:solidFill>
                  <a:srgbClr val="FF0000"/>
                </a:solidFill>
                <a:latin typeface="Arial Narrow" pitchFamily="34" charset="0"/>
              </a:rPr>
              <a:t>to minimize tensions</a:t>
            </a:r>
          </a:p>
          <a:p>
            <a:pPr eaLnBrk="1" hangingPunct="1"/>
            <a:endParaRPr lang="en-US" sz="2800" dirty="0" smtClean="0">
              <a:solidFill>
                <a:schemeClr val="accent2"/>
              </a:solidFill>
              <a:latin typeface="Arial Narrow" pitchFamily="34" charset="0"/>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100" i="1" dirty="0" smtClean="0"/>
              <a:t>Group the following into thinking, working, social and learning skills. Discuss the grouping in class.</a:t>
            </a:r>
            <a:endParaRPr lang="en-US" dirty="0"/>
          </a:p>
        </p:txBody>
      </p:sp>
      <p:graphicFrame>
        <p:nvGraphicFramePr>
          <p:cNvPr id="5" name="Table 4"/>
          <p:cNvGraphicFramePr>
            <a:graphicFrameLocks noGrp="1"/>
          </p:cNvGraphicFramePr>
          <p:nvPr/>
        </p:nvGraphicFramePr>
        <p:xfrm>
          <a:off x="228600" y="1447800"/>
          <a:ext cx="8763000" cy="5181600"/>
        </p:xfrm>
        <a:graphic>
          <a:graphicData uri="http://schemas.openxmlformats.org/drawingml/2006/table">
            <a:tbl>
              <a:tblPr firstRow="1" bandRow="1">
                <a:tableStyleId>{2D5ABB26-0587-4C30-8999-92F81FD0307C}</a:tableStyleId>
              </a:tblPr>
              <a:tblGrid>
                <a:gridCol w="2190750"/>
                <a:gridCol w="2190750"/>
                <a:gridCol w="2190750"/>
                <a:gridCol w="2190750"/>
              </a:tblGrid>
              <a:tr h="658678">
                <a:tc>
                  <a:txBody>
                    <a:bodyPr/>
                    <a:lstStyle/>
                    <a:p>
                      <a:pPr algn="ctr"/>
                      <a:r>
                        <a:rPr lang="en-US" sz="2800" dirty="0" smtClean="0">
                          <a:solidFill>
                            <a:srgbClr val="FF0000"/>
                          </a:solidFill>
                        </a:rPr>
                        <a:t>a</a:t>
                      </a:r>
                      <a:endParaRPr lang="en-US" sz="2800" dirty="0">
                        <a:solidFill>
                          <a:srgbClr val="FF0000"/>
                        </a:solidFill>
                        <a:latin typeface="Arial Narrow" pitchFamily="34" charset="0"/>
                      </a:endParaRPr>
                    </a:p>
                  </a:txBody>
                  <a:tcPr/>
                </a:tc>
                <a:tc>
                  <a:txBody>
                    <a:bodyPr/>
                    <a:lstStyle/>
                    <a:p>
                      <a:pPr algn="ctr"/>
                      <a:r>
                        <a:rPr lang="en-US" sz="2800" dirty="0" smtClean="0">
                          <a:solidFill>
                            <a:srgbClr val="FF0000"/>
                          </a:solidFill>
                        </a:rPr>
                        <a:t>b</a:t>
                      </a:r>
                      <a:endParaRPr lang="en-US" sz="2800" dirty="0">
                        <a:solidFill>
                          <a:srgbClr val="FF0000"/>
                        </a:solidFill>
                        <a:latin typeface="Arial Narrow" pitchFamily="34" charset="0"/>
                      </a:endParaRPr>
                    </a:p>
                  </a:txBody>
                  <a:tcPr/>
                </a:tc>
                <a:tc>
                  <a:txBody>
                    <a:bodyPr/>
                    <a:lstStyle/>
                    <a:p>
                      <a:pPr algn="ctr"/>
                      <a:r>
                        <a:rPr lang="en-US" sz="2800" dirty="0" smtClean="0">
                          <a:solidFill>
                            <a:srgbClr val="FF0000"/>
                          </a:solidFill>
                        </a:rPr>
                        <a:t>c</a:t>
                      </a:r>
                      <a:endParaRPr lang="en-US" sz="2800" dirty="0">
                        <a:solidFill>
                          <a:srgbClr val="FF0000"/>
                        </a:solidFill>
                        <a:latin typeface="Arial Narrow" pitchFamily="34" charset="0"/>
                      </a:endParaRPr>
                    </a:p>
                  </a:txBody>
                  <a:tcPr/>
                </a:tc>
                <a:tc>
                  <a:txBody>
                    <a:bodyPr/>
                    <a:lstStyle/>
                    <a:p>
                      <a:pPr algn="ctr"/>
                      <a:r>
                        <a:rPr lang="en-US" sz="2800" dirty="0" smtClean="0">
                          <a:solidFill>
                            <a:srgbClr val="FF0000"/>
                          </a:solidFill>
                        </a:rPr>
                        <a:t>d</a:t>
                      </a:r>
                      <a:endParaRPr lang="en-US" sz="2800" dirty="0">
                        <a:solidFill>
                          <a:srgbClr val="FF0000"/>
                        </a:solidFill>
                        <a:latin typeface="Arial Narrow" pitchFamily="34" charset="0"/>
                      </a:endParaRPr>
                    </a:p>
                  </a:txBody>
                  <a:tcPr/>
                </a:tc>
              </a:tr>
              <a:tr h="4522922">
                <a:tc>
                  <a:txBody>
                    <a:bodyPr/>
                    <a:lstStyle/>
                    <a:p>
                      <a:pPr marL="182880" indent="-182880">
                        <a:buFont typeface="Wingdings" pitchFamily="2" charset="2"/>
                        <a:buChar char="§"/>
                      </a:pPr>
                      <a:r>
                        <a:rPr lang="en-US" sz="2600" dirty="0" smtClean="0">
                          <a:latin typeface="Arial Narrow" pitchFamily="34" charset="0"/>
                        </a:rPr>
                        <a:t>Decision making</a:t>
                      </a:r>
                    </a:p>
                    <a:p>
                      <a:pPr marL="182880" indent="-182880">
                        <a:buFont typeface="Wingdings" pitchFamily="2" charset="2"/>
                        <a:buChar char="§"/>
                      </a:pPr>
                      <a:r>
                        <a:rPr lang="en-US" sz="2600" dirty="0" smtClean="0">
                          <a:latin typeface="Arial Narrow" pitchFamily="34" charset="0"/>
                        </a:rPr>
                        <a:t> </a:t>
                      </a:r>
                      <a:r>
                        <a:rPr lang="en-US" sz="2600" dirty="0">
                          <a:latin typeface="Arial Narrow" pitchFamily="34" charset="0"/>
                        </a:rPr>
                        <a:t>Self- </a:t>
                      </a:r>
                      <a:r>
                        <a:rPr lang="en-US" sz="2600" dirty="0" smtClean="0">
                          <a:latin typeface="Arial Narrow" pitchFamily="34" charset="0"/>
                        </a:rPr>
                        <a:t>knowledge</a:t>
                      </a:r>
                    </a:p>
                    <a:p>
                      <a:pPr marL="182880" indent="-182880">
                        <a:buFont typeface="Wingdings" pitchFamily="2" charset="2"/>
                        <a:buChar char="§"/>
                      </a:pPr>
                      <a:r>
                        <a:rPr lang="en-US" sz="2600" dirty="0" smtClean="0">
                          <a:latin typeface="Arial Narrow" pitchFamily="34" charset="0"/>
                        </a:rPr>
                        <a:t> </a:t>
                      </a:r>
                      <a:r>
                        <a:rPr lang="en-US" sz="2600" dirty="0">
                          <a:latin typeface="Arial Narrow" pitchFamily="34" charset="0"/>
                        </a:rPr>
                        <a:t>Critical </a:t>
                      </a:r>
                      <a:r>
                        <a:rPr lang="en-US" sz="2600" dirty="0" smtClean="0">
                          <a:latin typeface="Arial Narrow" pitchFamily="34" charset="0"/>
                        </a:rPr>
                        <a:t>thinking</a:t>
                      </a:r>
                    </a:p>
                    <a:p>
                      <a:pPr marL="182880" indent="-182880">
                        <a:buFont typeface="Wingdings" pitchFamily="2" charset="2"/>
                        <a:buChar char="§"/>
                      </a:pPr>
                      <a:r>
                        <a:rPr lang="en-US" sz="2600" dirty="0" smtClean="0">
                          <a:latin typeface="Arial Narrow" pitchFamily="34" charset="0"/>
                        </a:rPr>
                        <a:t> </a:t>
                      </a:r>
                      <a:r>
                        <a:rPr lang="en-US" sz="2600" dirty="0">
                          <a:latin typeface="Arial Narrow" pitchFamily="34" charset="0"/>
                        </a:rPr>
                        <a:t>Accessing and</a:t>
                      </a:r>
                      <a:br>
                        <a:rPr lang="en-US" sz="2600" dirty="0">
                          <a:latin typeface="Arial Narrow" pitchFamily="34" charset="0"/>
                        </a:rPr>
                      </a:br>
                      <a:r>
                        <a:rPr lang="en-US" sz="2600" dirty="0">
                          <a:latin typeface="Arial Narrow" pitchFamily="34" charset="0"/>
                        </a:rPr>
                        <a:t>analyzing</a:t>
                      </a:r>
                      <a:br>
                        <a:rPr lang="en-US" sz="2600" dirty="0">
                          <a:latin typeface="Arial Narrow" pitchFamily="34" charset="0"/>
                        </a:rPr>
                      </a:br>
                      <a:r>
                        <a:rPr lang="en-US" sz="2600" dirty="0" smtClean="0">
                          <a:latin typeface="Arial Narrow" pitchFamily="34" charset="0"/>
                        </a:rPr>
                        <a:t>information</a:t>
                      </a:r>
                    </a:p>
                    <a:p>
                      <a:pPr marL="182880" indent="-182880">
                        <a:buFont typeface="Wingdings" pitchFamily="2" charset="2"/>
                        <a:buChar char="§"/>
                      </a:pPr>
                      <a:r>
                        <a:rPr lang="en-US" sz="2600" dirty="0" smtClean="0">
                          <a:latin typeface="Arial Narrow" pitchFamily="34" charset="0"/>
                        </a:rPr>
                        <a:t>Stress management</a:t>
                      </a:r>
                      <a:endParaRPr lang="en-US" sz="2600" dirty="0">
                        <a:latin typeface="Arial Narrow" pitchFamily="34" charset="0"/>
                      </a:endParaRPr>
                    </a:p>
                  </a:txBody>
                  <a:tcPr anchor="ctr"/>
                </a:tc>
                <a:tc>
                  <a:txBody>
                    <a:bodyPr/>
                    <a:lstStyle/>
                    <a:p>
                      <a:pPr marL="182880" indent="-182880">
                        <a:buFont typeface="Arial" pitchFamily="34" charset="0"/>
                        <a:buChar char="•"/>
                      </a:pPr>
                      <a:r>
                        <a:rPr lang="en-US" sz="2400" baseline="0" dirty="0" smtClean="0"/>
                        <a:t> </a:t>
                      </a:r>
                      <a:r>
                        <a:rPr lang="en-US" sz="2400" baseline="0" dirty="0" smtClean="0">
                          <a:latin typeface="Arial Narrow" pitchFamily="34" charset="0"/>
                        </a:rPr>
                        <a:t>I</a:t>
                      </a:r>
                      <a:r>
                        <a:rPr lang="en-US" sz="2400" dirty="0" smtClean="0">
                          <a:latin typeface="Arial Narrow" pitchFamily="34" charset="0"/>
                        </a:rPr>
                        <a:t>CT </a:t>
                      </a:r>
                    </a:p>
                    <a:p>
                      <a:pPr marL="182880" indent="-182880">
                        <a:buFont typeface="Arial" pitchFamily="34" charset="0"/>
                        <a:buChar char="•"/>
                      </a:pPr>
                      <a:r>
                        <a:rPr lang="en-US" sz="2400" dirty="0" smtClean="0">
                          <a:latin typeface="Arial Narrow" pitchFamily="34" charset="0"/>
                        </a:rPr>
                        <a:t>Agility </a:t>
                      </a:r>
                      <a:r>
                        <a:rPr lang="en-US" sz="2400" dirty="0">
                          <a:latin typeface="Arial Narrow" pitchFamily="34" charset="0"/>
                        </a:rPr>
                        <a:t>and </a:t>
                      </a:r>
                      <a:r>
                        <a:rPr lang="en-US" sz="2400" dirty="0" smtClean="0">
                          <a:latin typeface="Arial Narrow" pitchFamily="34" charset="0"/>
                        </a:rPr>
                        <a:t>adaptability</a:t>
                      </a:r>
                    </a:p>
                    <a:p>
                      <a:pPr marL="182880" indent="-182880">
                        <a:buFont typeface="Arial" pitchFamily="34" charset="0"/>
                        <a:buChar char="•"/>
                      </a:pPr>
                      <a:r>
                        <a:rPr lang="en-US" sz="2400" dirty="0" smtClean="0">
                          <a:latin typeface="Arial Narrow" pitchFamily="34" charset="0"/>
                        </a:rPr>
                        <a:t>Receiving </a:t>
                      </a:r>
                      <a:r>
                        <a:rPr lang="en-US" sz="2400" dirty="0">
                          <a:latin typeface="Arial Narrow" pitchFamily="34" charset="0"/>
                        </a:rPr>
                        <a:t>and giving</a:t>
                      </a:r>
                      <a:br>
                        <a:rPr lang="en-US" sz="2400" dirty="0">
                          <a:latin typeface="Arial Narrow" pitchFamily="34" charset="0"/>
                        </a:rPr>
                      </a:br>
                      <a:r>
                        <a:rPr lang="en-US" sz="2400" dirty="0" smtClean="0">
                          <a:latin typeface="Arial Narrow" pitchFamily="34" charset="0"/>
                        </a:rPr>
                        <a:t>feedback</a:t>
                      </a:r>
                    </a:p>
                    <a:p>
                      <a:pPr marL="182880" indent="-182880">
                        <a:buFont typeface="Arial" pitchFamily="34" charset="0"/>
                        <a:buChar char="•"/>
                      </a:pPr>
                      <a:r>
                        <a:rPr lang="en-US" sz="2400" dirty="0" smtClean="0">
                          <a:latin typeface="Arial Narrow" pitchFamily="34" charset="0"/>
                        </a:rPr>
                        <a:t>Handling criticism</a:t>
                      </a:r>
                    </a:p>
                    <a:p>
                      <a:pPr marL="182880" indent="-182880">
                        <a:buFont typeface="Arial" pitchFamily="34" charset="0"/>
                        <a:buChar char="•"/>
                      </a:pPr>
                      <a:r>
                        <a:rPr lang="en-US" sz="2400" dirty="0" smtClean="0">
                          <a:latin typeface="Arial Narrow" pitchFamily="34" charset="0"/>
                        </a:rPr>
                        <a:t>Innovation/exploration</a:t>
                      </a:r>
                    </a:p>
                    <a:p>
                      <a:pPr marL="182880" indent="-182880">
                        <a:buFont typeface="Arial" pitchFamily="34" charset="0"/>
                        <a:buChar char="•"/>
                      </a:pPr>
                      <a:r>
                        <a:rPr lang="en-US" sz="2400" dirty="0" smtClean="0">
                          <a:latin typeface="Arial Narrow" pitchFamily="34" charset="0"/>
                        </a:rPr>
                        <a:t>Learner </a:t>
                      </a:r>
                      <a:r>
                        <a:rPr lang="en-US" sz="2400" dirty="0">
                          <a:latin typeface="Arial Narrow" pitchFamily="34" charset="0"/>
                        </a:rPr>
                        <a:t>autonomy</a:t>
                      </a:r>
                    </a:p>
                  </a:txBody>
                  <a:tcPr anchor="ctr"/>
                </a:tc>
                <a:tc>
                  <a:txBody>
                    <a:bodyPr/>
                    <a:lstStyle/>
                    <a:p>
                      <a:pPr marL="182880" indent="-182880">
                        <a:buFont typeface="Wingdings" pitchFamily="2" charset="2"/>
                        <a:buChar char="§"/>
                      </a:pPr>
                      <a:r>
                        <a:rPr lang="en-US" sz="2800" dirty="0" smtClean="0">
                          <a:latin typeface="Arial Narrow" pitchFamily="34" charset="0"/>
                        </a:rPr>
                        <a:t>Cooperation </a:t>
                      </a:r>
                    </a:p>
                    <a:p>
                      <a:pPr marL="182880" indent="-182880">
                        <a:buFont typeface="Wingdings" pitchFamily="2" charset="2"/>
                        <a:buChar char="§"/>
                      </a:pPr>
                      <a:r>
                        <a:rPr lang="en-US" sz="2800" dirty="0" smtClean="0">
                          <a:latin typeface="Arial Narrow" pitchFamily="34" charset="0"/>
                        </a:rPr>
                        <a:t> People</a:t>
                      </a:r>
                      <a:r>
                        <a:rPr lang="en-US" sz="2800" dirty="0">
                          <a:latin typeface="Arial Narrow" pitchFamily="34" charset="0"/>
                        </a:rPr>
                        <a:t/>
                      </a:r>
                      <a:br>
                        <a:rPr lang="en-US" sz="2800" dirty="0">
                          <a:latin typeface="Arial Narrow" pitchFamily="34" charset="0"/>
                        </a:rPr>
                      </a:br>
                      <a:r>
                        <a:rPr lang="en-US" sz="2800" dirty="0" smtClean="0">
                          <a:latin typeface="Arial Narrow" pitchFamily="34" charset="0"/>
                        </a:rPr>
                        <a:t>Management</a:t>
                      </a:r>
                    </a:p>
                    <a:p>
                      <a:pPr marL="182880" indent="-182880">
                        <a:buFont typeface="Wingdings" pitchFamily="2" charset="2"/>
                        <a:buChar char="§"/>
                      </a:pPr>
                      <a:r>
                        <a:rPr lang="en-US" sz="2800" baseline="0" dirty="0" smtClean="0">
                          <a:latin typeface="Arial Narrow" pitchFamily="34" charset="0"/>
                        </a:rPr>
                        <a:t> </a:t>
                      </a:r>
                      <a:r>
                        <a:rPr lang="en-US" sz="2800" dirty="0" smtClean="0">
                          <a:latin typeface="Arial Narrow" pitchFamily="34" charset="0"/>
                        </a:rPr>
                        <a:t>Time management</a:t>
                      </a:r>
                    </a:p>
                    <a:p>
                      <a:pPr marL="182880" indent="-182880">
                        <a:buFont typeface="Wingdings" pitchFamily="2" charset="2"/>
                        <a:buChar char="§"/>
                      </a:pPr>
                      <a:r>
                        <a:rPr lang="en-US" sz="2800" baseline="0" dirty="0" smtClean="0">
                          <a:latin typeface="Arial Narrow" pitchFamily="34" charset="0"/>
                        </a:rPr>
                        <a:t> </a:t>
                      </a:r>
                      <a:r>
                        <a:rPr lang="en-US" sz="2800" dirty="0" smtClean="0">
                          <a:latin typeface="Arial Narrow" pitchFamily="34" charset="0"/>
                        </a:rPr>
                        <a:t>Organization</a:t>
                      </a:r>
                    </a:p>
                    <a:p>
                      <a:pPr marL="182880" indent="-182880">
                        <a:buFont typeface="Wingdings" pitchFamily="2" charset="2"/>
                        <a:buChar char="§"/>
                      </a:pPr>
                      <a:r>
                        <a:rPr lang="en-US" sz="2800" baseline="0" dirty="0" smtClean="0">
                          <a:latin typeface="Arial Narrow" pitchFamily="34" charset="0"/>
                        </a:rPr>
                        <a:t> </a:t>
                      </a:r>
                      <a:r>
                        <a:rPr lang="en-US" sz="2800" dirty="0" smtClean="0">
                          <a:latin typeface="Arial Narrow" pitchFamily="34" charset="0"/>
                        </a:rPr>
                        <a:t>Negotiating</a:t>
                      </a:r>
                    </a:p>
                    <a:p>
                      <a:pPr marL="182880" indent="-182880">
                        <a:buFont typeface="Wingdings" pitchFamily="2" charset="2"/>
                        <a:buChar char="§"/>
                      </a:pPr>
                      <a:r>
                        <a:rPr lang="en-US" sz="2800" dirty="0" smtClean="0">
                          <a:latin typeface="Arial Narrow" pitchFamily="34" charset="0"/>
                        </a:rPr>
                        <a:t> </a:t>
                      </a:r>
                      <a:r>
                        <a:rPr lang="en-US" sz="2800" dirty="0">
                          <a:latin typeface="Arial Narrow" pitchFamily="34" charset="0"/>
                        </a:rPr>
                        <a:t>Leading by</a:t>
                      </a:r>
                      <a:br>
                        <a:rPr lang="en-US" sz="2800" dirty="0">
                          <a:latin typeface="Arial Narrow" pitchFamily="34" charset="0"/>
                        </a:rPr>
                      </a:br>
                      <a:r>
                        <a:rPr lang="en-US" sz="2800" dirty="0">
                          <a:latin typeface="Arial Narrow" pitchFamily="34" charset="0"/>
                        </a:rPr>
                        <a:t>influence</a:t>
                      </a:r>
                    </a:p>
                  </a:txBody>
                  <a:tcPr anchor="ctr"/>
                </a:tc>
                <a:tc>
                  <a:txBody>
                    <a:bodyPr/>
                    <a:lstStyle/>
                    <a:p>
                      <a:pPr marL="182880" indent="-182880">
                        <a:buFont typeface="Arial" pitchFamily="34" charset="0"/>
                        <a:buChar char="•"/>
                      </a:pPr>
                      <a:r>
                        <a:rPr lang="en-US" sz="2800" dirty="0" smtClean="0">
                          <a:latin typeface="Arial Narrow" pitchFamily="34" charset="0"/>
                        </a:rPr>
                        <a:t>Citizenship</a:t>
                      </a:r>
                    </a:p>
                    <a:p>
                      <a:pPr marL="182880" indent="-182880">
                        <a:buFont typeface="Arial" pitchFamily="34" charset="0"/>
                        <a:buChar char="•"/>
                      </a:pPr>
                      <a:r>
                        <a:rPr lang="en-US" sz="2800" dirty="0" smtClean="0">
                          <a:latin typeface="Arial Narrow" pitchFamily="34" charset="0"/>
                        </a:rPr>
                        <a:t> Social responsibility</a:t>
                      </a:r>
                    </a:p>
                    <a:p>
                      <a:pPr marL="182880" indent="-182880">
                        <a:buFont typeface="Arial" pitchFamily="34" charset="0"/>
                        <a:buChar char="•"/>
                      </a:pPr>
                      <a:r>
                        <a:rPr lang="en-US" sz="2800" dirty="0" smtClean="0">
                          <a:latin typeface="Arial Narrow" pitchFamily="34" charset="0"/>
                        </a:rPr>
                        <a:t> Cultural awareness</a:t>
                      </a:r>
                    </a:p>
                    <a:p>
                      <a:pPr marL="182880" indent="-182880">
                        <a:buFont typeface="Arial" pitchFamily="34" charset="0"/>
                        <a:buChar char="•"/>
                      </a:pPr>
                      <a:r>
                        <a:rPr lang="en-US" sz="2800" dirty="0" smtClean="0">
                          <a:latin typeface="Arial Narrow" pitchFamily="34" charset="0"/>
                        </a:rPr>
                        <a:t> Social development</a:t>
                      </a:r>
                    </a:p>
                    <a:p>
                      <a:pPr marL="182880" indent="-182880">
                        <a:buFont typeface="Arial" pitchFamily="34" charset="0"/>
                        <a:buChar char="•"/>
                      </a:pPr>
                      <a:r>
                        <a:rPr lang="en-US" sz="2800" dirty="0" smtClean="0">
                          <a:latin typeface="Arial Narrow" pitchFamily="34" charset="0"/>
                        </a:rPr>
                        <a:t> Respecting diversity</a:t>
                      </a:r>
                    </a:p>
                    <a:p>
                      <a:pPr marL="182880" indent="-182880">
                        <a:buFont typeface="Arial" pitchFamily="34" charset="0"/>
                        <a:buChar char="•"/>
                      </a:pPr>
                      <a:r>
                        <a:rPr lang="en-US" sz="2800" dirty="0" smtClean="0">
                          <a:latin typeface="Arial Narrow" pitchFamily="34" charset="0"/>
                        </a:rPr>
                        <a:t>Networking</a:t>
                      </a:r>
                      <a:endParaRPr lang="en-US" sz="2800" dirty="0">
                        <a:latin typeface="Arial Narrow" pitchFamily="34" charset="0"/>
                      </a:endParaRPr>
                    </a:p>
                  </a:txBody>
                  <a:tcPr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bwMode="auto">
          <a:xfrm>
            <a:off x="304800" y="228600"/>
            <a:ext cx="8534400" cy="762000"/>
          </a:xfrm>
          <a:noFill/>
          <a:ln>
            <a:miter lim="800000"/>
            <a:headEnd/>
            <a:tailEnd/>
          </a:ln>
        </p:spPr>
        <p:txBody>
          <a:bodyPr vert="horz" wrap="square" lIns="91440" tIns="45720" rIns="91440" bIns="45720" numCol="1" anchor="t" anchorCtr="0" compatLnSpc="1">
            <a:prstTxWarp prst="textNoShape">
              <a:avLst/>
            </a:prstTxWarp>
          </a:bodyPr>
          <a:lstStyle/>
          <a:p>
            <a:pPr algn="l" eaLnBrk="1" hangingPunct="1"/>
            <a:r>
              <a:rPr lang="en-US" sz="3200" b="1" dirty="0" smtClean="0">
                <a:solidFill>
                  <a:srgbClr val="CC0099"/>
                </a:solidFill>
                <a:latin typeface="Arial Narrow" pitchFamily="34" charset="0"/>
              </a:rPr>
              <a:t>The Four Pillars of Education</a:t>
            </a:r>
          </a:p>
        </p:txBody>
      </p:sp>
      <p:sp>
        <p:nvSpPr>
          <p:cNvPr id="164868" name="Text Box 4"/>
          <p:cNvSpPr txBox="1">
            <a:spLocks noChangeArrowheads="1"/>
          </p:cNvSpPr>
          <p:nvPr/>
        </p:nvSpPr>
        <p:spPr bwMode="auto">
          <a:xfrm>
            <a:off x="152400" y="1066800"/>
            <a:ext cx="7696200" cy="461665"/>
          </a:xfrm>
          <a:prstGeom prst="rect">
            <a:avLst/>
          </a:prstGeom>
          <a:noFill/>
          <a:ln w="9525">
            <a:noFill/>
            <a:miter lim="800000"/>
            <a:headEnd/>
            <a:tailEnd/>
          </a:ln>
        </p:spPr>
        <p:txBody>
          <a:bodyPr wrap="square">
            <a:spAutoFit/>
          </a:bodyPr>
          <a:lstStyle/>
          <a:p>
            <a:pPr>
              <a:spcBef>
                <a:spcPct val="50000"/>
              </a:spcBef>
            </a:pPr>
            <a:r>
              <a:rPr lang="en-US" sz="2400" b="1" dirty="0">
                <a:solidFill>
                  <a:srgbClr val="FF0000"/>
                </a:solidFill>
              </a:rPr>
              <a:t>Learning to Know: Developing Reasoning</a:t>
            </a:r>
          </a:p>
        </p:txBody>
      </p:sp>
      <p:sp>
        <p:nvSpPr>
          <p:cNvPr id="164869" name="Text Box 5"/>
          <p:cNvSpPr txBox="1">
            <a:spLocks noChangeArrowheads="1"/>
          </p:cNvSpPr>
          <p:nvPr/>
        </p:nvSpPr>
        <p:spPr bwMode="auto">
          <a:xfrm>
            <a:off x="228600" y="1447800"/>
            <a:ext cx="8305800" cy="1200329"/>
          </a:xfrm>
          <a:prstGeom prst="rect">
            <a:avLst/>
          </a:prstGeom>
          <a:noFill/>
          <a:ln w="9525">
            <a:noFill/>
            <a:miter lim="800000"/>
            <a:headEnd/>
            <a:tailEnd/>
          </a:ln>
        </p:spPr>
        <p:txBody>
          <a:bodyPr wrap="square">
            <a:spAutoFit/>
          </a:bodyPr>
          <a:lstStyle/>
          <a:p>
            <a:pPr>
              <a:spcBef>
                <a:spcPct val="50000"/>
              </a:spcBef>
            </a:pPr>
            <a:r>
              <a:rPr lang="en-US" sz="2400" dirty="0">
                <a:latin typeface="Arial Narrow" pitchFamily="34" charset="0"/>
              </a:rPr>
              <a:t>It relates to cognitive life skills such as critical thinking, problem solving and decision making skills. It thus refers to both the acquisition of knowledge as well as the use of knowledge.</a:t>
            </a:r>
          </a:p>
        </p:txBody>
      </p:sp>
      <p:sp>
        <p:nvSpPr>
          <p:cNvPr id="164870" name="Text Box 6"/>
          <p:cNvSpPr txBox="1">
            <a:spLocks noChangeArrowheads="1"/>
          </p:cNvSpPr>
          <p:nvPr/>
        </p:nvSpPr>
        <p:spPr bwMode="auto">
          <a:xfrm>
            <a:off x="228600" y="2743200"/>
            <a:ext cx="7010400" cy="461665"/>
          </a:xfrm>
          <a:prstGeom prst="rect">
            <a:avLst/>
          </a:prstGeom>
          <a:noFill/>
          <a:ln w="9525">
            <a:noFill/>
            <a:miter lim="800000"/>
            <a:headEnd/>
            <a:tailEnd/>
          </a:ln>
        </p:spPr>
        <p:txBody>
          <a:bodyPr wrap="square">
            <a:spAutoFit/>
          </a:bodyPr>
          <a:lstStyle/>
          <a:p>
            <a:pPr>
              <a:spcBef>
                <a:spcPct val="50000"/>
              </a:spcBef>
            </a:pPr>
            <a:r>
              <a:rPr lang="en-US" sz="2400" b="1" dirty="0">
                <a:solidFill>
                  <a:srgbClr val="FF0000"/>
                </a:solidFill>
                <a:latin typeface="Arial Narrow" pitchFamily="34" charset="0"/>
              </a:rPr>
              <a:t>Learning to Be: Enhancing Agency</a:t>
            </a:r>
          </a:p>
        </p:txBody>
      </p:sp>
      <p:sp>
        <p:nvSpPr>
          <p:cNvPr id="164871" name="Text Box 7"/>
          <p:cNvSpPr txBox="1">
            <a:spLocks noChangeArrowheads="1"/>
          </p:cNvSpPr>
          <p:nvPr/>
        </p:nvSpPr>
        <p:spPr bwMode="auto">
          <a:xfrm>
            <a:off x="228600" y="3200400"/>
            <a:ext cx="7924800" cy="830997"/>
          </a:xfrm>
          <a:prstGeom prst="rect">
            <a:avLst/>
          </a:prstGeom>
          <a:noFill/>
          <a:ln w="9525">
            <a:noFill/>
            <a:miter lim="800000"/>
            <a:headEnd/>
            <a:tailEnd/>
          </a:ln>
        </p:spPr>
        <p:txBody>
          <a:bodyPr wrap="square">
            <a:spAutoFit/>
          </a:bodyPr>
          <a:lstStyle/>
          <a:p>
            <a:pPr>
              <a:spcBef>
                <a:spcPct val="50000"/>
              </a:spcBef>
            </a:pPr>
            <a:r>
              <a:rPr lang="en-US" sz="2400" dirty="0">
                <a:latin typeface="Arial Narrow" pitchFamily="34" charset="0"/>
              </a:rPr>
              <a:t>It relates to self-management life skills related to self awareness, self esteem &amp; self confidence, and coping </a:t>
            </a:r>
            <a:r>
              <a:rPr lang="en-US" sz="2400" dirty="0" smtClean="0">
                <a:latin typeface="Arial Narrow" pitchFamily="34" charset="0"/>
              </a:rPr>
              <a:t>skills.</a:t>
            </a:r>
            <a:endParaRPr lang="en-US" sz="2400" dirty="0">
              <a:latin typeface="Arial Narrow" pitchFamily="34" charset="0"/>
            </a:endParaRPr>
          </a:p>
        </p:txBody>
      </p:sp>
      <p:sp>
        <p:nvSpPr>
          <p:cNvPr id="164872" name="Text Box 8"/>
          <p:cNvSpPr txBox="1">
            <a:spLocks noChangeArrowheads="1"/>
          </p:cNvSpPr>
          <p:nvPr/>
        </p:nvSpPr>
        <p:spPr bwMode="auto">
          <a:xfrm>
            <a:off x="228600" y="4038600"/>
            <a:ext cx="8915400" cy="461665"/>
          </a:xfrm>
          <a:prstGeom prst="rect">
            <a:avLst/>
          </a:prstGeom>
          <a:noFill/>
          <a:ln w="9525">
            <a:noFill/>
            <a:miter lim="800000"/>
            <a:headEnd/>
            <a:tailEnd/>
          </a:ln>
        </p:spPr>
        <p:txBody>
          <a:bodyPr wrap="square">
            <a:spAutoFit/>
          </a:bodyPr>
          <a:lstStyle/>
          <a:p>
            <a:pPr>
              <a:spcBef>
                <a:spcPct val="50000"/>
              </a:spcBef>
            </a:pPr>
            <a:r>
              <a:rPr lang="en-US" sz="2400" b="1" dirty="0">
                <a:solidFill>
                  <a:srgbClr val="FF0000"/>
                </a:solidFill>
                <a:latin typeface="Arial Narrow" pitchFamily="34" charset="0"/>
              </a:rPr>
              <a:t>Learning to Live Together: Building Potential Through Social Capital</a:t>
            </a:r>
          </a:p>
        </p:txBody>
      </p:sp>
      <p:sp>
        <p:nvSpPr>
          <p:cNvPr id="164873" name="Text Box 9"/>
          <p:cNvSpPr txBox="1">
            <a:spLocks noChangeArrowheads="1"/>
          </p:cNvSpPr>
          <p:nvPr/>
        </p:nvSpPr>
        <p:spPr bwMode="auto">
          <a:xfrm>
            <a:off x="228600" y="4419600"/>
            <a:ext cx="8763000" cy="830997"/>
          </a:xfrm>
          <a:prstGeom prst="rect">
            <a:avLst/>
          </a:prstGeom>
          <a:noFill/>
          <a:ln w="9525">
            <a:noFill/>
            <a:miter lim="800000"/>
            <a:headEnd/>
            <a:tailEnd/>
          </a:ln>
        </p:spPr>
        <p:txBody>
          <a:bodyPr wrap="square">
            <a:spAutoFit/>
          </a:bodyPr>
          <a:lstStyle/>
          <a:p>
            <a:pPr>
              <a:spcBef>
                <a:spcPct val="50000"/>
              </a:spcBef>
            </a:pPr>
            <a:r>
              <a:rPr lang="en-US" sz="2400" dirty="0">
                <a:latin typeface="Arial Narrow" pitchFamily="34" charset="0"/>
              </a:rPr>
              <a:t>It relates to communication skills, Negotiation skills, Refusal skills, Assertiveness skills, Interpersonal skills, Co-operation skills &amp; Empathy </a:t>
            </a:r>
            <a:r>
              <a:rPr lang="en-US" sz="2400" dirty="0" smtClean="0">
                <a:latin typeface="Arial Narrow" pitchFamily="34" charset="0"/>
              </a:rPr>
              <a:t>skills.</a:t>
            </a:r>
            <a:endParaRPr lang="en-US" sz="2400" dirty="0">
              <a:latin typeface="Arial Narrow" pitchFamily="34" charset="0"/>
            </a:endParaRPr>
          </a:p>
        </p:txBody>
      </p:sp>
      <p:sp>
        <p:nvSpPr>
          <p:cNvPr id="164874" name="Text Box 10"/>
          <p:cNvSpPr txBox="1">
            <a:spLocks noChangeArrowheads="1"/>
          </p:cNvSpPr>
          <p:nvPr/>
        </p:nvSpPr>
        <p:spPr bwMode="auto">
          <a:xfrm>
            <a:off x="228600" y="5257800"/>
            <a:ext cx="8077200" cy="461665"/>
          </a:xfrm>
          <a:prstGeom prst="rect">
            <a:avLst/>
          </a:prstGeom>
          <a:noFill/>
          <a:ln w="9525">
            <a:noFill/>
            <a:miter lim="800000"/>
            <a:headEnd/>
            <a:tailEnd/>
          </a:ln>
        </p:spPr>
        <p:txBody>
          <a:bodyPr wrap="square">
            <a:spAutoFit/>
          </a:bodyPr>
          <a:lstStyle/>
          <a:p>
            <a:pPr>
              <a:spcBef>
                <a:spcPct val="50000"/>
              </a:spcBef>
            </a:pPr>
            <a:r>
              <a:rPr lang="en-US" sz="2400" b="1" dirty="0">
                <a:solidFill>
                  <a:srgbClr val="FF0000"/>
                </a:solidFill>
                <a:latin typeface="Arial Narrow" pitchFamily="34" charset="0"/>
              </a:rPr>
              <a:t>Learning to Do: Functioning and Capabilities</a:t>
            </a:r>
          </a:p>
        </p:txBody>
      </p:sp>
      <p:sp>
        <p:nvSpPr>
          <p:cNvPr id="164875" name="Text Box 11"/>
          <p:cNvSpPr txBox="1">
            <a:spLocks noChangeArrowheads="1"/>
          </p:cNvSpPr>
          <p:nvPr/>
        </p:nvSpPr>
        <p:spPr bwMode="auto">
          <a:xfrm>
            <a:off x="228600" y="5715000"/>
            <a:ext cx="8534400" cy="830997"/>
          </a:xfrm>
          <a:prstGeom prst="rect">
            <a:avLst/>
          </a:prstGeom>
          <a:noFill/>
          <a:ln w="9525">
            <a:noFill/>
            <a:miter lim="800000"/>
            <a:headEnd/>
            <a:tailEnd/>
          </a:ln>
        </p:spPr>
        <p:txBody>
          <a:bodyPr wrap="square">
            <a:spAutoFit/>
          </a:bodyPr>
          <a:lstStyle/>
          <a:p>
            <a:pPr>
              <a:spcBef>
                <a:spcPct val="50000"/>
              </a:spcBef>
            </a:pPr>
            <a:r>
              <a:rPr lang="en-US" sz="2400" dirty="0">
                <a:latin typeface="Arial Narrow" pitchFamily="34" charset="0"/>
              </a:rPr>
              <a:t>It refers to central human functional capabilities of “Life”, “Bodily Health”, “Bodily Integrity” and “Control over one’s Environment</a:t>
            </a:r>
            <a:r>
              <a:rPr lang="en-US" sz="2400" dirty="0" smtClean="0">
                <a:latin typeface="Arial Narrow" pitchFamily="34" charset="0"/>
              </a:rPr>
              <a:t>”.</a:t>
            </a:r>
            <a:endParaRPr lang="en-US" sz="2400" dirty="0">
              <a:latin typeface="Arial Narrow"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164866"/>
                                        </p:tgtEl>
                                        <p:attrNameLst>
                                          <p:attrName>style.visibility</p:attrName>
                                        </p:attrNameLst>
                                      </p:cBhvr>
                                      <p:to>
                                        <p:strVal val="visible"/>
                                      </p:to>
                                    </p:set>
                                    <p:anim calcmode="lin" valueType="num">
                                      <p:cBhvr>
                                        <p:cTn id="7" dur="500" fill="hold"/>
                                        <p:tgtEl>
                                          <p:spTgt spid="164866"/>
                                        </p:tgtEl>
                                        <p:attrNameLst>
                                          <p:attrName>ppt_w</p:attrName>
                                        </p:attrNameLst>
                                      </p:cBhvr>
                                      <p:tavLst>
                                        <p:tav tm="0">
                                          <p:val>
                                            <p:fltVal val="0"/>
                                          </p:val>
                                        </p:tav>
                                        <p:tav tm="100000">
                                          <p:val>
                                            <p:strVal val="#ppt_w"/>
                                          </p:val>
                                        </p:tav>
                                      </p:tavLst>
                                    </p:anim>
                                    <p:anim calcmode="lin" valueType="num">
                                      <p:cBhvr>
                                        <p:cTn id="8" dur="500" fill="hold"/>
                                        <p:tgtEl>
                                          <p:spTgt spid="164866"/>
                                        </p:tgtEl>
                                        <p:attrNameLst>
                                          <p:attrName>ppt_h</p:attrName>
                                        </p:attrNameLst>
                                      </p:cBhvr>
                                      <p:tavLst>
                                        <p:tav tm="0">
                                          <p:val>
                                            <p:fltVal val="0"/>
                                          </p:val>
                                        </p:tav>
                                        <p:tav tm="100000">
                                          <p:val>
                                            <p:strVal val="#ppt_h"/>
                                          </p:val>
                                        </p:tav>
                                      </p:tavLst>
                                    </p:anim>
                                    <p:anim calcmode="lin" valueType="num">
                                      <p:cBhvr>
                                        <p:cTn id="9" dur="500" fill="hold"/>
                                        <p:tgtEl>
                                          <p:spTgt spid="164866"/>
                                        </p:tgtEl>
                                        <p:attrNameLst>
                                          <p:attrName>ppt_x</p:attrName>
                                        </p:attrNameLst>
                                      </p:cBhvr>
                                      <p:tavLst>
                                        <p:tav tm="0">
                                          <p:val>
                                            <p:fltVal val="0.5"/>
                                          </p:val>
                                        </p:tav>
                                        <p:tav tm="100000">
                                          <p:val>
                                            <p:strVal val="#ppt_x"/>
                                          </p:val>
                                        </p:tav>
                                      </p:tavLst>
                                    </p:anim>
                                    <p:anim calcmode="lin" valueType="num">
                                      <p:cBhvr>
                                        <p:cTn id="10" dur="500" fill="hold"/>
                                        <p:tgtEl>
                                          <p:spTgt spid="164866"/>
                                        </p:tgtEl>
                                        <p:attrNameLst>
                                          <p:attrName>ppt_y</p:attrName>
                                        </p:attrNameLst>
                                      </p:cBhvr>
                                      <p:tavLst>
                                        <p:tav tm="0">
                                          <p:val>
                                            <p:fltVal val="0.5"/>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3" presetClass="entr" presetSubtype="16" fill="hold" grpId="0" nodeType="clickEffect">
                                  <p:stCondLst>
                                    <p:cond delay="0"/>
                                  </p:stCondLst>
                                  <p:childTnLst>
                                    <p:set>
                                      <p:cBhvr>
                                        <p:cTn id="14" dur="1" fill="hold">
                                          <p:stCondLst>
                                            <p:cond delay="0"/>
                                          </p:stCondLst>
                                        </p:cTn>
                                        <p:tgtEl>
                                          <p:spTgt spid="164868"/>
                                        </p:tgtEl>
                                        <p:attrNameLst>
                                          <p:attrName>style.visibility</p:attrName>
                                        </p:attrNameLst>
                                      </p:cBhvr>
                                      <p:to>
                                        <p:strVal val="visible"/>
                                      </p:to>
                                    </p:set>
                                    <p:anim calcmode="lin" valueType="num">
                                      <p:cBhvr>
                                        <p:cTn id="15" dur="500" fill="hold"/>
                                        <p:tgtEl>
                                          <p:spTgt spid="164868"/>
                                        </p:tgtEl>
                                        <p:attrNameLst>
                                          <p:attrName>ppt_w</p:attrName>
                                        </p:attrNameLst>
                                      </p:cBhvr>
                                      <p:tavLst>
                                        <p:tav tm="0">
                                          <p:val>
                                            <p:fltVal val="0"/>
                                          </p:val>
                                        </p:tav>
                                        <p:tav tm="100000">
                                          <p:val>
                                            <p:strVal val="#ppt_w"/>
                                          </p:val>
                                        </p:tav>
                                      </p:tavLst>
                                    </p:anim>
                                    <p:anim calcmode="lin" valueType="num">
                                      <p:cBhvr>
                                        <p:cTn id="16" dur="500" fill="hold"/>
                                        <p:tgtEl>
                                          <p:spTgt spid="164868"/>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grpId="0" nodeType="clickEffect">
                                  <p:stCondLst>
                                    <p:cond delay="0"/>
                                  </p:stCondLst>
                                  <p:childTnLst>
                                    <p:set>
                                      <p:cBhvr>
                                        <p:cTn id="20" dur="1" fill="hold">
                                          <p:stCondLst>
                                            <p:cond delay="0"/>
                                          </p:stCondLst>
                                        </p:cTn>
                                        <p:tgtEl>
                                          <p:spTgt spid="164869"/>
                                        </p:tgtEl>
                                        <p:attrNameLst>
                                          <p:attrName>style.visibility</p:attrName>
                                        </p:attrNameLst>
                                      </p:cBhvr>
                                      <p:to>
                                        <p:strVal val="visible"/>
                                      </p:to>
                                    </p:set>
                                    <p:animEffect transition="in" filter="blinds(vertical)">
                                      <p:cBhvr>
                                        <p:cTn id="21" dur="500"/>
                                        <p:tgtEl>
                                          <p:spTgt spid="164869"/>
                                        </p:tgtEl>
                                      </p:cBhvr>
                                    </p:animEffect>
                                  </p:childTnLst>
                                </p:cTn>
                              </p:par>
                            </p:childTnLst>
                          </p:cTn>
                        </p:par>
                      </p:childTnLst>
                    </p:cTn>
                  </p:par>
                  <p:par>
                    <p:cTn id="22" fill="hold">
                      <p:stCondLst>
                        <p:cond delay="indefinite"/>
                      </p:stCondLst>
                      <p:childTnLst>
                        <p:par>
                          <p:cTn id="23" fill="hold">
                            <p:stCondLst>
                              <p:cond delay="0"/>
                            </p:stCondLst>
                            <p:childTnLst>
                              <p:par>
                                <p:cTn id="24" presetID="23" presetClass="entr" presetSubtype="16" fill="hold" grpId="0" nodeType="clickEffect">
                                  <p:stCondLst>
                                    <p:cond delay="0"/>
                                  </p:stCondLst>
                                  <p:childTnLst>
                                    <p:set>
                                      <p:cBhvr>
                                        <p:cTn id="25" dur="1" fill="hold">
                                          <p:stCondLst>
                                            <p:cond delay="0"/>
                                          </p:stCondLst>
                                        </p:cTn>
                                        <p:tgtEl>
                                          <p:spTgt spid="164870"/>
                                        </p:tgtEl>
                                        <p:attrNameLst>
                                          <p:attrName>style.visibility</p:attrName>
                                        </p:attrNameLst>
                                      </p:cBhvr>
                                      <p:to>
                                        <p:strVal val="visible"/>
                                      </p:to>
                                    </p:set>
                                    <p:anim calcmode="lin" valueType="num">
                                      <p:cBhvr>
                                        <p:cTn id="26" dur="500" fill="hold"/>
                                        <p:tgtEl>
                                          <p:spTgt spid="164870"/>
                                        </p:tgtEl>
                                        <p:attrNameLst>
                                          <p:attrName>ppt_w</p:attrName>
                                        </p:attrNameLst>
                                      </p:cBhvr>
                                      <p:tavLst>
                                        <p:tav tm="0">
                                          <p:val>
                                            <p:fltVal val="0"/>
                                          </p:val>
                                        </p:tav>
                                        <p:tav tm="100000">
                                          <p:val>
                                            <p:strVal val="#ppt_w"/>
                                          </p:val>
                                        </p:tav>
                                      </p:tavLst>
                                    </p:anim>
                                    <p:anim calcmode="lin" valueType="num">
                                      <p:cBhvr>
                                        <p:cTn id="27" dur="500" fill="hold"/>
                                        <p:tgtEl>
                                          <p:spTgt spid="164870"/>
                                        </p:tgtEl>
                                        <p:attrNameLst>
                                          <p:attrName>ppt_h</p:attrName>
                                        </p:attrNameLst>
                                      </p:cBhvr>
                                      <p:tavLst>
                                        <p:tav tm="0">
                                          <p:val>
                                            <p:fltVal val="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164871"/>
                                        </p:tgtEl>
                                        <p:attrNameLst>
                                          <p:attrName>style.visibility</p:attrName>
                                        </p:attrNameLst>
                                      </p:cBhvr>
                                      <p:to>
                                        <p:strVal val="visible"/>
                                      </p:to>
                                    </p:set>
                                    <p:animEffect transition="in" filter="blinds(vertical)">
                                      <p:cBhvr>
                                        <p:cTn id="32" dur="500"/>
                                        <p:tgtEl>
                                          <p:spTgt spid="164871"/>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164872"/>
                                        </p:tgtEl>
                                        <p:attrNameLst>
                                          <p:attrName>style.visibility</p:attrName>
                                        </p:attrNameLst>
                                      </p:cBhvr>
                                      <p:to>
                                        <p:strVal val="visible"/>
                                      </p:to>
                                    </p:set>
                                    <p:anim calcmode="lin" valueType="num">
                                      <p:cBhvr>
                                        <p:cTn id="37" dur="500" fill="hold"/>
                                        <p:tgtEl>
                                          <p:spTgt spid="164872"/>
                                        </p:tgtEl>
                                        <p:attrNameLst>
                                          <p:attrName>ppt_w</p:attrName>
                                        </p:attrNameLst>
                                      </p:cBhvr>
                                      <p:tavLst>
                                        <p:tav tm="0">
                                          <p:val>
                                            <p:fltVal val="0"/>
                                          </p:val>
                                        </p:tav>
                                        <p:tav tm="100000">
                                          <p:val>
                                            <p:strVal val="#ppt_w"/>
                                          </p:val>
                                        </p:tav>
                                      </p:tavLst>
                                    </p:anim>
                                    <p:anim calcmode="lin" valueType="num">
                                      <p:cBhvr>
                                        <p:cTn id="38" dur="500" fill="hold"/>
                                        <p:tgtEl>
                                          <p:spTgt spid="164872"/>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5" fill="hold" grpId="0" nodeType="clickEffect">
                                  <p:stCondLst>
                                    <p:cond delay="0"/>
                                  </p:stCondLst>
                                  <p:childTnLst>
                                    <p:set>
                                      <p:cBhvr>
                                        <p:cTn id="42" dur="1" fill="hold">
                                          <p:stCondLst>
                                            <p:cond delay="0"/>
                                          </p:stCondLst>
                                        </p:cTn>
                                        <p:tgtEl>
                                          <p:spTgt spid="164873"/>
                                        </p:tgtEl>
                                        <p:attrNameLst>
                                          <p:attrName>style.visibility</p:attrName>
                                        </p:attrNameLst>
                                      </p:cBhvr>
                                      <p:to>
                                        <p:strVal val="visible"/>
                                      </p:to>
                                    </p:set>
                                    <p:animEffect transition="in" filter="blinds(vertical)">
                                      <p:cBhvr>
                                        <p:cTn id="43" dur="500"/>
                                        <p:tgtEl>
                                          <p:spTgt spid="164873"/>
                                        </p:tgtEl>
                                      </p:cBhvr>
                                    </p:animEffect>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grpId="0" nodeType="clickEffect">
                                  <p:stCondLst>
                                    <p:cond delay="0"/>
                                  </p:stCondLst>
                                  <p:childTnLst>
                                    <p:set>
                                      <p:cBhvr>
                                        <p:cTn id="47" dur="1" fill="hold">
                                          <p:stCondLst>
                                            <p:cond delay="0"/>
                                          </p:stCondLst>
                                        </p:cTn>
                                        <p:tgtEl>
                                          <p:spTgt spid="164874"/>
                                        </p:tgtEl>
                                        <p:attrNameLst>
                                          <p:attrName>style.visibility</p:attrName>
                                        </p:attrNameLst>
                                      </p:cBhvr>
                                      <p:to>
                                        <p:strVal val="visible"/>
                                      </p:to>
                                    </p:set>
                                    <p:anim calcmode="lin" valueType="num">
                                      <p:cBhvr>
                                        <p:cTn id="48" dur="500" fill="hold"/>
                                        <p:tgtEl>
                                          <p:spTgt spid="164874"/>
                                        </p:tgtEl>
                                        <p:attrNameLst>
                                          <p:attrName>ppt_w</p:attrName>
                                        </p:attrNameLst>
                                      </p:cBhvr>
                                      <p:tavLst>
                                        <p:tav tm="0">
                                          <p:val>
                                            <p:fltVal val="0"/>
                                          </p:val>
                                        </p:tav>
                                        <p:tav tm="100000">
                                          <p:val>
                                            <p:strVal val="#ppt_w"/>
                                          </p:val>
                                        </p:tav>
                                      </p:tavLst>
                                    </p:anim>
                                    <p:anim calcmode="lin" valueType="num">
                                      <p:cBhvr>
                                        <p:cTn id="49" dur="500" fill="hold"/>
                                        <p:tgtEl>
                                          <p:spTgt spid="164874"/>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3" presetClass="entr" presetSubtype="5" fill="hold" grpId="0" nodeType="clickEffect">
                                  <p:stCondLst>
                                    <p:cond delay="0"/>
                                  </p:stCondLst>
                                  <p:childTnLst>
                                    <p:set>
                                      <p:cBhvr>
                                        <p:cTn id="53" dur="1" fill="hold">
                                          <p:stCondLst>
                                            <p:cond delay="0"/>
                                          </p:stCondLst>
                                        </p:cTn>
                                        <p:tgtEl>
                                          <p:spTgt spid="164875"/>
                                        </p:tgtEl>
                                        <p:attrNameLst>
                                          <p:attrName>style.visibility</p:attrName>
                                        </p:attrNameLst>
                                      </p:cBhvr>
                                      <p:to>
                                        <p:strVal val="visible"/>
                                      </p:to>
                                    </p:set>
                                    <p:animEffect transition="in" filter="blinds(vertical)">
                                      <p:cBhvr>
                                        <p:cTn id="54" dur="500"/>
                                        <p:tgtEl>
                                          <p:spTgt spid="164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6" grpId="0" animBg="1" autoUpdateAnimBg="0"/>
      <p:bldP spid="164868" grpId="0" autoUpdateAnimBg="0"/>
      <p:bldP spid="164869" grpId="0" autoUpdateAnimBg="0"/>
      <p:bldP spid="164870" grpId="0" autoUpdateAnimBg="0"/>
      <p:bldP spid="164871" grpId="0" autoUpdateAnimBg="0"/>
      <p:bldP spid="164872" grpId="0" autoUpdateAnimBg="0"/>
      <p:bldP spid="164873" grpId="0" autoUpdateAnimBg="0"/>
      <p:bldP spid="164874" grpId="0" autoUpdateAnimBg="0"/>
      <p:bldP spid="16487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WordArt 3"/>
          <p:cNvSpPr>
            <a:spLocks noChangeArrowheads="1" noChangeShapeType="1" noTextEdit="1"/>
          </p:cNvSpPr>
          <p:nvPr/>
        </p:nvSpPr>
        <p:spPr bwMode="auto">
          <a:xfrm>
            <a:off x="914400" y="2209800"/>
            <a:ext cx="7467600" cy="1143000"/>
          </a:xfrm>
          <a:prstGeom prst="rect">
            <a:avLst/>
          </a:prstGeom>
        </p:spPr>
        <p:txBody>
          <a:bodyPr wrap="none" fromWordArt="1">
            <a:prstTxWarp prst="textPlain">
              <a:avLst>
                <a:gd name="adj" fmla="val 50000"/>
              </a:avLst>
            </a:prstTxWarp>
            <a:scene3d>
              <a:camera prst="legacyPerspectiveTopLeft"/>
              <a:lightRig rig="legacyNormal3" dir="r"/>
            </a:scene3d>
            <a:sp3d extrusionH="201600" prstMaterial="legacyMetal">
              <a:extrusionClr>
                <a:srgbClr val="FFFFFF"/>
              </a:extrusionClr>
            </a:sp3d>
          </a:bodyPr>
          <a:lstStyle/>
          <a:p>
            <a:pPr algn="ctr"/>
            <a:r>
              <a:rPr lang="en-US" sz="3600" kern="10" dirty="0">
                <a:ln w="9525">
                  <a:round/>
                  <a:headEnd/>
                  <a:tailEnd/>
                </a:ln>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latin typeface="Times New Roman"/>
                <a:cs typeface="Times New Roman"/>
              </a:rPr>
              <a:t>THANK </a:t>
            </a:r>
            <a:r>
              <a:rPr lang="en-US" sz="3600" kern="10" dirty="0" smtClean="0">
                <a:ln w="9525">
                  <a:round/>
                  <a:headEnd/>
                  <a:tailEnd/>
                </a:ln>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latin typeface="Times New Roman"/>
                <a:cs typeface="Times New Roman"/>
              </a:rPr>
              <a:t>YOU!</a:t>
            </a:r>
            <a:endParaRPr lang="en-US" sz="3600" kern="10" dirty="0">
              <a:ln w="9525">
                <a:round/>
                <a:headEnd/>
                <a:tailEnd/>
              </a:ln>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387</TotalTime>
  <Words>1122</Words>
  <Application>Microsoft Office PowerPoint</Application>
  <PresentationFormat>On-screen Show (4:3)</PresentationFormat>
  <Paragraphs>112</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CHAPTER EIGHT</vt:lpstr>
      <vt:lpstr>.</vt:lpstr>
      <vt:lpstr>8.1. Nature and Definition of Life skills</vt:lpstr>
      <vt:lpstr>8.2. Goals of Life Skills</vt:lpstr>
      <vt:lpstr>Slide 5</vt:lpstr>
      <vt:lpstr>Slide 6</vt:lpstr>
      <vt:lpstr>8.3. Components of Life Skills</vt:lpstr>
      <vt:lpstr>1. Critical thinking</vt:lpstr>
      <vt:lpstr>2. Self-confidence</vt:lpstr>
      <vt:lpstr>3. Self-awareness</vt:lpstr>
      <vt:lpstr>4. Self-esteem</vt:lpstr>
      <vt:lpstr>5. Decision-making </vt:lpstr>
      <vt:lpstr>6. Interpersonal relationships </vt:lpstr>
      <vt:lpstr>7. Reflective communication </vt:lpstr>
      <vt:lpstr>8. Peer pressure resistance</vt:lpstr>
      <vt:lpstr>10. Problem solving </vt:lpstr>
      <vt:lpstr>11. Stress Management</vt:lpstr>
      <vt:lpstr>Group the following into thinking, working, social and learning skills. Discuss the grouping in class.</vt:lpstr>
      <vt:lpstr>The Four Pillars of Education</vt:lpstr>
      <vt:lpst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EIGHT</dc:title>
  <dc:creator>User</dc:creator>
  <cp:lastModifiedBy>User</cp:lastModifiedBy>
  <cp:revision>39</cp:revision>
  <dcterms:created xsi:type="dcterms:W3CDTF">2020-01-01T22:57:25Z</dcterms:created>
  <dcterms:modified xsi:type="dcterms:W3CDTF">2020-01-23T09:53:44Z</dcterms:modified>
</cp:coreProperties>
</file>