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6"/>
  </p:notesMasterIdLst>
  <p:sldIdLst>
    <p:sldId id="256" r:id="rId2"/>
    <p:sldId id="257" r:id="rId3"/>
    <p:sldId id="266" r:id="rId4"/>
    <p:sldId id="267" r:id="rId5"/>
    <p:sldId id="270" r:id="rId6"/>
    <p:sldId id="264" r:id="rId7"/>
    <p:sldId id="258" r:id="rId8"/>
    <p:sldId id="268" r:id="rId9"/>
    <p:sldId id="269" r:id="rId10"/>
    <p:sldId id="265" r:id="rId11"/>
    <p:sldId id="259" r:id="rId12"/>
    <p:sldId id="260" r:id="rId13"/>
    <p:sldId id="261" r:id="rId14"/>
    <p:sldId id="272"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803" autoAdjust="0"/>
  </p:normalViewPr>
  <p:slideViewPr>
    <p:cSldViewPr>
      <p:cViewPr varScale="1">
        <p:scale>
          <a:sx n="69" d="100"/>
          <a:sy n="69" d="100"/>
        </p:scale>
        <p:origin x="-141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C2CFB2-4A5C-43C0-85FF-D52A0B4EEB4F}" type="datetimeFigureOut">
              <a:rPr lang="en-US" smtClean="0"/>
              <a:pPr/>
              <a:t>1/12/2020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76F771-F824-493A-B202-93976B853C3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576F771-F824-493A-B202-93976B853C3D}"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6FD540A-DBA2-4E20-8F65-C3CB859AB8A6}"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FD540A-DBA2-4E20-8F65-C3CB859AB8A6}"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FD540A-DBA2-4E20-8F65-C3CB859AB8A6}"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6FD540A-DBA2-4E20-8F65-C3CB859AB8A6}" type="datetimeFigureOut">
              <a:rPr lang="en-US" smtClean="0"/>
              <a:pPr/>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6FD540A-DBA2-4E20-8F65-C3CB859AB8A6}" type="datetimeFigureOut">
              <a:rPr lang="en-US" smtClean="0"/>
              <a:pPr/>
              <a:t>1/12/2020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6FD540A-DBA2-4E20-8F65-C3CB859AB8A6}" type="datetimeFigureOut">
              <a:rPr lang="en-US" smtClean="0"/>
              <a:pPr/>
              <a:t>1/12/2020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D540A-DBA2-4E20-8F65-C3CB859AB8A6}" type="datetimeFigureOut">
              <a:rPr lang="en-US" smtClean="0"/>
              <a:pPr/>
              <a:t>1/12/2020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FD540A-DBA2-4E20-8F65-C3CB859AB8A6}" type="datetimeFigureOut">
              <a:rPr lang="en-US" smtClean="0"/>
              <a:pPr/>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FD540A-DBA2-4E20-8F65-C3CB859AB8A6}" type="datetimeFigureOut">
              <a:rPr lang="en-US" smtClean="0"/>
              <a:pPr/>
              <a:t>1/12/2020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FD540A-DBA2-4E20-8F65-C3CB859AB8A6}"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FD540A-DBA2-4E20-8F65-C3CB859AB8A6}" type="datetimeFigureOut">
              <a:rPr lang="en-US" smtClean="0"/>
              <a:pPr/>
              <a:t>1/12/2020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61ACE5-4D38-4B07-BE35-5CE5ED98798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FD540A-DBA2-4E20-8F65-C3CB859AB8A6}" type="datetimeFigureOut">
              <a:rPr lang="en-US" smtClean="0"/>
              <a:pPr/>
              <a:t>1/12/2020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61ACE5-4D38-4B07-BE35-5CE5ED98798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0"/>
            <a:ext cx="7772400" cy="1470025"/>
          </a:xfrm>
        </p:spPr>
        <p:txBody>
          <a:bodyPr>
            <a:normAutofit/>
          </a:bodyPr>
          <a:lstStyle/>
          <a:p>
            <a:pPr lvl="0" fontAlgn="base">
              <a:spcAft>
                <a:spcPct val="0"/>
              </a:spcAft>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CHAPTER NINE</a:t>
            </a:r>
            <a:endParaRPr lang="en-US" dirty="0"/>
          </a:p>
        </p:txBody>
      </p:sp>
      <p:sp>
        <p:nvSpPr>
          <p:cNvPr id="3" name="Subtitle 2"/>
          <p:cNvSpPr>
            <a:spLocks noGrp="1"/>
          </p:cNvSpPr>
          <p:nvPr>
            <p:ph type="subTitle" idx="1"/>
          </p:nvPr>
        </p:nvSpPr>
        <p:spPr>
          <a:xfrm>
            <a:off x="1447800" y="3429000"/>
            <a:ext cx="6400800" cy="1752600"/>
          </a:xfrm>
        </p:spPr>
        <p:txBody>
          <a:bodyPr>
            <a:normAutofit/>
          </a:bodyPr>
          <a:lstStyle/>
          <a:p>
            <a:r>
              <a:rPr kumimoji="0" lang="en-US" sz="4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INTRA-PERSONAL AND INTERPERSONAL SKILLS</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39762"/>
          </a:xfrm>
        </p:spPr>
        <p:txBody>
          <a:bodyPr>
            <a:normAutofit/>
          </a:bodyPr>
          <a:lstStyle/>
          <a:p>
            <a:pPr lvl="0"/>
            <a:r>
              <a:rPr kumimoji="0" lang="en-US" sz="27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INTRA-PERSONAL AND INTERPERSONAL SKILLS</a:t>
            </a:r>
            <a:endParaRPr lang="en-US" b="1" dirty="0"/>
          </a:p>
        </p:txBody>
      </p:sp>
      <p:sp>
        <p:nvSpPr>
          <p:cNvPr id="3" name="Content Placeholder 2"/>
          <p:cNvSpPr>
            <a:spLocks noGrp="1"/>
          </p:cNvSpPr>
          <p:nvPr>
            <p:ph idx="1"/>
          </p:nvPr>
        </p:nvSpPr>
        <p:spPr>
          <a:xfrm>
            <a:off x="228600" y="990600"/>
            <a:ext cx="8686800" cy="5638800"/>
          </a:xfrm>
        </p:spPr>
        <p:txBody>
          <a:bodyPr>
            <a:normAutofit/>
          </a:bodyPr>
          <a:lstStyle/>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1. Self-Concept and Self-Awareness	</a:t>
            </a:r>
          </a:p>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2. Self-esteem and self-confidence	</a:t>
            </a:r>
            <a:endParaRPr kumimoji="0" lang="en-US" sz="2800" b="0" i="0" u="none" strike="noStrike" cap="none" normalizeH="0" baseline="0" dirty="0" smtClean="0">
              <a:ln>
                <a:noFill/>
              </a:ln>
              <a:solidFill>
                <a:schemeClr val="tx1"/>
              </a:solidFill>
              <a:effectLst/>
              <a:latin typeface="Arial Narrow"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3. Self-Control	</a:t>
            </a:r>
            <a:endParaRPr kumimoji="0" lang="en-US" sz="2800" b="0" i="0" u="none" strike="noStrike" cap="none" normalizeH="0" baseline="0" dirty="0" smtClean="0">
              <a:ln>
                <a:noFill/>
              </a:ln>
              <a:solidFill>
                <a:schemeClr val="tx1"/>
              </a:solidFill>
              <a:effectLst/>
              <a:latin typeface="Arial Narrow"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4. Anger Management	</a:t>
            </a:r>
            <a:endParaRPr kumimoji="0" lang="en-US" sz="2800" b="0" i="0" u="none" strike="noStrike" cap="none" normalizeH="0" baseline="0" dirty="0" smtClean="0">
              <a:ln>
                <a:noFill/>
              </a:ln>
              <a:solidFill>
                <a:schemeClr val="tx1"/>
              </a:solidFill>
              <a:effectLst/>
              <a:latin typeface="Arial Narrow"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5. Emotional Intelligence and Managing Emotion</a:t>
            </a:r>
          </a:p>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6. Stress, Coping with Stress and Resilience	</a:t>
            </a:r>
          </a:p>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7. Critical and Creative Thinking	</a:t>
            </a:r>
            <a:endParaRPr kumimoji="0" lang="en-US" sz="2800" b="0" i="0" u="none" strike="noStrike" cap="none" normalizeH="0" baseline="0" dirty="0" smtClean="0">
              <a:ln>
                <a:noFill/>
              </a:ln>
              <a:solidFill>
                <a:schemeClr val="tx1"/>
              </a:solidFill>
              <a:effectLst/>
              <a:latin typeface="Arial Narrow"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sz="2800" b="0" i="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rPr>
              <a:t>8. Problem Solving and Decision Making</a:t>
            </a:r>
            <a:endParaRPr kumimoji="0" lang="en-US" sz="2800" b="0" i="0" u="none" strike="noStrike" cap="none" normalizeH="0" baseline="0" dirty="0" smtClean="0">
              <a:ln>
                <a:noFill/>
              </a:ln>
              <a:solidFill>
                <a:schemeClr val="tx1"/>
              </a:solidFill>
              <a:effectLst/>
              <a:latin typeface="Arial Narrow"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533400"/>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762000"/>
            <a:ext cx="8763000" cy="5867400"/>
          </a:xfrm>
        </p:spPr>
        <p:txBody>
          <a:bodyPr>
            <a:normAutofit fontScale="25000" lnSpcReduction="20000"/>
          </a:bodyPr>
          <a:lstStyle/>
          <a:p>
            <a:r>
              <a:rPr lang="en-US" sz="9600" b="1" dirty="0" smtClean="0">
                <a:latin typeface="Arial Narrow" pitchFamily="34" charset="0"/>
              </a:rPr>
              <a:t>Self-concept </a:t>
            </a:r>
            <a:r>
              <a:rPr lang="en-US" sz="9600" b="1" dirty="0">
                <a:latin typeface="Arial Narrow" pitchFamily="34" charset="0"/>
              </a:rPr>
              <a:t>is </a:t>
            </a:r>
            <a:r>
              <a:rPr lang="en-US" sz="9600" dirty="0">
                <a:latin typeface="Arial Narrow" pitchFamily="34" charset="0"/>
              </a:rPr>
              <a:t>one’s </a:t>
            </a:r>
            <a:r>
              <a:rPr lang="en-US" sz="9600" i="1" dirty="0">
                <a:latin typeface="Arial Narrow" pitchFamily="34" charset="0"/>
              </a:rPr>
              <a:t>description and evaluation of oneself</a:t>
            </a:r>
            <a:r>
              <a:rPr lang="en-US" sz="9600" dirty="0">
                <a:latin typeface="Arial Narrow" pitchFamily="34" charset="0"/>
              </a:rPr>
              <a:t>, including psychological and physical characteristics, qualities, skills, roles, and so forth. Self-concepts contribute to the individual’s sense of identity over time. Also called </a:t>
            </a:r>
            <a:r>
              <a:rPr lang="en-US" sz="9600" b="1" dirty="0">
                <a:latin typeface="Arial Narrow" pitchFamily="34" charset="0"/>
              </a:rPr>
              <a:t>self-appraisal</a:t>
            </a:r>
            <a:r>
              <a:rPr lang="en-US" sz="9600" dirty="0">
                <a:latin typeface="Arial Narrow" pitchFamily="34" charset="0"/>
              </a:rPr>
              <a:t>; </a:t>
            </a:r>
            <a:r>
              <a:rPr lang="en-US" sz="9600" b="1" dirty="0">
                <a:latin typeface="Arial Narrow" pitchFamily="34" charset="0"/>
              </a:rPr>
              <a:t>self-assessment</a:t>
            </a:r>
            <a:r>
              <a:rPr lang="en-US" sz="9600" dirty="0">
                <a:latin typeface="Arial Narrow" pitchFamily="34" charset="0"/>
              </a:rPr>
              <a:t>; </a:t>
            </a:r>
            <a:r>
              <a:rPr lang="en-US" sz="9600" b="1" dirty="0">
                <a:latin typeface="Arial Narrow" pitchFamily="34" charset="0"/>
              </a:rPr>
              <a:t>self-evaluation</a:t>
            </a:r>
            <a:r>
              <a:rPr lang="en-US" sz="9600" dirty="0">
                <a:latin typeface="Arial Narrow" pitchFamily="34" charset="0"/>
              </a:rPr>
              <a:t>; </a:t>
            </a:r>
            <a:r>
              <a:rPr lang="en-US" sz="9600" b="1" dirty="0">
                <a:latin typeface="Arial Narrow" pitchFamily="34" charset="0"/>
              </a:rPr>
              <a:t>self-rating</a:t>
            </a:r>
            <a:r>
              <a:rPr lang="en-US" sz="9600" dirty="0" smtClean="0">
                <a:latin typeface="Arial Narrow" pitchFamily="34" charset="0"/>
              </a:rPr>
              <a:t> </a:t>
            </a:r>
          </a:p>
          <a:p>
            <a:r>
              <a:rPr lang="en-US" sz="9600" b="1" dirty="0">
                <a:latin typeface="Arial Narrow" pitchFamily="34" charset="0"/>
              </a:rPr>
              <a:t>Self-awareness</a:t>
            </a:r>
            <a:r>
              <a:rPr lang="en-US" sz="9600" dirty="0">
                <a:latin typeface="Arial Narrow" pitchFamily="34" charset="0"/>
              </a:rPr>
              <a:t> is having a </a:t>
            </a:r>
            <a:r>
              <a:rPr lang="en-US" sz="9600" i="1" dirty="0">
                <a:latin typeface="Arial Narrow" pitchFamily="34" charset="0"/>
              </a:rPr>
              <a:t>clear</a:t>
            </a:r>
            <a:r>
              <a:rPr lang="en-US" sz="9600" dirty="0">
                <a:latin typeface="Arial Narrow" pitchFamily="34" charset="0"/>
              </a:rPr>
              <a:t> </a:t>
            </a:r>
            <a:r>
              <a:rPr lang="en-US" sz="9600" i="1" dirty="0">
                <a:latin typeface="Arial Narrow" pitchFamily="34" charset="0"/>
              </a:rPr>
              <a:t>perception of </a:t>
            </a:r>
            <a:r>
              <a:rPr lang="en-US" sz="9600" dirty="0">
                <a:latin typeface="Arial Narrow" pitchFamily="34" charset="0"/>
              </a:rPr>
              <a:t>your personality, including </a:t>
            </a:r>
            <a:r>
              <a:rPr lang="en-US" sz="9600" i="1" dirty="0">
                <a:latin typeface="Arial Narrow" pitchFamily="34" charset="0"/>
              </a:rPr>
              <a:t>strengths</a:t>
            </a:r>
            <a:r>
              <a:rPr lang="en-US" sz="9600" i="1" dirty="0" smtClean="0">
                <a:latin typeface="Arial Narrow" pitchFamily="34" charset="0"/>
              </a:rPr>
              <a:t>, weaknesses</a:t>
            </a:r>
            <a:r>
              <a:rPr lang="en-US" sz="9600" dirty="0">
                <a:latin typeface="Arial Narrow" pitchFamily="34" charset="0"/>
              </a:rPr>
              <a:t>, thoughts, beliefs, motivation, and emotions</a:t>
            </a:r>
            <a:r>
              <a:rPr lang="en-US" sz="9600" dirty="0" smtClean="0">
                <a:latin typeface="Arial Narrow" pitchFamily="34" charset="0"/>
              </a:rPr>
              <a:t>.</a:t>
            </a:r>
          </a:p>
          <a:p>
            <a:r>
              <a:rPr lang="en-US" sz="9600" b="1" dirty="0" smtClean="0">
                <a:latin typeface="Arial Narrow" pitchFamily="34" charset="0"/>
              </a:rPr>
              <a:t>Self-esteem</a:t>
            </a:r>
            <a:r>
              <a:rPr lang="en-US" sz="9600" dirty="0" smtClean="0">
                <a:latin typeface="Arial Narrow" pitchFamily="34" charset="0"/>
              </a:rPr>
              <a:t> </a:t>
            </a:r>
            <a:r>
              <a:rPr lang="en-US" sz="9600" dirty="0">
                <a:latin typeface="Arial Narrow" pitchFamily="34" charset="0"/>
              </a:rPr>
              <a:t>refers to an individual's </a:t>
            </a:r>
            <a:r>
              <a:rPr lang="en-US" sz="9600" i="1" dirty="0">
                <a:latin typeface="Arial Narrow" pitchFamily="34" charset="0"/>
              </a:rPr>
              <a:t>overall self-evaluation</a:t>
            </a:r>
            <a:r>
              <a:rPr lang="en-US" sz="9600" dirty="0">
                <a:latin typeface="Arial Narrow" pitchFamily="34" charset="0"/>
              </a:rPr>
              <a:t>. It is the judgment or opinion </a:t>
            </a:r>
            <a:r>
              <a:rPr lang="en-US" sz="9600" dirty="0" smtClean="0">
                <a:latin typeface="Arial Narrow" pitchFamily="34" charset="0"/>
              </a:rPr>
              <a:t>we hold </a:t>
            </a:r>
            <a:r>
              <a:rPr lang="en-US" sz="9600" dirty="0">
                <a:latin typeface="Arial Narrow" pitchFamily="34" charset="0"/>
              </a:rPr>
              <a:t>about ourselves. </a:t>
            </a:r>
            <a:r>
              <a:rPr lang="en-US" sz="9600" dirty="0" smtClean="0">
                <a:latin typeface="Arial Narrow" pitchFamily="34" charset="0"/>
              </a:rPr>
              <a:t>It is </a:t>
            </a:r>
            <a:r>
              <a:rPr lang="en-US" sz="9600" dirty="0">
                <a:latin typeface="Arial Narrow" pitchFamily="34" charset="0"/>
              </a:rPr>
              <a:t>the extent to which we perceive ourselves to be worthwhile </a:t>
            </a:r>
            <a:r>
              <a:rPr lang="en-US" sz="9600" dirty="0" smtClean="0">
                <a:latin typeface="Arial Narrow" pitchFamily="34" charset="0"/>
              </a:rPr>
              <a:t>and capable </a:t>
            </a:r>
            <a:r>
              <a:rPr lang="en-US" sz="9600" dirty="0">
                <a:latin typeface="Arial Narrow" pitchFamily="34" charset="0"/>
              </a:rPr>
              <a:t>human </a:t>
            </a:r>
            <a:r>
              <a:rPr lang="en-US" sz="9600" dirty="0" smtClean="0">
                <a:latin typeface="Arial Narrow" pitchFamily="34" charset="0"/>
              </a:rPr>
              <a:t>beings. </a:t>
            </a:r>
          </a:p>
          <a:p>
            <a:r>
              <a:rPr lang="en-US" sz="9600" b="1" dirty="0" smtClean="0">
                <a:latin typeface="Arial Narrow" pitchFamily="34" charset="0"/>
              </a:rPr>
              <a:t>Self-confidence </a:t>
            </a:r>
            <a:r>
              <a:rPr lang="en-US" sz="9600" dirty="0" smtClean="0">
                <a:latin typeface="Arial Narrow" pitchFamily="34" charset="0"/>
              </a:rPr>
              <a:t>is the person’s </a:t>
            </a:r>
            <a:r>
              <a:rPr lang="en-US" sz="9600" i="1" dirty="0">
                <a:latin typeface="Arial Narrow" pitchFamily="34" charset="0"/>
              </a:rPr>
              <a:t>trust </a:t>
            </a:r>
            <a:r>
              <a:rPr lang="en-US" sz="9600" i="1" dirty="0" smtClean="0">
                <a:latin typeface="Arial Narrow" pitchFamily="34" charset="0"/>
              </a:rPr>
              <a:t>in oneself</a:t>
            </a:r>
            <a:r>
              <a:rPr lang="en-US" sz="9600" dirty="0" smtClean="0">
                <a:latin typeface="Arial Narrow" pitchFamily="34" charset="0"/>
              </a:rPr>
              <a:t> and in </a:t>
            </a:r>
            <a:r>
              <a:rPr lang="en-US" sz="9600" dirty="0">
                <a:latin typeface="Arial Narrow" pitchFamily="34" charset="0"/>
              </a:rPr>
              <a:t>one‘s ability or aptitude to engage successfully or at </a:t>
            </a:r>
            <a:r>
              <a:rPr lang="en-US" sz="9600" dirty="0" smtClean="0">
                <a:latin typeface="Arial Narrow" pitchFamily="34" charset="0"/>
              </a:rPr>
              <a:t>least adequately </a:t>
            </a:r>
            <a:r>
              <a:rPr lang="en-US" sz="9600" dirty="0">
                <a:latin typeface="Arial Narrow" pitchFamily="34" charset="0"/>
              </a:rPr>
              <a:t>with the world. </a:t>
            </a:r>
            <a:endParaRPr lang="en-US" sz="9600" dirty="0" smtClean="0">
              <a:latin typeface="Arial Narrow" pitchFamily="34" charset="0"/>
            </a:endParaRPr>
          </a:p>
          <a:p>
            <a:r>
              <a:rPr lang="en-US" sz="9600" b="1" dirty="0" smtClean="0">
                <a:latin typeface="Arial Narrow" pitchFamily="34" charset="0"/>
              </a:rPr>
              <a:t>Self-control is</a:t>
            </a:r>
            <a:r>
              <a:rPr lang="en-US" sz="9600" i="1" dirty="0" smtClean="0">
                <a:latin typeface="Arial Narrow" pitchFamily="34" charset="0"/>
              </a:rPr>
              <a:t> </a:t>
            </a:r>
            <a:r>
              <a:rPr lang="en-US" sz="9600" dirty="0">
                <a:latin typeface="Arial Narrow" pitchFamily="34" charset="0"/>
              </a:rPr>
              <a:t>the ability to be in </a:t>
            </a:r>
            <a:r>
              <a:rPr lang="en-US" sz="9600" dirty="0" smtClean="0">
                <a:latin typeface="Arial Narrow" pitchFamily="34" charset="0"/>
              </a:rPr>
              <a:t>command or direction </a:t>
            </a:r>
            <a:r>
              <a:rPr lang="en-US" sz="9600" dirty="0">
                <a:latin typeface="Arial Narrow" pitchFamily="34" charset="0"/>
              </a:rPr>
              <a:t>of one’s </a:t>
            </a:r>
            <a:r>
              <a:rPr lang="en-US" sz="9600" dirty="0" smtClean="0">
                <a:latin typeface="Arial Narrow" pitchFamily="34" charset="0"/>
              </a:rPr>
              <a:t>long-term goals </a:t>
            </a:r>
            <a:r>
              <a:rPr lang="en-US" sz="9600" dirty="0">
                <a:latin typeface="Arial Narrow" pitchFamily="34" charset="0"/>
              </a:rPr>
              <a:t>and to restrain or inhibit one’s impulses. </a:t>
            </a:r>
            <a:r>
              <a:rPr lang="en-US" sz="9600" dirty="0" smtClean="0">
                <a:latin typeface="Arial Narrow" pitchFamily="34" charset="0"/>
              </a:rPr>
              <a:t>Choice </a:t>
            </a:r>
            <a:r>
              <a:rPr lang="en-US" sz="9600" dirty="0">
                <a:latin typeface="Arial Narrow" pitchFamily="34" charset="0"/>
              </a:rPr>
              <a:t>of the short-term outcome is called </a:t>
            </a:r>
            <a:r>
              <a:rPr lang="en-US" sz="9600" b="1" dirty="0">
                <a:latin typeface="Arial Narrow" pitchFamily="34" charset="0"/>
              </a:rPr>
              <a:t>impulsiveness</a:t>
            </a:r>
            <a:r>
              <a:rPr lang="en-US" sz="9600" dirty="0">
                <a:latin typeface="Arial Narrow" pitchFamily="34" charset="0"/>
              </a:rPr>
              <a:t>.</a:t>
            </a:r>
            <a:r>
              <a:rPr lang="en-US" sz="8000" dirty="0" smtClean="0">
                <a:latin typeface="Arial Narrow" pitchFamily="34" charset="0"/>
              </a:rPr>
              <a:t> </a:t>
            </a:r>
            <a:r>
              <a:rPr lang="en-US" dirty="0" smtClean="0"/>
              <a:t/>
            </a:r>
            <a:br>
              <a:rPr lang="en-US" dirty="0" smtClean="0"/>
            </a:br>
            <a:r>
              <a:rPr lang="en-US" dirty="0" smtClean="0"/>
              <a:t> </a:t>
            </a:r>
            <a:br>
              <a:rPr lang="en-US" dirty="0" smtClean="0"/>
            </a:br>
            <a:endParaRPr kumimoji="0" lang="en-US" b="0" u="none" strike="noStrike" cap="none" normalizeH="0" baseline="0" dirty="0" smtClean="0">
              <a:ln>
                <a:noFill/>
              </a:ln>
              <a:solidFill>
                <a:schemeClr val="tx1"/>
              </a:solidFill>
              <a:effectLst/>
              <a:latin typeface="Arial Narrow" pitchFamily="34" charset="0"/>
              <a:ea typeface="Times New Roman" pitchFamily="18" charset="0"/>
              <a:cs typeface="Arial" pitchFamily="34" charset="0"/>
            </a:endParaRPr>
          </a:p>
          <a:p>
            <a:pPr>
              <a:buNone/>
            </a:pPr>
            <a:r>
              <a:rPr lang="en-US" dirty="0" smtClean="0"/>
              <a:t/>
            </a:r>
            <a:br>
              <a:rPr lang="en-US" dirty="0" smtClean="0"/>
            </a:br>
            <a:r>
              <a:rPr lang="en-US" dirty="0" smtClean="0"/>
              <a:t> </a:t>
            </a:r>
            <a:br>
              <a:rPr lang="en-US" dirty="0" smtClean="0"/>
            </a:br>
            <a:r>
              <a:rPr lang="en-US" dirty="0" smtClean="0"/>
              <a:t> </a:t>
            </a:r>
            <a:br>
              <a:rPr lang="en-US" dirty="0" smtClean="0"/>
            </a:br>
            <a:r>
              <a:rPr lang="en-US" dirty="0" smtClean="0"/>
              <a:t> </a:t>
            </a:r>
            <a:br>
              <a:rPr lang="en-US" dirty="0" smtClean="0"/>
            </a:br>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52400" y="838200"/>
            <a:ext cx="8839200" cy="5791200"/>
          </a:xfrm>
        </p:spPr>
        <p:txBody>
          <a:bodyPr>
            <a:normAutofit fontScale="55000" lnSpcReduction="20000"/>
          </a:bodyPr>
          <a:lstStyle/>
          <a:p>
            <a:r>
              <a:rPr lang="en-US" sz="4000" b="1" dirty="0" smtClean="0">
                <a:latin typeface="Arial Narrow" pitchFamily="34" charset="0"/>
              </a:rPr>
              <a:t>Anger </a:t>
            </a:r>
            <a:r>
              <a:rPr lang="en-US" sz="4000" b="1" dirty="0" smtClean="0">
                <a:latin typeface="Arial Narrow" pitchFamily="34" charset="0"/>
              </a:rPr>
              <a:t>Management</a:t>
            </a:r>
            <a:r>
              <a:rPr lang="en-US" sz="4000" dirty="0" smtClean="0">
                <a:latin typeface="Arial Narrow" pitchFamily="34" charset="0"/>
              </a:rPr>
              <a:t> is the ability to manage state of emotion where a person is irritated by block of interests, loss of possession or threats to personality. When anger is not controlled, conflict becomes worse and we may no longer be able to think clearly. </a:t>
            </a:r>
          </a:p>
          <a:p>
            <a:r>
              <a:rPr lang="en-US" sz="4000" b="1" dirty="0" smtClean="0">
                <a:latin typeface="Arial Narrow" pitchFamily="34" charset="0"/>
                <a:ea typeface="Times New Roman" pitchFamily="18" charset="0"/>
                <a:cs typeface="Arial" pitchFamily="34" charset="0"/>
              </a:rPr>
              <a:t>Emotional Intelligence </a:t>
            </a:r>
            <a:r>
              <a:rPr lang="en-US" sz="4000" dirty="0" smtClean="0">
                <a:latin typeface="Arial Narrow" pitchFamily="34" charset="0"/>
                <a:ea typeface="Times New Roman" pitchFamily="18" charset="0"/>
                <a:cs typeface="Arial" pitchFamily="34" charset="0"/>
              </a:rPr>
              <a:t>is </a:t>
            </a:r>
            <a:r>
              <a:rPr lang="en-US" sz="4000" dirty="0" smtClean="0">
                <a:latin typeface="Arial Narrow" pitchFamily="34" charset="0"/>
              </a:rPr>
              <a:t>ability to identify, assess, and manage the emotions of oneself, of others, and of groups. People who possess a high degree of emotional intelligence know themselves very well and are also able to sense the emotions of others. They are affable, resilient, and optimistic.</a:t>
            </a:r>
            <a:r>
              <a:rPr lang="en-US" sz="2800" dirty="0" smtClean="0">
                <a:latin typeface="Arial Narrow" pitchFamily="34" charset="0"/>
              </a:rPr>
              <a:t> </a:t>
            </a:r>
            <a:endParaRPr lang="en-US" sz="2800" dirty="0" smtClean="0">
              <a:latin typeface="Arial Narrow" pitchFamily="34" charset="0"/>
            </a:endParaRPr>
          </a:p>
          <a:p>
            <a:r>
              <a:rPr lang="en-US" sz="3800" b="1" dirty="0" smtClean="0">
                <a:latin typeface="Arial Narrow" pitchFamily="34" charset="0"/>
              </a:rPr>
              <a:t>Stress</a:t>
            </a:r>
            <a:r>
              <a:rPr lang="en-US" sz="3800" i="1" dirty="0" smtClean="0">
                <a:latin typeface="Arial Narrow" pitchFamily="34" charset="0"/>
              </a:rPr>
              <a:t> </a:t>
            </a:r>
            <a:r>
              <a:rPr lang="en-US" sz="3800" dirty="0" smtClean="0">
                <a:latin typeface="Arial Narrow" pitchFamily="34" charset="0"/>
              </a:rPr>
              <a:t>generally refers to two things: the psychological perception and physiological response to stressors/pressure . Stress involves changes affecting nearly every system of the body, influencing how people think, feel and behave. Stress mainly comes from three categories of stressors: catastrophes, significant life changes, and daily hassles. </a:t>
            </a:r>
          </a:p>
          <a:p>
            <a:r>
              <a:rPr lang="en-US" sz="3800" b="1" dirty="0" smtClean="0">
                <a:latin typeface="Arial Narrow" pitchFamily="34" charset="0"/>
              </a:rPr>
              <a:t>Coping With Stress</a:t>
            </a:r>
            <a:r>
              <a:rPr lang="en-US" sz="3800" dirty="0" smtClean="0">
                <a:latin typeface="Arial Narrow" pitchFamily="34" charset="0"/>
              </a:rPr>
              <a:t> or </a:t>
            </a:r>
            <a:r>
              <a:rPr lang="en-US" sz="3800" b="1" dirty="0" smtClean="0">
                <a:latin typeface="Arial Narrow" pitchFamily="34" charset="0"/>
              </a:rPr>
              <a:t>Stress management </a:t>
            </a:r>
            <a:r>
              <a:rPr lang="en-US" sz="3800" dirty="0" smtClean="0">
                <a:latin typeface="Arial Narrow" pitchFamily="34" charset="0"/>
              </a:rPr>
              <a:t>is</a:t>
            </a:r>
            <a:r>
              <a:rPr lang="en-US" sz="3800" b="1" dirty="0" smtClean="0">
                <a:latin typeface="Arial Narrow" pitchFamily="34" charset="0"/>
              </a:rPr>
              <a:t> </a:t>
            </a:r>
            <a:r>
              <a:rPr lang="en-US" sz="3800" dirty="0" smtClean="0">
                <a:latin typeface="Arial Narrow" pitchFamily="34" charset="0"/>
              </a:rPr>
              <a:t>the use of specific techniques, strategies, or programs for dealing with stress. There are two ways of dealing with stress: problem focused and emotion-focused .</a:t>
            </a:r>
          </a:p>
          <a:p>
            <a:r>
              <a:rPr lang="en-US" sz="3800" b="1" dirty="0" smtClean="0">
                <a:latin typeface="Arial Narrow" pitchFamily="34" charset="0"/>
              </a:rPr>
              <a:t>Resilience is</a:t>
            </a:r>
            <a:r>
              <a:rPr lang="en-US" sz="3800" i="1" dirty="0" smtClean="0">
                <a:latin typeface="Arial Narrow" pitchFamily="34" charset="0"/>
              </a:rPr>
              <a:t> </a:t>
            </a:r>
            <a:r>
              <a:rPr lang="en-US" sz="3800" dirty="0" smtClean="0">
                <a:latin typeface="Arial Narrow" pitchFamily="34" charset="0"/>
              </a:rPr>
              <a:t>the process and outcome of successfully adapting to difficult or challenging life experiences, especially through mental, emotional, and behavioral flexibility and adjustment to external and internal demands. It means "bouncing back" from difficult experiences. </a:t>
            </a:r>
            <a:endParaRPr lang="en-US" sz="3800" b="1" dirty="0" smtClean="0">
              <a:latin typeface="Arial Narrow"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838200"/>
            <a:ext cx="8686800" cy="5715000"/>
          </a:xfrm>
        </p:spPr>
        <p:txBody>
          <a:bodyPr>
            <a:normAutofit fontScale="70000" lnSpcReduction="20000"/>
          </a:bodyPr>
          <a:lstStyle/>
          <a:p>
            <a:r>
              <a:rPr lang="en-US" sz="3400" b="1" dirty="0" smtClean="0">
                <a:latin typeface="Arial Narrow" pitchFamily="34" charset="0"/>
              </a:rPr>
              <a:t>Critical Thinking </a:t>
            </a:r>
            <a:r>
              <a:rPr lang="en-US" sz="3400" dirty="0" smtClean="0">
                <a:latin typeface="Arial Narrow" pitchFamily="34" charset="0"/>
              </a:rPr>
              <a:t>a is a form of directed, problem-focused thinking  in which the individual  interprets, analyze, and evaluate or test ideas or possible solutions. It requires the use of self-correction and monitoring to judge the rationality of thinking .</a:t>
            </a:r>
          </a:p>
          <a:p>
            <a:r>
              <a:rPr lang="en-US" sz="3400" b="1" dirty="0" smtClean="0">
                <a:latin typeface="Arial Narrow" pitchFamily="34" charset="0"/>
              </a:rPr>
              <a:t>Creative thinking </a:t>
            </a:r>
            <a:r>
              <a:rPr lang="en-US" sz="3400" dirty="0" smtClean="0">
                <a:latin typeface="Arial Narrow" pitchFamily="34" charset="0"/>
              </a:rPr>
              <a:t>the mental processes leading to a new invention, solution, or synthesis in any area. A creative solution may use preexisting elements (e.g., objects, ideas) but creates a new relationship between them. Products of creative thinking include, for example, new machines, social ideas, scientific theories, and artistic works. </a:t>
            </a:r>
          </a:p>
          <a:p>
            <a:r>
              <a:rPr lang="en-US" sz="3400" b="1" dirty="0" smtClean="0">
                <a:latin typeface="Arial Narrow" pitchFamily="34" charset="0"/>
              </a:rPr>
              <a:t>Problem solving </a:t>
            </a:r>
            <a:r>
              <a:rPr lang="en-US" sz="3400" dirty="0" smtClean="0">
                <a:latin typeface="Arial Narrow" pitchFamily="34" charset="0"/>
              </a:rPr>
              <a:t>is a process in which we perceive and resolve a gap between a present situation and a desired goal, with the path to the goal blocked by known or unknown obstacles. In general, the problem situation is one not previously encountered, or where at least a specific solution from past experiences is not known. </a:t>
            </a:r>
          </a:p>
          <a:p>
            <a:r>
              <a:rPr lang="en-US" sz="3400" b="1" dirty="0" smtClean="0">
                <a:latin typeface="Arial Narrow" pitchFamily="34" charset="0"/>
              </a:rPr>
              <a:t>Decision-making </a:t>
            </a:r>
            <a:r>
              <a:rPr lang="en-US" sz="3400" dirty="0" smtClean="0">
                <a:latin typeface="Arial Narrow" pitchFamily="34" charset="0"/>
              </a:rPr>
              <a:t>is a selection process where one of two or more possible solutions is chosen to reach a desired goal. The steps in both problem solving and decision-making are quite similar. In fact, the terms are sometimes used interchangeably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143000"/>
          </a:xfrm>
        </p:spPr>
        <p:txBody>
          <a:bodyPr/>
          <a:lstStyle/>
          <a:p>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CHAPTER TEN</a:t>
            </a:r>
            <a:endParaRPr lang="en-US" dirty="0"/>
          </a:p>
        </p:txBody>
      </p:sp>
      <p:sp>
        <p:nvSpPr>
          <p:cNvPr id="3" name="Content Placeholder 2"/>
          <p:cNvSpPr>
            <a:spLocks noGrp="1"/>
          </p:cNvSpPr>
          <p:nvPr>
            <p:ph idx="1"/>
          </p:nvPr>
        </p:nvSpPr>
        <p:spPr>
          <a:xfrm>
            <a:off x="609600" y="2438400"/>
            <a:ext cx="8229600" cy="2209800"/>
          </a:xfrm>
        </p:spPr>
        <p:txBody>
          <a:bodyPr/>
          <a:lstStyle/>
          <a:p>
            <a:pPr marL="0" lvl="0" indent="0" eaLnBrk="0" fontAlgn="base" hangingPunct="0">
              <a:spcBef>
                <a:spcPct val="0"/>
              </a:spcBef>
              <a:spcAft>
                <a:spcPct val="0"/>
              </a:spcAft>
              <a:buNone/>
              <a:tabLst>
                <a:tab pos="5511800" algn="l"/>
              </a:tabLst>
            </a:pPr>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	</a:t>
            </a:r>
            <a:endParaRPr kumimoji="0" lang="en-US" sz="2400" b="0" i="0" strike="noStrike" cap="none" normalizeH="0" baseline="0" dirty="0" smtClean="0">
              <a:ln>
                <a:noFill/>
              </a:ln>
              <a:solidFill>
                <a:schemeClr val="tx1"/>
              </a:solidFill>
              <a:effectLst/>
              <a:latin typeface="Arial" pitchFamily="34" charset="0"/>
              <a:cs typeface="Arial" pitchFamily="34" charset="0"/>
            </a:endParaRPr>
          </a:p>
          <a:p>
            <a:pPr marL="0" lvl="0" indent="0" algn="ctr" eaLnBrk="0" fontAlgn="base" hangingPunct="0">
              <a:spcBef>
                <a:spcPct val="0"/>
              </a:spcBef>
              <a:spcAft>
                <a:spcPct val="0"/>
              </a:spcAft>
              <a:buNone/>
              <a:tabLst>
                <a:tab pos="5511800" algn="l"/>
              </a:tabLst>
            </a:pPr>
            <a:r>
              <a:rPr kumimoji="0" lang="en-US" sz="4400" b="0" i="0" strike="noStrike" cap="none" normalizeH="0" baseline="0" dirty="0" smtClean="0">
                <a:ln>
                  <a:noFill/>
                </a:ln>
                <a:solidFill>
                  <a:schemeClr val="tx1"/>
                </a:solidFill>
                <a:effectLst/>
                <a:latin typeface="Arial" pitchFamily="34" charset="0"/>
                <a:ea typeface="Times New Roman" pitchFamily="18" charset="0"/>
                <a:cs typeface="Arial" pitchFamily="34" charset="0"/>
              </a:rPr>
              <a:t>ACADEMIC SKILLS</a:t>
            </a:r>
            <a:endParaRPr lang="en-US"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1143000"/>
          </a:xfrm>
        </p:spPr>
        <p:txBody>
          <a:bodyPr/>
          <a:lstStyle/>
          <a:p>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ACADEMIC SKILLS</a:t>
            </a:r>
            <a:endParaRPr lang="en-US" dirty="0"/>
          </a:p>
        </p:txBody>
      </p:sp>
      <p:sp>
        <p:nvSpPr>
          <p:cNvPr id="3" name="Content Placeholder 2"/>
          <p:cNvSpPr>
            <a:spLocks noGrp="1"/>
          </p:cNvSpPr>
          <p:nvPr>
            <p:ph idx="1"/>
          </p:nvPr>
        </p:nvSpPr>
        <p:spPr>
          <a:xfrm>
            <a:off x="228600" y="1219200"/>
            <a:ext cx="8686800" cy="5334000"/>
          </a:xfrm>
        </p:spPr>
        <p:txBody>
          <a:bodyPr>
            <a:normAutofit/>
          </a:bodyPr>
          <a:lstStyle/>
          <a:p>
            <a:pPr marL="0" lvl="0" indent="0" eaLnBrk="0" fontAlgn="base" hangingPunct="0">
              <a:lnSpc>
                <a:spcPct val="150000"/>
              </a:lnSpc>
              <a:spcBef>
                <a:spcPct val="0"/>
              </a:spcBef>
              <a:spcAft>
                <a:spcPct val="0"/>
              </a:spcAft>
              <a:buNone/>
              <a:tabLst>
                <a:tab pos="5511800" algn="l"/>
              </a:tabLst>
            </a:pPr>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1. Time Management	</a:t>
            </a:r>
          </a:p>
          <a:p>
            <a:pPr marL="0" lvl="0" indent="0" eaLnBrk="0" fontAlgn="base" hangingPunct="0">
              <a:lnSpc>
                <a:spcPct val="150000"/>
              </a:lnSpc>
              <a:spcBef>
                <a:spcPct val="0"/>
              </a:spcBef>
              <a:spcAft>
                <a:spcPct val="0"/>
              </a:spcAft>
              <a:buNone/>
              <a:tabLst>
                <a:tab pos="5511800" algn="l"/>
              </a:tabLst>
            </a:pPr>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2. Note-taking and Study Skills	</a:t>
            </a:r>
            <a:endParaRPr kumimoji="0" lang="en-US" sz="2400" b="0" i="0"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3. Test-Taking Skill	</a:t>
            </a:r>
            <a:endParaRPr kumimoji="0" lang="en-US" sz="2400" b="0" i="0"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4. Test Anxiety and Overcoming Test Anxiety	</a:t>
            </a:r>
            <a:endParaRPr kumimoji="0" lang="en-US" sz="2400" b="0" i="0"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5. Goal Setting	</a:t>
            </a:r>
            <a:endParaRPr kumimoji="0" lang="en-US" sz="2400" b="0" i="0"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lnSpc>
                <a:spcPct val="150000"/>
              </a:lnSpc>
              <a:spcBef>
                <a:spcPct val="0"/>
              </a:spcBef>
              <a:spcAft>
                <a:spcPct val="0"/>
              </a:spcAft>
              <a:buNone/>
              <a:tabLst>
                <a:tab pos="5511800" algn="l"/>
              </a:tabLst>
            </a:pPr>
            <a:r>
              <a:rPr kumimoji="0" lang="en-US" b="0" i="0" strike="noStrike" cap="none" normalizeH="0" baseline="0" dirty="0" smtClean="0">
                <a:ln>
                  <a:noFill/>
                </a:ln>
                <a:solidFill>
                  <a:schemeClr val="tx1"/>
                </a:solidFill>
                <a:effectLst/>
                <a:latin typeface="Arial" pitchFamily="34" charset="0"/>
                <a:ea typeface="Times New Roman" pitchFamily="18" charset="0"/>
                <a:cs typeface="Arial" pitchFamily="34" charset="0"/>
              </a:rPr>
              <a:t>6. Career Development Skill	</a:t>
            </a:r>
            <a:endParaRPr kumimoji="0" lang="en-US" sz="2400" b="0" i="0"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533400"/>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762000"/>
            <a:ext cx="8686800" cy="5867400"/>
          </a:xfrm>
        </p:spPr>
        <p:txBody>
          <a:bodyPr>
            <a:normAutofit fontScale="25000" lnSpcReduction="20000"/>
          </a:bodyPr>
          <a:lstStyle/>
          <a:p>
            <a:r>
              <a:rPr lang="en-US" sz="9600" b="1" dirty="0" smtClean="0">
                <a:latin typeface="Arial Narrow" pitchFamily="34" charset="0"/>
              </a:rPr>
              <a:t>Time </a:t>
            </a:r>
            <a:r>
              <a:rPr lang="en-US" sz="9600" b="1" dirty="0" smtClean="0">
                <a:latin typeface="Arial Narrow" pitchFamily="34" charset="0"/>
              </a:rPr>
              <a:t>management  skill</a:t>
            </a:r>
            <a:r>
              <a:rPr lang="en-US" sz="9600" dirty="0" smtClean="0">
                <a:latin typeface="Arial Narrow" pitchFamily="34" charset="0"/>
              </a:rPr>
              <a:t> </a:t>
            </a:r>
            <a:r>
              <a:rPr lang="en-US" sz="9600" dirty="0" smtClean="0">
                <a:latin typeface="Arial Narrow" pitchFamily="34" charset="0"/>
              </a:rPr>
              <a:t>is the ability to plan and control how someone spends the hours in a day </a:t>
            </a:r>
            <a:r>
              <a:rPr lang="en-US" sz="9600" dirty="0" smtClean="0">
                <a:latin typeface="Arial Narrow" pitchFamily="34" charset="0"/>
              </a:rPr>
              <a:t>to accomplish </a:t>
            </a:r>
            <a:r>
              <a:rPr lang="en-US" sz="9600" dirty="0" smtClean="0">
                <a:latin typeface="Arial Narrow" pitchFamily="34" charset="0"/>
              </a:rPr>
              <a:t>his or her goals effectively</a:t>
            </a:r>
            <a:r>
              <a:rPr lang="en-US" sz="9600" dirty="0" smtClean="0">
                <a:latin typeface="Arial Narrow" pitchFamily="34" charset="0"/>
              </a:rPr>
              <a:t>.</a:t>
            </a:r>
          </a:p>
          <a:p>
            <a:r>
              <a:rPr lang="en-US" sz="9600" b="1" dirty="0" smtClean="0">
                <a:latin typeface="Arial Narrow" pitchFamily="34" charset="0"/>
              </a:rPr>
              <a:t>Note taking skill </a:t>
            </a:r>
            <a:r>
              <a:rPr lang="en-US" sz="9600" dirty="0" smtClean="0">
                <a:latin typeface="Arial Narrow" pitchFamily="34" charset="0"/>
              </a:rPr>
              <a:t>is an essential skill of learning which involves staying </a:t>
            </a:r>
            <a:r>
              <a:rPr lang="en-US" sz="9600" dirty="0" smtClean="0">
                <a:latin typeface="Arial Narrow" pitchFamily="34" charset="0"/>
              </a:rPr>
              <a:t>organized </a:t>
            </a:r>
            <a:r>
              <a:rPr lang="en-US" sz="9600" dirty="0" smtClean="0">
                <a:latin typeface="Arial Narrow" pitchFamily="34" charset="0"/>
              </a:rPr>
              <a:t>before, during, &amp; after </a:t>
            </a:r>
            <a:r>
              <a:rPr lang="en-US" sz="9600" dirty="0" smtClean="0">
                <a:latin typeface="Arial Narrow" pitchFamily="34" charset="0"/>
              </a:rPr>
              <a:t>taking </a:t>
            </a:r>
            <a:r>
              <a:rPr lang="en-US" sz="9600" dirty="0" smtClean="0">
                <a:latin typeface="Arial Narrow" pitchFamily="34" charset="0"/>
              </a:rPr>
              <a:t>notes and using</a:t>
            </a:r>
            <a:r>
              <a:rPr lang="en-US" sz="9600" b="1" dirty="0" smtClean="0">
                <a:latin typeface="Arial Narrow" pitchFamily="34" charset="0"/>
              </a:rPr>
              <a:t> </a:t>
            </a:r>
            <a:r>
              <a:rPr lang="en-US" sz="9600" dirty="0" smtClean="0">
                <a:latin typeface="Arial Narrow" pitchFamily="34" charset="0"/>
              </a:rPr>
              <a:t>a </a:t>
            </a:r>
            <a:r>
              <a:rPr lang="en-US" sz="9600" dirty="0" smtClean="0">
                <a:latin typeface="Arial Narrow" pitchFamily="34" charset="0"/>
              </a:rPr>
              <a:t>note-taking format </a:t>
            </a:r>
            <a:r>
              <a:rPr lang="en-US" sz="9600" dirty="0" smtClean="0">
                <a:latin typeface="Arial Narrow" pitchFamily="34" charset="0"/>
              </a:rPr>
              <a:t>(such as summary, outline, Cornell, Chart, concept map, or question methods) that </a:t>
            </a:r>
            <a:r>
              <a:rPr lang="en-US" sz="9600" dirty="0" smtClean="0">
                <a:latin typeface="Arial Narrow" pitchFamily="34" charset="0"/>
              </a:rPr>
              <a:t>works well </a:t>
            </a:r>
            <a:r>
              <a:rPr lang="en-US" sz="9600" dirty="0" smtClean="0">
                <a:latin typeface="Arial Narrow" pitchFamily="34" charset="0"/>
              </a:rPr>
              <a:t>with your </a:t>
            </a:r>
            <a:r>
              <a:rPr lang="en-US" sz="9600" dirty="0" smtClean="0">
                <a:latin typeface="Arial Narrow" pitchFamily="34" charset="0"/>
              </a:rPr>
              <a:t>learning </a:t>
            </a:r>
            <a:r>
              <a:rPr lang="en-US" sz="9600" dirty="0" smtClean="0">
                <a:latin typeface="Arial Narrow" pitchFamily="34" charset="0"/>
              </a:rPr>
              <a:t>style.</a:t>
            </a:r>
          </a:p>
          <a:p>
            <a:r>
              <a:rPr lang="en-US" sz="9600" b="1" dirty="0" smtClean="0">
                <a:latin typeface="Arial Narrow" pitchFamily="34" charset="0"/>
              </a:rPr>
              <a:t>Test-Taking </a:t>
            </a:r>
            <a:r>
              <a:rPr lang="en-US" sz="9600" b="1" dirty="0" smtClean="0">
                <a:latin typeface="Arial Narrow" pitchFamily="34" charset="0"/>
              </a:rPr>
              <a:t>Skill</a:t>
            </a:r>
            <a:r>
              <a:rPr lang="en-US" sz="9600" dirty="0" smtClean="0">
                <a:latin typeface="Arial Narrow" pitchFamily="34" charset="0"/>
              </a:rPr>
              <a:t> </a:t>
            </a:r>
            <a:r>
              <a:rPr lang="en-US" sz="9600" dirty="0" smtClean="0">
                <a:latin typeface="Arial Narrow" pitchFamily="34" charset="0"/>
              </a:rPr>
              <a:t> includes Planning </a:t>
            </a:r>
            <a:r>
              <a:rPr lang="en-US" sz="9600" dirty="0" smtClean="0">
                <a:latin typeface="Arial Narrow" pitchFamily="34" charset="0"/>
              </a:rPr>
              <a:t>your study time and </a:t>
            </a:r>
            <a:r>
              <a:rPr lang="en-US" sz="9600" dirty="0" smtClean="0">
                <a:latin typeface="Arial Narrow" pitchFamily="34" charset="0"/>
              </a:rPr>
              <a:t>setting </a:t>
            </a:r>
            <a:r>
              <a:rPr lang="en-US" sz="9600" dirty="0" smtClean="0">
                <a:latin typeface="Arial Narrow" pitchFamily="34" charset="0"/>
              </a:rPr>
              <a:t>study </a:t>
            </a:r>
            <a:r>
              <a:rPr lang="en-US" sz="9600" dirty="0" smtClean="0">
                <a:latin typeface="Arial Narrow" pitchFamily="34" charset="0"/>
              </a:rPr>
              <a:t>goals, Cram </a:t>
            </a:r>
            <a:r>
              <a:rPr lang="en-US" sz="9600" dirty="0" smtClean="0">
                <a:latin typeface="Arial Narrow" pitchFamily="34" charset="0"/>
              </a:rPr>
              <a:t>Strategically, </a:t>
            </a:r>
            <a:r>
              <a:rPr lang="en-US" sz="9600" dirty="0" smtClean="0">
                <a:latin typeface="Arial Narrow" pitchFamily="34" charset="0"/>
              </a:rPr>
              <a:t>organize information, Control </a:t>
            </a:r>
            <a:r>
              <a:rPr lang="en-US" sz="9600" dirty="0" smtClean="0">
                <a:latin typeface="Arial Narrow" pitchFamily="34" charset="0"/>
              </a:rPr>
              <a:t>Your Test </a:t>
            </a:r>
            <a:r>
              <a:rPr lang="en-US" sz="9600" dirty="0" smtClean="0">
                <a:latin typeface="Arial Narrow" pitchFamily="34" charset="0"/>
              </a:rPr>
              <a:t>Anxiety, take enough rest, </a:t>
            </a:r>
            <a:r>
              <a:rPr lang="en-US" sz="9600" dirty="0" smtClean="0">
                <a:latin typeface="Arial Narrow" pitchFamily="34" charset="0"/>
              </a:rPr>
              <a:t>Examine previous tests </a:t>
            </a:r>
            <a:r>
              <a:rPr lang="en-US" sz="9600" dirty="0" smtClean="0">
                <a:latin typeface="Arial Narrow" pitchFamily="34" charset="0"/>
              </a:rPr>
              <a:t>and prepare accordingly, apply SR3Rs during preparation…etc</a:t>
            </a:r>
          </a:p>
          <a:p>
            <a:r>
              <a:rPr lang="en-US" sz="9600" b="1" dirty="0" smtClean="0">
                <a:latin typeface="Arial Narrow" pitchFamily="34" charset="0"/>
              </a:rPr>
              <a:t>Test anxiety </a:t>
            </a:r>
            <a:r>
              <a:rPr lang="en-US" sz="9600" dirty="0" smtClean="0">
                <a:latin typeface="Arial Narrow" pitchFamily="34" charset="0"/>
              </a:rPr>
              <a:t>is a negative mood characterized by bodily symptoms of physical </a:t>
            </a:r>
            <a:r>
              <a:rPr lang="en-US" sz="9600" dirty="0" smtClean="0">
                <a:latin typeface="Arial Narrow" pitchFamily="34" charset="0"/>
              </a:rPr>
              <a:t>tension and </a:t>
            </a:r>
            <a:r>
              <a:rPr lang="en-US" sz="9600" dirty="0" smtClean="0">
                <a:latin typeface="Arial Narrow" pitchFamily="34" charset="0"/>
              </a:rPr>
              <a:t>apprehension about a test/exam going to take place in the future</a:t>
            </a:r>
            <a:r>
              <a:rPr lang="en-US" sz="9600" dirty="0" smtClean="0">
                <a:latin typeface="Arial Narrow" pitchFamily="34" charset="0"/>
              </a:rPr>
              <a:t>. Test </a:t>
            </a:r>
            <a:r>
              <a:rPr lang="en-US" sz="9600" dirty="0" smtClean="0">
                <a:latin typeface="Arial Narrow" pitchFamily="34" charset="0"/>
              </a:rPr>
              <a:t>anxiety can cause a host of physical, emotional, behavioral and cognitive problems. </a:t>
            </a:r>
            <a:endParaRPr lang="en-US" sz="9600" dirty="0" smtClean="0">
              <a:latin typeface="Arial Narrow" pitchFamily="34" charset="0"/>
            </a:endParaRPr>
          </a:p>
          <a:p>
            <a:r>
              <a:rPr lang="en-US" sz="9600" dirty="0" smtClean="0">
                <a:latin typeface="Arial Narrow" pitchFamily="34" charset="0"/>
              </a:rPr>
              <a:t>To </a:t>
            </a:r>
            <a:r>
              <a:rPr lang="en-US" sz="9600" b="1" dirty="0" smtClean="0">
                <a:latin typeface="Arial Narrow" pitchFamily="34" charset="0"/>
              </a:rPr>
              <a:t>reduce </a:t>
            </a:r>
            <a:r>
              <a:rPr lang="en-US" sz="9600" b="1" dirty="0" smtClean="0">
                <a:latin typeface="Arial Narrow" pitchFamily="34" charset="0"/>
              </a:rPr>
              <a:t>test-anxiety</a:t>
            </a:r>
            <a:r>
              <a:rPr lang="en-US" sz="9600" dirty="0" smtClean="0">
                <a:latin typeface="Arial Narrow" pitchFamily="34" charset="0"/>
              </a:rPr>
              <a:t>; </a:t>
            </a:r>
            <a:r>
              <a:rPr lang="en-US" sz="9600" b="1" dirty="0" smtClean="0">
                <a:latin typeface="Arial Narrow" pitchFamily="34" charset="0"/>
              </a:rPr>
              <a:t>Pay </a:t>
            </a:r>
            <a:r>
              <a:rPr lang="en-US" sz="9600" b="1" dirty="0" smtClean="0">
                <a:latin typeface="Arial Narrow" pitchFamily="34" charset="0"/>
              </a:rPr>
              <a:t>attention to your </a:t>
            </a:r>
            <a:r>
              <a:rPr lang="en-US" sz="9600" b="1" dirty="0" smtClean="0">
                <a:latin typeface="Arial Narrow" pitchFamily="34" charset="0"/>
              </a:rPr>
              <a:t>self-talk, Identify </a:t>
            </a:r>
            <a:r>
              <a:rPr lang="en-US" sz="9600" b="1" dirty="0" smtClean="0">
                <a:latin typeface="Arial Narrow" pitchFamily="34" charset="0"/>
              </a:rPr>
              <a:t>thoughts that lead to feelings of </a:t>
            </a:r>
            <a:r>
              <a:rPr lang="en-US" sz="9600" b="1" dirty="0" smtClean="0">
                <a:latin typeface="Arial Narrow" pitchFamily="34" charset="0"/>
              </a:rPr>
              <a:t>anxiety, and Challenge </a:t>
            </a:r>
            <a:r>
              <a:rPr lang="en-US" sz="9600" b="1" dirty="0" smtClean="0">
                <a:latin typeface="Arial Narrow" pitchFamily="34" charset="0"/>
              </a:rPr>
              <a:t>your </a:t>
            </a:r>
            <a:r>
              <a:rPr lang="en-US" sz="9600" b="1" dirty="0" smtClean="0">
                <a:latin typeface="Arial Narrow" pitchFamily="34" charset="0"/>
              </a:rPr>
              <a:t>‘anxious’ thinking</a:t>
            </a:r>
            <a:r>
              <a:rPr lang="en-US" sz="9600" dirty="0" smtClean="0">
                <a:latin typeface="Arial Narrow" pitchFamily="34" charset="0"/>
              </a:rPr>
              <a:t> </a:t>
            </a: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t>
            </a:r>
            <a:br>
              <a:rPr lang="en-US" dirty="0" smtClean="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990600"/>
            <a:ext cx="8686800" cy="5715000"/>
          </a:xfrm>
        </p:spPr>
        <p:txBody>
          <a:bodyPr/>
          <a:lstStyle/>
          <a:p>
            <a:r>
              <a:rPr lang="en-US" sz="2400" b="1" dirty="0" smtClean="0">
                <a:latin typeface="Arial Narrow" pitchFamily="34" charset="0"/>
              </a:rPr>
              <a:t>Goal </a:t>
            </a:r>
            <a:r>
              <a:rPr lang="en-US" sz="2400" b="1" dirty="0" smtClean="0">
                <a:latin typeface="Arial Narrow" pitchFamily="34" charset="0"/>
              </a:rPr>
              <a:t>Setting</a:t>
            </a:r>
            <a:r>
              <a:rPr lang="en-US" sz="2400" dirty="0" smtClean="0">
                <a:latin typeface="Arial Narrow" pitchFamily="34" charset="0"/>
              </a:rPr>
              <a:t>  is the process of imagining, planning and implementing the big picture of one‘s destination. Goal setting gives someone direction and motivation, as well as increasing satisfaction and self-confidence in their performance. </a:t>
            </a:r>
          </a:p>
          <a:p>
            <a:r>
              <a:rPr lang="en-US" sz="2400" b="1" dirty="0" smtClean="0">
                <a:latin typeface="Arial Narrow" pitchFamily="34" charset="0"/>
              </a:rPr>
              <a:t>Career management </a:t>
            </a:r>
            <a:r>
              <a:rPr lang="en-US" sz="2400" dirty="0" smtClean="0">
                <a:latin typeface="Arial Narrow" pitchFamily="34" charset="0"/>
              </a:rPr>
              <a:t>skills are competencies, which help individuals to identify their existing skills, develop career learning goals and take action to enhance their careers.</a:t>
            </a:r>
            <a:r>
              <a:rPr lang="en-US"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43000"/>
            <a:ext cx="8229600" cy="1143000"/>
          </a:xfrm>
        </p:spPr>
        <p:txBody>
          <a:bodyPr/>
          <a:lstStyle/>
          <a:p>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CHAPTER ELEVEN</a:t>
            </a:r>
            <a:endParaRPr lang="en-US" dirty="0"/>
          </a:p>
        </p:txBody>
      </p:sp>
      <p:sp>
        <p:nvSpPr>
          <p:cNvPr id="3" name="Content Placeholder 2"/>
          <p:cNvSpPr>
            <a:spLocks noGrp="1"/>
          </p:cNvSpPr>
          <p:nvPr>
            <p:ph idx="1"/>
          </p:nvPr>
        </p:nvSpPr>
        <p:spPr>
          <a:xfrm>
            <a:off x="457200" y="2819401"/>
            <a:ext cx="8229600" cy="1143000"/>
          </a:xfrm>
        </p:spPr>
        <p:txBody>
          <a:bodyPr/>
          <a:lstStyle/>
          <a:p>
            <a:pPr algn="ctr">
              <a:buNone/>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SOCIAL SKILLS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Skills</a:t>
            </a:r>
            <a:endParaRPr lang="en-US" dirty="0"/>
          </a:p>
        </p:txBody>
      </p:sp>
      <p:sp>
        <p:nvSpPr>
          <p:cNvPr id="3" name="Content Placeholder 2"/>
          <p:cNvSpPr>
            <a:spLocks noGrp="1"/>
          </p:cNvSpPr>
          <p:nvPr>
            <p:ph idx="1"/>
          </p:nvPr>
        </p:nvSpPr>
        <p:spPr>
          <a:xfrm>
            <a:off x="457200" y="1219200"/>
            <a:ext cx="8229600" cy="5334000"/>
          </a:xfrm>
        </p:spPr>
        <p:txBody>
          <a:bodyPr>
            <a:normAutofit/>
          </a:bodyPr>
          <a:lstStyle/>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1. Understanding cultural Diversity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2. Gender and Social Inclusion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3. Interpersonal Communication Skills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4. Social Influences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5. Peer Pressure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6. Assertiveness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7. Conflict and Conflict Resolution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8. Team Work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lvl="0" indent="0" eaLnBrk="0" fontAlgn="base" hangingPunct="0">
              <a:spcBef>
                <a:spcPct val="0"/>
              </a:spcBef>
              <a:spcAft>
                <a:spcPct val="0"/>
              </a:spcAft>
              <a:buNone/>
              <a:tabLst>
                <a:tab pos="5511800" algn="l"/>
              </a:tabLst>
            </a:pPr>
            <a:r>
              <a:rPr kumimoji="0" lang="en-US"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9. Overcoming Risky Behavior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a:buNone/>
            </a:pPr>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838200"/>
            <a:ext cx="8686800" cy="5867400"/>
          </a:xfrm>
        </p:spPr>
        <p:txBody>
          <a:bodyPr>
            <a:noAutofit/>
          </a:bodyPr>
          <a:lstStyle/>
          <a:p>
            <a:r>
              <a:rPr lang="en-US" sz="2400" b="1" dirty="0" smtClean="0">
                <a:latin typeface="Arial Narrow" pitchFamily="34" charset="0"/>
              </a:rPr>
              <a:t>Culturally diversity/</a:t>
            </a:r>
            <a:r>
              <a:rPr lang="en-US" sz="2400" dirty="0" smtClean="0">
                <a:latin typeface="Arial Narrow" pitchFamily="34" charset="0"/>
              </a:rPr>
              <a:t>Multiculturalism</a:t>
            </a:r>
            <a:r>
              <a:rPr lang="en-US" sz="2400" b="1" dirty="0" smtClean="0">
                <a:latin typeface="Arial Narrow" pitchFamily="34" charset="0"/>
              </a:rPr>
              <a:t> </a:t>
            </a:r>
            <a:r>
              <a:rPr lang="en-US" sz="2400" dirty="0" smtClean="0">
                <a:latin typeface="Arial Narrow" pitchFamily="34" charset="0"/>
              </a:rPr>
              <a:t>is defined as: </a:t>
            </a:r>
            <a:r>
              <a:rPr lang="en-US" sz="2400" i="1" dirty="0" smtClean="0">
                <a:latin typeface="Arial Narrow" pitchFamily="34" charset="0"/>
              </a:rPr>
              <a:t>“…</a:t>
            </a:r>
            <a:r>
              <a:rPr lang="en-US" sz="2400" dirty="0" smtClean="0">
                <a:latin typeface="Arial Narrow" pitchFamily="34" charset="0"/>
              </a:rPr>
              <a:t>a system of beliefs </a:t>
            </a:r>
            <a:r>
              <a:rPr lang="en-US" sz="2400" dirty="0" smtClean="0">
                <a:latin typeface="Arial Narrow" pitchFamily="34" charset="0"/>
              </a:rPr>
              <a:t>and behaviors </a:t>
            </a:r>
            <a:r>
              <a:rPr lang="en-US" sz="2400" dirty="0" smtClean="0">
                <a:latin typeface="Arial Narrow" pitchFamily="34" charset="0"/>
              </a:rPr>
              <a:t>that recognizes and respects the presence of all diverse groups in </a:t>
            </a:r>
            <a:r>
              <a:rPr lang="en-US" sz="2400" dirty="0" smtClean="0">
                <a:latin typeface="Arial Narrow" pitchFamily="34" charset="0"/>
              </a:rPr>
              <a:t>an organization </a:t>
            </a:r>
            <a:r>
              <a:rPr lang="en-US" sz="2400" dirty="0" smtClean="0">
                <a:latin typeface="Arial Narrow" pitchFamily="34" charset="0"/>
              </a:rPr>
              <a:t>or society, acknowledges and values their socio-cultural differences</a:t>
            </a:r>
            <a:r>
              <a:rPr lang="en-US" sz="2400" dirty="0" smtClean="0">
                <a:latin typeface="Arial Narrow" pitchFamily="34" charset="0"/>
              </a:rPr>
              <a:t>, and </a:t>
            </a:r>
            <a:r>
              <a:rPr lang="en-US" sz="2400" dirty="0" smtClean="0">
                <a:latin typeface="Arial Narrow" pitchFamily="34" charset="0"/>
              </a:rPr>
              <a:t>encourages and enables their continued contribution within an inclusive </a:t>
            </a:r>
            <a:r>
              <a:rPr lang="en-US" sz="2400" dirty="0" smtClean="0">
                <a:latin typeface="Arial Narrow" pitchFamily="34" charset="0"/>
              </a:rPr>
              <a:t>cultural context </a:t>
            </a:r>
            <a:r>
              <a:rPr lang="en-US" sz="2400" dirty="0" smtClean="0">
                <a:latin typeface="Arial Narrow" pitchFamily="34" charset="0"/>
              </a:rPr>
              <a:t>which empowers all within the organization or society</a:t>
            </a:r>
            <a:r>
              <a:rPr lang="en-US" sz="2400" dirty="0" smtClean="0">
                <a:latin typeface="Arial Narrow" pitchFamily="34" charset="0"/>
              </a:rPr>
              <a:t>. The </a:t>
            </a:r>
            <a:r>
              <a:rPr lang="en-US" sz="2400" dirty="0" smtClean="0">
                <a:latin typeface="Arial Narrow" pitchFamily="34" charset="0"/>
              </a:rPr>
              <a:t>key to manage diversity is to capitalize more effectively on our capacity </a:t>
            </a:r>
            <a:r>
              <a:rPr lang="en-US" sz="2400" dirty="0" smtClean="0">
                <a:latin typeface="Arial Narrow" pitchFamily="34" charset="0"/>
              </a:rPr>
              <a:t>for multiple </a:t>
            </a:r>
            <a:r>
              <a:rPr lang="en-US" sz="2400" dirty="0" smtClean="0">
                <a:latin typeface="Arial Narrow" pitchFamily="34" charset="0"/>
              </a:rPr>
              <a:t>social </a:t>
            </a:r>
            <a:r>
              <a:rPr lang="en-US" sz="2400" dirty="0" smtClean="0">
                <a:latin typeface="Arial Narrow" pitchFamily="34" charset="0"/>
              </a:rPr>
              <a:t>identities.</a:t>
            </a:r>
          </a:p>
          <a:p>
            <a:r>
              <a:rPr lang="en-US" sz="2400" dirty="0" smtClean="0">
                <a:latin typeface="Arial Narrow" pitchFamily="34" charset="0"/>
              </a:rPr>
              <a:t>Nations</a:t>
            </a:r>
            <a:r>
              <a:rPr lang="en-US" sz="2400" dirty="0" smtClean="0">
                <a:latin typeface="Arial Narrow" pitchFamily="34" charset="0"/>
              </a:rPr>
              <a:t>, right groups, nation leaders and scholars have been demanding more </a:t>
            </a:r>
            <a:r>
              <a:rPr lang="en-US" sz="2400" b="1" dirty="0" smtClean="0">
                <a:latin typeface="Arial Narrow" pitchFamily="34" charset="0"/>
              </a:rPr>
              <a:t>rights for </a:t>
            </a:r>
            <a:r>
              <a:rPr lang="en-US" sz="2400" b="1" dirty="0" smtClean="0">
                <a:latin typeface="Arial Narrow" pitchFamily="34" charset="0"/>
              </a:rPr>
              <a:t>women </a:t>
            </a:r>
            <a:r>
              <a:rPr lang="en-US" sz="2400" dirty="0" smtClean="0">
                <a:latin typeface="Arial Narrow" pitchFamily="34" charset="0"/>
              </a:rPr>
              <a:t>and inclusion of developmental activities. Therefore, </a:t>
            </a:r>
            <a:r>
              <a:rPr lang="en-US" sz="2400" b="1" dirty="0" smtClean="0">
                <a:latin typeface="Arial Narrow" pitchFamily="34" charset="0"/>
              </a:rPr>
              <a:t>women </a:t>
            </a:r>
            <a:r>
              <a:rPr lang="en-US" sz="2400" b="1" dirty="0" smtClean="0">
                <a:latin typeface="Arial Narrow" pitchFamily="34" charset="0"/>
              </a:rPr>
              <a:t>should benefit</a:t>
            </a:r>
            <a:r>
              <a:rPr lang="en-US" sz="2400" dirty="0" smtClean="0">
                <a:latin typeface="Arial Narrow" pitchFamily="34" charset="0"/>
              </a:rPr>
              <a:t> </a:t>
            </a:r>
            <a:r>
              <a:rPr lang="en-US" sz="2400" dirty="0" smtClean="0">
                <a:latin typeface="Arial Narrow" pitchFamily="34" charset="0"/>
              </a:rPr>
              <a:t>from education, economy, leadership system, development programs and </a:t>
            </a:r>
            <a:r>
              <a:rPr lang="en-US" sz="2400" dirty="0" smtClean="0">
                <a:latin typeface="Arial Narrow" pitchFamily="34" charset="0"/>
              </a:rPr>
              <a:t>legal system</a:t>
            </a:r>
            <a:r>
              <a:rPr lang="en-US" sz="2400" dirty="0" smtClean="0">
                <a:latin typeface="Arial Narrow" pitchFamily="34" charset="0"/>
              </a:rPr>
              <a:t>. Build a culture of gender inclusion across implementing the following </a:t>
            </a:r>
            <a:r>
              <a:rPr lang="en-US" sz="2400" dirty="0" smtClean="0">
                <a:latin typeface="Arial Narrow" pitchFamily="34" charset="0"/>
              </a:rPr>
              <a:t>is important.</a:t>
            </a:r>
          </a:p>
          <a:p>
            <a:r>
              <a:rPr lang="en-US" sz="2400" b="1" dirty="0" smtClean="0">
                <a:latin typeface="Arial Narrow" pitchFamily="34" charset="0"/>
              </a:rPr>
              <a:t>Interpersonal </a:t>
            </a:r>
            <a:r>
              <a:rPr lang="en-US" sz="2400" b="1" dirty="0" smtClean="0">
                <a:latin typeface="Arial Narrow" pitchFamily="34" charset="0"/>
              </a:rPr>
              <a:t>communication</a:t>
            </a:r>
            <a:r>
              <a:rPr lang="en-US" sz="2400" dirty="0" smtClean="0">
                <a:latin typeface="Arial Narrow" pitchFamily="34" charset="0"/>
              </a:rPr>
              <a:t> is the process by which people exchange information</a:t>
            </a:r>
            <a:r>
              <a:rPr lang="en-US" sz="2400" dirty="0" smtClean="0">
                <a:latin typeface="Arial Narrow" pitchFamily="34" charset="0"/>
              </a:rPr>
              <a:t>, feelings</a:t>
            </a:r>
            <a:r>
              <a:rPr lang="en-US" sz="2400" dirty="0" smtClean="0">
                <a:latin typeface="Arial Narrow" pitchFamily="34" charset="0"/>
              </a:rPr>
              <a:t>, and meaning through verbal and non-verbal messages: it is </a:t>
            </a:r>
            <a:r>
              <a:rPr lang="en-US" sz="2400" dirty="0" smtClean="0">
                <a:latin typeface="Arial Narrow" pitchFamily="34" charset="0"/>
              </a:rPr>
              <a:t>face-to-face communication.</a:t>
            </a:r>
            <a:endParaRPr lang="en-US" sz="2400" dirty="0">
              <a:latin typeface="Arial Narrow"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533400"/>
            <a:ext cx="8686800" cy="6096000"/>
          </a:xfrm>
        </p:spPr>
        <p:txBody>
          <a:bodyPr>
            <a:normAutofit fontScale="25000" lnSpcReduction="20000"/>
          </a:bodyPr>
          <a:lstStyle/>
          <a:p>
            <a:r>
              <a:rPr lang="en-US" sz="8800" b="1" dirty="0" smtClean="0">
                <a:latin typeface="Arial Narrow" pitchFamily="34" charset="0"/>
              </a:rPr>
              <a:t>Social </a:t>
            </a:r>
            <a:r>
              <a:rPr lang="en-US" sz="8800" b="1" dirty="0" smtClean="0">
                <a:latin typeface="Arial Narrow" pitchFamily="34" charset="0"/>
              </a:rPr>
              <a:t>influence </a:t>
            </a:r>
            <a:r>
              <a:rPr lang="en-US" sz="8800" dirty="0" smtClean="0">
                <a:latin typeface="Arial Narrow" pitchFamily="34" charset="0"/>
              </a:rPr>
              <a:t>occurs when one person (the source) engages in some behavior (</a:t>
            </a:r>
            <a:r>
              <a:rPr lang="en-US" sz="8800" dirty="0" smtClean="0">
                <a:latin typeface="Arial Narrow" pitchFamily="34" charset="0"/>
              </a:rPr>
              <a:t>such as </a:t>
            </a:r>
            <a:r>
              <a:rPr lang="en-US" sz="8800" dirty="0" smtClean="0">
                <a:latin typeface="Arial Narrow" pitchFamily="34" charset="0"/>
              </a:rPr>
              <a:t>persuading, threatening or promising, or issuing orders) that causes another </a:t>
            </a:r>
            <a:r>
              <a:rPr lang="en-US" sz="8800" dirty="0" smtClean="0">
                <a:latin typeface="Arial Narrow" pitchFamily="34" charset="0"/>
              </a:rPr>
              <a:t>person (</a:t>
            </a:r>
            <a:r>
              <a:rPr lang="en-US" sz="8800" dirty="0" smtClean="0">
                <a:latin typeface="Arial Narrow" pitchFamily="34" charset="0"/>
              </a:rPr>
              <a:t>the target) to behave differently from how he or she would otherwise </a:t>
            </a:r>
            <a:r>
              <a:rPr lang="en-US" sz="8800" dirty="0" smtClean="0">
                <a:latin typeface="Arial Narrow" pitchFamily="34" charset="0"/>
              </a:rPr>
              <a:t>behave.</a:t>
            </a:r>
          </a:p>
          <a:p>
            <a:r>
              <a:rPr lang="en-US" sz="8800" b="1" dirty="0" smtClean="0">
                <a:latin typeface="Arial Narrow" pitchFamily="34" charset="0"/>
              </a:rPr>
              <a:t>Assertiveness</a:t>
            </a:r>
            <a:r>
              <a:rPr lang="en-US" sz="8800" dirty="0" smtClean="0">
                <a:latin typeface="Arial Narrow" pitchFamily="34" charset="0"/>
              </a:rPr>
              <a:t> </a:t>
            </a:r>
            <a:r>
              <a:rPr lang="en-US" sz="8800" dirty="0" smtClean="0">
                <a:latin typeface="Arial Narrow" pitchFamily="34" charset="0"/>
              </a:rPr>
              <a:t>is a communication style. It is being able to express your feelings</a:t>
            </a:r>
            <a:r>
              <a:rPr lang="en-US" sz="8800" dirty="0" smtClean="0">
                <a:latin typeface="Arial Narrow" pitchFamily="34" charset="0"/>
              </a:rPr>
              <a:t>, thoughts</a:t>
            </a:r>
            <a:r>
              <a:rPr lang="en-US" sz="8800" dirty="0" smtClean="0">
                <a:latin typeface="Arial Narrow" pitchFamily="34" charset="0"/>
              </a:rPr>
              <a:t>, beliefs, and opinions in an open manner that does not violate the rights </a:t>
            </a:r>
            <a:r>
              <a:rPr lang="en-US" sz="8800" dirty="0" smtClean="0">
                <a:latin typeface="Arial Narrow" pitchFamily="34" charset="0"/>
              </a:rPr>
              <a:t>of others.</a:t>
            </a:r>
          </a:p>
          <a:p>
            <a:r>
              <a:rPr lang="en-US" sz="8800" b="1" dirty="0" smtClean="0">
                <a:latin typeface="Arial Narrow" pitchFamily="34" charset="0"/>
              </a:rPr>
              <a:t>Conflict</a:t>
            </a:r>
            <a:r>
              <a:rPr lang="en-US" sz="8800" dirty="0" smtClean="0">
                <a:latin typeface="Arial Narrow" pitchFamily="34" charset="0"/>
              </a:rPr>
              <a:t> </a:t>
            </a:r>
            <a:r>
              <a:rPr lang="en-US" sz="8800" dirty="0" smtClean="0">
                <a:latin typeface="Arial Narrow" pitchFamily="34" charset="0"/>
              </a:rPr>
              <a:t>is an incompatibility of goals or values between two or more parties in a</a:t>
            </a:r>
            <a:br>
              <a:rPr lang="en-US" sz="8800" dirty="0" smtClean="0">
                <a:latin typeface="Arial Narrow" pitchFamily="34" charset="0"/>
              </a:rPr>
            </a:br>
            <a:r>
              <a:rPr lang="en-US" sz="8800" dirty="0" smtClean="0">
                <a:latin typeface="Arial Narrow" pitchFamily="34" charset="0"/>
              </a:rPr>
              <a:t>relationship, combined with attempts to control each other and antagonistic </a:t>
            </a:r>
            <a:r>
              <a:rPr lang="en-US" sz="8800" dirty="0" smtClean="0">
                <a:latin typeface="Arial Narrow" pitchFamily="34" charset="0"/>
              </a:rPr>
              <a:t>feelings toward </a:t>
            </a:r>
            <a:r>
              <a:rPr lang="en-US" sz="8800" dirty="0" smtClean="0">
                <a:latin typeface="Arial Narrow" pitchFamily="34" charset="0"/>
              </a:rPr>
              <a:t>each </a:t>
            </a:r>
            <a:r>
              <a:rPr lang="en-US" sz="8800" dirty="0" smtClean="0">
                <a:latin typeface="Arial Narrow" pitchFamily="34" charset="0"/>
              </a:rPr>
              <a:t>other.  The three </a:t>
            </a:r>
            <a:r>
              <a:rPr lang="en-US" sz="8800" dirty="0" smtClean="0">
                <a:latin typeface="Arial Narrow" pitchFamily="34" charset="0"/>
              </a:rPr>
              <a:t>main sources of conflict: economic, value, and power</a:t>
            </a:r>
            <a:r>
              <a:rPr lang="en-US" sz="8800" dirty="0" smtClean="0">
                <a:latin typeface="Arial Narrow" pitchFamily="34" charset="0"/>
              </a:rPr>
              <a:t>.  </a:t>
            </a:r>
          </a:p>
          <a:p>
            <a:r>
              <a:rPr lang="en-US" sz="8800" b="1" dirty="0" smtClean="0">
                <a:latin typeface="Arial Narrow" pitchFamily="34" charset="0"/>
              </a:rPr>
              <a:t>Conflict </a:t>
            </a:r>
            <a:r>
              <a:rPr lang="en-US" sz="8800" dirty="0" smtClean="0">
                <a:latin typeface="Arial Narrow" pitchFamily="34" charset="0"/>
              </a:rPr>
              <a:t>can result in destructive outcomes or creative ones depending on the</a:t>
            </a:r>
            <a:br>
              <a:rPr lang="en-US" sz="8800" dirty="0" smtClean="0">
                <a:latin typeface="Arial Narrow" pitchFamily="34" charset="0"/>
              </a:rPr>
            </a:br>
            <a:r>
              <a:rPr lang="en-US" sz="8800" dirty="0" smtClean="0">
                <a:latin typeface="Arial Narrow" pitchFamily="34" charset="0"/>
              </a:rPr>
              <a:t>approach that is taken. Given interdependence, three general strategies have </a:t>
            </a:r>
            <a:r>
              <a:rPr lang="en-US" sz="8800" dirty="0" smtClean="0">
                <a:latin typeface="Arial Narrow" pitchFamily="34" charset="0"/>
              </a:rPr>
              <a:t>been identified </a:t>
            </a:r>
            <a:r>
              <a:rPr lang="en-US" sz="8800" dirty="0" smtClean="0">
                <a:latin typeface="Arial Narrow" pitchFamily="34" charset="0"/>
              </a:rPr>
              <a:t>that the parties may take toward dealing with their conflict; win-lose, </a:t>
            </a:r>
            <a:r>
              <a:rPr lang="en-US" sz="8800" dirty="0" smtClean="0">
                <a:latin typeface="Arial Narrow" pitchFamily="34" charset="0"/>
              </a:rPr>
              <a:t>lose-lose</a:t>
            </a:r>
            <a:r>
              <a:rPr lang="en-US" sz="8800" dirty="0" smtClean="0">
                <a:latin typeface="Arial Narrow" pitchFamily="34" charset="0"/>
              </a:rPr>
              <a:t>, and </a:t>
            </a:r>
            <a:r>
              <a:rPr lang="en-US" sz="8800" dirty="0" smtClean="0">
                <a:latin typeface="Arial Narrow" pitchFamily="34" charset="0"/>
              </a:rPr>
              <a:t>win-win.</a:t>
            </a:r>
          </a:p>
          <a:p>
            <a:r>
              <a:rPr lang="en-US" sz="8800" b="1" dirty="0" smtClean="0">
                <a:latin typeface="Arial Narrow" pitchFamily="34" charset="0"/>
              </a:rPr>
              <a:t>Teams </a:t>
            </a:r>
            <a:r>
              <a:rPr lang="en-US" sz="8800" dirty="0" smtClean="0">
                <a:latin typeface="Arial Narrow" pitchFamily="34" charset="0"/>
              </a:rPr>
              <a:t>are groups of people with complementary skills who are committed to a</a:t>
            </a:r>
            <a:br>
              <a:rPr lang="en-US" sz="8800" dirty="0" smtClean="0">
                <a:latin typeface="Arial Narrow" pitchFamily="34" charset="0"/>
              </a:rPr>
            </a:br>
            <a:r>
              <a:rPr lang="en-US" sz="8800" dirty="0" smtClean="0">
                <a:latin typeface="Arial Narrow" pitchFamily="34" charset="0"/>
              </a:rPr>
              <a:t>common purpose and hold themselves mutually accountable for its achievement</a:t>
            </a:r>
            <a:r>
              <a:rPr lang="en-US" sz="8800" dirty="0" smtClean="0">
                <a:latin typeface="Arial Narrow" pitchFamily="34" charset="0"/>
              </a:rPr>
              <a:t>. </a:t>
            </a:r>
          </a:p>
          <a:p>
            <a:r>
              <a:rPr lang="en-US" sz="8800" b="1" dirty="0" smtClean="0">
                <a:latin typeface="Arial Narrow" pitchFamily="34" charset="0"/>
              </a:rPr>
              <a:t>Taking </a:t>
            </a:r>
            <a:r>
              <a:rPr lang="en-US" sz="8800" b="1" dirty="0" smtClean="0">
                <a:latin typeface="Arial Narrow" pitchFamily="34" charset="0"/>
              </a:rPr>
              <a:t>risks </a:t>
            </a:r>
            <a:r>
              <a:rPr lang="en-US" sz="8800" dirty="0" smtClean="0">
                <a:latin typeface="Arial Narrow" pitchFamily="34" charset="0"/>
              </a:rPr>
              <a:t>is fairly common in adolescence. Yet, risky behaviors can be </a:t>
            </a:r>
            <a:r>
              <a:rPr lang="en-US" sz="8800" dirty="0" smtClean="0">
                <a:latin typeface="Arial Narrow" pitchFamily="34" charset="0"/>
              </a:rPr>
              <a:t>associated with </a:t>
            </a:r>
            <a:r>
              <a:rPr lang="en-US" sz="8800" dirty="0" smtClean="0">
                <a:latin typeface="Arial Narrow" pitchFamily="34" charset="0"/>
              </a:rPr>
              <a:t>serious, long-term, and–in some cases–life-threatening consequences. </a:t>
            </a:r>
            <a:br>
              <a:rPr lang="en-US" sz="8800" dirty="0" smtClean="0">
                <a:latin typeface="Arial Narrow" pitchFamily="34" charset="0"/>
              </a:rPr>
            </a:br>
            <a:endParaRPr lang="en-US" sz="8800" dirty="0" smtClean="0">
              <a:latin typeface="Arial Narrow" pitchFamily="34" charset="0"/>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WordArt 3"/>
          <p:cNvSpPr>
            <a:spLocks noChangeArrowheads="1" noChangeShapeType="1" noTextEdit="1"/>
          </p:cNvSpPr>
          <p:nvPr/>
        </p:nvSpPr>
        <p:spPr bwMode="auto">
          <a:xfrm>
            <a:off x="914400" y="2209800"/>
            <a:ext cx="7467600" cy="1143000"/>
          </a:xfrm>
          <a:prstGeom prst="rect">
            <a:avLst/>
          </a:prstGeom>
        </p:spPr>
        <p:txBody>
          <a:bodyPr wrap="none" fromWordArt="1">
            <a:prstTxWarp prst="textPlain">
              <a:avLst>
                <a:gd name="adj" fmla="val 50000"/>
              </a:avLst>
            </a:prstTxWarp>
            <a:scene3d>
              <a:camera prst="legacyPerspectiveTopLeft"/>
              <a:lightRig rig="legacyNormal3" dir="r"/>
            </a:scene3d>
            <a:sp3d extrusionH="201600" prstMaterial="legacyMetal">
              <a:extrusionClr>
                <a:srgbClr val="FFFFFF"/>
              </a:extrusionClr>
            </a:sp3d>
          </a:bodyPr>
          <a:lstStyle/>
          <a:p>
            <a:pPr algn="ctr"/>
            <a:r>
              <a:rPr lang="en-US" sz="3600" kern="10" dirty="0">
                <a:ln w="9525">
                  <a:round/>
                  <a:headEnd/>
                  <a:tailEnd/>
                </a:ln>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latin typeface="Times New Roman"/>
                <a:cs typeface="Times New Roman"/>
              </a:rPr>
              <a:t>THANK </a:t>
            </a:r>
            <a:r>
              <a:rPr lang="en-US" sz="3600" kern="10" dirty="0" smtClean="0">
                <a:ln w="9525">
                  <a:round/>
                  <a:headEnd/>
                  <a:tailEnd/>
                </a:ln>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latin typeface="Times New Roman"/>
                <a:cs typeface="Times New Roman"/>
              </a:rPr>
              <a:t>YOU!</a:t>
            </a:r>
            <a:endParaRPr lang="en-US" sz="3600" kern="10" dirty="0">
              <a:ln w="9525">
                <a:round/>
                <a:headEnd/>
                <a:tailEnd/>
              </a:ln>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1061</TotalTime>
  <Words>1153</Words>
  <Application>Microsoft Office PowerPoint</Application>
  <PresentationFormat>On-screen Show (4:3)</PresentationFormat>
  <Paragraphs>74</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CHAPTER NINE</vt:lpstr>
      <vt:lpstr>INTRA-PERSONAL AND INTERPERSONAL SKILLS</vt:lpstr>
      <vt:lpstr>…</vt:lpstr>
      <vt:lpstr>...</vt:lpstr>
      <vt:lpstr>…</vt:lpstr>
      <vt:lpstr>CHAPTER TEN</vt:lpstr>
      <vt:lpstr>ACADEMIC SKILLS</vt:lpstr>
      <vt:lpstr>.</vt:lpstr>
      <vt:lpstr>…</vt:lpstr>
      <vt:lpstr>CHAPTER ELEVEN</vt:lpstr>
      <vt:lpstr>Social Skills</vt:lpstr>
      <vt:lpstr>...</vt:lpstr>
      <vt:lpstr>.</vt:lpstr>
      <vt:lpst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NINE</dc:title>
  <dc:creator>User</dc:creator>
  <cp:lastModifiedBy>User</cp:lastModifiedBy>
  <cp:revision>17</cp:revision>
  <dcterms:created xsi:type="dcterms:W3CDTF">2020-01-12T06:28:41Z</dcterms:created>
  <dcterms:modified xsi:type="dcterms:W3CDTF">2020-01-13T07:32:24Z</dcterms:modified>
</cp:coreProperties>
</file>