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82" r:id="rId5"/>
    <p:sldId id="259" r:id="rId6"/>
    <p:sldId id="274" r:id="rId7"/>
    <p:sldId id="260" r:id="rId8"/>
    <p:sldId id="261" r:id="rId9"/>
    <p:sldId id="272" r:id="rId10"/>
    <p:sldId id="262" r:id="rId11"/>
    <p:sldId id="271" r:id="rId12"/>
    <p:sldId id="278" r:id="rId13"/>
    <p:sldId id="263" r:id="rId14"/>
    <p:sldId id="284" r:id="rId15"/>
    <p:sldId id="265" r:id="rId16"/>
    <p:sldId id="266" r:id="rId17"/>
    <p:sldId id="280" r:id="rId18"/>
    <p:sldId id="269" r:id="rId19"/>
    <p:sldId id="270" r:id="rId20"/>
    <p:sldId id="267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0323" autoAdjust="0"/>
  </p:normalViewPr>
  <p:slideViewPr>
    <p:cSldViewPr>
      <p:cViewPr varScale="1">
        <p:scale>
          <a:sx n="66" d="100"/>
          <a:sy n="66" d="100"/>
        </p:scale>
        <p:origin x="-15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D6E93-C050-4C59-9562-3D51E4488FD5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59368-4BBE-4289-8357-9C36D9115F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919AAF-BD21-499A-9A90-97E6CF7DB7AE}" type="slidenum">
              <a:rPr lang="en-US"/>
              <a:pPr/>
              <a:t>6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en-US" dirty="0" err="1"/>
              <a:t>Hockenbury</a:t>
            </a:r>
            <a:r>
              <a:rPr lang="en-US" altLang="en-US" dirty="0"/>
              <a:t> slides (Schulman)</a:t>
            </a:r>
          </a:p>
          <a:p>
            <a:r>
              <a:rPr lang="en-US" altLang="en-US" dirty="0"/>
              <a:t>Key words: modal model of the mind; stage model of memory; sensory memory; short-term memory; working memory; long-term memory; attention; encoding; maintenance rehearsal; retrieval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©2001 Prentice Hall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DD6344-12A1-4BDA-8E14-6DFCF7A11A1C}" type="slidenum">
              <a:rPr lang="en-US"/>
              <a:pPr/>
              <a:t>14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©2001 Prentice Hall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DBADAB-AA2B-4F8F-B5F5-69E8BAE3FCBF}" type="slidenum">
              <a:rPr lang="en-US"/>
              <a:pPr/>
              <a:t>21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475"/>
            <a:ext cx="8385175" cy="1431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927475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918075" y="1905000"/>
            <a:ext cx="3927475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37375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fld id="{FC89DC3D-4B35-4031-9246-7AAE1330A0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40AA6-72AD-468E-BED4-2F12A81EA14D}" type="datetimeFigureOut">
              <a:rPr lang="en-US" smtClean="0"/>
              <a:pPr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4F5AB-6AD3-46E9-B91C-EE2161DA0BC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287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CHAPTER </a:t>
            </a:r>
            <a:r>
              <a:rPr lang="en-US" b="1" dirty="0" smtClean="0"/>
              <a:t>FOUR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4000" b="1" dirty="0">
                <a:latin typeface="Arial Narrow" pitchFamily="34" charset="0"/>
              </a:rPr>
              <a:t>MEMORY AND </a:t>
            </a:r>
            <a:r>
              <a:rPr lang="en-US" sz="4000" b="1" dirty="0" smtClean="0">
                <a:latin typeface="Arial Narrow" pitchFamily="34" charset="0"/>
              </a:rPr>
              <a:t>FORGETTING</a:t>
            </a:r>
            <a:endParaRPr lang="en-US" sz="40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5.1 Memory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5626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5.1.1 Meaning and Processes of </a:t>
            </a:r>
            <a:r>
              <a:rPr lang="en-US" b="1" dirty="0" smtClean="0"/>
              <a:t>Memory</a:t>
            </a:r>
          </a:p>
          <a:p>
            <a:r>
              <a:rPr lang="en-US" dirty="0" smtClean="0"/>
              <a:t>Memory </a:t>
            </a:r>
            <a:r>
              <a:rPr lang="en-US" dirty="0"/>
              <a:t>is the retention of </a:t>
            </a:r>
            <a:r>
              <a:rPr lang="en-US" dirty="0" smtClean="0"/>
              <a:t>information </a:t>
            </a:r>
            <a:r>
              <a:rPr lang="en-US" dirty="0"/>
              <a:t>learned </a:t>
            </a:r>
            <a:r>
              <a:rPr lang="en-US" dirty="0" smtClean="0"/>
              <a:t>earlier over </a:t>
            </a:r>
            <a:r>
              <a:rPr lang="en-US" dirty="0"/>
              <a:t>time.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the way </a:t>
            </a:r>
            <a:r>
              <a:rPr lang="en-US" dirty="0" smtClean="0"/>
              <a:t>in which </a:t>
            </a:r>
            <a:r>
              <a:rPr lang="en-US" dirty="0"/>
              <a:t>we record the past for later use in the present. </a:t>
            </a:r>
            <a:endParaRPr lang="en-US" dirty="0" smtClean="0"/>
          </a:p>
          <a:p>
            <a:r>
              <a:rPr lang="en-US" dirty="0" smtClean="0"/>
              <a:t>Memory </a:t>
            </a:r>
            <a:r>
              <a:rPr lang="en-US" dirty="0"/>
              <a:t>is a blanket label for a </a:t>
            </a:r>
            <a:r>
              <a:rPr lang="en-US" dirty="0" smtClean="0"/>
              <a:t>large number </a:t>
            </a:r>
            <a:r>
              <a:rPr lang="en-US" dirty="0"/>
              <a:t>of processes that form the bridges between our past and our present.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Processes of Memory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a) </a:t>
            </a:r>
            <a:r>
              <a:rPr lang="en-US" b="1" dirty="0"/>
              <a:t>Encoding: </a:t>
            </a:r>
            <a:r>
              <a:rPr lang="en-US" dirty="0" smtClean="0"/>
              <a:t>refers </a:t>
            </a:r>
            <a:r>
              <a:rPr lang="en-US" dirty="0"/>
              <a:t>to the form (i.e. </a:t>
            </a:r>
            <a:r>
              <a:rPr lang="en-US" dirty="0" smtClean="0"/>
              <a:t>the code</a:t>
            </a:r>
            <a:r>
              <a:rPr lang="en-US" dirty="0"/>
              <a:t>) in which an item of information is to be </a:t>
            </a:r>
            <a:r>
              <a:rPr lang="en-US" dirty="0" smtClean="0"/>
              <a:t>recorded/placed </a:t>
            </a:r>
            <a:r>
              <a:rPr lang="en-US" dirty="0"/>
              <a:t>in memory.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In </a:t>
            </a:r>
            <a:r>
              <a:rPr lang="en-US" dirty="0"/>
              <a:t>encoding </a:t>
            </a:r>
            <a:r>
              <a:rPr lang="en-US" dirty="0" smtClean="0"/>
              <a:t>we transform </a:t>
            </a:r>
            <a:r>
              <a:rPr lang="en-US" dirty="0"/>
              <a:t>a sensory input into a form or a memory code that can be further processed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b="1" dirty="0"/>
              <a:t>Storage: </a:t>
            </a:r>
            <a:r>
              <a:rPr lang="en-US" dirty="0" smtClean="0"/>
              <a:t>It </a:t>
            </a:r>
            <a:r>
              <a:rPr lang="en-US" dirty="0"/>
              <a:t>is the location in memory system in which material </a:t>
            </a:r>
            <a:r>
              <a:rPr lang="en-US" dirty="0" smtClean="0"/>
              <a:t>is saved</a:t>
            </a:r>
            <a:r>
              <a:rPr lang="en-US" dirty="0"/>
              <a:t>. Storage is the persistence of information in memory.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/>
              <a:t>c) </a:t>
            </a:r>
            <a:r>
              <a:rPr lang="en-US" b="1" dirty="0"/>
              <a:t>Retrieval: </a:t>
            </a:r>
            <a:r>
              <a:rPr lang="en-US" dirty="0"/>
              <a:t>is the point at which one tries to </a:t>
            </a:r>
            <a:r>
              <a:rPr lang="en-US" dirty="0" smtClean="0"/>
              <a:t>remember a particular information (brought into awareness and used) from </a:t>
            </a:r>
            <a:r>
              <a:rPr lang="en-US" dirty="0"/>
              <a:t>among all the others we have stored.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4099" name="Picture 4" descr="11701_f07_02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228600"/>
            <a:ext cx="8534400" cy="6294438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5.1.2 Stages/Structure of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Memory structure refers </a:t>
            </a:r>
            <a:r>
              <a:rPr lang="en-US" dirty="0"/>
              <a:t>how </a:t>
            </a:r>
            <a:r>
              <a:rPr lang="en-US" b="1" dirty="0"/>
              <a:t>information is represented </a:t>
            </a:r>
            <a:r>
              <a:rPr lang="en-US" dirty="0" smtClean="0"/>
              <a:t>in memory </a:t>
            </a:r>
            <a:r>
              <a:rPr lang="en-US" dirty="0"/>
              <a:t>and </a:t>
            </a:r>
            <a:r>
              <a:rPr lang="en-US" b="1" dirty="0"/>
              <a:t>how long it lasts </a:t>
            </a:r>
            <a:r>
              <a:rPr lang="en-US" dirty="0"/>
              <a:t>and </a:t>
            </a:r>
            <a:r>
              <a:rPr lang="en-US" b="1" dirty="0"/>
              <a:t>how it is organized. </a:t>
            </a:r>
            <a:endParaRPr lang="en-US" b="1" dirty="0" smtClean="0"/>
          </a:p>
          <a:p>
            <a:r>
              <a:rPr lang="en-US" dirty="0" smtClean="0"/>
              <a:t>Many </a:t>
            </a:r>
            <a:r>
              <a:rPr lang="en-US" dirty="0"/>
              <a:t>cognitive psychologists relate the mind to </a:t>
            </a:r>
            <a:r>
              <a:rPr lang="en-US" dirty="0" smtClean="0"/>
              <a:t>a </a:t>
            </a:r>
            <a:r>
              <a:rPr lang="en-US" dirty="0"/>
              <a:t>digital </a:t>
            </a:r>
            <a:r>
              <a:rPr lang="en-US" dirty="0" smtClean="0"/>
              <a:t>computer </a:t>
            </a:r>
            <a:r>
              <a:rPr lang="en-US" dirty="0"/>
              <a:t>that takes items of information </a:t>
            </a:r>
            <a:r>
              <a:rPr lang="en-US" dirty="0" smtClean="0"/>
              <a:t>in processes or in stages</a:t>
            </a:r>
            <a:r>
              <a:rPr lang="en-US" dirty="0"/>
              <a:t>, and then produces an </a:t>
            </a:r>
            <a:r>
              <a:rPr lang="en-US" dirty="0" smtClean="0"/>
              <a:t>output.</a:t>
            </a:r>
          </a:p>
          <a:p>
            <a:r>
              <a:rPr lang="en-US" dirty="0" smtClean="0"/>
              <a:t>Models of memory based on this idea are </a:t>
            </a:r>
            <a:r>
              <a:rPr lang="en-US" i="1" dirty="0" smtClean="0"/>
              <a:t>Information processing models/theories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Like computer, we also store vast amounts of information in our memory storehouse. From this storehouse, we can retrieve some information onto a limited capacity of working memory (consciousness).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810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Three Stages of Memory</a:t>
            </a:r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838200" y="1524000"/>
            <a:ext cx="7527925" cy="971550"/>
          </a:xfrm>
        </p:spPr>
        <p:txBody>
          <a:bodyPr/>
          <a:lstStyle/>
          <a:p>
            <a:r>
              <a:rPr lang="en-US" altLang="en-US" sz="2800" dirty="0"/>
              <a:t>Three memory stores that differ in function, capacity and duration</a:t>
            </a:r>
          </a:p>
          <a:p>
            <a:pPr>
              <a:buFont typeface="Wingdings" pitchFamily="2" charset="2"/>
              <a:buNone/>
            </a:pPr>
            <a:endParaRPr lang="en-US" altLang="en-US" sz="2800" dirty="0"/>
          </a:p>
        </p:txBody>
      </p:sp>
      <p:pic>
        <p:nvPicPr>
          <p:cNvPr id="44" name="Picture 10" descr="E:\Consulting\Prentice Hall\Power Point\Kassin 2e\KA0601.GIF"/>
          <p:cNvPicPr>
            <a:picLocks noChangeAspect="1" noChangeArrowheads="1"/>
          </p:cNvPicPr>
          <p:nvPr/>
        </p:nvPicPr>
        <p:blipFill>
          <a:blip r:embed="rId3"/>
          <a:srcRect t="24001" b="24001"/>
          <a:stretch>
            <a:fillRect/>
          </a:stretch>
        </p:blipFill>
        <p:spPr>
          <a:xfrm>
            <a:off x="457200" y="2667000"/>
            <a:ext cx="8305800" cy="3025775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bldLvl="3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dirty="0" smtClean="0">
                <a:latin typeface="Arial Narrow" pitchFamily="34" charset="0"/>
              </a:rPr>
              <a:t>According </a:t>
            </a:r>
            <a:r>
              <a:rPr lang="en-US" sz="2500" dirty="0">
                <a:latin typeface="Arial Narrow" pitchFamily="34" charset="0"/>
              </a:rPr>
              <a:t>to Atkinson and </a:t>
            </a:r>
            <a:r>
              <a:rPr lang="en-US" sz="2500" dirty="0" err="1" smtClean="0">
                <a:latin typeface="Arial Narrow" pitchFamily="34" charset="0"/>
              </a:rPr>
              <a:t>Shiffrin</a:t>
            </a:r>
            <a:r>
              <a:rPr lang="en-US" sz="2500" dirty="0" smtClean="0">
                <a:latin typeface="Arial Narrow" pitchFamily="34" charset="0"/>
              </a:rPr>
              <a:t> (1968), memory has </a:t>
            </a:r>
            <a:r>
              <a:rPr lang="en-US" sz="2500" dirty="0">
                <a:latin typeface="Arial Narrow" pitchFamily="34" charset="0"/>
              </a:rPr>
              <a:t>three </a:t>
            </a:r>
            <a:r>
              <a:rPr lang="en-US" sz="2500" dirty="0" smtClean="0">
                <a:latin typeface="Arial Narrow" pitchFamily="34" charset="0"/>
              </a:rPr>
              <a:t>structures: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dirty="0" smtClean="0">
                <a:latin typeface="Arial Narrow" pitchFamily="34" charset="0"/>
              </a:rPr>
              <a:t>1</a:t>
            </a:r>
            <a:r>
              <a:rPr lang="en-US" sz="2500" dirty="0">
                <a:latin typeface="Arial Narrow" pitchFamily="34" charset="0"/>
              </a:rPr>
              <a:t>) </a:t>
            </a:r>
            <a:r>
              <a:rPr lang="en-US" sz="2500" b="1" dirty="0">
                <a:latin typeface="Arial Narrow" pitchFamily="34" charset="0"/>
              </a:rPr>
              <a:t>Sensory Memory/Sensory Register: </a:t>
            </a:r>
            <a:r>
              <a:rPr lang="en-US" sz="2500" dirty="0">
                <a:latin typeface="Arial Narrow" pitchFamily="34" charset="0"/>
              </a:rPr>
              <a:t>It is the entry way to </a:t>
            </a:r>
            <a:r>
              <a:rPr lang="en-US" sz="2500" dirty="0" smtClean="0">
                <a:latin typeface="Arial Narrow" pitchFamily="34" charset="0"/>
              </a:rPr>
              <a:t>memory, where information stay for a </a:t>
            </a:r>
            <a:r>
              <a:rPr lang="en-US" sz="2500" dirty="0">
                <a:latin typeface="Arial Narrow" pitchFamily="34" charset="0"/>
              </a:rPr>
              <a:t>brief time </a:t>
            </a:r>
            <a:r>
              <a:rPr lang="en-US" sz="2500" dirty="0" smtClean="0">
                <a:latin typeface="Arial Narrow" pitchFamily="34" charset="0"/>
              </a:rPr>
              <a:t>(until we select it for attention).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500" dirty="0" smtClean="0">
                <a:latin typeface="Arial Narrow" pitchFamily="34" charset="0"/>
              </a:rPr>
              <a:t> Sensory memory hold virtually </a:t>
            </a:r>
            <a:r>
              <a:rPr lang="en-US" sz="2500" dirty="0">
                <a:latin typeface="Arial Narrow" pitchFamily="34" charset="0"/>
              </a:rPr>
              <a:t>all the information reaching our senses for a brief time</a:t>
            </a:r>
            <a:r>
              <a:rPr lang="en-US" sz="2500" dirty="0" smtClean="0">
                <a:latin typeface="Arial Narrow" pitchFamily="34" charset="0"/>
              </a:rPr>
              <a:t>. For </a:t>
            </a:r>
            <a:r>
              <a:rPr lang="en-US" sz="2500" dirty="0">
                <a:latin typeface="Arial Narrow" pitchFamily="34" charset="0"/>
              </a:rPr>
              <a:t>instance, </a:t>
            </a:r>
            <a:endParaRPr lang="en-US" sz="2500" dirty="0" smtClean="0">
              <a:latin typeface="Arial Narrow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500" dirty="0" smtClean="0">
                <a:latin typeface="Arial Narrow" pitchFamily="34" charset="0"/>
              </a:rPr>
              <a:t>Visual </a:t>
            </a:r>
            <a:r>
              <a:rPr lang="en-US" sz="2500" dirty="0">
                <a:latin typeface="Arial Narrow" pitchFamily="34" charset="0"/>
              </a:rPr>
              <a:t>images (Iconic memory) remain in the visual system for a maximum </a:t>
            </a:r>
            <a:r>
              <a:rPr lang="en-US" sz="2500" dirty="0" smtClean="0">
                <a:latin typeface="Arial Narrow" pitchFamily="34" charset="0"/>
              </a:rPr>
              <a:t>of one </a:t>
            </a:r>
            <a:r>
              <a:rPr lang="en-US" sz="2500" dirty="0">
                <a:latin typeface="Arial Narrow" pitchFamily="34" charset="0"/>
              </a:rPr>
              <a:t>second. </a:t>
            </a:r>
            <a:endParaRPr lang="en-US" sz="2500" dirty="0" smtClean="0">
              <a:latin typeface="Arial Narrow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500" dirty="0" smtClean="0">
                <a:latin typeface="Arial Narrow" pitchFamily="34" charset="0"/>
              </a:rPr>
              <a:t>Auditory </a:t>
            </a:r>
            <a:r>
              <a:rPr lang="en-US" sz="2500" dirty="0">
                <a:latin typeface="Arial Narrow" pitchFamily="34" charset="0"/>
              </a:rPr>
              <a:t>images (Echoic memory) remain in the auditory system for a </a:t>
            </a:r>
            <a:r>
              <a:rPr lang="en-US" sz="2500" dirty="0" smtClean="0">
                <a:latin typeface="Arial Narrow" pitchFamily="34" charset="0"/>
              </a:rPr>
              <a:t>slightly longer </a:t>
            </a:r>
            <a:r>
              <a:rPr lang="en-US" sz="2500" dirty="0">
                <a:latin typeface="Arial Narrow" pitchFamily="34" charset="0"/>
              </a:rPr>
              <a:t>time, by most estimates up to two second or so. </a:t>
            </a:r>
            <a:endParaRPr lang="en-US" sz="2500" dirty="0" smtClean="0">
              <a:latin typeface="Arial Narrow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500" dirty="0" smtClean="0">
                <a:latin typeface="Arial Narrow" pitchFamily="34" charset="0"/>
              </a:rPr>
              <a:t>The information stored in sensory memory is a fairly accurate representation of the environmental information but unprocessed.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500" dirty="0" smtClean="0">
                <a:latin typeface="Arial Narrow" pitchFamily="34" charset="0"/>
              </a:rPr>
              <a:t>Most </a:t>
            </a:r>
            <a:r>
              <a:rPr lang="en-US" sz="2500" dirty="0">
                <a:latin typeface="Arial Narrow" pitchFamily="34" charset="0"/>
              </a:rPr>
              <a:t>information briefly held in the sensory memory simply decays from the register</a:t>
            </a:r>
            <a:r>
              <a:rPr lang="en-US" sz="2500" dirty="0" smtClean="0">
                <a:latin typeface="Arial Narrow" pitchFamily="34" charset="0"/>
              </a:rPr>
              <a:t>. Those </a:t>
            </a:r>
            <a:r>
              <a:rPr lang="en-US" sz="2500" dirty="0">
                <a:latin typeface="Arial Narrow" pitchFamily="34" charset="0"/>
              </a:rPr>
              <a:t>information that has got attention and recognition pass on </a:t>
            </a:r>
            <a:r>
              <a:rPr lang="en-US" sz="2500" dirty="0" smtClean="0">
                <a:latin typeface="Arial Narrow" pitchFamily="34" charset="0"/>
              </a:rPr>
              <a:t>short-term memory </a:t>
            </a:r>
            <a:r>
              <a:rPr lang="en-US" sz="2500" dirty="0">
                <a:latin typeface="Arial Narrow" pitchFamily="34" charset="0"/>
              </a:rPr>
              <a:t>for further </a:t>
            </a:r>
            <a:r>
              <a:rPr lang="en-US" sz="2500" dirty="0" smtClean="0">
                <a:latin typeface="Arial Narrow" pitchFamily="34" charset="0"/>
              </a:rPr>
              <a:t>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 Narrow" pitchFamily="34" charset="0"/>
              </a:rPr>
              <a:t>Short </a:t>
            </a:r>
            <a:r>
              <a:rPr lang="en-US" sz="2400" dirty="0">
                <a:latin typeface="Arial Narrow" pitchFamily="34" charset="0"/>
              </a:rPr>
              <a:t>term memory is distinguished by four </a:t>
            </a:r>
            <a:r>
              <a:rPr lang="en-US" sz="2400" dirty="0" smtClean="0">
                <a:latin typeface="Arial Narrow" pitchFamily="34" charset="0"/>
              </a:rPr>
              <a:t>characteristics: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>
                <a:latin typeface="Arial Narrow" pitchFamily="34" charset="0"/>
              </a:rPr>
              <a:t>It </a:t>
            </a:r>
            <a:r>
              <a:rPr lang="en-US" sz="2400" b="1" dirty="0">
                <a:latin typeface="Arial Narrow" pitchFamily="34" charset="0"/>
              </a:rPr>
              <a:t>is </a:t>
            </a:r>
            <a:r>
              <a:rPr lang="en-US" sz="2400" b="1" dirty="0" smtClean="0">
                <a:latin typeface="Arial Narrow" pitchFamily="34" charset="0"/>
              </a:rPr>
              <a:t>active </a:t>
            </a:r>
            <a:r>
              <a:rPr lang="en-US" sz="2400" dirty="0" smtClean="0">
                <a:latin typeface="Arial Narrow" pitchFamily="34" charset="0"/>
              </a:rPr>
              <a:t>- </a:t>
            </a:r>
            <a:r>
              <a:rPr lang="en-US" sz="2400" dirty="0">
                <a:latin typeface="Arial Narrow" pitchFamily="34" charset="0"/>
              </a:rPr>
              <a:t>information remains in STM only so long as the person is </a:t>
            </a:r>
            <a:r>
              <a:rPr lang="en-US" sz="2400" u="sng" dirty="0" smtClean="0">
                <a:latin typeface="Arial Narrow" pitchFamily="34" charset="0"/>
              </a:rPr>
              <a:t>consciously</a:t>
            </a:r>
            <a:r>
              <a:rPr lang="en-US" sz="2400" dirty="0" smtClean="0">
                <a:latin typeface="Arial Narrow" pitchFamily="34" charset="0"/>
              </a:rPr>
              <a:t> processing</a:t>
            </a:r>
            <a:r>
              <a:rPr lang="en-US" sz="2400" dirty="0">
                <a:latin typeface="Arial Narrow" pitchFamily="34" charset="0"/>
              </a:rPr>
              <a:t>, examining, or manipulating it. People use STM as a </a:t>
            </a:r>
            <a:r>
              <a:rPr lang="en-US" sz="2400" dirty="0" smtClean="0">
                <a:latin typeface="Arial Narrow" pitchFamily="34" charset="0"/>
              </a:rPr>
              <a:t>“workspace” to </a:t>
            </a:r>
            <a:r>
              <a:rPr lang="en-US" sz="2400" dirty="0">
                <a:latin typeface="Arial Narrow" pitchFamily="34" charset="0"/>
              </a:rPr>
              <a:t>process </a:t>
            </a:r>
            <a:r>
              <a:rPr lang="en-US" sz="2400" dirty="0" smtClean="0">
                <a:latin typeface="Arial Narrow" pitchFamily="34" charset="0"/>
              </a:rPr>
              <a:t>new information </a:t>
            </a:r>
            <a:r>
              <a:rPr lang="en-US" sz="2400" dirty="0">
                <a:latin typeface="Arial Narrow" pitchFamily="34" charset="0"/>
              </a:rPr>
              <a:t>and to call up relevant information from </a:t>
            </a:r>
            <a:r>
              <a:rPr lang="en-US" sz="2400" dirty="0" smtClean="0">
                <a:latin typeface="Arial Narrow" pitchFamily="34" charset="0"/>
              </a:rPr>
              <a:t>LTM.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>
                <a:latin typeface="Arial Narrow" pitchFamily="34" charset="0"/>
              </a:rPr>
              <a:t>Rapid </a:t>
            </a:r>
            <a:r>
              <a:rPr lang="en-US" sz="2400" b="1" dirty="0">
                <a:latin typeface="Arial Narrow" pitchFamily="34" charset="0"/>
              </a:rPr>
              <a:t>accessibility </a:t>
            </a:r>
            <a:r>
              <a:rPr lang="en-US" sz="2400" dirty="0">
                <a:latin typeface="Arial Narrow" pitchFamily="34" charset="0"/>
              </a:rPr>
              <a:t>- Information in STM is readily available for use. </a:t>
            </a:r>
            <a:r>
              <a:rPr lang="en-US" sz="2400" dirty="0" smtClean="0">
                <a:latin typeface="Arial Narrow" pitchFamily="34" charset="0"/>
              </a:rPr>
              <a:t>The difference </a:t>
            </a:r>
            <a:r>
              <a:rPr lang="en-US" sz="2400" dirty="0">
                <a:latin typeface="Arial Narrow" pitchFamily="34" charset="0"/>
              </a:rPr>
              <a:t>between STM and LTM is the difference </a:t>
            </a:r>
            <a:r>
              <a:rPr lang="en-US" sz="2400" dirty="0" smtClean="0">
                <a:latin typeface="Arial Narrow" pitchFamily="34" charset="0"/>
              </a:rPr>
              <a:t>between </a:t>
            </a:r>
            <a:r>
              <a:rPr lang="en-US" sz="2400" dirty="0">
                <a:latin typeface="Arial Narrow" pitchFamily="34" charset="0"/>
              </a:rPr>
              <a:t>searching for information in an </a:t>
            </a:r>
            <a:r>
              <a:rPr lang="en-US" sz="2400" dirty="0" smtClean="0">
                <a:latin typeface="Arial Narrow" pitchFamily="34" charset="0"/>
              </a:rPr>
              <a:t>open computer </a:t>
            </a:r>
            <a:r>
              <a:rPr lang="en-US" sz="2400" dirty="0">
                <a:latin typeface="Arial Narrow" pitchFamily="34" charset="0"/>
              </a:rPr>
              <a:t>file versus file stored on the hard </a:t>
            </a:r>
            <a:r>
              <a:rPr lang="en-US" sz="2400" dirty="0" smtClean="0">
                <a:latin typeface="Arial Narrow" pitchFamily="34" charset="0"/>
              </a:rPr>
              <a:t>drive.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>
                <a:latin typeface="Arial Narrow" pitchFamily="34" charset="0"/>
              </a:rPr>
              <a:t>Preserves </a:t>
            </a:r>
            <a:r>
              <a:rPr lang="en-US" sz="2400" b="1" dirty="0">
                <a:latin typeface="Arial Narrow" pitchFamily="34" charset="0"/>
              </a:rPr>
              <a:t>the temporal sequence of </a:t>
            </a:r>
            <a:r>
              <a:rPr lang="en-US" sz="2400" b="1" dirty="0" smtClean="0">
                <a:latin typeface="Arial Narrow" pitchFamily="34" charset="0"/>
              </a:rPr>
              <a:t>information-</a:t>
            </a:r>
            <a:r>
              <a:rPr lang="en-US" sz="2400" dirty="0" smtClean="0">
                <a:latin typeface="Arial Narrow" pitchFamily="34" charset="0"/>
              </a:rPr>
              <a:t>STM </a:t>
            </a:r>
            <a:r>
              <a:rPr lang="en-US" sz="2400" dirty="0">
                <a:latin typeface="Arial Narrow" pitchFamily="34" charset="0"/>
              </a:rPr>
              <a:t>usually helps us to maintain </a:t>
            </a:r>
            <a:r>
              <a:rPr lang="en-US" sz="2400" dirty="0" smtClean="0">
                <a:latin typeface="Arial Narrow" pitchFamily="34" charset="0"/>
              </a:rPr>
              <a:t>the information </a:t>
            </a:r>
            <a:r>
              <a:rPr lang="en-US" sz="2400" dirty="0">
                <a:latin typeface="Arial Narrow" pitchFamily="34" charset="0"/>
              </a:rPr>
              <a:t>in sequential </a:t>
            </a:r>
            <a:r>
              <a:rPr lang="en-US" sz="2400" dirty="0" smtClean="0">
                <a:latin typeface="Arial Narrow" pitchFamily="34" charset="0"/>
              </a:rPr>
              <a:t>manner for a temporary period. </a:t>
            </a:r>
            <a:r>
              <a:rPr lang="en-US" sz="2400" dirty="0">
                <a:latin typeface="Arial Narrow" pitchFamily="34" charset="0"/>
              </a:rPr>
              <a:t>It keeps </a:t>
            </a:r>
            <a:r>
              <a:rPr lang="en-US" sz="2400" dirty="0" smtClean="0">
                <a:latin typeface="Arial Narrow" pitchFamily="34" charset="0"/>
              </a:rPr>
              <a:t>information fresh </a:t>
            </a:r>
            <a:r>
              <a:rPr lang="en-US" sz="2400" dirty="0">
                <a:latin typeface="Arial Narrow" pitchFamily="34" charset="0"/>
              </a:rPr>
              <a:t>until it goes to further </a:t>
            </a:r>
            <a:r>
              <a:rPr lang="en-US" sz="2400" dirty="0" smtClean="0">
                <a:latin typeface="Arial Narrow" pitchFamily="34" charset="0"/>
              </a:rPr>
              <a:t>analysis and </a:t>
            </a:r>
            <a:r>
              <a:rPr lang="en-US" sz="2400" dirty="0">
                <a:latin typeface="Arial Narrow" pitchFamily="34" charset="0"/>
              </a:rPr>
              <a:t>stored in LTM in meaningful </a:t>
            </a:r>
            <a:r>
              <a:rPr lang="en-US" sz="2400" dirty="0" smtClean="0">
                <a:latin typeface="Arial Narrow" pitchFamily="34" charset="0"/>
              </a:rPr>
              <a:t>way.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>
                <a:latin typeface="Arial Narrow" pitchFamily="34" charset="0"/>
              </a:rPr>
              <a:t>Limited capacity-</a:t>
            </a:r>
            <a:r>
              <a:rPr lang="en-US" sz="2400" dirty="0" smtClean="0">
                <a:latin typeface="Arial Narrow" pitchFamily="34" charset="0"/>
              </a:rPr>
              <a:t>the number of items that short-term memory can handle at any one time is small - about “7 plus or minus 2” pieces of information at a time (Miller,1956).  </a:t>
            </a:r>
            <a:endParaRPr lang="en-US" sz="24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 smtClean="0">
                <a:latin typeface="Arial Narrow" pitchFamily="34" charset="0"/>
              </a:rPr>
              <a:t>According to most models of memory, we overcome this problem, by grouping small groups of information into larger units or </a:t>
            </a:r>
            <a:r>
              <a:rPr lang="en-US" sz="11200" i="1" dirty="0" smtClean="0">
                <a:latin typeface="Arial Narrow" pitchFamily="34" charset="0"/>
              </a:rPr>
              <a:t>chunks</a:t>
            </a:r>
            <a:r>
              <a:rPr lang="en-US" sz="11200" dirty="0" smtClean="0">
                <a:latin typeface="Arial Narrow" pitchFamily="34" charset="0"/>
              </a:rPr>
              <a:t>. </a:t>
            </a:r>
          </a:p>
          <a:p>
            <a:r>
              <a:rPr lang="en-US" sz="11200" dirty="0">
                <a:latin typeface="Arial Narrow" pitchFamily="34" charset="0"/>
              </a:rPr>
              <a:t>C</a:t>
            </a:r>
            <a:r>
              <a:rPr lang="en-US" sz="11200" dirty="0" smtClean="0">
                <a:latin typeface="Arial Narrow" pitchFamily="34" charset="0"/>
              </a:rPr>
              <a:t>hunking is the grouping or  “packing” of information into higher order units that can be remembered as single units.</a:t>
            </a:r>
          </a:p>
          <a:p>
            <a:r>
              <a:rPr lang="en-US" sz="11200" dirty="0" smtClean="0">
                <a:latin typeface="Arial Narrow" pitchFamily="34" charset="0"/>
              </a:rPr>
              <a:t>Chunking expands working memory by making large amounts of information more manageable. </a:t>
            </a:r>
          </a:p>
          <a:p>
            <a:r>
              <a:rPr lang="en-US" sz="11200" dirty="0" smtClean="0">
                <a:latin typeface="Arial Narrow" pitchFamily="34" charset="0"/>
              </a:rPr>
              <a:t>A chunk may be a word, a phrase, a sentence, or even a visual image, and it depends on previous experience.</a:t>
            </a:r>
          </a:p>
          <a:p>
            <a:r>
              <a:rPr lang="en-US" sz="11200" dirty="0" smtClean="0">
                <a:latin typeface="Arial Narrow" pitchFamily="34" charset="0"/>
              </a:rPr>
              <a:t>STM memory holds information (sounds, visual images, words, and sentences and so on) received from SM for up to about 30 seconds by most estimates. </a:t>
            </a:r>
          </a:p>
          <a:p>
            <a:r>
              <a:rPr lang="en-US" sz="11200" dirty="0" smtClean="0">
                <a:latin typeface="Arial Narrow" pitchFamily="34" charset="0"/>
              </a:rPr>
              <a:t>It is possible to prolong STM indefinitely by rehearsal- the conscious repetition of information. Material in STM is easily displaced unless we do something to keep it there.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Arial Narrow" pitchFamily="34" charset="0"/>
              </a:rPr>
              <a:t>2) Short-term Memory: </a:t>
            </a:r>
            <a:r>
              <a:rPr lang="en-US" sz="2800" dirty="0" smtClean="0">
                <a:latin typeface="Arial Narrow" pitchFamily="34" charset="0"/>
              </a:rPr>
              <a:t>is part of our memory that holds the contents of our attention</a:t>
            </a:r>
            <a:r>
              <a:rPr lang="en-US" sz="2800" b="1" dirty="0" smtClean="0">
                <a:latin typeface="Arial Narrow" pitchFamily="34" charset="0"/>
              </a:rPr>
              <a:t>.</a:t>
            </a:r>
          </a:p>
          <a:p>
            <a:r>
              <a:rPr lang="en-US" sz="2800" dirty="0" smtClean="0">
                <a:latin typeface="Arial Narrow" pitchFamily="34" charset="0"/>
              </a:rPr>
              <a:t>Unlike sensory memories, short-term memories are not brief replicas of the environmental message. Instead, they consist of the by-products or end results of perceptual analysis. </a:t>
            </a:r>
          </a:p>
          <a:p>
            <a:r>
              <a:rPr lang="en-US" sz="2800" b="1" dirty="0" smtClean="0">
                <a:latin typeface="Arial Narrow" pitchFamily="34" charset="0"/>
              </a:rPr>
              <a:t>STM </a:t>
            </a:r>
            <a:r>
              <a:rPr lang="en-US" sz="2800" dirty="0" smtClean="0">
                <a:latin typeface="Arial Narrow" pitchFamily="34" charset="0"/>
              </a:rPr>
              <a:t>is important in a variety of tasks such as thinking, reading, speaking, and problem solving.</a:t>
            </a:r>
          </a:p>
          <a:p>
            <a:r>
              <a:rPr lang="en-US" sz="2800" dirty="0" smtClean="0">
                <a:latin typeface="Arial Narrow" pitchFamily="34" charset="0"/>
              </a:rPr>
              <a:t>There are various terms used to refer to this stage of memory, including working memory, immediate memory, active memory, and primary memory.</a:t>
            </a:r>
          </a:p>
          <a:p>
            <a:r>
              <a:rPr lang="en-US" altLang="en-US" sz="2400" dirty="0" smtClean="0"/>
              <a:t>Maintenance Rehearsal: Repeating information silently to prolong its presence in STM</a:t>
            </a:r>
          </a:p>
          <a:p>
            <a:r>
              <a:rPr lang="en-US" altLang="en-US" sz="2400" dirty="0" smtClean="0"/>
              <a:t>Elaborative Rehearsal: Links new information with existing memories and knowledge in LTM</a:t>
            </a:r>
          </a:p>
          <a:p>
            <a:pPr lvl="1"/>
            <a:r>
              <a:rPr lang="en-US" altLang="en-US" sz="2400" dirty="0" smtClean="0"/>
              <a:t>Good way to transfer STM information into LTM</a:t>
            </a:r>
            <a:endParaRPr lang="en-US" altLang="en-US" sz="2000" dirty="0" smtClean="0"/>
          </a:p>
          <a:p>
            <a:r>
              <a:rPr lang="en-US" sz="2800" dirty="0" smtClean="0"/>
              <a:t> </a:t>
            </a:r>
            <a:br>
              <a:rPr lang="en-US" sz="2800" dirty="0" smtClean="0"/>
            </a:br>
            <a:endParaRPr lang="en-US" sz="2800" dirty="0" smtClean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 Narrow" pitchFamily="34" charset="0"/>
              </a:rPr>
              <a:t>3. Long Term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600" dirty="0" smtClean="0">
                <a:latin typeface="Arial Narrow" pitchFamily="34" charset="0"/>
              </a:rPr>
              <a:t>It is a relatively permanent storage of meaningful information.</a:t>
            </a:r>
            <a:br>
              <a:rPr lang="en-US" sz="3600" dirty="0" smtClean="0">
                <a:latin typeface="Arial Narrow" pitchFamily="34" charset="0"/>
              </a:rPr>
            </a:br>
            <a:r>
              <a:rPr lang="en-US" sz="3600" dirty="0" smtClean="0">
                <a:latin typeface="Arial Narrow" pitchFamily="34" charset="0"/>
              </a:rPr>
              <a:t>The capacity of LTM seems to have no practical limits. The LTM is assumed to be composed of different sub systems:</a:t>
            </a:r>
          </a:p>
          <a:p>
            <a:r>
              <a:rPr lang="en-US" sz="3600" b="1" dirty="0" smtClean="0">
                <a:latin typeface="Arial Narrow" pitchFamily="34" charset="0"/>
              </a:rPr>
              <a:t>Declarative/explicit memory</a:t>
            </a:r>
            <a:r>
              <a:rPr lang="en-US" sz="3600" dirty="0" smtClean="0">
                <a:latin typeface="Arial Narrow" pitchFamily="34" charset="0"/>
              </a:rPr>
              <a:t>-the conscious recollection of information such as specific facts or events that can be verbally communicated. Declarative memory is  subdivided into semantic and episodic memories.</a:t>
            </a:r>
          </a:p>
          <a:p>
            <a:pPr lvl="1"/>
            <a:r>
              <a:rPr lang="en-US" sz="3600" b="1" dirty="0" smtClean="0">
                <a:latin typeface="Arial Narrow" pitchFamily="34" charset="0"/>
              </a:rPr>
              <a:t>Semantic memory-</a:t>
            </a:r>
            <a:r>
              <a:rPr lang="en-US" sz="3600" dirty="0" smtClean="0">
                <a:latin typeface="Arial Narrow" pitchFamily="34" charset="0"/>
              </a:rPr>
              <a:t>memories of meaning of words, concepts and our knowledge of the world, independent of any particular context.</a:t>
            </a:r>
          </a:p>
          <a:p>
            <a:pPr lvl="1"/>
            <a:r>
              <a:rPr lang="en-US" sz="3600" b="1" dirty="0" smtClean="0">
                <a:latin typeface="Arial Narrow" pitchFamily="34" charset="0"/>
              </a:rPr>
              <a:t>Episodic memory-</a:t>
            </a:r>
            <a:r>
              <a:rPr lang="en-US" sz="3600" dirty="0" smtClean="0">
                <a:latin typeface="Arial Narrow" pitchFamily="34" charset="0"/>
              </a:rPr>
              <a:t>memories of events and situations.</a:t>
            </a:r>
          </a:p>
          <a:p>
            <a:r>
              <a:rPr lang="en-US" sz="3600" b="1" dirty="0" smtClean="0">
                <a:latin typeface="Arial Narrow" pitchFamily="34" charset="0"/>
              </a:rPr>
              <a:t>Non-declarative/implicit memory</a:t>
            </a:r>
            <a:r>
              <a:rPr lang="en-US" sz="3600" dirty="0" smtClean="0">
                <a:latin typeface="Arial Narrow" pitchFamily="34" charset="0"/>
              </a:rPr>
              <a:t>-refers to </a:t>
            </a:r>
            <a:r>
              <a:rPr lang="en-US" altLang="en-US" sz="3600" dirty="0" smtClean="0">
                <a:latin typeface="Arial Narrow" pitchFamily="34" charset="0"/>
              </a:rPr>
              <a:t>memory without awareness; memory that affects behavior but cannot consciously be recalled.</a:t>
            </a:r>
            <a:endParaRPr lang="en-US" sz="3600" dirty="0" smtClean="0">
              <a:solidFill>
                <a:srgbClr val="FF0000"/>
              </a:solidFill>
              <a:latin typeface="Arial Narrow" pitchFamily="34" charset="0"/>
            </a:endParaRPr>
          </a:p>
          <a:p>
            <a:r>
              <a:rPr lang="en-US" sz="3600" dirty="0" smtClean="0">
                <a:latin typeface="Arial Narrow" pitchFamily="34" charset="0"/>
              </a:rPr>
              <a:t>One of the most important kinds of implicit memory is procedural memory (</a:t>
            </a:r>
            <a:r>
              <a:rPr lang="en-US" altLang="en-US" sz="3600" dirty="0" smtClean="0">
                <a:latin typeface="Arial Narrow" pitchFamily="34" charset="0"/>
              </a:rPr>
              <a:t>habitual responses</a:t>
            </a:r>
            <a:r>
              <a:rPr lang="en-US" sz="3600" dirty="0" smtClean="0">
                <a:latin typeface="Arial Narrow" pitchFamily="34" charset="0"/>
              </a:rPr>
              <a:t>).</a:t>
            </a:r>
            <a:endParaRPr lang="en-US" sz="2800" dirty="0" smtClean="0">
              <a:latin typeface="Arial Narrow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763" y="228600"/>
            <a:ext cx="888047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 Narrow" pitchFamily="34" charset="0"/>
              </a:rPr>
              <a:t>Serial Position Effect</a:t>
            </a:r>
            <a:br>
              <a:rPr lang="en-US" sz="2400" b="1" dirty="0" smtClean="0">
                <a:latin typeface="Arial Narrow" pitchFamily="34" charset="0"/>
              </a:rPr>
            </a:br>
            <a:r>
              <a:rPr lang="en-US" sz="2400" dirty="0" smtClean="0">
                <a:latin typeface="Arial Narrow" pitchFamily="34" charset="0"/>
              </a:rPr>
              <a:t>If you are shown a list of items and are then asked immediately to recall them, your retention of any particular item will depend on its position in the list. </a:t>
            </a:r>
          </a:p>
          <a:p>
            <a:r>
              <a:rPr lang="en-US" sz="2400" dirty="0" smtClean="0">
                <a:latin typeface="Arial Narrow" pitchFamily="34" charset="0"/>
              </a:rPr>
              <a:t>That is, recall will be best for items at the beginning of the list (the </a:t>
            </a:r>
            <a:r>
              <a:rPr lang="en-US" sz="2400" i="1" dirty="0" smtClean="0">
                <a:latin typeface="Arial Narrow" pitchFamily="34" charset="0"/>
              </a:rPr>
              <a:t>primacy effect</a:t>
            </a:r>
            <a:r>
              <a:rPr lang="en-US" sz="2400" dirty="0" smtClean="0">
                <a:latin typeface="Arial Narrow" pitchFamily="34" charset="0"/>
              </a:rPr>
              <a:t>) and at the end of the list (the </a:t>
            </a:r>
            <a:r>
              <a:rPr lang="en-US" sz="2400" i="1" dirty="0" err="1" smtClean="0">
                <a:latin typeface="Arial Narrow" pitchFamily="34" charset="0"/>
              </a:rPr>
              <a:t>recency</a:t>
            </a:r>
            <a:r>
              <a:rPr lang="en-US" sz="2400" i="1" dirty="0" smtClean="0">
                <a:latin typeface="Arial Narrow" pitchFamily="34" charset="0"/>
              </a:rPr>
              <a:t> effect</a:t>
            </a:r>
            <a:r>
              <a:rPr lang="en-US" sz="2400" dirty="0" smtClean="0">
                <a:latin typeface="Arial Narrow" pitchFamily="34" charset="0"/>
              </a:rPr>
              <a:t>). When retention of all the items is plotted, the result will be a U-shaped curve. </a:t>
            </a:r>
          </a:p>
          <a:p>
            <a:r>
              <a:rPr lang="en-US" sz="2400" dirty="0" smtClean="0">
                <a:latin typeface="Arial Narrow" pitchFamily="34" charset="0"/>
              </a:rPr>
              <a:t>According to Serial Position Effect  or  the three-box model, the first few items on a list are remembered well because short-term memory was relatively “empty” when they entered. The last few items are remembered for a different reason: At the time of recall, they are still sitting in STM.</a:t>
            </a:r>
          </a:p>
          <a:p>
            <a:r>
              <a:rPr lang="en-US" sz="2400" dirty="0" smtClean="0">
                <a:latin typeface="Arial Narrow" pitchFamily="34" charset="0"/>
              </a:rPr>
              <a:t>The items in the middle of the list, however, are not so well retained because by the time they get into LTM, it is already crowded. As a result many of these items drop out of STM before they can be stored in LTM. 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05800" cy="762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Semantic </a:t>
            </a:r>
            <a:r>
              <a:rPr lang="en-US" sz="3200" b="1" dirty="0"/>
              <a:t>Networks</a:t>
            </a:r>
            <a:endParaRPr lang="en-US" dirty="0"/>
          </a:p>
        </p:txBody>
      </p:sp>
      <p:pic>
        <p:nvPicPr>
          <p:cNvPr id="26630" name="Picture 6" descr="E:\Consulting\Prentice Hall\Power Point\Kassin 2e\KA0613.GIF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17599" r="17599"/>
          <a:stretch>
            <a:fillRect/>
          </a:stretch>
        </p:blipFill>
        <p:spPr>
          <a:xfrm>
            <a:off x="1219200" y="2133600"/>
            <a:ext cx="6618288" cy="4419600"/>
          </a:xfrm>
          <a:noFill/>
          <a:ln/>
        </p:spPr>
      </p:pic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52400" y="990600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bg2"/>
              </a:buClr>
            </a:pPr>
            <a:r>
              <a:rPr lang="en-US" sz="2400" b="1" dirty="0" smtClean="0">
                <a:latin typeface="Arial Narrow" pitchFamily="34" charset="0"/>
              </a:rPr>
              <a:t>A </a:t>
            </a:r>
            <a:r>
              <a:rPr lang="en-US" sz="2400" b="1" dirty="0">
                <a:latin typeface="Arial Narrow" pitchFamily="34" charset="0"/>
              </a:rPr>
              <a:t>complex web of semantic associations that link items in memory such that retrieving one item triggers the retrieval of others as well </a:t>
            </a:r>
            <a:r>
              <a:rPr lang="en-US" sz="2400" b="1" dirty="0" smtClean="0">
                <a:latin typeface="Arial Narrow" pitchFamily="34" charset="0"/>
              </a:rPr>
              <a:t>.</a:t>
            </a:r>
            <a:endParaRPr lang="en-US" sz="2400" b="1" dirty="0">
              <a:latin typeface="Arial Narrow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 Narrow" pitchFamily="34" charset="0"/>
              </a:rPr>
              <a:t>5.1.3 Factors Affecting Memory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8674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1200" dirty="0" smtClean="0">
                <a:latin typeface="Arial Narrow" pitchFamily="34" charset="0"/>
              </a:rPr>
              <a:t>Memory is </a:t>
            </a:r>
            <a:r>
              <a:rPr lang="en-US" sz="11200" dirty="0">
                <a:latin typeface="Arial Narrow" pitchFamily="34" charset="0"/>
              </a:rPr>
              <a:t>a process which includes learning, retention and remembering</a:t>
            </a:r>
            <a:r>
              <a:rPr lang="en-US" sz="11200" dirty="0" smtClean="0">
                <a:latin typeface="Arial Narrow" pitchFamily="34" charset="0"/>
              </a:rPr>
              <a:t>. </a:t>
            </a:r>
            <a:r>
              <a:rPr lang="en-US" sz="11200" dirty="0">
                <a:latin typeface="Arial Narrow" pitchFamily="34" charset="0"/>
              </a:rPr>
              <a:t>T</a:t>
            </a:r>
            <a:r>
              <a:rPr lang="en-US" sz="11200" dirty="0" smtClean="0">
                <a:latin typeface="Arial Narrow" pitchFamily="34" charset="0"/>
              </a:rPr>
              <a:t>hese processes </a:t>
            </a:r>
            <a:r>
              <a:rPr lang="en-US" sz="11200" dirty="0">
                <a:latin typeface="Arial Narrow" pitchFamily="34" charset="0"/>
              </a:rPr>
              <a:t>are important for good </a:t>
            </a:r>
            <a:r>
              <a:rPr lang="en-US" sz="11200" dirty="0" smtClean="0">
                <a:latin typeface="Arial Narrow" pitchFamily="34" charset="0"/>
              </a:rPr>
              <a:t>memory.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200" b="1" u="sng" dirty="0" smtClean="0">
                <a:latin typeface="Arial Narrow" pitchFamily="34" charset="0"/>
              </a:rPr>
              <a:t>Eleven </a:t>
            </a:r>
            <a:r>
              <a:rPr lang="en-US" sz="11200" b="1" u="sng" dirty="0">
                <a:latin typeface="Arial Narrow" pitchFamily="34" charset="0"/>
              </a:rPr>
              <a:t>Factors </a:t>
            </a:r>
            <a:r>
              <a:rPr lang="en-US" sz="11200" dirty="0">
                <a:latin typeface="Arial Narrow" pitchFamily="34" charset="0"/>
              </a:rPr>
              <a:t>that Influence Memory Process </a:t>
            </a:r>
            <a:r>
              <a:rPr lang="en-US" sz="11200" dirty="0" smtClean="0">
                <a:latin typeface="Arial Narrow" pitchFamily="34" charset="0"/>
              </a:rPr>
              <a:t>are </a:t>
            </a:r>
            <a:r>
              <a:rPr lang="en-US" sz="11200" dirty="0">
                <a:latin typeface="Arial Narrow" pitchFamily="34" charset="0"/>
              </a:rPr>
              <a:t>as follows:</a:t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a. Ability to </a:t>
            </a:r>
            <a:r>
              <a:rPr lang="en-US" sz="11200" b="1" dirty="0" smtClean="0">
                <a:latin typeface="Arial Narrow" pitchFamily="34" charset="0"/>
              </a:rPr>
              <a:t>retain/past experience</a:t>
            </a:r>
            <a:r>
              <a:rPr lang="en-US" sz="11200" dirty="0" smtClean="0">
                <a:latin typeface="Arial Narrow" pitchFamily="34" charset="0"/>
              </a:rPr>
              <a:t/>
            </a:r>
            <a:br>
              <a:rPr lang="en-US" sz="11200" dirty="0" smtClean="0">
                <a:latin typeface="Arial Narrow" pitchFamily="34" charset="0"/>
              </a:rPr>
            </a:br>
            <a:r>
              <a:rPr lang="en-US" sz="11200" b="1" dirty="0" smtClean="0">
                <a:latin typeface="Arial Narrow" pitchFamily="34" charset="0"/>
              </a:rPr>
              <a:t>b</a:t>
            </a:r>
            <a:r>
              <a:rPr lang="en-US" sz="11200" b="1" dirty="0">
                <a:latin typeface="Arial Narrow" pitchFamily="34" charset="0"/>
              </a:rPr>
              <a:t>. Good </a:t>
            </a:r>
            <a:r>
              <a:rPr lang="en-US" sz="11200" b="1" dirty="0" smtClean="0">
                <a:latin typeface="Arial Narrow" pitchFamily="34" charset="0"/>
              </a:rPr>
              <a:t>health</a:t>
            </a:r>
            <a:r>
              <a:rPr lang="en-US" sz="11200" dirty="0" smtClean="0">
                <a:latin typeface="Arial Narrow" pitchFamily="34" charset="0"/>
              </a:rPr>
              <a:t/>
            </a:r>
            <a:br>
              <a:rPr lang="en-US" sz="11200" dirty="0" smtClean="0">
                <a:latin typeface="Arial Narrow" pitchFamily="34" charset="0"/>
              </a:rPr>
            </a:br>
            <a:r>
              <a:rPr lang="en-US" sz="11200" b="1" dirty="0" smtClean="0">
                <a:latin typeface="Arial Narrow" pitchFamily="34" charset="0"/>
              </a:rPr>
              <a:t>c</a:t>
            </a:r>
            <a:r>
              <a:rPr lang="en-US" sz="11200" b="1" dirty="0">
                <a:latin typeface="Arial Narrow" pitchFamily="34" charset="0"/>
              </a:rPr>
              <a:t>. Age of the </a:t>
            </a:r>
            <a:r>
              <a:rPr lang="en-US" sz="11200" b="1" dirty="0" smtClean="0">
                <a:latin typeface="Arial Narrow" pitchFamily="34" charset="0"/>
              </a:rPr>
              <a:t>learner 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d. </a:t>
            </a:r>
            <a:r>
              <a:rPr lang="en-US" sz="11200" b="1" dirty="0" smtClean="0">
                <a:latin typeface="Arial Narrow" pitchFamily="34" charset="0"/>
              </a:rPr>
              <a:t>Maturity 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e. Will to </a:t>
            </a:r>
            <a:r>
              <a:rPr lang="en-US" sz="11200" b="1" dirty="0" smtClean="0">
                <a:latin typeface="Arial Narrow" pitchFamily="34" charset="0"/>
              </a:rPr>
              <a:t>remember 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f. </a:t>
            </a:r>
            <a:r>
              <a:rPr lang="en-US" sz="11200" b="1" dirty="0" smtClean="0">
                <a:latin typeface="Arial Narrow" pitchFamily="34" charset="0"/>
              </a:rPr>
              <a:t>Intelligence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200" b="1" dirty="0">
                <a:latin typeface="Arial Narrow" pitchFamily="34" charset="0"/>
              </a:rPr>
              <a:t>	</a:t>
            </a:r>
            <a:r>
              <a:rPr lang="en-US" sz="11200" b="1" dirty="0" smtClean="0">
                <a:latin typeface="Arial Narrow" pitchFamily="34" charset="0"/>
              </a:rPr>
              <a:t>g</a:t>
            </a:r>
            <a:r>
              <a:rPr lang="en-US" sz="11200" b="1" dirty="0">
                <a:latin typeface="Arial Narrow" pitchFamily="34" charset="0"/>
              </a:rPr>
              <a:t>. </a:t>
            </a:r>
            <a:r>
              <a:rPr lang="en-US" sz="11200" b="1" dirty="0" smtClean="0">
                <a:latin typeface="Arial Narrow" pitchFamily="34" charset="0"/>
              </a:rPr>
              <a:t>Interest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h. Over </a:t>
            </a:r>
            <a:r>
              <a:rPr lang="en-US" sz="11200" b="1" dirty="0" smtClean="0">
                <a:latin typeface="Arial Narrow" pitchFamily="34" charset="0"/>
              </a:rPr>
              <a:t>learning 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 err="1">
                <a:latin typeface="Arial Narrow" pitchFamily="34" charset="0"/>
              </a:rPr>
              <a:t>i</a:t>
            </a:r>
            <a:r>
              <a:rPr lang="en-US" sz="11200" b="1" dirty="0">
                <a:latin typeface="Arial Narrow" pitchFamily="34" charset="0"/>
              </a:rPr>
              <a:t>. Speed of </a:t>
            </a:r>
            <a:r>
              <a:rPr lang="en-US" sz="11200" b="1" dirty="0" smtClean="0">
                <a:latin typeface="Arial Narrow" pitchFamily="34" charset="0"/>
              </a:rPr>
              <a:t>learning 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b="1" dirty="0">
                <a:latin typeface="Arial Narrow" pitchFamily="34" charset="0"/>
              </a:rPr>
              <a:t>j. Meaningfulness of the </a:t>
            </a:r>
            <a:r>
              <a:rPr lang="en-US" sz="11200" b="1" dirty="0" smtClean="0">
                <a:latin typeface="Arial Narrow" pitchFamily="34" charset="0"/>
              </a:rPr>
              <a:t>material</a:t>
            </a:r>
            <a:endParaRPr lang="en-US" sz="11200" dirty="0" smtClean="0">
              <a:latin typeface="Arial Narrow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200" b="1" dirty="0" smtClean="0">
                <a:latin typeface="Arial Narrow" pitchFamily="34" charset="0"/>
              </a:rPr>
              <a:t>	k</a:t>
            </a:r>
            <a:r>
              <a:rPr lang="en-US" sz="11200" b="1" dirty="0">
                <a:latin typeface="Arial Narrow" pitchFamily="34" charset="0"/>
              </a:rPr>
              <a:t>. Sleep or </a:t>
            </a:r>
            <a:r>
              <a:rPr lang="en-US" sz="11200" b="1" dirty="0" smtClean="0">
                <a:latin typeface="Arial Narrow" pitchFamily="34" charset="0"/>
              </a:rPr>
              <a:t>rest </a:t>
            </a:r>
            <a:r>
              <a:rPr lang="en-US" sz="11200" dirty="0" smtClean="0">
                <a:latin typeface="Arial Narrow" pitchFamily="34" charset="0"/>
              </a:rPr>
              <a:t/>
            </a:r>
            <a:br>
              <a:rPr lang="en-US" sz="11200" dirty="0" smtClean="0">
                <a:latin typeface="Arial Narrow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latin typeface="Arial Narrow" pitchFamily="34" charset="0"/>
              </a:rPr>
              <a:t>5.2 Forgetting</a:t>
            </a:r>
            <a:r>
              <a:rPr lang="en-US" sz="4000" dirty="0" smtClean="0">
                <a:latin typeface="Arial Narrow" pitchFamily="34" charset="0"/>
              </a:rPr>
              <a:t> </a:t>
            </a:r>
            <a:br>
              <a:rPr lang="en-US" sz="4000" dirty="0" smtClean="0">
                <a:latin typeface="Arial Narrow" pitchFamily="34" charset="0"/>
              </a:rPr>
            </a:br>
            <a:r>
              <a:rPr lang="en-US" sz="4000" b="1" dirty="0" smtClean="0">
                <a:latin typeface="Arial Narrow" pitchFamily="34" charset="0"/>
              </a:rPr>
              <a:t>5.2.1 Meaning and Concepts of Forgetting</a:t>
            </a:r>
            <a:r>
              <a:rPr lang="en-US" sz="4000" dirty="0" smtClean="0">
                <a:latin typeface="Arial Narrow" pitchFamily="34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181600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 smtClean="0">
                <a:latin typeface="Arial Narrow" pitchFamily="34" charset="0"/>
              </a:rPr>
              <a:t>In </a:t>
            </a:r>
            <a:r>
              <a:rPr lang="en-US" sz="11200" dirty="0">
                <a:latin typeface="Arial Narrow" pitchFamily="34" charset="0"/>
              </a:rPr>
              <a:t>our daily living, we encounter so much information. </a:t>
            </a:r>
            <a:r>
              <a:rPr lang="en-US" sz="11200" dirty="0" smtClean="0">
                <a:latin typeface="Arial Narrow" pitchFamily="34" charset="0"/>
              </a:rPr>
              <a:t>If we attempt </a:t>
            </a:r>
            <a:r>
              <a:rPr lang="en-US" sz="11200" dirty="0">
                <a:latin typeface="Arial Narrow" pitchFamily="34" charset="0"/>
              </a:rPr>
              <a:t>to encode, store &amp;</a:t>
            </a:r>
            <a:r>
              <a:rPr lang="en-US" sz="11200" dirty="0" smtClean="0">
                <a:latin typeface="Arial Narrow" pitchFamily="34" charset="0"/>
              </a:rPr>
              <a:t> </a:t>
            </a:r>
            <a:r>
              <a:rPr lang="en-US" sz="11200" dirty="0">
                <a:latin typeface="Arial Narrow" pitchFamily="34" charset="0"/>
              </a:rPr>
              <a:t>recall all the </a:t>
            </a:r>
            <a:r>
              <a:rPr lang="en-US" sz="11200" dirty="0" smtClean="0">
                <a:latin typeface="Arial Narrow" pitchFamily="34" charset="0"/>
              </a:rPr>
              <a:t>info, </a:t>
            </a:r>
            <a:r>
              <a:rPr lang="en-US" sz="11200" dirty="0">
                <a:latin typeface="Arial Narrow" pitchFamily="34" charset="0"/>
              </a:rPr>
              <a:t>we are in </a:t>
            </a:r>
            <a:r>
              <a:rPr lang="en-US" sz="11200" dirty="0" smtClean="0">
                <a:latin typeface="Arial Narrow" pitchFamily="34" charset="0"/>
              </a:rPr>
              <a:t>trouble.</a:t>
            </a:r>
          </a:p>
          <a:p>
            <a:r>
              <a:rPr lang="en-US" sz="11200" dirty="0" smtClean="0">
                <a:latin typeface="Arial Narrow" pitchFamily="34" charset="0"/>
              </a:rPr>
              <a:t>Hence</a:t>
            </a:r>
            <a:r>
              <a:rPr lang="en-US" sz="11200" dirty="0">
                <a:latin typeface="Arial Narrow" pitchFamily="34" charset="0"/>
              </a:rPr>
              <a:t>, we are selective in storing and forgetting information. Sometimes we are motivated </a:t>
            </a:r>
            <a:r>
              <a:rPr lang="en-US" sz="11200" dirty="0" smtClean="0">
                <a:latin typeface="Arial Narrow" pitchFamily="34" charset="0"/>
              </a:rPr>
              <a:t>to forgot </a:t>
            </a:r>
            <a:r>
              <a:rPr lang="en-US" sz="11200" dirty="0">
                <a:latin typeface="Arial Narrow" pitchFamily="34" charset="0"/>
              </a:rPr>
              <a:t>something and recall what we want to remember. Psychologists call this </a:t>
            </a:r>
            <a:r>
              <a:rPr lang="en-US" sz="11200" dirty="0" smtClean="0">
                <a:latin typeface="Arial Narrow" pitchFamily="34" charset="0"/>
              </a:rPr>
              <a:t>phenomenon as </a:t>
            </a:r>
            <a:r>
              <a:rPr lang="en-US" sz="11200" dirty="0">
                <a:latin typeface="Arial Narrow" pitchFamily="34" charset="0"/>
              </a:rPr>
              <a:t>motivated </a:t>
            </a:r>
            <a:r>
              <a:rPr lang="en-US" sz="11200" dirty="0" smtClean="0">
                <a:latin typeface="Arial Narrow" pitchFamily="34" charset="0"/>
              </a:rPr>
              <a:t>forgetting. </a:t>
            </a:r>
          </a:p>
          <a:p>
            <a:r>
              <a:rPr lang="en-US" sz="11200" dirty="0" smtClean="0">
                <a:latin typeface="Arial Narrow" pitchFamily="34" charset="0"/>
              </a:rPr>
              <a:t>Psychologists </a:t>
            </a:r>
            <a:r>
              <a:rPr lang="en-US" sz="11200" dirty="0">
                <a:latin typeface="Arial Narrow" pitchFamily="34" charset="0"/>
              </a:rPr>
              <a:t>generally use the term </a:t>
            </a:r>
            <a:r>
              <a:rPr lang="en-US" sz="11200" i="1" dirty="0">
                <a:latin typeface="Arial Narrow" pitchFamily="34" charset="0"/>
              </a:rPr>
              <a:t>forgetting </a:t>
            </a:r>
            <a:r>
              <a:rPr lang="en-US" sz="11200" dirty="0">
                <a:latin typeface="Arial Narrow" pitchFamily="34" charset="0"/>
              </a:rPr>
              <a:t>to refer to </a:t>
            </a:r>
            <a:r>
              <a:rPr lang="en-US" sz="11200" dirty="0" smtClean="0">
                <a:latin typeface="Arial Narrow" pitchFamily="34" charset="0"/>
              </a:rPr>
              <a:t>the apparent </a:t>
            </a:r>
            <a:r>
              <a:rPr lang="en-US" sz="11200" dirty="0">
                <a:latin typeface="Arial Narrow" pitchFamily="34" charset="0"/>
              </a:rPr>
              <a:t>loss of information already encoded and stored in the long-term memory. </a:t>
            </a:r>
            <a:endParaRPr lang="en-US" sz="11200" dirty="0" smtClean="0">
              <a:latin typeface="Arial Narrow" pitchFamily="34" charset="0"/>
            </a:endParaRPr>
          </a:p>
          <a:p>
            <a:r>
              <a:rPr lang="en-US" sz="11200" dirty="0" smtClean="0">
                <a:latin typeface="Arial Narrow" pitchFamily="34" charset="0"/>
              </a:rPr>
              <a:t>According to </a:t>
            </a:r>
            <a:r>
              <a:rPr lang="en-US" sz="11200" dirty="0" err="1" smtClean="0">
                <a:latin typeface="Arial Narrow" pitchFamily="34" charset="0"/>
              </a:rPr>
              <a:t>Ebbinghaus</a:t>
            </a:r>
            <a:r>
              <a:rPr lang="en-US" sz="11200" dirty="0" smtClean="0">
                <a:latin typeface="Arial Narrow" pitchFamily="34" charset="0"/>
              </a:rPr>
              <a:t> (1885), the most rapid </a:t>
            </a:r>
            <a:r>
              <a:rPr lang="en-US" sz="11200" dirty="0">
                <a:latin typeface="Arial Narrow" pitchFamily="34" charset="0"/>
              </a:rPr>
              <a:t>forgetting occurs in the first hours, and particularly in the first </a:t>
            </a:r>
            <a:r>
              <a:rPr lang="en-US" sz="11200" dirty="0" smtClean="0">
                <a:latin typeface="Arial Narrow" pitchFamily="34" charset="0"/>
              </a:rPr>
              <a:t>hour f learning. </a:t>
            </a:r>
            <a:r>
              <a:rPr lang="en-US" sz="11200" dirty="0">
                <a:latin typeface="Arial Narrow" pitchFamily="34" charset="0"/>
              </a:rPr>
              <a:t>After nine hours</a:t>
            </a:r>
            <a:r>
              <a:rPr lang="en-US" sz="11200" dirty="0" smtClean="0">
                <a:latin typeface="Arial Narrow" pitchFamily="34" charset="0"/>
              </a:rPr>
              <a:t>, the </a:t>
            </a:r>
            <a:r>
              <a:rPr lang="en-US" sz="11200" dirty="0">
                <a:latin typeface="Arial Narrow" pitchFamily="34" charset="0"/>
              </a:rPr>
              <a:t>rate of forgetting </a:t>
            </a:r>
            <a:r>
              <a:rPr lang="en-US" sz="11200" dirty="0" smtClean="0">
                <a:latin typeface="Arial Narrow" pitchFamily="34" charset="0"/>
              </a:rPr>
              <a:t>slows. </a:t>
            </a:r>
          </a:p>
          <a:p>
            <a:r>
              <a:rPr lang="en-US" sz="11200" dirty="0" smtClean="0">
                <a:latin typeface="Arial Narrow" pitchFamily="34" charset="0"/>
              </a:rPr>
              <a:t>Furthermore</a:t>
            </a:r>
            <a:r>
              <a:rPr lang="en-US" sz="11200" dirty="0">
                <a:latin typeface="Arial Narrow" pitchFamily="34" charset="0"/>
              </a:rPr>
              <a:t>, relearning of previously mastered</a:t>
            </a:r>
            <a:r>
              <a:rPr lang="en-US" sz="11200" dirty="0" smtClean="0">
                <a:latin typeface="Arial Narrow" pitchFamily="34" charset="0"/>
              </a:rPr>
              <a:t> material </a:t>
            </a:r>
            <a:r>
              <a:rPr lang="en-US" sz="11200" dirty="0">
                <a:latin typeface="Arial Narrow" pitchFamily="34" charset="0"/>
              </a:rPr>
              <a:t>is almost always faster than starting from a </a:t>
            </a:r>
            <a:r>
              <a:rPr lang="en-US" sz="11200" dirty="0" smtClean="0">
                <a:latin typeface="Arial Narrow" pitchFamily="34" charset="0"/>
              </a:rPr>
              <a:t>scratch.</a:t>
            </a:r>
            <a:r>
              <a:rPr lang="en-US" sz="11200" dirty="0">
                <a:latin typeface="Arial Narrow" pitchFamily="34" charset="0"/>
              </a:rPr>
              <a:t/>
            </a:r>
            <a:br>
              <a:rPr lang="en-US" sz="11200" dirty="0">
                <a:latin typeface="Arial Narrow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altLang="en-US"/>
              <a:t>The Forgetting Curve</a:t>
            </a:r>
          </a:p>
        </p:txBody>
      </p:sp>
      <p:pic>
        <p:nvPicPr>
          <p:cNvPr id="58371" name="Picture 3" descr="forgtt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371600"/>
            <a:ext cx="5537200" cy="4857750"/>
          </a:xfrm>
          <a:prstGeom prst="rect">
            <a:avLst/>
          </a:prstGeom>
          <a:noFill/>
        </p:spPr>
      </p:pic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304800" y="1676400"/>
            <a:ext cx="2895600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itchFamily="18" charset="0"/>
              </a:rPr>
              <a:t>Hermann Ebbinghaus first began to study forgetting using nonsense syllables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itchFamily="18" charset="0"/>
              </a:rPr>
              <a:t>Nonsense syllables are three-letter combinations that look like words but are meaningless (ROH, KUF)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5.2.2. Theories of Forgetting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Arial Narrow" pitchFamily="34" charset="0"/>
              </a:rPr>
              <a:t>Psychologists </a:t>
            </a:r>
            <a:r>
              <a:rPr lang="en-US" sz="2400" dirty="0" smtClean="0">
                <a:latin typeface="Arial Narrow" pitchFamily="34" charset="0"/>
              </a:rPr>
              <a:t>identified the following five </a:t>
            </a:r>
            <a:r>
              <a:rPr lang="en-US" sz="2400" dirty="0">
                <a:latin typeface="Arial Narrow" pitchFamily="34" charset="0"/>
              </a:rPr>
              <a:t>mechanisms </a:t>
            </a:r>
            <a:r>
              <a:rPr lang="en-US" sz="2400" dirty="0" smtClean="0">
                <a:latin typeface="Arial Narrow" pitchFamily="34" charset="0"/>
              </a:rPr>
              <a:t>of </a:t>
            </a:r>
            <a:r>
              <a:rPr lang="en-US" sz="2400" dirty="0">
                <a:latin typeface="Arial Narrow" pitchFamily="34" charset="0"/>
              </a:rPr>
              <a:t>forgetting: </a:t>
            </a:r>
            <a:br>
              <a:rPr lang="en-US" sz="2400" dirty="0">
                <a:latin typeface="Arial Narrow" pitchFamily="34" charset="0"/>
              </a:rPr>
            </a:br>
            <a:r>
              <a:rPr lang="en-US" sz="2400" b="1" dirty="0" smtClean="0">
                <a:latin typeface="Arial Narrow" pitchFamily="34" charset="0"/>
              </a:rPr>
              <a:t>The </a:t>
            </a:r>
            <a:r>
              <a:rPr lang="en-US" sz="2400" b="1" dirty="0">
                <a:latin typeface="Arial Narrow" pitchFamily="34" charset="0"/>
              </a:rPr>
              <a:t>Decay </a:t>
            </a:r>
            <a:r>
              <a:rPr lang="en-US" sz="2400" b="1" dirty="0" smtClean="0">
                <a:latin typeface="Arial Narrow" pitchFamily="34" charset="0"/>
              </a:rPr>
              <a:t>Theory: </a:t>
            </a:r>
            <a:r>
              <a:rPr lang="en-US" sz="2400" dirty="0" smtClean="0">
                <a:latin typeface="Arial Narrow" pitchFamily="34" charset="0"/>
              </a:rPr>
              <a:t>The </a:t>
            </a:r>
            <a:r>
              <a:rPr lang="en-US" sz="2400" dirty="0">
                <a:latin typeface="Arial Narrow" pitchFamily="34" charset="0"/>
              </a:rPr>
              <a:t>decay theory holds that memory traces or </a:t>
            </a:r>
            <a:r>
              <a:rPr lang="en-US" sz="2400" dirty="0" err="1">
                <a:latin typeface="Arial Narrow" pitchFamily="34" charset="0"/>
              </a:rPr>
              <a:t>engram</a:t>
            </a:r>
            <a:r>
              <a:rPr lang="en-US" sz="2400" dirty="0">
                <a:latin typeface="Arial Narrow" pitchFamily="34" charset="0"/>
              </a:rPr>
              <a:t> fade with time if they are </a:t>
            </a:r>
            <a:r>
              <a:rPr lang="en-US" sz="2400" dirty="0" smtClean="0">
                <a:latin typeface="Arial Narrow" pitchFamily="34" charset="0"/>
              </a:rPr>
              <a:t>not - accessed </a:t>
            </a:r>
            <a:r>
              <a:rPr lang="en-US" sz="2400" dirty="0">
                <a:latin typeface="Arial Narrow" pitchFamily="34" charset="0"/>
              </a:rPr>
              <a:t>now and then. </a:t>
            </a:r>
            <a:r>
              <a:rPr lang="en-US" sz="2400" dirty="0" smtClean="0">
                <a:latin typeface="Arial Narrow" pitchFamily="34" charset="0"/>
              </a:rPr>
              <a:t>In </a:t>
            </a:r>
            <a:r>
              <a:rPr lang="en-US" sz="2400" dirty="0">
                <a:latin typeface="Arial Narrow" pitchFamily="34" charset="0"/>
              </a:rPr>
              <a:t>decay, the trace simply fades away with nothing left behind, because of the passage </a:t>
            </a:r>
            <a:r>
              <a:rPr lang="en-US" sz="2400" dirty="0" smtClean="0">
                <a:latin typeface="Arial Narrow" pitchFamily="34" charset="0"/>
              </a:rPr>
              <a:t>of time</a:t>
            </a:r>
            <a:r>
              <a:rPr lang="en-US" sz="2400" dirty="0">
                <a:latin typeface="Arial Narrow" pitchFamily="34" charset="0"/>
              </a:rPr>
              <a:t>. </a:t>
            </a:r>
            <a:r>
              <a:rPr lang="en-US" sz="2400" dirty="0" smtClean="0">
                <a:latin typeface="Arial Narrow" pitchFamily="34" charset="0"/>
              </a:rPr>
              <a:t/>
            </a:r>
            <a:br>
              <a:rPr lang="en-US" sz="2400" dirty="0" smtClean="0">
                <a:latin typeface="Arial Narrow" pitchFamily="34" charset="0"/>
              </a:rPr>
            </a:br>
            <a:r>
              <a:rPr lang="en-US" sz="2400" b="1" dirty="0">
                <a:latin typeface="Arial Narrow" pitchFamily="34" charset="0"/>
              </a:rPr>
              <a:t> </a:t>
            </a:r>
            <a:r>
              <a:rPr lang="en-US" sz="2400" b="1" dirty="0" smtClean="0">
                <a:latin typeface="Arial Narrow" pitchFamily="34" charset="0"/>
              </a:rPr>
              <a:t>Interference theory: </a:t>
            </a:r>
            <a:r>
              <a:rPr lang="en-US" sz="2400" dirty="0" smtClean="0">
                <a:latin typeface="Arial Narrow" pitchFamily="34" charset="0"/>
              </a:rPr>
              <a:t>Interference </a:t>
            </a:r>
            <a:r>
              <a:rPr lang="en-US" sz="2400" dirty="0">
                <a:latin typeface="Arial Narrow" pitchFamily="34" charset="0"/>
              </a:rPr>
              <a:t>theory holds that forgetting occurs because similar items of information </a:t>
            </a:r>
            <a:r>
              <a:rPr lang="en-US" sz="2400" dirty="0" smtClean="0">
                <a:latin typeface="Arial Narrow" pitchFamily="34" charset="0"/>
              </a:rPr>
              <a:t>interfere with </a:t>
            </a:r>
            <a:r>
              <a:rPr lang="en-US" sz="2400" dirty="0">
                <a:latin typeface="Arial Narrow" pitchFamily="34" charset="0"/>
              </a:rPr>
              <a:t>one another in either storage or retrieval. </a:t>
            </a:r>
            <a:r>
              <a:rPr lang="en-US" sz="2400" dirty="0" smtClean="0">
                <a:latin typeface="Arial Narrow" pitchFamily="34" charset="0"/>
              </a:rPr>
              <a:t>It may be proactive or </a:t>
            </a:r>
            <a:r>
              <a:rPr lang="en-US" sz="2400" dirty="0">
                <a:latin typeface="Arial Narrow" pitchFamily="34" charset="0"/>
              </a:rPr>
              <a:t>retroactive. </a:t>
            </a:r>
            <a:endParaRPr lang="en-US" sz="2400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 Narrow" pitchFamily="34" charset="0"/>
              </a:rPr>
              <a:t>	In Proactive </a:t>
            </a:r>
            <a:r>
              <a:rPr lang="en-US" sz="2400" dirty="0">
                <a:latin typeface="Arial Narrow" pitchFamily="34" charset="0"/>
              </a:rPr>
              <a:t>Interference, information learned earlier interferes with recall of newer material. </a:t>
            </a:r>
            <a:r>
              <a:rPr lang="en-US" sz="2400" dirty="0" smtClean="0">
                <a:latin typeface="Arial Narrow" pitchFamily="34" charset="0"/>
              </a:rPr>
              <a:t>In Retroactive Interference, new </a:t>
            </a:r>
            <a:r>
              <a:rPr lang="en-US" sz="2400" dirty="0">
                <a:latin typeface="Arial Narrow" pitchFamily="34" charset="0"/>
              </a:rPr>
              <a:t>information interferes with the ability to remember old information </a:t>
            </a:r>
            <a:r>
              <a:rPr lang="en-US" sz="2400" dirty="0" smtClean="0">
                <a:latin typeface="Arial Narrow" pitchFamily="34" charset="0"/>
              </a:rPr>
              <a:t> </a:t>
            </a:r>
            <a:r>
              <a:rPr lang="en-US" sz="2400" dirty="0">
                <a:latin typeface="Arial Narrow" pitchFamily="34" charset="0"/>
              </a:rPr>
              <a:t/>
            </a:r>
            <a:br>
              <a:rPr lang="en-US" sz="2400" dirty="0">
                <a:latin typeface="Arial Narrow" pitchFamily="34" charset="0"/>
              </a:rPr>
            </a:br>
            <a:r>
              <a:rPr lang="en-US" sz="2400" b="1" dirty="0" smtClean="0">
                <a:latin typeface="Arial Narrow" pitchFamily="34" charset="0"/>
              </a:rPr>
              <a:t>New </a:t>
            </a:r>
            <a:r>
              <a:rPr lang="en-US" sz="2400" b="1" dirty="0">
                <a:latin typeface="Arial Narrow" pitchFamily="34" charset="0"/>
              </a:rPr>
              <a:t>Memory for Old/ Displacement </a:t>
            </a:r>
            <a:r>
              <a:rPr lang="en-US" sz="2400" b="1" dirty="0" smtClean="0">
                <a:latin typeface="Arial Narrow" pitchFamily="34" charset="0"/>
              </a:rPr>
              <a:t>Theory: </a:t>
            </a:r>
            <a:r>
              <a:rPr lang="en-US" sz="2400" dirty="0" smtClean="0">
                <a:latin typeface="Arial Narrow" pitchFamily="34" charset="0"/>
              </a:rPr>
              <a:t>This </a:t>
            </a:r>
            <a:r>
              <a:rPr lang="en-US" sz="2400" dirty="0">
                <a:latin typeface="Arial Narrow" pitchFamily="34" charset="0"/>
              </a:rPr>
              <a:t>theory holds that new information entering </a:t>
            </a:r>
            <a:r>
              <a:rPr lang="en-US" sz="2400" dirty="0" smtClean="0">
                <a:latin typeface="Arial Narrow" pitchFamily="34" charset="0"/>
              </a:rPr>
              <a:t>to memory </a:t>
            </a:r>
            <a:r>
              <a:rPr lang="en-US" sz="2400" dirty="0">
                <a:latin typeface="Arial Narrow" pitchFamily="34" charset="0"/>
              </a:rPr>
              <a:t>can wipe out old </a:t>
            </a:r>
            <a:r>
              <a:rPr lang="en-US" sz="2400" dirty="0" smtClean="0">
                <a:latin typeface="Arial Narrow" pitchFamily="34" charset="0"/>
              </a:rPr>
              <a:t>information. This works for STM</a:t>
            </a:r>
            <a:r>
              <a:rPr lang="en-US" sz="2400" dirty="0">
                <a:latin typeface="Arial Narrow" pitchFamily="34" charset="0"/>
              </a:rPr>
              <a:t>, where the capacity for information is limited </a:t>
            </a:r>
            <a:r>
              <a:rPr lang="en-US" sz="2400" dirty="0" smtClean="0">
                <a:latin typeface="Arial Narrow" pitchFamily="34" charset="0"/>
              </a:rPr>
              <a:t>to seven </a:t>
            </a:r>
            <a:r>
              <a:rPr lang="en-US" sz="2400" dirty="0">
                <a:latin typeface="Arial Narrow" pitchFamily="34" charset="0"/>
              </a:rPr>
              <a:t>plus or minus </a:t>
            </a:r>
            <a:r>
              <a:rPr lang="en-US" sz="2400" dirty="0" smtClean="0">
                <a:latin typeface="Arial Narrow" pitchFamily="34" charset="0"/>
              </a:rPr>
              <a:t>chunks. It </a:t>
            </a:r>
            <a:r>
              <a:rPr lang="en-US" sz="2400" dirty="0">
                <a:latin typeface="Arial Narrow" pitchFamily="34" charset="0"/>
              </a:rPr>
              <a:t>cannot </a:t>
            </a:r>
            <a:r>
              <a:rPr lang="en-US" sz="2400" dirty="0" smtClean="0">
                <a:latin typeface="Arial Narrow" pitchFamily="34" charset="0"/>
              </a:rPr>
              <a:t> work for  LTM having virtually unlimited </a:t>
            </a:r>
            <a:r>
              <a:rPr lang="en-US" sz="2400" dirty="0">
                <a:latin typeface="Arial Narrow" pitchFamily="34" charset="0"/>
              </a:rPr>
              <a:t>capacity</a:t>
            </a:r>
            <a:r>
              <a:rPr lang="en-US" sz="2000" dirty="0">
                <a:latin typeface="Arial Narrow" pitchFamily="34" charset="0"/>
              </a:rPr>
              <a:t>.</a:t>
            </a:r>
            <a:r>
              <a:rPr lang="en-US" sz="2000" dirty="0" smtClean="0">
                <a:latin typeface="Arial Narrow" pitchFamily="34" charset="0"/>
              </a:rPr>
              <a:t> </a:t>
            </a:r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Arial Narrow" pitchFamily="34" charset="0"/>
              </a:rPr>
              <a:t>Motivated Forgetting: </a:t>
            </a:r>
            <a:r>
              <a:rPr lang="en-US" sz="2800" dirty="0" smtClean="0">
                <a:latin typeface="Arial Narrow" pitchFamily="34" charset="0"/>
              </a:rPr>
              <a:t>According to</a:t>
            </a:r>
            <a:r>
              <a:rPr lang="en-US" sz="2800" b="1" dirty="0" smtClean="0">
                <a:latin typeface="Arial Narrow" pitchFamily="34" charset="0"/>
              </a:rPr>
              <a:t> </a:t>
            </a:r>
            <a:r>
              <a:rPr lang="en-US" sz="2800" dirty="0" smtClean="0">
                <a:latin typeface="Arial Narrow" pitchFamily="34" charset="0"/>
              </a:rPr>
              <a:t>Freud, it is blocking of those memories from </a:t>
            </a:r>
            <a:r>
              <a:rPr lang="en-US" sz="2800" dirty="0">
                <a:latin typeface="Arial Narrow" pitchFamily="34" charset="0"/>
              </a:rPr>
              <a:t>consciousness </a:t>
            </a:r>
            <a:r>
              <a:rPr lang="en-US" sz="2800" dirty="0" smtClean="0">
                <a:latin typeface="Arial Narrow" pitchFamily="34" charset="0"/>
              </a:rPr>
              <a:t>that </a:t>
            </a:r>
            <a:r>
              <a:rPr lang="en-US" sz="2800" dirty="0">
                <a:latin typeface="Arial Narrow" pitchFamily="34" charset="0"/>
              </a:rPr>
              <a:t>are two threatening or painful to live with, and he called this </a:t>
            </a:r>
            <a:r>
              <a:rPr lang="en-US" sz="2800" dirty="0" smtClean="0">
                <a:latin typeface="Arial Narrow" pitchFamily="34" charset="0"/>
              </a:rPr>
              <a:t>self-protective process of Repression</a:t>
            </a:r>
            <a:r>
              <a:rPr lang="en-US" sz="2800" dirty="0">
                <a:latin typeface="Arial Narrow" pitchFamily="34" charset="0"/>
              </a:rPr>
              <a:t>. Today many psychologists prefer to use a more general term, </a:t>
            </a:r>
            <a:r>
              <a:rPr lang="en-US" sz="2800" i="1" dirty="0" smtClean="0">
                <a:latin typeface="Arial Narrow" pitchFamily="34" charset="0"/>
              </a:rPr>
              <a:t>motivated forgetting. </a:t>
            </a:r>
            <a:endParaRPr lang="en-US" sz="2800" dirty="0" smtClean="0">
              <a:latin typeface="Arial Narrow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b="1" dirty="0" smtClean="0">
                <a:latin typeface="Arial Narrow" pitchFamily="34" charset="0"/>
              </a:rPr>
              <a:t>Cue </a:t>
            </a:r>
            <a:r>
              <a:rPr lang="en-US" sz="2800" b="1" dirty="0">
                <a:latin typeface="Arial Narrow" pitchFamily="34" charset="0"/>
              </a:rPr>
              <a:t>Dependent </a:t>
            </a:r>
            <a:r>
              <a:rPr lang="en-US" sz="2800" b="1" dirty="0" smtClean="0">
                <a:latin typeface="Arial Narrow" pitchFamily="34" charset="0"/>
              </a:rPr>
              <a:t>Forgetting: </a:t>
            </a:r>
            <a:r>
              <a:rPr lang="en-US" sz="2800" dirty="0" smtClean="0">
                <a:latin typeface="Arial Narrow" pitchFamily="34" charset="0"/>
              </a:rPr>
              <a:t>refers forgetting due to lack of retrieval cues in which we may feel as if we have lost the call number for an entry in the mind‘s library. </a:t>
            </a:r>
          </a:p>
          <a:p>
            <a:pPr>
              <a:buFont typeface="Wingdings" pitchFamily="2" charset="2"/>
              <a:buNone/>
            </a:pPr>
            <a:r>
              <a:rPr lang="en-US" sz="2800" dirty="0" smtClean="0">
                <a:latin typeface="Arial Narrow" pitchFamily="34" charset="0"/>
              </a:rPr>
              <a:t>	That may also </a:t>
            </a:r>
            <a:r>
              <a:rPr lang="en-US" sz="2800" dirty="0">
                <a:latin typeface="Arial Narrow" pitchFamily="34" charset="0"/>
              </a:rPr>
              <a:t>explain why remembering is often easier when you are in the same </a:t>
            </a:r>
            <a:r>
              <a:rPr lang="en-US" sz="2800" dirty="0" smtClean="0">
                <a:latin typeface="Arial Narrow" pitchFamily="34" charset="0"/>
              </a:rPr>
              <a:t>physical environment </a:t>
            </a:r>
            <a:r>
              <a:rPr lang="en-US" sz="2800" dirty="0">
                <a:latin typeface="Arial Narrow" pitchFamily="34" charset="0"/>
              </a:rPr>
              <a:t>as you were when an event </a:t>
            </a:r>
            <a:r>
              <a:rPr lang="en-US" sz="2800" dirty="0" smtClean="0">
                <a:latin typeface="Arial Narrow" pitchFamily="34" charset="0"/>
              </a:rPr>
              <a:t>occurred.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5.3. Improving Memory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 Narrow" pitchFamily="34" charset="0"/>
              </a:rPr>
              <a:t>Some </a:t>
            </a:r>
            <a:r>
              <a:rPr lang="en-US" sz="2800" dirty="0">
                <a:latin typeface="Arial Narrow" pitchFamily="34" charset="0"/>
              </a:rPr>
              <a:t>simple </a:t>
            </a:r>
            <a:r>
              <a:rPr lang="en-US" sz="2800" b="1" dirty="0" smtClean="0">
                <a:latin typeface="Arial Narrow" pitchFamily="34" charset="0"/>
              </a:rPr>
              <a:t>mnemonics/</a:t>
            </a:r>
            <a:r>
              <a:rPr lang="en-US" sz="2800" b="1" dirty="0">
                <a:latin typeface="Arial Narrow" pitchFamily="34" charset="0"/>
              </a:rPr>
              <a:t>m</a:t>
            </a:r>
            <a:r>
              <a:rPr lang="en-US" sz="2800" b="1" dirty="0" smtClean="0">
                <a:latin typeface="Arial Narrow" pitchFamily="34" charset="0"/>
              </a:rPr>
              <a:t>emory aids</a:t>
            </a:r>
            <a:r>
              <a:rPr lang="en-US" sz="2800" dirty="0" smtClean="0">
                <a:latin typeface="Arial Narrow" pitchFamily="34" charset="0"/>
              </a:rPr>
              <a:t> are useful</a:t>
            </a:r>
            <a:r>
              <a:rPr lang="en-US" sz="2800" dirty="0">
                <a:latin typeface="Arial Narrow" pitchFamily="34" charset="0"/>
              </a:rPr>
              <a:t>, but complicated ones are often more bothersome </a:t>
            </a:r>
            <a:r>
              <a:rPr lang="en-US" sz="2800" dirty="0" smtClean="0">
                <a:latin typeface="Arial Narrow" pitchFamily="34" charset="0"/>
              </a:rPr>
              <a:t>than benefitting. </a:t>
            </a:r>
            <a:r>
              <a:rPr lang="en-US" sz="2800" dirty="0">
                <a:latin typeface="Arial Narrow" pitchFamily="34" charset="0"/>
              </a:rPr>
              <a:t>A </a:t>
            </a:r>
            <a:r>
              <a:rPr lang="en-US" sz="2800" dirty="0" smtClean="0">
                <a:latin typeface="Arial Narrow" pitchFamily="34" charset="0"/>
              </a:rPr>
              <a:t>better approach </a:t>
            </a:r>
            <a:r>
              <a:rPr lang="en-US" sz="2800" dirty="0">
                <a:latin typeface="Arial Narrow" pitchFamily="34" charset="0"/>
              </a:rPr>
              <a:t>is to follow some general guidelines</a:t>
            </a:r>
            <a:r>
              <a:rPr lang="en-US" sz="2800" dirty="0" smtClean="0">
                <a:latin typeface="Arial Narrow" pitchFamily="34" charset="0"/>
              </a:rPr>
              <a:t>.</a:t>
            </a:r>
          </a:p>
          <a:p>
            <a:r>
              <a:rPr lang="en-US" sz="2800" b="1" dirty="0" smtClean="0">
                <a:latin typeface="Arial Narrow" pitchFamily="34" charset="0"/>
              </a:rPr>
              <a:t>Pay </a:t>
            </a:r>
            <a:r>
              <a:rPr lang="en-US" sz="2800" b="1" dirty="0">
                <a:latin typeface="Arial Narrow" pitchFamily="34" charset="0"/>
              </a:rPr>
              <a:t>Attention:</a:t>
            </a:r>
            <a:r>
              <a:rPr lang="en-US" sz="2800" dirty="0">
                <a:latin typeface="Arial Narrow" pitchFamily="34" charset="0"/>
              </a:rPr>
              <a:t> </a:t>
            </a:r>
            <a:r>
              <a:rPr lang="en-US" sz="2800" dirty="0" smtClean="0">
                <a:latin typeface="Arial Narrow" pitchFamily="34" charset="0"/>
              </a:rPr>
              <a:t>We </a:t>
            </a:r>
            <a:r>
              <a:rPr lang="en-US" sz="2800" dirty="0">
                <a:latin typeface="Arial Narrow" pitchFamily="34" charset="0"/>
              </a:rPr>
              <a:t>often </a:t>
            </a:r>
            <a:r>
              <a:rPr lang="en-US" sz="2800" dirty="0" smtClean="0">
                <a:latin typeface="Arial Narrow" pitchFamily="34" charset="0"/>
              </a:rPr>
              <a:t>fail </a:t>
            </a:r>
            <a:r>
              <a:rPr lang="en-US" sz="2800" dirty="0">
                <a:latin typeface="Arial Narrow" pitchFamily="34" charset="0"/>
              </a:rPr>
              <a:t>to remember because we never </a:t>
            </a:r>
            <a:r>
              <a:rPr lang="en-US" sz="2800" dirty="0" smtClean="0">
                <a:latin typeface="Arial Narrow" pitchFamily="34" charset="0"/>
              </a:rPr>
              <a:t>encoded the </a:t>
            </a:r>
            <a:r>
              <a:rPr lang="en-US" sz="2800" dirty="0">
                <a:latin typeface="Arial Narrow" pitchFamily="34" charset="0"/>
              </a:rPr>
              <a:t>information in the first </a:t>
            </a:r>
            <a:r>
              <a:rPr lang="en-US" sz="2800" dirty="0" smtClean="0">
                <a:latin typeface="Arial Narrow" pitchFamily="34" charset="0"/>
              </a:rPr>
              <a:t>place.</a:t>
            </a:r>
          </a:p>
          <a:p>
            <a:r>
              <a:rPr lang="en-US" sz="2800" b="1" dirty="0" smtClean="0">
                <a:latin typeface="Arial Narrow" pitchFamily="34" charset="0"/>
              </a:rPr>
              <a:t>Encode </a:t>
            </a:r>
            <a:r>
              <a:rPr lang="en-US" sz="2800" b="1" dirty="0">
                <a:latin typeface="Arial Narrow" pitchFamily="34" charset="0"/>
              </a:rPr>
              <a:t>information in more than one </a:t>
            </a:r>
            <a:r>
              <a:rPr lang="en-US" sz="2800" b="1" dirty="0" smtClean="0">
                <a:latin typeface="Arial Narrow" pitchFamily="34" charset="0"/>
              </a:rPr>
              <a:t>way/Add </a:t>
            </a:r>
            <a:r>
              <a:rPr lang="en-US" sz="2800" b="1" dirty="0">
                <a:latin typeface="Arial Narrow" pitchFamily="34" charset="0"/>
              </a:rPr>
              <a:t>meaning: </a:t>
            </a:r>
            <a:r>
              <a:rPr lang="en-US" sz="2800" dirty="0">
                <a:latin typeface="Arial Narrow" pitchFamily="34" charset="0"/>
              </a:rPr>
              <a:t>The more </a:t>
            </a:r>
            <a:r>
              <a:rPr lang="en-US" sz="2800" dirty="0" smtClean="0">
                <a:latin typeface="Arial Narrow" pitchFamily="34" charset="0"/>
              </a:rPr>
              <a:t>elaborated (meaningful) </a:t>
            </a:r>
            <a:r>
              <a:rPr lang="en-US" sz="2800" dirty="0">
                <a:latin typeface="Arial Narrow" pitchFamily="34" charset="0"/>
              </a:rPr>
              <a:t>the material, the more likely it is to link up </a:t>
            </a:r>
            <a:r>
              <a:rPr lang="en-US" sz="2800" dirty="0" smtClean="0">
                <a:latin typeface="Arial Narrow" pitchFamily="34" charset="0"/>
              </a:rPr>
              <a:t>with information </a:t>
            </a:r>
            <a:r>
              <a:rPr lang="en-US" sz="2800" dirty="0">
                <a:latin typeface="Arial Narrow" pitchFamily="34" charset="0"/>
              </a:rPr>
              <a:t>already in long-term memory</a:t>
            </a:r>
            <a:r>
              <a:rPr lang="en-US" sz="2800" dirty="0" smtClean="0">
                <a:latin typeface="Arial Narrow" pitchFamily="34" charset="0"/>
              </a:rPr>
              <a:t>.</a:t>
            </a:r>
          </a:p>
          <a:p>
            <a:r>
              <a:rPr lang="en-US" sz="2800" b="1" dirty="0" smtClean="0">
                <a:latin typeface="Arial Narrow" pitchFamily="34" charset="0"/>
              </a:rPr>
              <a:t>Take </a:t>
            </a:r>
            <a:r>
              <a:rPr lang="en-US" sz="2800" b="1" dirty="0">
                <a:latin typeface="Arial Narrow" pitchFamily="34" charset="0"/>
              </a:rPr>
              <a:t>your time: </a:t>
            </a:r>
            <a:r>
              <a:rPr lang="en-US" sz="2800" dirty="0" smtClean="0">
                <a:latin typeface="Arial Narrow" pitchFamily="34" charset="0"/>
              </a:rPr>
              <a:t>Minimize </a:t>
            </a:r>
            <a:r>
              <a:rPr lang="en-US" sz="2800" dirty="0">
                <a:latin typeface="Arial Narrow" pitchFamily="34" charset="0"/>
              </a:rPr>
              <a:t>interference by using study breaks for </a:t>
            </a:r>
            <a:r>
              <a:rPr lang="en-US" sz="2800" dirty="0" smtClean="0">
                <a:latin typeface="Arial Narrow" pitchFamily="34" charset="0"/>
              </a:rPr>
              <a:t>rest. </a:t>
            </a:r>
            <a:r>
              <a:rPr lang="en-US" sz="2800" dirty="0">
                <a:latin typeface="Arial Narrow" pitchFamily="34" charset="0"/>
              </a:rPr>
              <a:t>Sleep is the ultimate way to reduce </a:t>
            </a:r>
            <a:r>
              <a:rPr lang="en-US" sz="2800" dirty="0" smtClean="0">
                <a:latin typeface="Arial Narrow" pitchFamily="34" charset="0"/>
              </a:rPr>
              <a:t>interference.</a:t>
            </a:r>
          </a:p>
          <a:p>
            <a:r>
              <a:rPr lang="en-US" sz="2800" b="1" dirty="0" smtClean="0">
                <a:latin typeface="Arial Narrow" pitchFamily="34" charset="0"/>
              </a:rPr>
              <a:t>Over learn/Practice : </a:t>
            </a:r>
            <a:r>
              <a:rPr lang="en-US" sz="2800" dirty="0">
                <a:latin typeface="Arial Narrow" pitchFamily="34" charset="0"/>
              </a:rPr>
              <a:t>Studying information even after you think you already know </a:t>
            </a:r>
            <a:r>
              <a:rPr lang="en-US" sz="2800" dirty="0" smtClean="0">
                <a:latin typeface="Arial Narrow" pitchFamily="34" charset="0"/>
              </a:rPr>
              <a:t>it.</a:t>
            </a:r>
            <a:endParaRPr lang="en-US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Narrow" pitchFamily="34" charset="0"/>
              </a:rPr>
              <a:t>Monitor your learning (SQ3R): </a:t>
            </a:r>
            <a:r>
              <a:rPr lang="en-US" sz="2800" dirty="0" smtClean="0">
                <a:latin typeface="Arial Narrow" pitchFamily="34" charset="0"/>
              </a:rPr>
              <a:t>By testing yourself frequently, rehearsing thoroughly, and reviewing periodically, you will have a better idea of how you are doing </a:t>
            </a:r>
          </a:p>
          <a:p>
            <a:r>
              <a:rPr lang="en-US" sz="2800" dirty="0" smtClean="0"/>
              <a:t>Increase </a:t>
            </a:r>
            <a:r>
              <a:rPr lang="en-US" sz="2800" dirty="0"/>
              <a:t>the Depth of Processing</a:t>
            </a:r>
          </a:p>
          <a:p>
            <a:r>
              <a:rPr lang="en-US" sz="2800" dirty="0"/>
              <a:t>Hierarchical Organization</a:t>
            </a:r>
            <a:endParaRPr lang="en-US" b="1" dirty="0"/>
          </a:p>
          <a:p>
            <a:r>
              <a:rPr lang="en-US" sz="2800" dirty="0"/>
              <a:t>Verbal Mnemonics</a:t>
            </a:r>
          </a:p>
          <a:p>
            <a:r>
              <a:rPr lang="en-US" sz="2800" dirty="0"/>
              <a:t>Method of Loci</a:t>
            </a:r>
          </a:p>
          <a:p>
            <a:r>
              <a:rPr lang="en-US" sz="2800" dirty="0"/>
              <a:t>Peg-Word Method</a:t>
            </a:r>
          </a:p>
          <a:p>
            <a:r>
              <a:rPr lang="en-US" sz="2800" dirty="0"/>
              <a:t>Minimize Interference</a:t>
            </a:r>
          </a:p>
          <a:p>
            <a:r>
              <a:rPr lang="en-US" sz="2800" dirty="0"/>
              <a:t>Utilize Context Effects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1364</Words>
  <Application>Microsoft Office PowerPoint</Application>
  <PresentationFormat>On-screen Show (4:3)</PresentationFormat>
  <Paragraphs>108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CHAPTER FOUR  MEMORY AND FORGETTING</vt:lpstr>
      <vt:lpstr>5.1 Memory  </vt:lpstr>
      <vt:lpstr>Processes of Memory </vt:lpstr>
      <vt:lpstr>Slide 4</vt:lpstr>
      <vt:lpstr>5.1.2 Stages/Structure of Memory</vt:lpstr>
      <vt:lpstr>Three Stages of Memory</vt:lpstr>
      <vt:lpstr>.</vt:lpstr>
      <vt:lpstr>.</vt:lpstr>
      <vt:lpstr>...</vt:lpstr>
      <vt:lpstr>.</vt:lpstr>
      <vt:lpstr>3. Long Term Memory</vt:lpstr>
      <vt:lpstr>Slide 12</vt:lpstr>
      <vt:lpstr>.</vt:lpstr>
      <vt:lpstr>Semantic Networks</vt:lpstr>
      <vt:lpstr>5.1.3 Factors Affecting Memory</vt:lpstr>
      <vt:lpstr>5.2 Forgetting  5.2.1 Meaning and Concepts of Forgetting </vt:lpstr>
      <vt:lpstr>The Forgetting Curve</vt:lpstr>
      <vt:lpstr>5.2.2. Theories of Forgetting</vt:lpstr>
      <vt:lpstr>.</vt:lpstr>
      <vt:lpstr>5.3. Improving Memory  </vt:lpstr>
      <vt:lpstr>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FOUR  MEMORY AND FORGETTING</dc:title>
  <dc:creator>User</dc:creator>
  <cp:lastModifiedBy>User</cp:lastModifiedBy>
  <cp:revision>31</cp:revision>
  <dcterms:created xsi:type="dcterms:W3CDTF">2019-12-09T05:38:48Z</dcterms:created>
  <dcterms:modified xsi:type="dcterms:W3CDTF">2019-12-18T03:12:56Z</dcterms:modified>
</cp:coreProperties>
</file>