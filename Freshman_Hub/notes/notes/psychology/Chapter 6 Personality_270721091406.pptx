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5" r:id="rId8"/>
    <p:sldId id="261" r:id="rId9"/>
    <p:sldId id="266" r:id="rId10"/>
    <p:sldId id="268" r:id="rId11"/>
    <p:sldId id="269" r:id="rId12"/>
    <p:sldId id="271" r:id="rId13"/>
    <p:sldId id="272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A4621-9F30-436F-948E-1481FF2F2881}" type="datetimeFigureOut">
              <a:rPr lang="en-US" smtClean="0"/>
              <a:pPr/>
              <a:t>12/26/2019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B866-2D64-424B-9197-82FB3CD5E6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A4621-9F30-436F-948E-1481FF2F2881}" type="datetimeFigureOut">
              <a:rPr lang="en-US" smtClean="0"/>
              <a:pPr/>
              <a:t>12/26/2019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B866-2D64-424B-9197-82FB3CD5E6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A4621-9F30-436F-948E-1481FF2F2881}" type="datetimeFigureOut">
              <a:rPr lang="en-US" smtClean="0"/>
              <a:pPr/>
              <a:t>12/26/2019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B866-2D64-424B-9197-82FB3CD5E6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A4621-9F30-436F-948E-1481FF2F2881}" type="datetimeFigureOut">
              <a:rPr lang="en-US" smtClean="0"/>
              <a:pPr/>
              <a:t>12/26/2019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B866-2D64-424B-9197-82FB3CD5E6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A4621-9F30-436F-948E-1481FF2F2881}" type="datetimeFigureOut">
              <a:rPr lang="en-US" smtClean="0"/>
              <a:pPr/>
              <a:t>12/26/2019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B866-2D64-424B-9197-82FB3CD5E6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A4621-9F30-436F-948E-1481FF2F2881}" type="datetimeFigureOut">
              <a:rPr lang="en-US" smtClean="0"/>
              <a:pPr/>
              <a:t>12/26/2019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B866-2D64-424B-9197-82FB3CD5E6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A4621-9F30-436F-948E-1481FF2F2881}" type="datetimeFigureOut">
              <a:rPr lang="en-US" smtClean="0"/>
              <a:pPr/>
              <a:t>12/26/2019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B866-2D64-424B-9197-82FB3CD5E6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A4621-9F30-436F-948E-1481FF2F2881}" type="datetimeFigureOut">
              <a:rPr lang="en-US" smtClean="0"/>
              <a:pPr/>
              <a:t>12/26/2019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B866-2D64-424B-9197-82FB3CD5E6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A4621-9F30-436F-948E-1481FF2F2881}" type="datetimeFigureOut">
              <a:rPr lang="en-US" smtClean="0"/>
              <a:pPr/>
              <a:t>12/26/2019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B866-2D64-424B-9197-82FB3CD5E6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A4621-9F30-436F-948E-1481FF2F2881}" type="datetimeFigureOut">
              <a:rPr lang="en-US" smtClean="0"/>
              <a:pPr/>
              <a:t>12/26/2019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B866-2D64-424B-9197-82FB3CD5E6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A4621-9F30-436F-948E-1481FF2F2881}" type="datetimeFigureOut">
              <a:rPr lang="en-US" smtClean="0"/>
              <a:pPr/>
              <a:t>12/26/2019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B866-2D64-424B-9197-82FB3CD5E66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A4621-9F30-436F-948E-1481FF2F2881}" type="datetimeFigureOut">
              <a:rPr lang="en-US" smtClean="0"/>
              <a:pPr/>
              <a:t>12/26/2019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2B866-2D64-424B-9197-82FB3CD5E66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76400"/>
            <a:ext cx="7772400" cy="1470025"/>
          </a:xfrm>
        </p:spPr>
        <p:txBody>
          <a:bodyPr>
            <a:normAutofit/>
          </a:bodyPr>
          <a:lstStyle/>
          <a:p>
            <a:r>
              <a:rPr lang="en-US" sz="4000" b="1" dirty="0"/>
              <a:t>CHAPTER </a:t>
            </a:r>
            <a:r>
              <a:rPr lang="en-US" sz="4000" b="1" dirty="0" smtClean="0"/>
              <a:t>SIX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429000"/>
            <a:ext cx="6400800" cy="1752600"/>
          </a:xfrm>
        </p:spPr>
        <p:txBody>
          <a:bodyPr/>
          <a:lstStyle/>
          <a:p>
            <a:r>
              <a:rPr lang="en-US" sz="4000" b="1" dirty="0" smtClean="0">
                <a:solidFill>
                  <a:schemeClr val="tx1"/>
                </a:solidFill>
              </a:rPr>
              <a:t>PERSONALITY</a:t>
            </a:r>
            <a:r>
              <a:rPr lang="en-US" sz="4000" dirty="0" smtClean="0">
                <a:solidFill>
                  <a:schemeClr val="tx1"/>
                </a:solidFill>
              </a:rPr>
              <a:t> </a:t>
            </a:r>
            <a:br>
              <a:rPr lang="en-US" sz="4000" dirty="0" smtClean="0">
                <a:solidFill>
                  <a:schemeClr val="tx1"/>
                </a:solidFill>
              </a:rPr>
            </a:br>
            <a:endParaRPr lang="en-US" sz="4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4000" i="1" dirty="0" smtClean="0"/>
              <a:t>	“</a:t>
            </a:r>
            <a:r>
              <a:rPr lang="en-US" sz="4000" i="1" dirty="0"/>
              <a:t>One of the greatest regrets in life is being what </a:t>
            </a:r>
            <a:r>
              <a:rPr lang="en-US" sz="4000" i="1" dirty="0">
                <a:solidFill>
                  <a:srgbClr val="FF0000"/>
                </a:solidFill>
              </a:rPr>
              <a:t>others would want you to be</a:t>
            </a:r>
            <a:r>
              <a:rPr lang="en-US" sz="4000" i="1" dirty="0"/>
              <a:t>, rather </a:t>
            </a:r>
            <a:r>
              <a:rPr lang="en-US" sz="4000" i="1" dirty="0" smtClean="0"/>
              <a:t>than </a:t>
            </a:r>
            <a:r>
              <a:rPr lang="en-US" sz="4000" i="1" dirty="0" smtClean="0">
                <a:solidFill>
                  <a:srgbClr val="FF0000"/>
                </a:solidFill>
              </a:rPr>
              <a:t>being </a:t>
            </a:r>
            <a:r>
              <a:rPr lang="en-US" sz="4000" i="1" dirty="0">
                <a:solidFill>
                  <a:srgbClr val="FF0000"/>
                </a:solidFill>
              </a:rPr>
              <a:t>yourself</a:t>
            </a:r>
            <a:r>
              <a:rPr lang="en-US" sz="4000" i="1" dirty="0"/>
              <a:t>”. </a:t>
            </a:r>
            <a:r>
              <a:rPr lang="en-US" sz="4000" b="1" i="1" dirty="0"/>
              <a:t>Shannon L. Alder</a:t>
            </a:r>
            <a:r>
              <a:rPr lang="en-US" sz="4000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sz="3600" i="1" dirty="0" smtClean="0"/>
              <a:t>What does the </a:t>
            </a:r>
            <a:r>
              <a:rPr lang="en-US" sz="3600" i="1" dirty="0"/>
              <a:t>above </a:t>
            </a:r>
            <a:r>
              <a:rPr lang="en-US" sz="3600" i="1" dirty="0" smtClean="0"/>
              <a:t>quotation reflects?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6.1. Meaning of </a:t>
            </a:r>
            <a:r>
              <a:rPr lang="en-US" b="1" dirty="0" smtClean="0"/>
              <a:t>Personality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106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Arial Narrow" pitchFamily="34" charset="0"/>
              </a:rPr>
              <a:t>The word </a:t>
            </a:r>
            <a:r>
              <a:rPr lang="en-US" b="1" i="1" dirty="0">
                <a:latin typeface="Arial Narrow" pitchFamily="34" charset="0"/>
              </a:rPr>
              <a:t>personality </a:t>
            </a:r>
            <a:r>
              <a:rPr lang="en-US" dirty="0">
                <a:latin typeface="Arial Narrow" pitchFamily="34" charset="0"/>
              </a:rPr>
              <a:t>is derived from the word </a:t>
            </a:r>
            <a:r>
              <a:rPr lang="en-US" dirty="0" smtClean="0">
                <a:latin typeface="Arial Narrow" pitchFamily="34" charset="0"/>
              </a:rPr>
              <a:t>“</a:t>
            </a:r>
            <a:r>
              <a:rPr lang="en-US" b="1" dirty="0" smtClean="0">
                <a:solidFill>
                  <a:srgbClr val="FF0000"/>
                </a:solidFill>
                <a:latin typeface="Arial Narrow" pitchFamily="34" charset="0"/>
              </a:rPr>
              <a:t>persona</a:t>
            </a:r>
            <a:r>
              <a:rPr lang="en-US" dirty="0">
                <a:latin typeface="Arial Narrow" pitchFamily="34" charset="0"/>
              </a:rPr>
              <a:t>‘, which has Greek and Latin </a:t>
            </a:r>
            <a:r>
              <a:rPr lang="en-US" dirty="0" smtClean="0">
                <a:latin typeface="Arial Narrow" pitchFamily="34" charset="0"/>
              </a:rPr>
              <a:t>roots and </a:t>
            </a:r>
            <a:r>
              <a:rPr lang="en-US" dirty="0">
                <a:latin typeface="Arial Narrow" pitchFamily="34" charset="0"/>
              </a:rPr>
              <a:t>refers to the theatrical </a:t>
            </a:r>
            <a:r>
              <a:rPr lang="en-US" dirty="0">
                <a:solidFill>
                  <a:srgbClr val="FF0000"/>
                </a:solidFill>
                <a:latin typeface="Arial Narrow" pitchFamily="34" charset="0"/>
              </a:rPr>
              <a:t>masks</a:t>
            </a:r>
            <a:r>
              <a:rPr lang="en-US" dirty="0">
                <a:latin typeface="Arial Narrow" pitchFamily="34" charset="0"/>
              </a:rPr>
              <a:t> worn by Greek actors. </a:t>
            </a:r>
            <a:endParaRPr lang="en-US" dirty="0" smtClean="0">
              <a:latin typeface="Arial Narrow" pitchFamily="34" charset="0"/>
            </a:endParaRPr>
          </a:p>
          <a:p>
            <a:r>
              <a:rPr lang="en-US" dirty="0" smtClean="0">
                <a:latin typeface="Arial Narrow" pitchFamily="34" charset="0"/>
              </a:rPr>
              <a:t>Personality </a:t>
            </a:r>
            <a:r>
              <a:rPr lang="en-US" dirty="0">
                <a:latin typeface="Arial Narrow" pitchFamily="34" charset="0"/>
              </a:rPr>
              <a:t>has been defined in </a:t>
            </a:r>
            <a:r>
              <a:rPr lang="en-US" dirty="0" smtClean="0">
                <a:latin typeface="Arial Narrow" pitchFamily="34" charset="0"/>
              </a:rPr>
              <a:t>many different </a:t>
            </a:r>
            <a:r>
              <a:rPr lang="en-US" dirty="0">
                <a:latin typeface="Arial Narrow" pitchFamily="34" charset="0"/>
              </a:rPr>
              <a:t>ways, but psychologists generally view </a:t>
            </a:r>
            <a:r>
              <a:rPr lang="en-US" i="1" dirty="0">
                <a:latin typeface="Arial Narrow" pitchFamily="34" charset="0"/>
              </a:rPr>
              <a:t>personality as </a:t>
            </a:r>
            <a:r>
              <a:rPr lang="en-US" i="1" dirty="0">
                <a:solidFill>
                  <a:srgbClr val="FF0000"/>
                </a:solidFill>
                <a:latin typeface="Arial Narrow" pitchFamily="34" charset="0"/>
              </a:rPr>
              <a:t>the unique pattern </a:t>
            </a:r>
            <a:r>
              <a:rPr lang="en-US" i="1" dirty="0" smtClean="0">
                <a:solidFill>
                  <a:srgbClr val="FF0000"/>
                </a:solidFill>
                <a:latin typeface="Arial Narrow" pitchFamily="34" charset="0"/>
              </a:rPr>
              <a:t>of enduring </a:t>
            </a:r>
            <a:r>
              <a:rPr lang="en-US" i="1" dirty="0">
                <a:solidFill>
                  <a:srgbClr val="FF0000"/>
                </a:solidFill>
                <a:latin typeface="Arial Narrow" pitchFamily="34" charset="0"/>
              </a:rPr>
              <a:t>thoughts, feelings, and actions that characterize a </a:t>
            </a:r>
            <a:r>
              <a:rPr lang="en-US" i="1" dirty="0" smtClean="0">
                <a:solidFill>
                  <a:srgbClr val="FF0000"/>
                </a:solidFill>
                <a:latin typeface="Arial Narrow" pitchFamily="34" charset="0"/>
              </a:rPr>
              <a:t>person</a:t>
            </a:r>
            <a:r>
              <a:rPr lang="en-US" i="1" dirty="0" smtClean="0">
                <a:latin typeface="Arial Narrow" pitchFamily="34" charset="0"/>
              </a:rPr>
              <a:t>.</a:t>
            </a:r>
          </a:p>
          <a:p>
            <a:r>
              <a:rPr lang="en-US" dirty="0" smtClean="0">
                <a:latin typeface="Arial Narrow" pitchFamily="34" charset="0"/>
              </a:rPr>
              <a:t>Personality </a:t>
            </a:r>
            <a:r>
              <a:rPr lang="en-US" dirty="0">
                <a:latin typeface="Arial Narrow" pitchFamily="34" charset="0"/>
              </a:rPr>
              <a:t>should not </a:t>
            </a:r>
            <a:r>
              <a:rPr lang="en-US" dirty="0" smtClean="0">
                <a:latin typeface="Arial Narrow" pitchFamily="34" charset="0"/>
              </a:rPr>
              <a:t>be confused </a:t>
            </a:r>
            <a:r>
              <a:rPr lang="en-US" dirty="0">
                <a:latin typeface="Arial Narrow" pitchFamily="34" charset="0"/>
              </a:rPr>
              <a:t>with </a:t>
            </a:r>
            <a:r>
              <a:rPr lang="en-US" dirty="0" smtClean="0">
                <a:latin typeface="Arial Narrow" pitchFamily="34" charset="0"/>
              </a:rPr>
              <a:t>character and temperament, however</a:t>
            </a:r>
            <a:r>
              <a:rPr lang="en-US" dirty="0">
                <a:latin typeface="Arial Narrow" pitchFamily="34" charset="0"/>
              </a:rPr>
              <a:t>, both </a:t>
            </a:r>
            <a:r>
              <a:rPr lang="en-US" dirty="0" smtClean="0">
                <a:latin typeface="Arial Narrow" pitchFamily="34" charset="0"/>
              </a:rPr>
              <a:t>character and </a:t>
            </a:r>
            <a:r>
              <a:rPr lang="en-US" dirty="0">
                <a:latin typeface="Arial Narrow" pitchFamily="34" charset="0"/>
              </a:rPr>
              <a:t>temperament are vital </a:t>
            </a:r>
            <a:r>
              <a:rPr lang="en-US" dirty="0" smtClean="0">
                <a:latin typeface="Arial Narrow" pitchFamily="34" charset="0"/>
              </a:rPr>
              <a:t>components of personality.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b="1" dirty="0" smtClean="0"/>
              <a:t>6.2. Theories of Personality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486400"/>
          </a:xfrm>
        </p:spPr>
        <p:txBody>
          <a:bodyPr>
            <a:normAutofit fontScale="25000" lnSpcReduction="20000"/>
          </a:bodyPr>
          <a:lstStyle/>
          <a:p>
            <a:pPr lvl="1">
              <a:buNone/>
            </a:pPr>
            <a:r>
              <a:rPr lang="en-US" sz="11200" dirty="0" smtClean="0">
                <a:latin typeface="Arial Narrow" pitchFamily="34" charset="0"/>
              </a:rPr>
              <a:t>Though there </a:t>
            </a:r>
            <a:r>
              <a:rPr lang="en-US" sz="11200" dirty="0">
                <a:latin typeface="Arial Narrow" pitchFamily="34" charset="0"/>
              </a:rPr>
              <a:t>are different theories of personality, we will see </a:t>
            </a:r>
            <a:r>
              <a:rPr lang="en-US" sz="11200" dirty="0" smtClean="0">
                <a:latin typeface="Arial Narrow" pitchFamily="34" charset="0"/>
              </a:rPr>
              <a:t>only three. </a:t>
            </a:r>
            <a:endParaRPr lang="en-US" sz="11200" dirty="0">
              <a:latin typeface="Arial Narrow" pitchFamily="34" charset="0"/>
            </a:endParaRPr>
          </a:p>
          <a:p>
            <a:pPr>
              <a:buNone/>
            </a:pPr>
            <a:r>
              <a:rPr lang="en-US" sz="11200" b="1" dirty="0" smtClean="0">
                <a:latin typeface="Arial Narrow" pitchFamily="34" charset="0"/>
              </a:rPr>
              <a:t>6.2.1</a:t>
            </a:r>
            <a:r>
              <a:rPr lang="en-US" sz="11200" b="1" dirty="0">
                <a:latin typeface="Arial Narrow" pitchFamily="34" charset="0"/>
              </a:rPr>
              <a:t>. </a:t>
            </a:r>
            <a:r>
              <a:rPr lang="en-US" sz="11200" dirty="0" smtClean="0">
                <a:latin typeface="Arial Narrow" pitchFamily="34" charset="0"/>
              </a:rPr>
              <a:t>Freud’s </a:t>
            </a:r>
            <a:r>
              <a:rPr lang="en-US" sz="11200" b="1" dirty="0" smtClean="0">
                <a:latin typeface="Arial Narrow" pitchFamily="34" charset="0"/>
              </a:rPr>
              <a:t>psychoanalytic </a:t>
            </a:r>
            <a:r>
              <a:rPr lang="en-US" sz="11200" b="1" dirty="0">
                <a:latin typeface="Arial Narrow" pitchFamily="34" charset="0"/>
              </a:rPr>
              <a:t>theory of </a:t>
            </a:r>
            <a:r>
              <a:rPr lang="en-US" sz="11200" b="1" dirty="0" smtClean="0">
                <a:latin typeface="Arial Narrow" pitchFamily="34" charset="0"/>
              </a:rPr>
              <a:t>personality</a:t>
            </a:r>
          </a:p>
          <a:p>
            <a:r>
              <a:rPr lang="en-US" sz="11200" dirty="0" smtClean="0">
                <a:latin typeface="Arial Narrow" pitchFamily="34" charset="0"/>
              </a:rPr>
              <a:t>According </a:t>
            </a:r>
            <a:r>
              <a:rPr lang="en-US" sz="11200" dirty="0">
                <a:latin typeface="Arial Narrow" pitchFamily="34" charset="0"/>
              </a:rPr>
              <a:t>to Freud, </a:t>
            </a:r>
            <a:r>
              <a:rPr lang="en-US" sz="11200" dirty="0" smtClean="0">
                <a:latin typeface="Arial Narrow" pitchFamily="34" charset="0"/>
              </a:rPr>
              <a:t>personality </a:t>
            </a:r>
            <a:r>
              <a:rPr lang="en-US" sz="11200" dirty="0">
                <a:latin typeface="Arial Narrow" pitchFamily="34" charset="0"/>
              </a:rPr>
              <a:t>is formed within ourselves, arising from basic inborn needs</a:t>
            </a:r>
            <a:r>
              <a:rPr lang="en-US" sz="11200" dirty="0" smtClean="0">
                <a:latin typeface="Arial Narrow" pitchFamily="34" charset="0"/>
              </a:rPr>
              <a:t>, drives</a:t>
            </a:r>
            <a:r>
              <a:rPr lang="en-US" sz="11200" dirty="0">
                <a:latin typeface="Arial Narrow" pitchFamily="34" charset="0"/>
              </a:rPr>
              <a:t>, and characteristics. </a:t>
            </a:r>
            <a:endParaRPr lang="en-US" sz="11200" dirty="0" smtClean="0">
              <a:latin typeface="Arial Narrow" pitchFamily="34" charset="0"/>
            </a:endParaRPr>
          </a:p>
          <a:p>
            <a:r>
              <a:rPr lang="en-US" sz="11200" dirty="0" smtClean="0">
                <a:latin typeface="Arial Narrow" pitchFamily="34" charset="0"/>
              </a:rPr>
              <a:t>He </a:t>
            </a:r>
            <a:r>
              <a:rPr lang="en-US" sz="11200" dirty="0">
                <a:latin typeface="Arial Narrow" pitchFamily="34" charset="0"/>
              </a:rPr>
              <a:t>argued that people are in constant conflict between their</a:t>
            </a:r>
            <a:br>
              <a:rPr lang="en-US" sz="11200" dirty="0">
                <a:latin typeface="Arial Narrow" pitchFamily="34" charset="0"/>
              </a:rPr>
            </a:br>
            <a:r>
              <a:rPr lang="en-US" sz="11200" dirty="0">
                <a:latin typeface="Arial Narrow" pitchFamily="34" charset="0"/>
              </a:rPr>
              <a:t>biological urges (drives) and the need </a:t>
            </a:r>
            <a:r>
              <a:rPr lang="en-US" sz="11200" dirty="0" smtClean="0">
                <a:latin typeface="Arial Narrow" pitchFamily="34" charset="0"/>
              </a:rPr>
              <a:t>to tame/domesticate </a:t>
            </a:r>
            <a:r>
              <a:rPr lang="en-US" sz="11200" dirty="0">
                <a:latin typeface="Arial Narrow" pitchFamily="34" charset="0"/>
              </a:rPr>
              <a:t>them. </a:t>
            </a:r>
            <a:endParaRPr lang="en-US" sz="11200" dirty="0" smtClean="0">
              <a:latin typeface="Arial Narrow" pitchFamily="34" charset="0"/>
            </a:endParaRPr>
          </a:p>
          <a:p>
            <a:r>
              <a:rPr lang="en-US" sz="11200" dirty="0" smtClean="0">
                <a:latin typeface="Arial Narrow" pitchFamily="34" charset="0"/>
              </a:rPr>
              <a:t>In </a:t>
            </a:r>
            <a:r>
              <a:rPr lang="en-US" sz="11200" dirty="0">
                <a:latin typeface="Arial Narrow" pitchFamily="34" charset="0"/>
              </a:rPr>
              <a:t>Freud's view, personality has three </a:t>
            </a:r>
            <a:r>
              <a:rPr lang="en-US" sz="11200" dirty="0" smtClean="0">
                <a:latin typeface="Arial Narrow" pitchFamily="34" charset="0"/>
              </a:rPr>
              <a:t>structure/parts </a:t>
            </a:r>
            <a:r>
              <a:rPr lang="en-US" sz="11200" dirty="0">
                <a:latin typeface="Arial Narrow" pitchFamily="34" charset="0"/>
              </a:rPr>
              <a:t>which serves </a:t>
            </a:r>
            <a:r>
              <a:rPr lang="en-US" sz="11200" dirty="0" smtClean="0">
                <a:latin typeface="Arial Narrow" pitchFamily="34" charset="0"/>
              </a:rPr>
              <a:t>a different </a:t>
            </a:r>
            <a:r>
              <a:rPr lang="en-US" sz="11200" dirty="0">
                <a:latin typeface="Arial Narrow" pitchFamily="34" charset="0"/>
              </a:rPr>
              <a:t>function and develops at different times: the id, the ego, and the </a:t>
            </a:r>
            <a:r>
              <a:rPr lang="en-US" sz="11200" dirty="0" smtClean="0">
                <a:latin typeface="Arial Narrow" pitchFamily="34" charset="0"/>
              </a:rPr>
              <a:t>superego.</a:t>
            </a:r>
          </a:p>
          <a:p>
            <a:r>
              <a:rPr lang="en-US" sz="11200" dirty="0" smtClean="0">
                <a:latin typeface="Arial Narrow" pitchFamily="34" charset="0"/>
              </a:rPr>
              <a:t>According </a:t>
            </a:r>
            <a:r>
              <a:rPr lang="en-US" sz="11200" dirty="0">
                <a:latin typeface="Arial Narrow" pitchFamily="34" charset="0"/>
              </a:rPr>
              <a:t>to Freud, the way these three parts of personality interact with one </a:t>
            </a:r>
            <a:r>
              <a:rPr lang="en-US" sz="11200" dirty="0" smtClean="0">
                <a:latin typeface="Arial Narrow" pitchFamily="34" charset="0"/>
              </a:rPr>
              <a:t>another determines </a:t>
            </a:r>
            <a:r>
              <a:rPr lang="en-US" sz="11200" dirty="0">
                <a:latin typeface="Arial Narrow" pitchFamily="34" charset="0"/>
              </a:rPr>
              <a:t>the personality of an individual.</a:t>
            </a:r>
            <a:r>
              <a:rPr lang="en-US" sz="11200" dirty="0" smtClean="0">
                <a:latin typeface="Arial Narrow" pitchFamily="34" charset="0"/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3349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6019800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sz="9600" b="1" dirty="0" smtClean="0">
                <a:latin typeface="Arial Narrow" pitchFamily="34" charset="0"/>
              </a:rPr>
              <a:t>Id: </a:t>
            </a:r>
            <a:r>
              <a:rPr lang="en-US" sz="9600" b="1" dirty="0"/>
              <a:t>I</a:t>
            </a:r>
            <a:r>
              <a:rPr lang="en-US" sz="9600" b="1" dirty="0">
                <a:latin typeface="Arial Narrow" pitchFamily="34" charset="0"/>
              </a:rPr>
              <a:t>f It Feels Good, Do It</a:t>
            </a:r>
            <a:r>
              <a:rPr lang="en-US" sz="9600" dirty="0" smtClean="0">
                <a:latin typeface="Arial Narrow" pitchFamily="34" charset="0"/>
              </a:rPr>
              <a:t> </a:t>
            </a:r>
            <a:endParaRPr lang="en-US" sz="9600" b="1" dirty="0" smtClean="0">
              <a:latin typeface="Arial Narrow" pitchFamily="34" charset="0"/>
            </a:endParaRPr>
          </a:p>
          <a:p>
            <a:pPr>
              <a:buNone/>
            </a:pPr>
            <a:r>
              <a:rPr lang="en-US" sz="9600" dirty="0" smtClean="0">
                <a:latin typeface="Arial Narrow" pitchFamily="34" charset="0"/>
              </a:rPr>
              <a:t>	.Exist at birth, all psychic energy resides in the </a:t>
            </a:r>
            <a:r>
              <a:rPr lang="en-US" sz="9600" b="1" dirty="0" smtClean="0">
                <a:latin typeface="Arial Narrow" pitchFamily="34" charset="0"/>
              </a:rPr>
              <a:t>id</a:t>
            </a:r>
          </a:p>
          <a:p>
            <a:pPr>
              <a:buNone/>
            </a:pPr>
            <a:r>
              <a:rPr lang="en-US" sz="9600" b="1" dirty="0">
                <a:latin typeface="Arial Narrow" pitchFamily="34" charset="0"/>
              </a:rPr>
              <a:t>	</a:t>
            </a:r>
            <a:r>
              <a:rPr lang="en-US" sz="9600" b="1" dirty="0" smtClean="0">
                <a:latin typeface="Arial Narrow" pitchFamily="34" charset="0"/>
              </a:rPr>
              <a:t>.</a:t>
            </a:r>
            <a:r>
              <a:rPr lang="en-US" sz="9600" dirty="0" smtClean="0">
                <a:latin typeface="Arial Narrow" pitchFamily="34" charset="0"/>
              </a:rPr>
              <a:t>The seat of biologically based drives (hunger, sex, aggression</a:t>
            </a:r>
            <a:br>
              <a:rPr lang="en-US" sz="9600" dirty="0" smtClean="0">
                <a:latin typeface="Arial Narrow" pitchFamily="34" charset="0"/>
              </a:rPr>
            </a:br>
            <a:r>
              <a:rPr lang="en-US" sz="9600" dirty="0" smtClean="0">
                <a:latin typeface="Arial Narrow" pitchFamily="34" charset="0"/>
              </a:rPr>
              <a:t>.It is completely unconscious, amoral, impulsive,</a:t>
            </a:r>
          </a:p>
          <a:p>
            <a:pPr>
              <a:buNone/>
            </a:pPr>
            <a:r>
              <a:rPr lang="en-US" sz="9600" dirty="0">
                <a:latin typeface="Arial Narrow" pitchFamily="34" charset="0"/>
              </a:rPr>
              <a:t>	</a:t>
            </a:r>
            <a:r>
              <a:rPr lang="en-US" sz="9600" dirty="0" smtClean="0">
                <a:latin typeface="Arial Narrow" pitchFamily="34" charset="0"/>
              </a:rPr>
              <a:t>  &amp; irrational part of the personality</a:t>
            </a:r>
          </a:p>
          <a:p>
            <a:pPr>
              <a:buNone/>
            </a:pPr>
            <a:r>
              <a:rPr lang="en-US" sz="9600" dirty="0">
                <a:latin typeface="Arial Narrow" pitchFamily="34" charset="0"/>
              </a:rPr>
              <a:t>	</a:t>
            </a:r>
            <a:r>
              <a:rPr lang="en-US" sz="9600" dirty="0" smtClean="0">
                <a:latin typeface="Arial Narrow" pitchFamily="34" charset="0"/>
              </a:rPr>
              <a:t> .It seeks immediate gratification/</a:t>
            </a:r>
            <a:r>
              <a:rPr lang="en-US" sz="9600" dirty="0" smtClean="0">
                <a:solidFill>
                  <a:srgbClr val="FF0000"/>
                </a:solidFill>
                <a:latin typeface="Arial Narrow" pitchFamily="34" charset="0"/>
              </a:rPr>
              <a:t>pleasure</a:t>
            </a:r>
            <a:r>
              <a:rPr lang="en-US" sz="9600" dirty="0" smtClean="0">
                <a:latin typeface="Arial Narrow" pitchFamily="34" charset="0"/>
              </a:rPr>
              <a:t>/reduce tension/libido</a:t>
            </a:r>
          </a:p>
          <a:p>
            <a:pPr>
              <a:buNone/>
            </a:pPr>
            <a:r>
              <a:rPr lang="en-US" sz="9600" dirty="0">
                <a:latin typeface="Arial Narrow" pitchFamily="34" charset="0"/>
              </a:rPr>
              <a:t>	 </a:t>
            </a:r>
            <a:r>
              <a:rPr lang="en-US" sz="9600" dirty="0" smtClean="0">
                <a:latin typeface="Arial Narrow" pitchFamily="34" charset="0"/>
              </a:rPr>
              <a:t>“Eat </a:t>
            </a:r>
            <a:r>
              <a:rPr lang="en-US" sz="9600" dirty="0">
                <a:latin typeface="Arial Narrow" pitchFamily="34" charset="0"/>
              </a:rPr>
              <a:t>when hungry, drink when thirsty, </a:t>
            </a:r>
            <a:r>
              <a:rPr lang="en-US" sz="9600" dirty="0" smtClean="0">
                <a:latin typeface="Arial Narrow" pitchFamily="34" charset="0"/>
              </a:rPr>
              <a:t>and satisfy </a:t>
            </a:r>
            <a:r>
              <a:rPr lang="en-US" sz="9600" dirty="0">
                <a:latin typeface="Arial Narrow" pitchFamily="34" charset="0"/>
              </a:rPr>
              <a:t>the sex </a:t>
            </a:r>
            <a:r>
              <a:rPr lang="en-US" sz="9600" dirty="0" smtClean="0">
                <a:latin typeface="Arial Narrow" pitchFamily="34" charset="0"/>
              </a:rPr>
              <a:t>when needed”   </a:t>
            </a:r>
          </a:p>
          <a:p>
            <a:pPr>
              <a:buNone/>
            </a:pPr>
            <a:endParaRPr lang="en-US" sz="9600" dirty="0" smtClean="0">
              <a:latin typeface="Arial Narrow" pitchFamily="34" charset="0"/>
            </a:endParaRPr>
          </a:p>
          <a:p>
            <a:pPr>
              <a:buNone/>
            </a:pPr>
            <a:r>
              <a:rPr lang="en-US" sz="9600" b="1" dirty="0" smtClean="0">
                <a:latin typeface="Arial Narrow" pitchFamily="34" charset="0"/>
              </a:rPr>
              <a:t>Ego:</a:t>
            </a:r>
            <a:r>
              <a:rPr lang="en-US" sz="2800" b="1" dirty="0"/>
              <a:t> </a:t>
            </a:r>
            <a:r>
              <a:rPr lang="en-US" sz="9600" b="1" dirty="0">
                <a:latin typeface="Arial Narrow" pitchFamily="34" charset="0"/>
              </a:rPr>
              <a:t>The Executive Director</a:t>
            </a:r>
            <a:r>
              <a:rPr lang="en-US" sz="9600" dirty="0" smtClean="0">
                <a:latin typeface="Arial Narrow" pitchFamily="34" charset="0"/>
              </a:rPr>
              <a:t> </a:t>
            </a:r>
            <a:r>
              <a:rPr lang="en-US" sz="9600" b="1" dirty="0" smtClean="0">
                <a:latin typeface="Arial Narrow" pitchFamily="34" charset="0"/>
              </a:rPr>
              <a:t> </a:t>
            </a:r>
          </a:p>
          <a:p>
            <a:pPr>
              <a:buNone/>
            </a:pPr>
            <a:r>
              <a:rPr lang="en-US" sz="9600" dirty="0" smtClean="0">
                <a:latin typeface="Arial Narrow" pitchFamily="34" charset="0"/>
              </a:rPr>
              <a:t>	  .The ego begins to emerge during infancy when the child start learning. </a:t>
            </a:r>
          </a:p>
          <a:p>
            <a:pPr>
              <a:buNone/>
            </a:pPr>
            <a:r>
              <a:rPr lang="en-US" sz="9600" dirty="0" smtClean="0">
                <a:latin typeface="Arial Narrow" pitchFamily="34" charset="0"/>
              </a:rPr>
              <a:t>       .Ego devise </a:t>
            </a:r>
            <a:r>
              <a:rPr lang="en-US" sz="9600" dirty="0" smtClean="0">
                <a:solidFill>
                  <a:srgbClr val="FF0000"/>
                </a:solidFill>
                <a:latin typeface="Arial Narrow" pitchFamily="34" charset="0"/>
              </a:rPr>
              <a:t>logical and realistic </a:t>
            </a:r>
            <a:r>
              <a:rPr lang="en-US" sz="9600" dirty="0" smtClean="0">
                <a:latin typeface="Arial Narrow" pitchFamily="34" charset="0"/>
              </a:rPr>
              <a:t>strategies for meeting needs.</a:t>
            </a:r>
          </a:p>
          <a:p>
            <a:pPr>
              <a:buNone/>
            </a:pPr>
            <a:r>
              <a:rPr lang="en-US" sz="9600" dirty="0" smtClean="0">
                <a:latin typeface="Arial Narrow" pitchFamily="34" charset="0"/>
              </a:rPr>
              <a:t>       .It balances the conflicting demands of the id and the superego.</a:t>
            </a:r>
          </a:p>
          <a:p>
            <a:pPr>
              <a:buNone/>
            </a:pPr>
            <a:endParaRPr lang="en-US" sz="9600" dirty="0" smtClean="0">
              <a:latin typeface="Arial Narrow" pitchFamily="34" charset="0"/>
            </a:endParaRPr>
          </a:p>
          <a:p>
            <a:pPr>
              <a:buNone/>
            </a:pPr>
            <a:r>
              <a:rPr lang="en-US" sz="9600" b="1" dirty="0" smtClean="0">
                <a:latin typeface="Arial Narrow" pitchFamily="34" charset="0"/>
              </a:rPr>
              <a:t>Superego:</a:t>
            </a:r>
            <a:r>
              <a:rPr lang="en-US" sz="9600" dirty="0" smtClean="0">
                <a:latin typeface="Arial Narrow" pitchFamily="34" charset="0"/>
              </a:rPr>
              <a:t> </a:t>
            </a:r>
            <a:r>
              <a:rPr lang="en-US" sz="9600" b="1" dirty="0">
                <a:latin typeface="Arial Narrow" pitchFamily="34" charset="0"/>
              </a:rPr>
              <a:t>The Moral Watchdog</a:t>
            </a:r>
            <a:r>
              <a:rPr lang="en-US" sz="9600" dirty="0" smtClean="0">
                <a:latin typeface="Arial Narrow" pitchFamily="34" charset="0"/>
              </a:rPr>
              <a:t> </a:t>
            </a:r>
          </a:p>
          <a:p>
            <a:pPr>
              <a:buNone/>
            </a:pPr>
            <a:r>
              <a:rPr lang="en-US" sz="9600" dirty="0" smtClean="0">
                <a:latin typeface="Arial Narrow" pitchFamily="34" charset="0"/>
              </a:rPr>
              <a:t>	 .The conscience/individual’s internalized </a:t>
            </a:r>
            <a:r>
              <a:rPr lang="en-US" sz="9600" dirty="0" smtClean="0">
                <a:solidFill>
                  <a:srgbClr val="FF0000"/>
                </a:solidFill>
                <a:latin typeface="Arial Narrow" pitchFamily="34" charset="0"/>
              </a:rPr>
              <a:t>moral</a:t>
            </a:r>
            <a:r>
              <a:rPr lang="en-US" sz="9600" dirty="0" smtClean="0">
                <a:latin typeface="Arial Narrow" pitchFamily="34" charset="0"/>
              </a:rPr>
              <a:t> standards. </a:t>
            </a:r>
          </a:p>
          <a:p>
            <a:pPr>
              <a:buNone/>
            </a:pPr>
            <a:r>
              <a:rPr lang="en-US" sz="9600" dirty="0" smtClean="0">
                <a:latin typeface="Arial Narrow" pitchFamily="34" charset="0"/>
              </a:rPr>
              <a:t>      .The superego develops from the ego as 3-to 6-year-old children </a:t>
            </a:r>
          </a:p>
          <a:p>
            <a:pPr>
              <a:buNone/>
            </a:pPr>
            <a:r>
              <a:rPr lang="en-US" sz="9600" dirty="0" smtClean="0">
                <a:latin typeface="Arial Narrow" pitchFamily="34" charset="0"/>
              </a:rPr>
              <a:t>         internalize the moral standards and values. </a:t>
            </a:r>
            <a:br>
              <a:rPr lang="en-US" sz="9600" dirty="0" smtClean="0">
                <a:latin typeface="Arial Narrow" pitchFamily="34" charset="0"/>
              </a:rPr>
            </a:br>
            <a:r>
              <a:rPr lang="en-US" sz="2400" dirty="0" smtClean="0"/>
              <a:t> </a:t>
            </a:r>
            <a:r>
              <a:rPr lang="en-US" sz="2800" dirty="0" smtClean="0">
                <a:latin typeface="Arial Narrow" pitchFamily="34" charset="0"/>
              </a:rPr>
              <a:t>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>
                <a:latin typeface="Arial Narrow" pitchFamily="34" charset="0"/>
              </a:rPr>
              <a:t/>
            </a:r>
            <a:br>
              <a:rPr lang="en-US" sz="2800" dirty="0" smtClean="0">
                <a:latin typeface="Arial Narrow" pitchFamily="34" charset="0"/>
              </a:rPr>
            </a:br>
            <a:endParaRPr lang="en-US" sz="2800" dirty="0" smtClean="0">
              <a:latin typeface="Arial Narrow" pitchFamily="34" charset="0"/>
            </a:endParaRPr>
          </a:p>
          <a:p>
            <a:endParaRPr lang="en-US" dirty="0"/>
          </a:p>
        </p:txBody>
      </p:sp>
      <p:pic>
        <p:nvPicPr>
          <p:cNvPr id="4" name="Picture 4" descr="http://allpsych.com/images/iceberg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81800" y="0"/>
            <a:ext cx="23622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"/>
            <a:ext cx="8763000" cy="6248400"/>
          </a:xfrm>
        </p:spPr>
        <p:txBody>
          <a:bodyPr>
            <a:normAutofit fontScale="25000" lnSpcReduction="20000"/>
          </a:bodyPr>
          <a:lstStyle/>
          <a:p>
            <a:r>
              <a:rPr lang="en-US" sz="9600" dirty="0" smtClean="0">
                <a:latin typeface="Arial Narrow" pitchFamily="34" charset="0"/>
              </a:rPr>
              <a:t>For </a:t>
            </a:r>
            <a:r>
              <a:rPr lang="en-US" sz="9600" dirty="0">
                <a:latin typeface="Arial Narrow" pitchFamily="34" charset="0"/>
              </a:rPr>
              <a:t>Freud, our personality is the outcome of the continual battle for dominance among the id</a:t>
            </a:r>
            <a:r>
              <a:rPr lang="en-US" sz="9600" dirty="0" smtClean="0">
                <a:latin typeface="Arial Narrow" pitchFamily="34" charset="0"/>
              </a:rPr>
              <a:t>, the </a:t>
            </a:r>
            <a:r>
              <a:rPr lang="en-US" sz="9600" dirty="0">
                <a:latin typeface="Arial Narrow" pitchFamily="34" charset="0"/>
              </a:rPr>
              <a:t>ego, and the superego. This constant conflict between them is managed by </a:t>
            </a:r>
            <a:r>
              <a:rPr lang="en-US" sz="9600" dirty="0" smtClean="0">
                <a:latin typeface="Arial Narrow" pitchFamily="34" charset="0"/>
              </a:rPr>
              <a:t>psychological defense mechanisms.</a:t>
            </a:r>
          </a:p>
          <a:p>
            <a:r>
              <a:rPr lang="en-US" sz="9600" dirty="0" smtClean="0">
                <a:latin typeface="Arial Narrow" pitchFamily="34" charset="0"/>
              </a:rPr>
              <a:t>Psychological problems often arise when the individual’s supply of the id, the ego, and the superego are unbalanced. </a:t>
            </a:r>
          </a:p>
          <a:p>
            <a:r>
              <a:rPr lang="en-US" sz="9600" dirty="0" smtClean="0">
                <a:latin typeface="Arial Narrow" pitchFamily="34" charset="0"/>
              </a:rPr>
              <a:t>To defend itself against anxiety, the ego adopts unconscious coping devices called </a:t>
            </a:r>
            <a:r>
              <a:rPr lang="en-US" sz="9600" b="1" dirty="0" smtClean="0">
                <a:latin typeface="Arial Narrow" pitchFamily="34" charset="0"/>
              </a:rPr>
              <a:t>defense mechanisms </a:t>
            </a:r>
            <a:r>
              <a:rPr lang="en-US" sz="9600" dirty="0" smtClean="0">
                <a:latin typeface="Arial Narrow" pitchFamily="34" charset="0"/>
              </a:rPr>
              <a:t>such as;</a:t>
            </a:r>
          </a:p>
          <a:p>
            <a:pPr lvl="1"/>
            <a:r>
              <a:rPr lang="en-US" sz="9600" b="1" dirty="0" smtClean="0">
                <a:latin typeface="Arial Narrow" pitchFamily="34" charset="0"/>
              </a:rPr>
              <a:t>Repression: </a:t>
            </a:r>
            <a:r>
              <a:rPr lang="en-US" sz="9600" dirty="0" smtClean="0">
                <a:latin typeface="Arial Narrow" pitchFamily="34" charset="0"/>
              </a:rPr>
              <a:t>(banishing </a:t>
            </a:r>
            <a:r>
              <a:rPr lang="en-US" sz="9600" dirty="0">
                <a:latin typeface="Arial Narrow" pitchFamily="34" charset="0"/>
              </a:rPr>
              <a:t>threatening thoughts, feelings</a:t>
            </a:r>
            <a:r>
              <a:rPr lang="en-US" sz="9600" dirty="0" smtClean="0">
                <a:latin typeface="Arial Narrow" pitchFamily="34" charset="0"/>
              </a:rPr>
              <a:t>, and </a:t>
            </a:r>
            <a:r>
              <a:rPr lang="en-US" sz="9600" dirty="0">
                <a:latin typeface="Arial Narrow" pitchFamily="34" charset="0"/>
              </a:rPr>
              <a:t>memories into the unconscious </a:t>
            </a:r>
            <a:r>
              <a:rPr lang="en-US" sz="9600" dirty="0" smtClean="0">
                <a:latin typeface="Arial Narrow" pitchFamily="34" charset="0"/>
              </a:rPr>
              <a:t>mind).</a:t>
            </a:r>
          </a:p>
          <a:p>
            <a:pPr lvl="1"/>
            <a:r>
              <a:rPr lang="en-US" sz="9600" b="1" dirty="0">
                <a:latin typeface="Arial Narrow" pitchFamily="34" charset="0"/>
              </a:rPr>
              <a:t>Denial: </a:t>
            </a:r>
            <a:r>
              <a:rPr lang="en-US" sz="9600" dirty="0">
                <a:latin typeface="Arial Narrow" pitchFamily="34" charset="0"/>
              </a:rPr>
              <a:t>is refusal to recognize or acknowledge a threatening </a:t>
            </a:r>
            <a:r>
              <a:rPr lang="en-US" sz="9600" dirty="0" smtClean="0">
                <a:latin typeface="Arial Narrow" pitchFamily="34" charset="0"/>
              </a:rPr>
              <a:t>situation. </a:t>
            </a:r>
          </a:p>
          <a:p>
            <a:pPr lvl="1"/>
            <a:r>
              <a:rPr lang="en-US" sz="9600" b="1" dirty="0">
                <a:latin typeface="Arial Narrow" pitchFamily="34" charset="0"/>
              </a:rPr>
              <a:t>Rationalization</a:t>
            </a:r>
            <a:r>
              <a:rPr lang="en-US" sz="9600" dirty="0">
                <a:latin typeface="Arial Narrow" pitchFamily="34" charset="0"/>
              </a:rPr>
              <a:t>: giving socially acceptable reasons for one's inappropriate behavior.</a:t>
            </a:r>
            <a:r>
              <a:rPr lang="en-US" sz="9600" dirty="0" smtClean="0">
                <a:latin typeface="Arial Narrow" pitchFamily="34" charset="0"/>
              </a:rPr>
              <a:t> </a:t>
            </a:r>
          </a:p>
          <a:p>
            <a:pPr lvl="1"/>
            <a:r>
              <a:rPr lang="en-US" sz="9600" b="1" dirty="0" smtClean="0">
                <a:latin typeface="Arial Narrow" pitchFamily="34" charset="0"/>
              </a:rPr>
              <a:t>Displacement</a:t>
            </a:r>
            <a:r>
              <a:rPr lang="en-US" sz="9600" dirty="0" smtClean="0">
                <a:latin typeface="Arial Narrow" pitchFamily="34" charset="0"/>
              </a:rPr>
              <a:t>: involves </a:t>
            </a:r>
            <a:r>
              <a:rPr lang="en-US" sz="9600" dirty="0">
                <a:latin typeface="Arial Narrow" pitchFamily="34" charset="0"/>
              </a:rPr>
              <a:t>expressing feelings toward a person who</a:t>
            </a:r>
            <a:br>
              <a:rPr lang="en-US" sz="9600" dirty="0">
                <a:latin typeface="Arial Narrow" pitchFamily="34" charset="0"/>
              </a:rPr>
            </a:br>
            <a:r>
              <a:rPr lang="en-US" sz="9600" dirty="0">
                <a:latin typeface="Arial Narrow" pitchFamily="34" charset="0"/>
              </a:rPr>
              <a:t>is less threatening than the </a:t>
            </a:r>
            <a:r>
              <a:rPr lang="en-US" sz="9600" dirty="0" smtClean="0">
                <a:latin typeface="Arial Narrow" pitchFamily="34" charset="0"/>
              </a:rPr>
              <a:t>actual target </a:t>
            </a:r>
            <a:r>
              <a:rPr lang="en-US" sz="9600" dirty="0">
                <a:latin typeface="Arial Narrow" pitchFamily="34" charset="0"/>
              </a:rPr>
              <a:t>of those feelings.</a:t>
            </a:r>
            <a:r>
              <a:rPr lang="en-US" sz="9600" dirty="0" smtClean="0">
                <a:latin typeface="Arial Narrow" pitchFamily="34" charset="0"/>
              </a:rPr>
              <a:t> </a:t>
            </a:r>
          </a:p>
          <a:p>
            <a:pPr lvl="1"/>
            <a:r>
              <a:rPr lang="en-US" sz="9600" b="1" dirty="0">
                <a:latin typeface="Arial Narrow" pitchFamily="34" charset="0"/>
              </a:rPr>
              <a:t>Projection</a:t>
            </a:r>
            <a:r>
              <a:rPr lang="en-US" sz="9600" dirty="0" smtClean="0">
                <a:latin typeface="Arial Narrow" pitchFamily="34" charset="0"/>
              </a:rPr>
              <a:t>: </a:t>
            </a:r>
            <a:r>
              <a:rPr lang="en-US" sz="9600" dirty="0">
                <a:latin typeface="Arial Narrow" pitchFamily="34" charset="0"/>
              </a:rPr>
              <a:t>attributing one's </a:t>
            </a:r>
            <a:r>
              <a:rPr lang="en-US" sz="9600" dirty="0" smtClean="0">
                <a:latin typeface="Arial Narrow" pitchFamily="34" charset="0"/>
              </a:rPr>
              <a:t>unacceptable </a:t>
            </a:r>
            <a:r>
              <a:rPr lang="en-US" sz="9600" dirty="0">
                <a:latin typeface="Arial Narrow" pitchFamily="34" charset="0"/>
              </a:rPr>
              <a:t>feelings </a:t>
            </a:r>
            <a:r>
              <a:rPr lang="en-US" sz="9600" dirty="0" smtClean="0">
                <a:latin typeface="Arial Narrow" pitchFamily="34" charset="0"/>
              </a:rPr>
              <a:t>to other </a:t>
            </a:r>
            <a:r>
              <a:rPr lang="en-US" sz="9600" dirty="0">
                <a:latin typeface="Arial Narrow" pitchFamily="34" charset="0"/>
              </a:rPr>
              <a:t>people. </a:t>
            </a:r>
            <a:endParaRPr lang="en-US" sz="9600" dirty="0" smtClean="0">
              <a:latin typeface="Arial Narrow" pitchFamily="34" charset="0"/>
            </a:endParaRPr>
          </a:p>
          <a:p>
            <a:pPr lvl="1"/>
            <a:r>
              <a:rPr lang="en-US" sz="9600" b="1" dirty="0">
                <a:latin typeface="Arial Narrow" pitchFamily="34" charset="0"/>
              </a:rPr>
              <a:t>Reaction formation</a:t>
            </a:r>
            <a:r>
              <a:rPr lang="en-US" sz="9600" dirty="0">
                <a:latin typeface="Arial Narrow" pitchFamily="34" charset="0"/>
              </a:rPr>
              <a:t>: </a:t>
            </a:r>
            <a:r>
              <a:rPr lang="en-US" sz="9600" dirty="0" smtClean="0">
                <a:latin typeface="Arial Narrow" pitchFamily="34" charset="0"/>
              </a:rPr>
              <a:t> acting the opposite from </a:t>
            </a:r>
            <a:r>
              <a:rPr lang="en-US" sz="9600" dirty="0">
                <a:latin typeface="Arial Narrow" pitchFamily="34" charset="0"/>
              </a:rPr>
              <a:t>one's true </a:t>
            </a:r>
            <a:r>
              <a:rPr lang="en-US" sz="9600" dirty="0" smtClean="0">
                <a:latin typeface="Arial Narrow" pitchFamily="34" charset="0"/>
              </a:rPr>
              <a:t>feelings.</a:t>
            </a:r>
          </a:p>
          <a:p>
            <a:pPr lvl="1"/>
            <a:r>
              <a:rPr lang="en-US" sz="9600" b="1" dirty="0">
                <a:latin typeface="Arial Narrow" pitchFamily="34" charset="0"/>
              </a:rPr>
              <a:t>Sublimation</a:t>
            </a:r>
            <a:r>
              <a:rPr lang="en-US" sz="9600" dirty="0">
                <a:latin typeface="Arial Narrow" pitchFamily="34" charset="0"/>
              </a:rPr>
              <a:t>: </a:t>
            </a:r>
            <a:r>
              <a:rPr lang="en-US" sz="9600" dirty="0" smtClean="0">
                <a:latin typeface="Arial Narrow" pitchFamily="34" charset="0"/>
              </a:rPr>
              <a:t>expressing </a:t>
            </a:r>
            <a:r>
              <a:rPr lang="en-US" sz="9600" dirty="0">
                <a:latin typeface="Arial Narrow" pitchFamily="34" charset="0"/>
              </a:rPr>
              <a:t>sexual or aggressive </a:t>
            </a:r>
            <a:r>
              <a:rPr lang="en-US" sz="9600" dirty="0" smtClean="0">
                <a:latin typeface="Arial Narrow" pitchFamily="34" charset="0"/>
              </a:rPr>
              <a:t>behavior through </a:t>
            </a:r>
            <a:r>
              <a:rPr lang="en-US" sz="9600" dirty="0">
                <a:latin typeface="Arial Narrow" pitchFamily="34" charset="0"/>
              </a:rPr>
              <a:t>indirect, socially acceptable outlets.</a:t>
            </a:r>
            <a:r>
              <a:rPr lang="en-US" sz="9600" dirty="0" smtClean="0">
                <a:latin typeface="Arial Narrow" pitchFamily="34" charset="0"/>
              </a:rPr>
              <a:t> </a:t>
            </a:r>
          </a:p>
          <a:p>
            <a:pPr lvl="1"/>
            <a:r>
              <a:rPr lang="en-US" sz="9600" b="1" dirty="0" smtClean="0">
                <a:latin typeface="Arial Narrow" pitchFamily="34" charset="0"/>
              </a:rPr>
              <a:t>Regression</a:t>
            </a:r>
            <a:r>
              <a:rPr lang="en-US" sz="9600" dirty="0" smtClean="0">
                <a:latin typeface="Arial Narrow" pitchFamily="34" charset="0"/>
              </a:rPr>
              <a:t>: returning to an earlier stage form of behavior</a:t>
            </a:r>
            <a:r>
              <a:rPr lang="en-US" sz="9600" dirty="0">
                <a:latin typeface="Arial Narrow" pitchFamily="34" charset="0"/>
              </a:rPr>
              <a:t>.</a:t>
            </a:r>
            <a:r>
              <a:rPr lang="en-US" sz="9600" dirty="0" smtClean="0">
                <a:latin typeface="Arial Narrow" pitchFamily="34" charset="0"/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6.2.2. The trait theory of </a:t>
            </a:r>
            <a:r>
              <a:rPr lang="en-US" b="1" dirty="0" smtClean="0"/>
              <a:t>personality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638800"/>
          </a:xfrm>
        </p:spPr>
        <p:txBody>
          <a:bodyPr>
            <a:normAutofit fontScale="40000" lnSpcReduction="20000"/>
          </a:bodyPr>
          <a:lstStyle/>
          <a:p>
            <a:r>
              <a:rPr lang="en-US" sz="7000" dirty="0">
                <a:latin typeface="Arial Narrow" pitchFamily="34" charset="0"/>
              </a:rPr>
              <a:t>Psychologists who take the trait approach see personality as a combination of stable </a:t>
            </a:r>
            <a:r>
              <a:rPr lang="en-US" sz="7000" dirty="0" smtClean="0">
                <a:latin typeface="Arial Narrow" pitchFamily="34" charset="0"/>
              </a:rPr>
              <a:t>internal characteristics </a:t>
            </a:r>
            <a:r>
              <a:rPr lang="en-US" sz="7000" dirty="0">
                <a:latin typeface="Arial Narrow" pitchFamily="34" charset="0"/>
              </a:rPr>
              <a:t>that people display consistently over time and across situations. </a:t>
            </a:r>
            <a:endParaRPr lang="en-US" sz="7000" dirty="0" smtClean="0">
              <a:latin typeface="Arial Narrow" pitchFamily="34" charset="0"/>
            </a:endParaRPr>
          </a:p>
          <a:p>
            <a:r>
              <a:rPr lang="en-US" sz="7000" dirty="0" smtClean="0">
                <a:latin typeface="Arial Narrow" pitchFamily="34" charset="0"/>
              </a:rPr>
              <a:t>Trait theorists seek </a:t>
            </a:r>
            <a:r>
              <a:rPr lang="en-US" sz="7000" dirty="0">
                <a:latin typeface="Arial Narrow" pitchFamily="34" charset="0"/>
              </a:rPr>
              <a:t>to measure the </a:t>
            </a:r>
            <a:r>
              <a:rPr lang="en-US" sz="7000" dirty="0" smtClean="0">
                <a:latin typeface="Arial Narrow" pitchFamily="34" charset="0"/>
              </a:rPr>
              <a:t>relative amount of personality </a:t>
            </a:r>
            <a:r>
              <a:rPr lang="en-US" sz="7000" dirty="0">
                <a:latin typeface="Arial Narrow" pitchFamily="34" charset="0"/>
              </a:rPr>
              <a:t>characteristics that they </a:t>
            </a:r>
            <a:r>
              <a:rPr lang="en-US" sz="7000" dirty="0" smtClean="0">
                <a:latin typeface="Arial Narrow" pitchFamily="34" charset="0"/>
              </a:rPr>
              <a:t>believe are </a:t>
            </a:r>
            <a:r>
              <a:rPr lang="en-US" sz="7000" dirty="0">
                <a:latin typeface="Arial Narrow" pitchFamily="34" charset="0"/>
              </a:rPr>
              <a:t>present in everyone. </a:t>
            </a:r>
            <a:endParaRPr lang="en-US" sz="7000" dirty="0" smtClean="0">
              <a:latin typeface="Arial Narrow" pitchFamily="34" charset="0"/>
            </a:endParaRPr>
          </a:p>
          <a:p>
            <a:r>
              <a:rPr lang="en-US" sz="7000" dirty="0" smtClean="0">
                <a:latin typeface="Arial Narrow" pitchFamily="34" charset="0"/>
              </a:rPr>
              <a:t>The </a:t>
            </a:r>
            <a:r>
              <a:rPr lang="en-US" sz="7000" dirty="0">
                <a:latin typeface="Arial Narrow" pitchFamily="34" charset="0"/>
              </a:rPr>
              <a:t>trait approach to personality makes three main </a:t>
            </a:r>
            <a:r>
              <a:rPr lang="en-US" sz="7000" dirty="0" smtClean="0">
                <a:latin typeface="Arial Narrow" pitchFamily="34" charset="0"/>
              </a:rPr>
              <a:t>assumption:</a:t>
            </a:r>
            <a:r>
              <a:rPr lang="en-US" sz="7000" dirty="0">
                <a:latin typeface="Arial Narrow" pitchFamily="34" charset="0"/>
              </a:rPr>
              <a:t/>
            </a:r>
            <a:br>
              <a:rPr lang="en-US" sz="7000" dirty="0">
                <a:latin typeface="Arial Narrow" pitchFamily="34" charset="0"/>
              </a:rPr>
            </a:br>
            <a:r>
              <a:rPr lang="en-US" sz="7000" dirty="0">
                <a:latin typeface="Arial Narrow" pitchFamily="34" charset="0"/>
              </a:rPr>
              <a:t>1. Personality traits are relatively </a:t>
            </a:r>
            <a:r>
              <a:rPr lang="en-US" sz="7000" dirty="0" smtClean="0">
                <a:latin typeface="Arial Narrow" pitchFamily="34" charset="0"/>
              </a:rPr>
              <a:t>stable</a:t>
            </a:r>
            <a:r>
              <a:rPr lang="en-US" sz="7000" dirty="0">
                <a:latin typeface="Arial Narrow" pitchFamily="34" charset="0"/>
              </a:rPr>
              <a:t> </a:t>
            </a:r>
            <a:r>
              <a:rPr lang="en-US" sz="7000" dirty="0" smtClean="0">
                <a:latin typeface="Arial Narrow" pitchFamily="34" charset="0"/>
              </a:rPr>
              <a:t>&amp; predictable </a:t>
            </a:r>
            <a:r>
              <a:rPr lang="en-US" sz="7000" dirty="0">
                <a:latin typeface="Arial Narrow" pitchFamily="34" charset="0"/>
              </a:rPr>
              <a:t>over time. </a:t>
            </a:r>
            <a:br>
              <a:rPr lang="en-US" sz="7000" dirty="0">
                <a:latin typeface="Arial Narrow" pitchFamily="34" charset="0"/>
              </a:rPr>
            </a:br>
            <a:r>
              <a:rPr lang="en-US" sz="7000" dirty="0">
                <a:latin typeface="Arial Narrow" pitchFamily="34" charset="0"/>
              </a:rPr>
              <a:t>2. Personality traits are relatively stable across situations, and they can explain why </a:t>
            </a:r>
            <a:r>
              <a:rPr lang="en-US" sz="7000" dirty="0" smtClean="0">
                <a:latin typeface="Arial Narrow" pitchFamily="34" charset="0"/>
              </a:rPr>
              <a:t>people act </a:t>
            </a:r>
            <a:r>
              <a:rPr lang="en-US" sz="7000" dirty="0">
                <a:latin typeface="Arial Narrow" pitchFamily="34" charset="0"/>
              </a:rPr>
              <a:t>in predictable </a:t>
            </a:r>
            <a:r>
              <a:rPr lang="en-US" sz="7000" dirty="0" smtClean="0">
                <a:latin typeface="Arial Narrow" pitchFamily="34" charset="0"/>
              </a:rPr>
              <a:t>ways. </a:t>
            </a:r>
            <a:r>
              <a:rPr lang="en-US" sz="7000" dirty="0">
                <a:latin typeface="Arial Narrow" pitchFamily="34" charset="0"/>
              </a:rPr>
              <a:t/>
            </a:r>
            <a:br>
              <a:rPr lang="en-US" sz="7000" dirty="0">
                <a:latin typeface="Arial Narrow" pitchFamily="34" charset="0"/>
              </a:rPr>
            </a:br>
            <a:r>
              <a:rPr lang="en-US" sz="7000" dirty="0">
                <a:latin typeface="Arial Narrow" pitchFamily="34" charset="0"/>
              </a:rPr>
              <a:t>3. People differ in how much of a particular personality trait they possess; no two people </a:t>
            </a:r>
            <a:r>
              <a:rPr lang="en-US" sz="7000" dirty="0" smtClean="0">
                <a:latin typeface="Arial Narrow" pitchFamily="34" charset="0"/>
              </a:rPr>
              <a:t>are exactly </a:t>
            </a:r>
            <a:r>
              <a:rPr lang="en-US" sz="7000" dirty="0">
                <a:latin typeface="Arial Narrow" pitchFamily="34" charset="0"/>
              </a:rPr>
              <a:t>alike on all traits. </a:t>
            </a:r>
            <a:endParaRPr lang="en-US" sz="7000" dirty="0" smtClean="0">
              <a:latin typeface="Arial Narrow" pitchFamily="34" charset="0"/>
            </a:endParaRPr>
          </a:p>
          <a:p>
            <a:r>
              <a:rPr lang="en-US" sz="7000" dirty="0" smtClean="0">
                <a:latin typeface="Arial Narrow" pitchFamily="34" charset="0"/>
              </a:rPr>
              <a:t>The </a:t>
            </a:r>
            <a:r>
              <a:rPr lang="en-US" sz="7000" dirty="0">
                <a:latin typeface="Arial Narrow" pitchFamily="34" charset="0"/>
              </a:rPr>
              <a:t>result is an endless variety of unique personalities.</a:t>
            </a:r>
            <a:r>
              <a:rPr lang="en-US" sz="3300" dirty="0" smtClean="0">
                <a:latin typeface="Arial Narrow" pitchFamily="34" charset="0"/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8674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 Narrow" pitchFamily="34" charset="0"/>
              </a:rPr>
              <a:t>Though the history of the trait theory of personality has come through different stages, </a:t>
            </a:r>
            <a:r>
              <a:rPr lang="en-US" sz="2800" dirty="0" smtClean="0">
                <a:latin typeface="Arial Narrow" pitchFamily="34" charset="0"/>
              </a:rPr>
              <a:t>our attention </a:t>
            </a:r>
            <a:r>
              <a:rPr lang="en-US" sz="2800" dirty="0">
                <a:latin typeface="Arial Narrow" pitchFamily="34" charset="0"/>
              </a:rPr>
              <a:t>here will be paid on the five-factor </a:t>
            </a:r>
            <a:r>
              <a:rPr lang="en-US" sz="2800" dirty="0" smtClean="0">
                <a:latin typeface="Arial Narrow" pitchFamily="34" charset="0"/>
              </a:rPr>
              <a:t>model (OCEAN) </a:t>
            </a:r>
            <a:r>
              <a:rPr lang="en-US" sz="2800" dirty="0">
                <a:latin typeface="Arial Narrow" pitchFamily="34" charset="0"/>
              </a:rPr>
              <a:t>or the Big Five theory. </a:t>
            </a:r>
            <a:endParaRPr lang="en-US" sz="2800" dirty="0" smtClean="0">
              <a:latin typeface="Arial Narrow" pitchFamily="34" charset="0"/>
            </a:endParaRPr>
          </a:p>
          <a:p>
            <a:pPr lvl="1"/>
            <a:r>
              <a:rPr lang="en-US" sz="2400" b="1" dirty="0" smtClean="0">
                <a:latin typeface="Arial Narrow" pitchFamily="34" charset="0"/>
              </a:rPr>
              <a:t>Openness: </a:t>
            </a:r>
            <a:r>
              <a:rPr lang="en-GB" sz="2400" dirty="0">
                <a:latin typeface="Arial Narrow" pitchFamily="34" charset="0"/>
              </a:rPr>
              <a:t>being intelligent, creative, inquisitive, flexible, and broad-minded</a:t>
            </a:r>
            <a:r>
              <a:rPr lang="en-US" sz="2400" dirty="0" smtClean="0">
                <a:latin typeface="Arial Narrow" pitchFamily="34" charset="0"/>
              </a:rPr>
              <a:t>…. </a:t>
            </a:r>
          </a:p>
          <a:p>
            <a:pPr lvl="1"/>
            <a:r>
              <a:rPr lang="en-US" sz="2400" b="1" dirty="0" smtClean="0">
                <a:latin typeface="Arial Narrow" pitchFamily="34" charset="0"/>
              </a:rPr>
              <a:t>Conscientiousness: Being </a:t>
            </a:r>
            <a:r>
              <a:rPr lang="en-US" sz="2400" dirty="0" smtClean="0">
                <a:latin typeface="Arial Narrow" pitchFamily="34" charset="0"/>
              </a:rPr>
              <a:t>competitive, </a:t>
            </a:r>
            <a:r>
              <a:rPr lang="en-GB" sz="2400" dirty="0" smtClean="0">
                <a:latin typeface="Arial Narrow" pitchFamily="34" charset="0"/>
              </a:rPr>
              <a:t>self-disciplined</a:t>
            </a:r>
            <a:r>
              <a:rPr lang="en-GB" sz="2400" dirty="0">
                <a:latin typeface="Arial Narrow" pitchFamily="34" charset="0"/>
              </a:rPr>
              <a:t>, organized, consistent, and </a:t>
            </a:r>
            <a:r>
              <a:rPr lang="en-GB" sz="2400" dirty="0" smtClean="0">
                <a:latin typeface="Arial Narrow" pitchFamily="34" charset="0"/>
              </a:rPr>
              <a:t>deliberative</a:t>
            </a:r>
            <a:r>
              <a:rPr lang="en-US" sz="2400" dirty="0" smtClean="0">
                <a:latin typeface="Arial Narrow" pitchFamily="34" charset="0"/>
              </a:rPr>
              <a:t>... </a:t>
            </a:r>
          </a:p>
          <a:p>
            <a:pPr lvl="1"/>
            <a:r>
              <a:rPr lang="en-US" sz="2400" b="1" dirty="0" smtClean="0">
                <a:latin typeface="Arial Narrow" pitchFamily="34" charset="0"/>
              </a:rPr>
              <a:t>Extraversion: </a:t>
            </a:r>
            <a:r>
              <a:rPr lang="en-GB" sz="2400" dirty="0">
                <a:latin typeface="Arial Narrow" pitchFamily="34" charset="0"/>
              </a:rPr>
              <a:t>being active, conversational, assertive, and seeking </a:t>
            </a:r>
            <a:r>
              <a:rPr lang="en-GB" sz="2400" dirty="0" smtClean="0">
                <a:latin typeface="Arial Narrow" pitchFamily="34" charset="0"/>
              </a:rPr>
              <a:t>inspiration.</a:t>
            </a:r>
            <a:r>
              <a:rPr lang="en-US" sz="2400" dirty="0" smtClean="0">
                <a:latin typeface="Arial Narrow" pitchFamily="34" charset="0"/>
              </a:rPr>
              <a:t>The opposite end of extraversion is introversion. </a:t>
            </a:r>
          </a:p>
          <a:p>
            <a:pPr lvl="1"/>
            <a:r>
              <a:rPr lang="en-US" sz="2400" b="1" dirty="0" smtClean="0">
                <a:latin typeface="Arial Narrow" pitchFamily="34" charset="0"/>
              </a:rPr>
              <a:t>Agreeableness: </a:t>
            </a:r>
            <a:r>
              <a:rPr lang="en-GB" sz="2400" dirty="0">
                <a:latin typeface="Arial Narrow" pitchFamily="34" charset="0"/>
              </a:rPr>
              <a:t>being considerate, good-natured, helpful, tolerant, and sympathetic rather than </a:t>
            </a:r>
            <a:r>
              <a:rPr lang="en-GB" sz="2400" dirty="0" smtClean="0">
                <a:latin typeface="Arial Narrow" pitchFamily="34" charset="0"/>
              </a:rPr>
              <a:t>antagonistic…</a:t>
            </a:r>
            <a:endParaRPr lang="en-US" sz="2400" dirty="0" smtClean="0">
              <a:latin typeface="Arial Narrow" pitchFamily="34" charset="0"/>
            </a:endParaRPr>
          </a:p>
          <a:p>
            <a:pPr lvl="1"/>
            <a:r>
              <a:rPr lang="en-US" sz="2400" b="1" dirty="0" smtClean="0">
                <a:latin typeface="Arial Narrow" pitchFamily="34" charset="0"/>
              </a:rPr>
              <a:t>Neuroticism: </a:t>
            </a:r>
            <a:r>
              <a:rPr lang="en-GB" sz="2400" dirty="0">
                <a:latin typeface="Arial Narrow" pitchFamily="34" charset="0"/>
              </a:rPr>
              <a:t>easily experiencing negative and unpleasant emotions, such as fear, anxiety, distrust, unhappiness, and </a:t>
            </a:r>
            <a:r>
              <a:rPr lang="en-GB" sz="2400" dirty="0" smtClean="0">
                <a:latin typeface="Arial Narrow" pitchFamily="34" charset="0"/>
              </a:rPr>
              <a:t>insecurity…</a:t>
            </a:r>
            <a:r>
              <a:rPr lang="en-GB" sz="2200" dirty="0" smtClean="0">
                <a:latin typeface="Arial Narrow" pitchFamily="34" charset="0"/>
              </a:rPr>
              <a:t> </a:t>
            </a:r>
            <a:r>
              <a:rPr lang="en-US" sz="2400" dirty="0" smtClean="0">
                <a:latin typeface="Arial Narrow" pitchFamily="34" charset="0"/>
              </a:rPr>
              <a:t/>
            </a:r>
            <a:br>
              <a:rPr lang="en-US" sz="2400" dirty="0" smtClean="0">
                <a:latin typeface="Arial Narrow" pitchFamily="34" charset="0"/>
              </a:rPr>
            </a:br>
            <a:endParaRPr lang="en-US" sz="2400" dirty="0">
              <a:latin typeface="Arial Narrow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6.2.3. Humanistic theory of </a:t>
            </a:r>
            <a:r>
              <a:rPr lang="en-US" sz="4000" b="1" dirty="0" smtClean="0"/>
              <a:t>personality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715000"/>
          </a:xfrm>
        </p:spPr>
        <p:txBody>
          <a:bodyPr>
            <a:normAutofit/>
          </a:bodyPr>
          <a:lstStyle/>
          <a:p>
            <a:r>
              <a:rPr lang="en-US" dirty="0">
                <a:latin typeface="Arial Narrow" pitchFamily="34" charset="0"/>
              </a:rPr>
              <a:t>Humanistic approaches to personality emphasize people‘s inherent goodness and </a:t>
            </a:r>
            <a:r>
              <a:rPr lang="en-US" dirty="0" smtClean="0">
                <a:latin typeface="Arial Narrow" pitchFamily="34" charset="0"/>
              </a:rPr>
              <a:t>their tendency </a:t>
            </a:r>
            <a:r>
              <a:rPr lang="en-US" dirty="0">
                <a:latin typeface="Arial Narrow" pitchFamily="34" charset="0"/>
              </a:rPr>
              <a:t>to move toward higher levels of functioning instead of seeing people as </a:t>
            </a:r>
            <a:r>
              <a:rPr lang="en-US" dirty="0" smtClean="0">
                <a:latin typeface="Arial Narrow" pitchFamily="34" charset="0"/>
              </a:rPr>
              <a:t>controlled by </a:t>
            </a:r>
            <a:r>
              <a:rPr lang="en-US" dirty="0">
                <a:latin typeface="Arial Narrow" pitchFamily="34" charset="0"/>
              </a:rPr>
              <a:t>the unconscious, unseen forces (psychodynamic approaches), and a set of stable </a:t>
            </a:r>
            <a:r>
              <a:rPr lang="en-US" dirty="0" smtClean="0">
                <a:latin typeface="Arial Narrow" pitchFamily="34" charset="0"/>
              </a:rPr>
              <a:t>traits (</a:t>
            </a:r>
            <a:r>
              <a:rPr lang="en-US" dirty="0">
                <a:latin typeface="Arial Narrow" pitchFamily="34" charset="0"/>
              </a:rPr>
              <a:t>trait approaches). </a:t>
            </a:r>
            <a:endParaRPr lang="en-US" dirty="0" smtClean="0">
              <a:latin typeface="Arial Narrow" pitchFamily="34" charset="0"/>
            </a:endParaRPr>
          </a:p>
          <a:p>
            <a:r>
              <a:rPr lang="en-US" dirty="0" smtClean="0">
                <a:latin typeface="Arial Narrow" pitchFamily="34" charset="0"/>
              </a:rPr>
              <a:t>It </a:t>
            </a:r>
            <a:r>
              <a:rPr lang="en-US" dirty="0">
                <a:latin typeface="Arial Narrow" pitchFamily="34" charset="0"/>
              </a:rPr>
              <a:t>is this conscious, self-motivated ability to change and improve, </a:t>
            </a:r>
            <a:r>
              <a:rPr lang="en-US" dirty="0" smtClean="0">
                <a:latin typeface="Arial Narrow" pitchFamily="34" charset="0"/>
              </a:rPr>
              <a:t>along with </a:t>
            </a:r>
            <a:r>
              <a:rPr lang="en-US" dirty="0">
                <a:latin typeface="Arial Narrow" pitchFamily="34" charset="0"/>
              </a:rPr>
              <a:t>people‘s unique creative impulses, that humanistic theorists argue make up the core </a:t>
            </a:r>
            <a:r>
              <a:rPr lang="en-US" dirty="0" smtClean="0">
                <a:latin typeface="Arial Narrow" pitchFamily="34" charset="0"/>
              </a:rPr>
              <a:t>of personality</a:t>
            </a:r>
            <a:r>
              <a:rPr lang="en-US" dirty="0">
                <a:latin typeface="Arial Narrow" pitchFamily="34" charset="0"/>
              </a:rPr>
              <a:t>.</a:t>
            </a:r>
            <a:r>
              <a:rPr lang="en-US" dirty="0" smtClean="0">
                <a:latin typeface="Arial Narrow" pitchFamily="34" charset="0"/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5635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15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dirty="0">
                <a:latin typeface="Arial Narrow" pitchFamily="34" charset="0"/>
              </a:rPr>
              <a:t>Carl Rogers and </a:t>
            </a:r>
            <a:r>
              <a:rPr lang="en-US" sz="2800" b="1" dirty="0" smtClean="0">
                <a:latin typeface="Arial Narrow" pitchFamily="34" charset="0"/>
              </a:rPr>
              <a:t>Self-Concept</a:t>
            </a:r>
            <a:endParaRPr lang="en-US" sz="2800" b="1" dirty="0">
              <a:latin typeface="Arial Narrow" pitchFamily="34" charset="0"/>
            </a:endParaRPr>
          </a:p>
          <a:p>
            <a:r>
              <a:rPr lang="en-US" sz="2800" dirty="0" smtClean="0">
                <a:latin typeface="Arial Narrow" pitchFamily="34" charset="0"/>
              </a:rPr>
              <a:t>Like </a:t>
            </a:r>
            <a:r>
              <a:rPr lang="en-US" sz="2800" dirty="0">
                <a:latin typeface="Arial Narrow" pitchFamily="34" charset="0"/>
              </a:rPr>
              <a:t>Maslow, Rogers believed that human beings are always </a:t>
            </a:r>
            <a:r>
              <a:rPr lang="en-US" sz="2800" dirty="0">
                <a:solidFill>
                  <a:srgbClr val="FF0000"/>
                </a:solidFill>
                <a:latin typeface="Arial Narrow" pitchFamily="34" charset="0"/>
              </a:rPr>
              <a:t>striving to fulfill their </a:t>
            </a:r>
            <a:r>
              <a:rPr lang="en-US" sz="2800" dirty="0" smtClean="0">
                <a:solidFill>
                  <a:srgbClr val="FF0000"/>
                </a:solidFill>
                <a:latin typeface="Arial Narrow" pitchFamily="34" charset="0"/>
              </a:rPr>
              <a:t>innate capabilities </a:t>
            </a:r>
            <a:r>
              <a:rPr lang="en-US" sz="2800" dirty="0">
                <a:latin typeface="Arial Narrow" pitchFamily="34" charset="0"/>
              </a:rPr>
              <a:t>and to become </a:t>
            </a:r>
            <a:r>
              <a:rPr lang="en-US" sz="2800" dirty="0" smtClean="0">
                <a:latin typeface="Arial Narrow" pitchFamily="34" charset="0"/>
              </a:rPr>
              <a:t>what their </a:t>
            </a:r>
            <a:r>
              <a:rPr lang="en-US" sz="2800" dirty="0">
                <a:latin typeface="Arial Narrow" pitchFamily="34" charset="0"/>
              </a:rPr>
              <a:t>genetic potential will </a:t>
            </a:r>
            <a:r>
              <a:rPr lang="en-US" sz="2800" dirty="0" smtClean="0">
                <a:latin typeface="Arial Narrow" pitchFamily="34" charset="0"/>
              </a:rPr>
              <a:t>allow them </a:t>
            </a:r>
            <a:r>
              <a:rPr lang="en-US" sz="2800" dirty="0">
                <a:latin typeface="Arial Narrow" pitchFamily="34" charset="0"/>
              </a:rPr>
              <a:t>to become. This striving for fulfillment is called </a:t>
            </a:r>
            <a:r>
              <a:rPr lang="en-US" sz="2800" b="1" dirty="0">
                <a:solidFill>
                  <a:srgbClr val="FF0000"/>
                </a:solidFill>
                <a:latin typeface="Arial Narrow" pitchFamily="34" charset="0"/>
              </a:rPr>
              <a:t>self-actualizing tendency. </a:t>
            </a:r>
            <a:endParaRPr lang="en-US" sz="2800" b="1" dirty="0" smtClean="0">
              <a:solidFill>
                <a:srgbClr val="FF0000"/>
              </a:solidFill>
              <a:latin typeface="Arial Narrow" pitchFamily="34" charset="0"/>
            </a:endParaRPr>
          </a:p>
          <a:p>
            <a:r>
              <a:rPr lang="en-US" sz="2800" dirty="0" smtClean="0">
                <a:latin typeface="Arial Narrow" pitchFamily="34" charset="0"/>
              </a:rPr>
              <a:t>An important </a:t>
            </a:r>
            <a:r>
              <a:rPr lang="en-US" sz="2800" dirty="0">
                <a:latin typeface="Arial Narrow" pitchFamily="34" charset="0"/>
              </a:rPr>
              <a:t>tool in human self-actualization is the development of an </a:t>
            </a:r>
            <a:r>
              <a:rPr lang="en-US" sz="2800" dirty="0">
                <a:solidFill>
                  <a:srgbClr val="FF0000"/>
                </a:solidFill>
                <a:latin typeface="Arial Narrow" pitchFamily="34" charset="0"/>
              </a:rPr>
              <a:t>image of oneself or </a:t>
            </a:r>
            <a:r>
              <a:rPr lang="en-US" sz="2800" dirty="0" smtClean="0">
                <a:solidFill>
                  <a:srgbClr val="FF0000"/>
                </a:solidFill>
                <a:latin typeface="Arial Narrow" pitchFamily="34" charset="0"/>
              </a:rPr>
              <a:t>the </a:t>
            </a:r>
            <a:r>
              <a:rPr lang="en-US" sz="2800" b="1" dirty="0" smtClean="0">
                <a:solidFill>
                  <a:srgbClr val="FF0000"/>
                </a:solidFill>
                <a:latin typeface="Arial Narrow" pitchFamily="34" charset="0"/>
              </a:rPr>
              <a:t>self-concept</a:t>
            </a:r>
            <a:r>
              <a:rPr lang="en-US" sz="2800" dirty="0">
                <a:latin typeface="Arial Narrow" pitchFamily="34" charset="0"/>
              </a:rPr>
              <a:t>. The self-concept is based on what people are told by others and how the </a:t>
            </a:r>
            <a:r>
              <a:rPr lang="en-US" sz="2800" dirty="0" smtClean="0">
                <a:solidFill>
                  <a:srgbClr val="FF0000"/>
                </a:solidFill>
                <a:latin typeface="Arial Narrow" pitchFamily="34" charset="0"/>
              </a:rPr>
              <a:t>sense of </a:t>
            </a:r>
            <a:r>
              <a:rPr lang="en-US" sz="2800" b="1" dirty="0">
                <a:solidFill>
                  <a:srgbClr val="FF0000"/>
                </a:solidFill>
                <a:latin typeface="Arial Narrow" pitchFamily="34" charset="0"/>
              </a:rPr>
              <a:t>self </a:t>
            </a:r>
            <a:r>
              <a:rPr lang="en-US" sz="2800" dirty="0">
                <a:latin typeface="Arial Narrow" pitchFamily="34" charset="0"/>
              </a:rPr>
              <a:t>is reflected in the words and actions of important people in one‘s life, such as parents</a:t>
            </a:r>
            <a:r>
              <a:rPr lang="en-US" sz="2800" dirty="0" smtClean="0">
                <a:latin typeface="Arial Narrow" pitchFamily="34" charset="0"/>
              </a:rPr>
              <a:t>, siblings</a:t>
            </a:r>
            <a:r>
              <a:rPr lang="en-US" sz="2800" dirty="0">
                <a:latin typeface="Arial Narrow" pitchFamily="34" charset="0"/>
              </a:rPr>
              <a:t>, coworkers, friends, and teachers.</a:t>
            </a:r>
            <a:r>
              <a:rPr lang="en-US" sz="1800" dirty="0"/>
              <a:t/>
            </a:r>
            <a:br>
              <a:rPr lang="en-US" sz="1800" dirty="0"/>
            </a:b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5626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>
                <a:latin typeface="Arial Narrow" pitchFamily="34" charset="0"/>
              </a:rPr>
              <a:t>Real and Ideal Self</a:t>
            </a:r>
          </a:p>
          <a:p>
            <a:r>
              <a:rPr lang="en-US" dirty="0" smtClean="0">
                <a:latin typeface="Arial Narrow" pitchFamily="34" charset="0"/>
              </a:rPr>
              <a:t>Two important components of the self-concept are the </a:t>
            </a:r>
            <a:r>
              <a:rPr lang="en-US" b="1" dirty="0" smtClean="0">
                <a:latin typeface="Arial Narrow" pitchFamily="34" charset="0"/>
              </a:rPr>
              <a:t>real self </a:t>
            </a:r>
            <a:r>
              <a:rPr lang="en-US" dirty="0" smtClean="0">
                <a:latin typeface="Arial Narrow" pitchFamily="34" charset="0"/>
              </a:rPr>
              <a:t>(one‘s </a:t>
            </a:r>
            <a:r>
              <a:rPr lang="en-US" dirty="0" smtClean="0">
                <a:solidFill>
                  <a:srgbClr val="FF0000"/>
                </a:solidFill>
                <a:latin typeface="Arial Narrow" pitchFamily="34" charset="0"/>
              </a:rPr>
              <a:t>actual</a:t>
            </a:r>
            <a:r>
              <a:rPr lang="en-US" dirty="0" smtClean="0">
                <a:latin typeface="Arial Narrow" pitchFamily="34" charset="0"/>
              </a:rPr>
              <a:t> of characteristics, traits, and abilities that form the basis of the striving for self-actualization) and the </a:t>
            </a:r>
            <a:r>
              <a:rPr lang="en-US" b="1" dirty="0" smtClean="0">
                <a:latin typeface="Arial Narrow" pitchFamily="34" charset="0"/>
              </a:rPr>
              <a:t>ideal self </a:t>
            </a:r>
            <a:r>
              <a:rPr lang="en-US" dirty="0" smtClean="0">
                <a:latin typeface="Arial Narrow" pitchFamily="34" charset="0"/>
              </a:rPr>
              <a:t>(the perception of what one should be or would </a:t>
            </a:r>
            <a:r>
              <a:rPr lang="en-US" dirty="0" smtClean="0">
                <a:solidFill>
                  <a:srgbClr val="FF0000"/>
                </a:solidFill>
                <a:latin typeface="Arial Narrow" pitchFamily="34" charset="0"/>
              </a:rPr>
              <a:t>like to be</a:t>
            </a:r>
            <a:r>
              <a:rPr lang="en-US" dirty="0" smtClean="0">
                <a:latin typeface="Arial Narrow" pitchFamily="34" charset="0"/>
              </a:rPr>
              <a:t>). </a:t>
            </a:r>
          </a:p>
          <a:p>
            <a:r>
              <a:rPr lang="en-US" dirty="0" smtClean="0">
                <a:latin typeface="Arial Narrow" pitchFamily="34" charset="0"/>
              </a:rPr>
              <a:t>The ideal self primarily comes from those important, significant others in one‘s life, most often the parents. </a:t>
            </a:r>
          </a:p>
          <a:p>
            <a:r>
              <a:rPr lang="en-US" dirty="0" smtClean="0">
                <a:latin typeface="Arial Narrow" pitchFamily="34" charset="0"/>
              </a:rPr>
              <a:t>Rogers believed that when the real self and the ideal self are very close or similar to each other, </a:t>
            </a:r>
            <a:r>
              <a:rPr lang="en-US" dirty="0" smtClean="0">
                <a:solidFill>
                  <a:srgbClr val="FF0000"/>
                </a:solidFill>
                <a:latin typeface="Arial Narrow" pitchFamily="34" charset="0"/>
              </a:rPr>
              <a:t>people feel competent and capable</a:t>
            </a:r>
            <a:r>
              <a:rPr lang="en-US" dirty="0" smtClean="0">
                <a:latin typeface="Arial Narrow" pitchFamily="34" charset="0"/>
              </a:rPr>
              <a:t>, but when there is a mismatch between the real and ideal selves, </a:t>
            </a:r>
            <a:r>
              <a:rPr lang="en-US" dirty="0" smtClean="0">
                <a:solidFill>
                  <a:srgbClr val="FF0000"/>
                </a:solidFill>
                <a:latin typeface="Arial Narrow" pitchFamily="34" charset="0"/>
              </a:rPr>
              <a:t>anxiety and neurotic behavior</a:t>
            </a:r>
            <a:r>
              <a:rPr lang="en-US" dirty="0" smtClean="0">
                <a:latin typeface="Arial Narrow" pitchFamily="34" charset="0"/>
              </a:rPr>
              <a:t> can be the result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sz="12800" b="1" dirty="0">
                <a:latin typeface="Arial Narrow" pitchFamily="34" charset="0"/>
              </a:rPr>
              <a:t>Conditional and Unconditional Positive </a:t>
            </a:r>
            <a:r>
              <a:rPr lang="en-US" sz="12800" b="1" dirty="0" smtClean="0">
                <a:latin typeface="Arial Narrow" pitchFamily="34" charset="0"/>
              </a:rPr>
              <a:t>Regard</a:t>
            </a:r>
          </a:p>
          <a:p>
            <a:r>
              <a:rPr lang="en-US" sz="12800" dirty="0" smtClean="0">
                <a:latin typeface="Arial Narrow" pitchFamily="34" charset="0"/>
              </a:rPr>
              <a:t>Rogers </a:t>
            </a:r>
            <a:r>
              <a:rPr lang="en-US" sz="12800" dirty="0">
                <a:latin typeface="Arial Narrow" pitchFamily="34" charset="0"/>
              </a:rPr>
              <a:t>defined </a:t>
            </a:r>
            <a:r>
              <a:rPr lang="en-US" sz="12800" b="1" dirty="0">
                <a:latin typeface="Arial Narrow" pitchFamily="34" charset="0"/>
              </a:rPr>
              <a:t>positive regard </a:t>
            </a:r>
            <a:r>
              <a:rPr lang="en-US" sz="12800" dirty="0" smtClean="0">
                <a:latin typeface="Arial Narrow" pitchFamily="34" charset="0"/>
              </a:rPr>
              <a:t>as warmth</a:t>
            </a:r>
            <a:r>
              <a:rPr lang="en-US" sz="12800" dirty="0">
                <a:latin typeface="Arial Narrow" pitchFamily="34" charset="0"/>
              </a:rPr>
              <a:t>, affection, </a:t>
            </a:r>
            <a:r>
              <a:rPr lang="en-US" sz="12800" dirty="0">
                <a:solidFill>
                  <a:srgbClr val="FF0000"/>
                </a:solidFill>
                <a:latin typeface="Arial Narrow" pitchFamily="34" charset="0"/>
              </a:rPr>
              <a:t>love, and respect that comes from the significant others </a:t>
            </a:r>
            <a:r>
              <a:rPr lang="en-US" sz="12800" dirty="0">
                <a:latin typeface="Arial Narrow" pitchFamily="34" charset="0"/>
              </a:rPr>
              <a:t>(parents, </a:t>
            </a:r>
            <a:r>
              <a:rPr lang="en-US" sz="12800" dirty="0" smtClean="0">
                <a:latin typeface="Arial Narrow" pitchFamily="34" charset="0"/>
              </a:rPr>
              <a:t>friends etc.) </a:t>
            </a:r>
            <a:r>
              <a:rPr lang="en-US" sz="12800" dirty="0">
                <a:latin typeface="Arial Narrow" pitchFamily="34" charset="0"/>
              </a:rPr>
              <a:t>in </a:t>
            </a:r>
            <a:r>
              <a:rPr lang="en-US" sz="12800" dirty="0" smtClean="0">
                <a:latin typeface="Arial Narrow" pitchFamily="34" charset="0"/>
              </a:rPr>
              <a:t>people’s </a:t>
            </a:r>
            <a:r>
              <a:rPr lang="en-US" sz="12800" dirty="0">
                <a:latin typeface="Arial Narrow" pitchFamily="34" charset="0"/>
              </a:rPr>
              <a:t>experience. </a:t>
            </a:r>
            <a:endParaRPr lang="en-US" sz="12800" dirty="0" smtClean="0">
              <a:latin typeface="Arial Narrow" pitchFamily="34" charset="0"/>
            </a:endParaRPr>
          </a:p>
          <a:p>
            <a:r>
              <a:rPr lang="en-US" sz="12800" dirty="0" smtClean="0">
                <a:latin typeface="Arial Narrow" pitchFamily="34" charset="0"/>
              </a:rPr>
              <a:t>Positive regard is </a:t>
            </a:r>
            <a:r>
              <a:rPr lang="en-US" sz="12800" dirty="0">
                <a:latin typeface="Arial Narrow" pitchFamily="34" charset="0"/>
              </a:rPr>
              <a:t>vital to people‘s ability </a:t>
            </a:r>
            <a:r>
              <a:rPr lang="en-US" sz="12800" dirty="0" smtClean="0">
                <a:latin typeface="Arial Narrow" pitchFamily="34" charset="0"/>
              </a:rPr>
              <a:t>to cope </a:t>
            </a:r>
            <a:r>
              <a:rPr lang="en-US" sz="12800" dirty="0">
                <a:latin typeface="Arial Narrow" pitchFamily="34" charset="0"/>
              </a:rPr>
              <a:t>with stress and to strive to achieve self-actualization. </a:t>
            </a:r>
            <a:endParaRPr lang="en-US" sz="12800" dirty="0" smtClean="0">
              <a:latin typeface="Arial Narrow" pitchFamily="34" charset="0"/>
            </a:endParaRPr>
          </a:p>
          <a:p>
            <a:r>
              <a:rPr lang="en-US" sz="12800" dirty="0" smtClean="0">
                <a:latin typeface="Arial Narrow" pitchFamily="34" charset="0"/>
              </a:rPr>
              <a:t>Rogers </a:t>
            </a:r>
            <a:r>
              <a:rPr lang="en-US" sz="12800" dirty="0">
                <a:latin typeface="Arial Narrow" pitchFamily="34" charset="0"/>
              </a:rPr>
              <a:t>believed </a:t>
            </a:r>
            <a:r>
              <a:rPr lang="en-US" sz="12800" dirty="0" smtClean="0">
                <a:latin typeface="Arial Narrow" pitchFamily="34" charset="0"/>
              </a:rPr>
              <a:t>that unconditioned </a:t>
            </a:r>
            <a:r>
              <a:rPr lang="en-US" sz="12800" dirty="0">
                <a:latin typeface="Arial Narrow" pitchFamily="34" charset="0"/>
              </a:rPr>
              <a:t>positive regard, or love, affection and respect with no strings attached, </a:t>
            </a:r>
            <a:r>
              <a:rPr lang="en-US" sz="12800" dirty="0" smtClean="0">
                <a:latin typeface="Arial Narrow" pitchFamily="34" charset="0"/>
              </a:rPr>
              <a:t>is necessary </a:t>
            </a:r>
            <a:r>
              <a:rPr lang="en-US" sz="12800" dirty="0">
                <a:latin typeface="Arial Narrow" pitchFamily="34" charset="0"/>
              </a:rPr>
              <a:t>for people to be able to explore fully all that they can achieve and become</a:t>
            </a:r>
            <a:r>
              <a:rPr lang="en-US" sz="12800" dirty="0" smtClean="0">
                <a:latin typeface="Arial Narrow" pitchFamily="34" charset="0"/>
              </a:rPr>
              <a:t>. </a:t>
            </a:r>
          </a:p>
          <a:p>
            <a:r>
              <a:rPr lang="en-US" sz="12800" dirty="0" smtClean="0">
                <a:latin typeface="Arial Narrow" pitchFamily="34" charset="0"/>
              </a:rPr>
              <a:t>Unfortunately</a:t>
            </a:r>
            <a:r>
              <a:rPr lang="en-US" sz="12800" dirty="0">
                <a:latin typeface="Arial Narrow" pitchFamily="34" charset="0"/>
              </a:rPr>
              <a:t>, some parents, spouses, and friends give conditional positive regard</a:t>
            </a:r>
            <a:r>
              <a:rPr lang="en-US" sz="12800" b="1" dirty="0">
                <a:latin typeface="Arial Narrow" pitchFamily="34" charset="0"/>
              </a:rPr>
              <a:t>, </a:t>
            </a:r>
            <a:r>
              <a:rPr lang="en-US" sz="12800" dirty="0">
                <a:latin typeface="Arial Narrow" pitchFamily="34" charset="0"/>
              </a:rPr>
              <a:t>which </a:t>
            </a:r>
            <a:r>
              <a:rPr lang="en-US" sz="12800" dirty="0" smtClean="0">
                <a:latin typeface="Arial Narrow" pitchFamily="34" charset="0"/>
              </a:rPr>
              <a:t>is love</a:t>
            </a:r>
            <a:r>
              <a:rPr lang="en-US" sz="12800" dirty="0">
                <a:latin typeface="Arial Narrow" pitchFamily="34" charset="0"/>
              </a:rPr>
              <a:t>, affection, respect and warmth that depend, or seem to depend, on doing what </a:t>
            </a:r>
            <a:r>
              <a:rPr lang="en-US" sz="12800" dirty="0" smtClean="0">
                <a:latin typeface="Arial Narrow" pitchFamily="34" charset="0"/>
              </a:rPr>
              <a:t>those people want.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5635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562600"/>
          </a:xfrm>
        </p:spPr>
        <p:txBody>
          <a:bodyPr>
            <a:normAutofit fontScale="25000" lnSpcReduction="20000"/>
          </a:bodyPr>
          <a:lstStyle/>
          <a:p>
            <a:r>
              <a:rPr lang="en-US" sz="11200" dirty="0">
                <a:latin typeface="Arial Narrow" pitchFamily="34" charset="0"/>
              </a:rPr>
              <a:t>Although </a:t>
            </a:r>
            <a:r>
              <a:rPr lang="en-US" sz="11200" dirty="0" smtClean="0">
                <a:latin typeface="Arial Narrow" pitchFamily="34" charset="0"/>
              </a:rPr>
              <a:t>“self-actualization” </a:t>
            </a:r>
            <a:r>
              <a:rPr lang="en-US" sz="11200" dirty="0">
                <a:latin typeface="Arial Narrow" pitchFamily="34" charset="0"/>
              </a:rPr>
              <a:t>and </a:t>
            </a:r>
            <a:r>
              <a:rPr lang="en-US" sz="11200" dirty="0" smtClean="0">
                <a:latin typeface="Arial Narrow" pitchFamily="34" charset="0"/>
              </a:rPr>
              <a:t>“to </a:t>
            </a:r>
            <a:r>
              <a:rPr lang="en-US" sz="11200" dirty="0">
                <a:latin typeface="Arial Narrow" pitchFamily="34" charset="0"/>
              </a:rPr>
              <a:t>be fully </a:t>
            </a:r>
            <a:r>
              <a:rPr lang="en-US" sz="11200" dirty="0" smtClean="0">
                <a:latin typeface="Arial Narrow" pitchFamily="34" charset="0"/>
              </a:rPr>
              <a:t>functioning” </a:t>
            </a:r>
            <a:r>
              <a:rPr lang="en-US" sz="11200" dirty="0">
                <a:latin typeface="Arial Narrow" pitchFamily="34" charset="0"/>
              </a:rPr>
              <a:t>are highly related concepts, there </a:t>
            </a:r>
            <a:r>
              <a:rPr lang="en-US" sz="11200" dirty="0" smtClean="0">
                <a:latin typeface="Arial Narrow" pitchFamily="34" charset="0"/>
              </a:rPr>
              <a:t>are some </a:t>
            </a:r>
            <a:r>
              <a:rPr lang="en-US" sz="11200" dirty="0">
                <a:latin typeface="Arial Narrow" pitchFamily="34" charset="0"/>
              </a:rPr>
              <a:t>subtle differences. </a:t>
            </a:r>
            <a:endParaRPr lang="en-US" sz="11200" dirty="0" smtClean="0">
              <a:latin typeface="Arial Narrow" pitchFamily="34" charset="0"/>
            </a:endParaRPr>
          </a:p>
          <a:p>
            <a:r>
              <a:rPr lang="en-US" sz="11200" dirty="0" smtClean="0">
                <a:latin typeface="Arial Narrow" pitchFamily="34" charset="0"/>
              </a:rPr>
              <a:t>Maslow’s </a:t>
            </a:r>
            <a:r>
              <a:rPr lang="en-US" sz="11200" dirty="0" smtClean="0">
                <a:solidFill>
                  <a:srgbClr val="FF0000"/>
                </a:solidFill>
                <a:latin typeface="Arial Narrow" pitchFamily="34" charset="0"/>
              </a:rPr>
              <a:t>self-actualization</a:t>
            </a:r>
            <a:r>
              <a:rPr lang="en-US" sz="11200" dirty="0" smtClean="0">
                <a:latin typeface="Arial Narrow" pitchFamily="34" charset="0"/>
              </a:rPr>
              <a:t> </a:t>
            </a:r>
            <a:r>
              <a:rPr lang="en-US" sz="11200" dirty="0">
                <a:latin typeface="Arial Narrow" pitchFamily="34" charset="0"/>
              </a:rPr>
              <a:t>is a goal that people are always striving to </a:t>
            </a:r>
            <a:r>
              <a:rPr lang="en-US" sz="11200" dirty="0" smtClean="0">
                <a:latin typeface="Arial Narrow" pitchFamily="34" charset="0"/>
              </a:rPr>
              <a:t>reach. </a:t>
            </a:r>
          </a:p>
          <a:p>
            <a:r>
              <a:rPr lang="en-US" sz="11200" dirty="0" smtClean="0">
                <a:latin typeface="Arial Narrow" pitchFamily="34" charset="0"/>
              </a:rPr>
              <a:t>In </a:t>
            </a:r>
            <a:r>
              <a:rPr lang="en-US" sz="11200" dirty="0">
                <a:latin typeface="Arial Narrow" pitchFamily="34" charset="0"/>
              </a:rPr>
              <a:t>Rogers's view, </a:t>
            </a:r>
            <a:r>
              <a:rPr lang="en-US" sz="11200" dirty="0">
                <a:solidFill>
                  <a:srgbClr val="FF0000"/>
                </a:solidFill>
                <a:latin typeface="Arial Narrow" pitchFamily="34" charset="0"/>
              </a:rPr>
              <a:t>only a person who is fully functioning </a:t>
            </a:r>
            <a:r>
              <a:rPr lang="en-US" sz="11200" dirty="0" smtClean="0">
                <a:solidFill>
                  <a:srgbClr val="FF0000"/>
                </a:solidFill>
                <a:latin typeface="Arial Narrow" pitchFamily="34" charset="0"/>
              </a:rPr>
              <a:t>is capable </a:t>
            </a:r>
            <a:r>
              <a:rPr lang="en-US" sz="11200" dirty="0">
                <a:latin typeface="Arial Narrow" pitchFamily="34" charset="0"/>
              </a:rPr>
              <a:t>of reaching the goal of self-actualization. To be fully functioning is a necessary </a:t>
            </a:r>
            <a:r>
              <a:rPr lang="en-US" sz="11200" dirty="0" smtClean="0">
                <a:latin typeface="Arial Narrow" pitchFamily="34" charset="0"/>
              </a:rPr>
              <a:t>step in </a:t>
            </a:r>
            <a:r>
              <a:rPr lang="en-US" sz="11200" dirty="0">
                <a:latin typeface="Arial Narrow" pitchFamily="34" charset="0"/>
              </a:rPr>
              <a:t>the process of self-actualization. </a:t>
            </a:r>
            <a:endParaRPr lang="en-US" sz="11200" dirty="0" smtClean="0">
              <a:latin typeface="Arial Narrow" pitchFamily="34" charset="0"/>
            </a:endParaRPr>
          </a:p>
          <a:p>
            <a:r>
              <a:rPr lang="en-US" sz="11200" dirty="0" smtClean="0">
                <a:latin typeface="Arial Narrow" pitchFamily="34" charset="0"/>
              </a:rPr>
              <a:t>Maslow </a:t>
            </a:r>
            <a:r>
              <a:rPr lang="en-US" sz="11200" dirty="0">
                <a:latin typeface="Arial Narrow" pitchFamily="34" charset="0"/>
              </a:rPr>
              <a:t>listed several people that he considered </a:t>
            </a:r>
            <a:r>
              <a:rPr lang="en-US" sz="11200" dirty="0" smtClean="0">
                <a:latin typeface="Arial Narrow" pitchFamily="34" charset="0"/>
              </a:rPr>
              <a:t>to be </a:t>
            </a:r>
            <a:r>
              <a:rPr lang="en-US" sz="11200" dirty="0">
                <a:latin typeface="Arial Narrow" pitchFamily="34" charset="0"/>
              </a:rPr>
              <a:t>self-actualized </a:t>
            </a:r>
            <a:r>
              <a:rPr lang="en-US" sz="11200" dirty="0" smtClean="0">
                <a:latin typeface="Arial Narrow" pitchFamily="34" charset="0"/>
              </a:rPr>
              <a:t>people, for example, </a:t>
            </a:r>
            <a:r>
              <a:rPr lang="en-US" sz="11200" dirty="0">
                <a:latin typeface="Arial Narrow" pitchFamily="34" charset="0"/>
              </a:rPr>
              <a:t>Albert Einstein, Mahatma Gandhi, </a:t>
            </a:r>
            <a:r>
              <a:rPr lang="en-US" sz="11200" dirty="0" smtClean="0">
                <a:latin typeface="Arial Narrow" pitchFamily="34" charset="0"/>
              </a:rPr>
              <a:t>Eleanor </a:t>
            </a:r>
            <a:r>
              <a:rPr lang="en-US" sz="11200" dirty="0">
                <a:latin typeface="Arial Narrow" pitchFamily="34" charset="0"/>
              </a:rPr>
              <a:t>Roosevelt</a:t>
            </a:r>
            <a:r>
              <a:rPr lang="en-US" sz="11200" dirty="0" smtClean="0">
                <a:latin typeface="Arial Narrow" pitchFamily="34" charset="0"/>
              </a:rPr>
              <a:t>, </a:t>
            </a:r>
            <a:r>
              <a:rPr lang="en-US" sz="11200" dirty="0">
                <a:latin typeface="Arial Narrow" pitchFamily="34" charset="0"/>
              </a:rPr>
              <a:t>Nelson Mandela </a:t>
            </a:r>
            <a:r>
              <a:rPr lang="en-US" sz="11200" dirty="0" smtClean="0">
                <a:latin typeface="Arial Narrow" pitchFamily="34" charset="0"/>
              </a:rPr>
              <a:t>a to this list. </a:t>
            </a:r>
          </a:p>
          <a:p>
            <a:r>
              <a:rPr lang="en-US" sz="11200" dirty="0" smtClean="0">
                <a:latin typeface="Arial Narrow" pitchFamily="34" charset="0"/>
              </a:rPr>
              <a:t>In </a:t>
            </a:r>
            <a:r>
              <a:rPr lang="en-US" sz="11200" dirty="0">
                <a:latin typeface="Arial Narrow" pitchFamily="34" charset="0"/>
              </a:rPr>
              <a:t>Roger's view, these same people would be seen </a:t>
            </a:r>
            <a:r>
              <a:rPr lang="en-US" sz="11200" dirty="0">
                <a:solidFill>
                  <a:srgbClr val="FF0000"/>
                </a:solidFill>
                <a:latin typeface="Arial Narrow" pitchFamily="34" charset="0"/>
              </a:rPr>
              <a:t>as having trusted </a:t>
            </a:r>
            <a:r>
              <a:rPr lang="en-US" sz="11200" dirty="0" smtClean="0">
                <a:solidFill>
                  <a:srgbClr val="FF0000"/>
                </a:solidFill>
                <a:latin typeface="Arial Narrow" pitchFamily="34" charset="0"/>
              </a:rPr>
              <a:t>their true </a:t>
            </a:r>
            <a:r>
              <a:rPr lang="en-US" sz="11200" dirty="0">
                <a:solidFill>
                  <a:srgbClr val="FF0000"/>
                </a:solidFill>
                <a:latin typeface="Arial Narrow" pitchFamily="34" charset="0"/>
              </a:rPr>
              <a:t>feelings and innermost needs rather than just going along with the crowd</a:t>
            </a:r>
            <a:r>
              <a:rPr lang="en-US" sz="11200" dirty="0">
                <a:latin typeface="Arial Narrow" pitchFamily="34" charset="0"/>
              </a:rPr>
              <a:t>, a </a:t>
            </a:r>
            <a:r>
              <a:rPr lang="en-US" sz="11200" dirty="0" smtClean="0">
                <a:latin typeface="Arial Narrow" pitchFamily="34" charset="0"/>
              </a:rPr>
              <a:t>description that </a:t>
            </a:r>
            <a:r>
              <a:rPr lang="en-US" sz="11200" dirty="0">
                <a:latin typeface="Arial Narrow" pitchFamily="34" charset="0"/>
              </a:rPr>
              <a:t>certainly seems to apply in these three </a:t>
            </a:r>
            <a:r>
              <a:rPr lang="en-US" sz="11200" dirty="0" smtClean="0">
                <a:latin typeface="Arial Narrow" pitchFamily="34" charset="0"/>
              </a:rPr>
              <a:t>cases.</a:t>
            </a:r>
            <a:r>
              <a:rPr lang="en-US" sz="3800" dirty="0" smtClean="0">
                <a:latin typeface="Arial Narrow" pitchFamily="34" charset="0"/>
              </a:rPr>
              <a:t> </a:t>
            </a:r>
            <a:br>
              <a:rPr lang="en-US" sz="3800" dirty="0" smtClean="0">
                <a:latin typeface="Arial Narrow" pitchFamily="34" charset="0"/>
              </a:rPr>
            </a:br>
            <a:endParaRPr lang="en-US" sz="2400" dirty="0">
              <a:latin typeface="Arial Narrow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1036</Words>
  <Application>Microsoft Office PowerPoint</Application>
  <PresentationFormat>On-screen Show (4:3)</PresentationFormat>
  <Paragraphs>79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CHAPTER SIX</vt:lpstr>
      <vt:lpstr>Slide 2</vt:lpstr>
      <vt:lpstr>6.1. Meaning of Personality</vt:lpstr>
      <vt:lpstr>6.2. Theories of Personality</vt:lpstr>
      <vt:lpstr>.</vt:lpstr>
      <vt:lpstr>.</vt:lpstr>
      <vt:lpstr>6.2.2. The trait theory of personality</vt:lpstr>
      <vt:lpstr>.</vt:lpstr>
      <vt:lpstr>6.2.3. Humanistic theory of personality</vt:lpstr>
      <vt:lpstr>Slide 10</vt:lpstr>
      <vt:lpstr>.</vt:lpstr>
      <vt:lpstr>.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SIX</dc:title>
  <dc:creator>User</dc:creator>
  <cp:lastModifiedBy>User</cp:lastModifiedBy>
  <cp:revision>13</cp:revision>
  <dcterms:created xsi:type="dcterms:W3CDTF">2019-12-25T06:09:55Z</dcterms:created>
  <dcterms:modified xsi:type="dcterms:W3CDTF">2019-12-26T07:27:08Z</dcterms:modified>
</cp:coreProperties>
</file>