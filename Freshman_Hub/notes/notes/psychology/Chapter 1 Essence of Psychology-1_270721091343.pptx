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4" r:id="rId6"/>
    <p:sldId id="260" r:id="rId7"/>
    <p:sldId id="261" r:id="rId8"/>
    <p:sldId id="262" r:id="rId9"/>
    <p:sldId id="263" r:id="rId10"/>
    <p:sldId id="265" r:id="rId11"/>
    <p:sldId id="266" r:id="rId12"/>
    <p:sldId id="267" r:id="rId13"/>
    <p:sldId id="268" r:id="rId14"/>
    <p:sldId id="269" r:id="rId15"/>
    <p:sldId id="270" r:id="rId16"/>
    <p:sldId id="271" r:id="rId17"/>
    <p:sldId id="272" r:id="rId18"/>
    <p:sldId id="273" r:id="rId19"/>
    <p:sldId id="275" r:id="rId20"/>
    <p:sldId id="276" r:id="rId21"/>
    <p:sldId id="277" r:id="rId22"/>
    <p:sldId id="280" r:id="rId23"/>
    <p:sldId id="274" r:id="rId24"/>
    <p:sldId id="278" r:id="rId25"/>
    <p:sldId id="279"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588EE6B-F24E-421C-9434-1BB3895BC5DD}" type="datetimeFigureOut">
              <a:rPr lang="en-US" smtClean="0"/>
              <a:pPr/>
              <a:t>10/30/2019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4B4852-0AE1-4A17-9BFF-2C57162654B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88EE6B-F24E-421C-9434-1BB3895BC5DD}" type="datetimeFigureOut">
              <a:rPr lang="en-US" smtClean="0"/>
              <a:pPr/>
              <a:t>10/30/2019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4B4852-0AE1-4A17-9BFF-2C57162654B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588EE6B-F24E-421C-9434-1BB3895BC5DD}" type="datetimeFigureOut">
              <a:rPr lang="en-US" smtClean="0"/>
              <a:pPr/>
              <a:t>10/30/2019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4B4852-0AE1-4A17-9BFF-2C57162654B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588EE6B-F24E-421C-9434-1BB3895BC5DD}" type="datetimeFigureOut">
              <a:rPr lang="en-US" smtClean="0"/>
              <a:pPr/>
              <a:t>10/30/2019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4B4852-0AE1-4A17-9BFF-2C57162654B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588EE6B-F24E-421C-9434-1BB3895BC5DD}" type="datetimeFigureOut">
              <a:rPr lang="en-US" smtClean="0"/>
              <a:pPr/>
              <a:t>10/30/2019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4B4852-0AE1-4A17-9BFF-2C57162654B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588EE6B-F24E-421C-9434-1BB3895BC5DD}" type="datetimeFigureOut">
              <a:rPr lang="en-US" smtClean="0"/>
              <a:pPr/>
              <a:t>10/30/2019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4B4852-0AE1-4A17-9BFF-2C57162654B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88EE6B-F24E-421C-9434-1BB3895BC5DD}" type="datetimeFigureOut">
              <a:rPr lang="en-US" smtClean="0"/>
              <a:pPr/>
              <a:t>10/30/2019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84B4852-0AE1-4A17-9BFF-2C57162654B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588EE6B-F24E-421C-9434-1BB3895BC5DD}" type="datetimeFigureOut">
              <a:rPr lang="en-US" smtClean="0"/>
              <a:pPr/>
              <a:t>10/30/2019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4B4852-0AE1-4A17-9BFF-2C57162654B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588EE6B-F24E-421C-9434-1BB3895BC5DD}" type="datetimeFigureOut">
              <a:rPr lang="en-US" smtClean="0"/>
              <a:pPr/>
              <a:t>10/30/2019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4B4852-0AE1-4A17-9BFF-2C57162654B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88EE6B-F24E-421C-9434-1BB3895BC5DD}" type="datetimeFigureOut">
              <a:rPr lang="en-US" smtClean="0"/>
              <a:pPr/>
              <a:t>10/30/2019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4B4852-0AE1-4A17-9BFF-2C57162654B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88EE6B-F24E-421C-9434-1BB3895BC5DD}" type="datetimeFigureOut">
              <a:rPr lang="en-US" smtClean="0"/>
              <a:pPr/>
              <a:t>10/30/2019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4B4852-0AE1-4A17-9BFF-2C57162654B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88EE6B-F24E-421C-9434-1BB3895BC5DD}" type="datetimeFigureOut">
              <a:rPr lang="en-US" smtClean="0"/>
              <a:pPr/>
              <a:t>10/30/2019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4B4852-0AE1-4A17-9BFF-2C57162654B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130425"/>
            <a:ext cx="8458200" cy="1470025"/>
          </a:xfrm>
        </p:spPr>
        <p:txBody>
          <a:bodyPr/>
          <a:lstStyle/>
          <a:p>
            <a:r>
              <a:rPr lang="en-US" b="1" dirty="0"/>
              <a:t>General Psychology </a:t>
            </a:r>
            <a:r>
              <a:rPr lang="en-US" b="1" dirty="0" smtClean="0"/>
              <a:t>and Life Skills (</a:t>
            </a:r>
            <a:r>
              <a:rPr lang="en-US" b="1" i="1" dirty="0" err="1" smtClean="0"/>
              <a:t>PsyL</a:t>
            </a:r>
            <a:r>
              <a:rPr lang="en-US" b="1" i="1" dirty="0" smtClean="0"/>
              <a:t> </a:t>
            </a:r>
            <a:r>
              <a:rPr lang="en-US" b="1" i="1" dirty="0"/>
              <a:t>1011)</a:t>
            </a:r>
            <a:r>
              <a:rPr lang="en-US" dirty="0" smtClean="0"/>
              <a:t> </a:t>
            </a:r>
            <a:endParaRPr lang="en-US" dirty="0"/>
          </a:p>
        </p:txBody>
      </p:sp>
      <p:sp>
        <p:nvSpPr>
          <p:cNvPr id="3" name="Subtitle 2"/>
          <p:cNvSpPr>
            <a:spLocks noGrp="1"/>
          </p:cNvSpPr>
          <p:nvPr>
            <p:ph type="subTitle" idx="1"/>
          </p:nvPr>
        </p:nvSpPr>
        <p:spPr/>
        <p:txBody>
          <a:bodyPr/>
          <a:lstStyle/>
          <a:p>
            <a:endParaRPr lang="en-US" dirty="0" smtClean="0"/>
          </a:p>
          <a:p>
            <a:endParaRPr lang="en-US" dirty="0"/>
          </a:p>
          <a:p>
            <a:pPr algn="r"/>
            <a:r>
              <a:rPr lang="en-US" dirty="0" smtClean="0">
                <a:solidFill>
                  <a:schemeClr val="tx1"/>
                </a:solidFill>
              </a:rPr>
              <a:t>October, 2019</a:t>
            </a:r>
            <a:endParaRPr lang="en-US"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Chapter One: Essence of Psychology</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1">
              <a:buFont typeface="Wingdings" pitchFamily="2" charset="2"/>
              <a:buChar char="§"/>
            </a:pPr>
            <a:r>
              <a:rPr lang="en-US" dirty="0" smtClean="0">
                <a:latin typeface="Arial Narrow" pitchFamily="34" charset="0"/>
              </a:rPr>
              <a:t>Definition </a:t>
            </a:r>
            <a:r>
              <a:rPr lang="en-US" dirty="0">
                <a:latin typeface="Arial Narrow" pitchFamily="34" charset="0"/>
              </a:rPr>
              <a:t>of Basic Concepts </a:t>
            </a:r>
          </a:p>
          <a:p>
            <a:pPr lvl="1">
              <a:buFont typeface="Wingdings" pitchFamily="2" charset="2"/>
              <a:buChar char="§"/>
            </a:pPr>
            <a:r>
              <a:rPr lang="en-US" dirty="0">
                <a:latin typeface="Arial Narrow" pitchFamily="34" charset="0"/>
              </a:rPr>
              <a:t>Goals of Psychology </a:t>
            </a:r>
          </a:p>
          <a:p>
            <a:pPr lvl="1">
              <a:buFont typeface="Wingdings" pitchFamily="2" charset="2"/>
              <a:buChar char="§"/>
            </a:pPr>
            <a:r>
              <a:rPr lang="en-US" dirty="0">
                <a:latin typeface="Arial Narrow" pitchFamily="34" charset="0"/>
              </a:rPr>
              <a:t>Historical Background of Psychology </a:t>
            </a:r>
          </a:p>
          <a:p>
            <a:pPr lvl="1">
              <a:buFont typeface="Wingdings" pitchFamily="2" charset="2"/>
              <a:buChar char="§"/>
            </a:pPr>
            <a:r>
              <a:rPr lang="en-US" dirty="0">
                <a:latin typeface="Arial Narrow" pitchFamily="34" charset="0"/>
              </a:rPr>
              <a:t>Theoretical Perspectives in Psychology </a:t>
            </a:r>
          </a:p>
          <a:p>
            <a:pPr lvl="1">
              <a:buFont typeface="Wingdings" pitchFamily="2" charset="2"/>
              <a:buChar char="§"/>
            </a:pPr>
            <a:r>
              <a:rPr lang="en-US" dirty="0">
                <a:latin typeface="Arial Narrow" pitchFamily="34" charset="0"/>
              </a:rPr>
              <a:t>Branches of Psychology </a:t>
            </a:r>
          </a:p>
          <a:p>
            <a:pPr lvl="1">
              <a:buFont typeface="Wingdings" pitchFamily="2" charset="2"/>
              <a:buChar char="§"/>
            </a:pPr>
            <a:r>
              <a:rPr lang="en-US" dirty="0">
                <a:latin typeface="Arial Narrow" pitchFamily="34" charset="0"/>
              </a:rPr>
              <a:t>Research Methods in Psychology</a:t>
            </a:r>
          </a:p>
          <a:p>
            <a:pPr lvl="1">
              <a:buFont typeface="Wingdings" pitchFamily="2" charset="2"/>
              <a:buChar char="§"/>
            </a:pPr>
            <a:r>
              <a:rPr lang="en-US" dirty="0">
                <a:latin typeface="Arial Narrow" pitchFamily="34" charset="0"/>
              </a:rPr>
              <a:t> Applications of Psychology</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610600" cy="1477962"/>
          </a:xfrm>
        </p:spPr>
        <p:txBody>
          <a:bodyPr>
            <a:normAutofit fontScale="90000"/>
          </a:bodyPr>
          <a:lstStyle/>
          <a:p>
            <a:r>
              <a:rPr lang="en-US" b="1" dirty="0" smtClean="0">
                <a:latin typeface="Arial Narrow" pitchFamily="34" charset="0"/>
              </a:rPr>
              <a:t/>
            </a:r>
            <a:br>
              <a:rPr lang="en-US" b="1" dirty="0" smtClean="0">
                <a:latin typeface="Arial Narrow" pitchFamily="34" charset="0"/>
              </a:rPr>
            </a:br>
            <a:r>
              <a:rPr lang="en-US" b="1" dirty="0" smtClean="0">
                <a:latin typeface="Arial Narrow" pitchFamily="34" charset="0"/>
              </a:rPr>
              <a:t>1.1</a:t>
            </a:r>
            <a:r>
              <a:rPr lang="en-US" b="1" dirty="0">
                <a:latin typeface="Arial Narrow" pitchFamily="34" charset="0"/>
              </a:rPr>
              <a:t>. Definition of Psychology and Related Concepts</a:t>
            </a:r>
            <a:r>
              <a:rPr lang="en-US" dirty="0" smtClean="0">
                <a:latin typeface="Arial Narrow" pitchFamily="34" charset="0"/>
              </a:rPr>
              <a:t> </a:t>
            </a:r>
            <a:r>
              <a:rPr lang="en-US" dirty="0" smtClean="0"/>
              <a:t/>
            </a:r>
            <a:br>
              <a:rPr lang="en-US" dirty="0" smtClean="0"/>
            </a:br>
            <a:endParaRPr lang="en-US" dirty="0"/>
          </a:p>
        </p:txBody>
      </p:sp>
      <p:sp>
        <p:nvSpPr>
          <p:cNvPr id="3" name="Content Placeholder 2"/>
          <p:cNvSpPr>
            <a:spLocks noGrp="1"/>
          </p:cNvSpPr>
          <p:nvPr>
            <p:ph idx="1"/>
          </p:nvPr>
        </p:nvSpPr>
        <p:spPr>
          <a:xfrm>
            <a:off x="304800" y="1752600"/>
            <a:ext cx="8534400" cy="4800600"/>
          </a:xfrm>
        </p:spPr>
        <p:txBody>
          <a:bodyPr>
            <a:normAutofit fontScale="92500" lnSpcReduction="10000"/>
          </a:bodyPr>
          <a:lstStyle/>
          <a:p>
            <a:pPr>
              <a:buNone/>
            </a:pPr>
            <a:r>
              <a:rPr lang="en-US" sz="3000" b="1" i="1" dirty="0">
                <a:solidFill>
                  <a:srgbClr val="FF0000"/>
                </a:solidFill>
                <a:latin typeface="Arial Narrow" pitchFamily="34" charset="0"/>
              </a:rPr>
              <a:t>Brainstorming Questions</a:t>
            </a:r>
            <a:r>
              <a:rPr lang="en-US" sz="3000" dirty="0" smtClean="0">
                <a:solidFill>
                  <a:srgbClr val="FF0000"/>
                </a:solidFill>
                <a:latin typeface="Arial Narrow" pitchFamily="34" charset="0"/>
              </a:rPr>
              <a:t> </a:t>
            </a:r>
            <a:r>
              <a:rPr lang="en-US" sz="3000" dirty="0" smtClean="0">
                <a:latin typeface="Arial Narrow" pitchFamily="34" charset="0"/>
              </a:rPr>
              <a:t/>
            </a:r>
            <a:br>
              <a:rPr lang="en-US" sz="3000" dirty="0" smtClean="0">
                <a:latin typeface="Arial Narrow" pitchFamily="34" charset="0"/>
              </a:rPr>
            </a:br>
            <a:endParaRPr lang="en-US" sz="3000" b="1" i="1" dirty="0" smtClean="0">
              <a:latin typeface="Arial Narrow" pitchFamily="34" charset="0"/>
            </a:endParaRPr>
          </a:p>
          <a:p>
            <a:r>
              <a:rPr lang="en-US" sz="3000" b="1" i="1" dirty="0" smtClean="0">
                <a:latin typeface="Arial Narrow" pitchFamily="34" charset="0"/>
              </a:rPr>
              <a:t>What comes to your mind when you hear about the word psychology?</a:t>
            </a:r>
          </a:p>
          <a:p>
            <a:r>
              <a:rPr lang="en-US" sz="3000" b="1" i="1" dirty="0" smtClean="0">
                <a:latin typeface="Arial Narrow" pitchFamily="34" charset="0"/>
              </a:rPr>
              <a:t>Have </a:t>
            </a:r>
            <a:r>
              <a:rPr lang="en-US" sz="3000" b="1" i="1" dirty="0">
                <a:latin typeface="Arial Narrow" pitchFamily="34" charset="0"/>
              </a:rPr>
              <a:t>you ever heard about, read or listened to anything related to psychology</a:t>
            </a:r>
            <a:r>
              <a:rPr lang="en-US" sz="3000" b="1" i="1" dirty="0" smtClean="0">
                <a:latin typeface="Arial Narrow" pitchFamily="34" charset="0"/>
              </a:rPr>
              <a:t>?</a:t>
            </a:r>
          </a:p>
          <a:p>
            <a:r>
              <a:rPr lang="en-US" sz="3000" b="1" i="1" dirty="0" smtClean="0">
                <a:latin typeface="Arial Narrow" pitchFamily="34" charset="0"/>
              </a:rPr>
              <a:t>What </a:t>
            </a:r>
            <a:r>
              <a:rPr lang="en-US" sz="3000" b="1" i="1" dirty="0">
                <a:latin typeface="Arial Narrow" pitchFamily="34" charset="0"/>
              </a:rPr>
              <a:t>was its content about</a:t>
            </a:r>
            <a:r>
              <a:rPr lang="en-US" sz="3000" b="1" i="1" dirty="0" smtClean="0">
                <a:latin typeface="Arial Narrow" pitchFamily="34" charset="0"/>
              </a:rPr>
              <a:t>?</a:t>
            </a:r>
          </a:p>
          <a:p>
            <a:r>
              <a:rPr lang="en-US" sz="3000" b="1" i="1" dirty="0" smtClean="0">
                <a:latin typeface="Arial Narrow" pitchFamily="34" charset="0"/>
              </a:rPr>
              <a:t>Did </a:t>
            </a:r>
            <a:r>
              <a:rPr lang="en-US" sz="3000" b="1" i="1" dirty="0">
                <a:latin typeface="Arial Narrow" pitchFamily="34" charset="0"/>
              </a:rPr>
              <a:t>you appreciate it? Why</a:t>
            </a:r>
            <a:r>
              <a:rPr lang="en-US" sz="3000" b="1" i="1" dirty="0" smtClean="0">
                <a:latin typeface="Arial Narrow" pitchFamily="34" charset="0"/>
              </a:rPr>
              <a:t>?</a:t>
            </a:r>
          </a:p>
          <a:p>
            <a:r>
              <a:rPr lang="en-US" sz="3000" b="1" i="1" dirty="0" smtClean="0">
                <a:latin typeface="Arial Narrow" pitchFamily="34" charset="0"/>
              </a:rPr>
              <a:t>What </a:t>
            </a:r>
            <a:r>
              <a:rPr lang="en-US" sz="3000" b="1" i="1" dirty="0">
                <a:latin typeface="Arial Narrow" pitchFamily="34" charset="0"/>
              </a:rPr>
              <a:t>do you expect from the course in psychology?</a:t>
            </a:r>
            <a:r>
              <a:rPr lang="en-US" sz="3000" dirty="0" smtClean="0">
                <a:latin typeface="Arial Narrow" pitchFamily="34" charset="0"/>
              </a:rPr>
              <a:t> </a:t>
            </a:r>
            <a:r>
              <a:rPr lang="en-US" dirty="0" smtClean="0"/>
              <a:t/>
            </a:r>
            <a:br>
              <a:rPr lang="en-US" dirty="0" smtClean="0"/>
            </a:b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304800" y="990600"/>
            <a:ext cx="8534400" cy="5638800"/>
          </a:xfrm>
        </p:spPr>
        <p:txBody>
          <a:bodyPr>
            <a:normAutofit fontScale="70000" lnSpcReduction="20000"/>
          </a:bodyPr>
          <a:lstStyle/>
          <a:p>
            <a:r>
              <a:rPr lang="en-US" sz="4000" dirty="0">
                <a:latin typeface="Arial Narrow" pitchFamily="34" charset="0"/>
              </a:rPr>
              <a:t>The word "psychology" is derived from two Greek words </a:t>
            </a:r>
            <a:r>
              <a:rPr lang="en-US" sz="4000" i="1" dirty="0">
                <a:latin typeface="Arial Narrow" pitchFamily="34" charset="0"/>
              </a:rPr>
              <a:t>'</a:t>
            </a:r>
            <a:r>
              <a:rPr lang="en-US" sz="4000" b="1" i="1" dirty="0">
                <a:latin typeface="Arial Narrow" pitchFamily="34" charset="0"/>
              </a:rPr>
              <a:t>psyche' </a:t>
            </a:r>
            <a:r>
              <a:rPr lang="el-GR" sz="4000" dirty="0" smtClean="0">
                <a:latin typeface="Arial Narrow" pitchFamily="34" charset="0"/>
              </a:rPr>
              <a:t>(Ψ</a:t>
            </a:r>
            <a:r>
              <a:rPr lang="en-US" sz="4000" dirty="0" smtClean="0">
                <a:latin typeface="Arial Narrow" pitchFamily="34" charset="0"/>
              </a:rPr>
              <a:t>)  and </a:t>
            </a:r>
            <a:r>
              <a:rPr lang="en-US" sz="4000" dirty="0">
                <a:latin typeface="Arial Narrow" pitchFamily="34" charset="0"/>
              </a:rPr>
              <a:t>‗</a:t>
            </a:r>
            <a:r>
              <a:rPr lang="en-US" sz="4000" b="1" i="1" dirty="0">
                <a:latin typeface="Arial Narrow" pitchFamily="34" charset="0"/>
              </a:rPr>
              <a:t>logos</a:t>
            </a:r>
            <a:r>
              <a:rPr lang="en-US" sz="4000" i="1" dirty="0">
                <a:latin typeface="Arial Narrow" pitchFamily="34" charset="0"/>
              </a:rPr>
              <a:t>‟</a:t>
            </a:r>
            <a:r>
              <a:rPr lang="en-US" sz="4000" dirty="0">
                <a:latin typeface="Arial Narrow" pitchFamily="34" charset="0"/>
              </a:rPr>
              <a:t>. </a:t>
            </a:r>
            <a:r>
              <a:rPr lang="en-US" sz="4000" b="1" i="1" dirty="0">
                <a:latin typeface="Arial Narrow" pitchFamily="34" charset="0"/>
              </a:rPr>
              <a:t>Psyche </a:t>
            </a:r>
            <a:r>
              <a:rPr lang="en-US" sz="4000" dirty="0" smtClean="0">
                <a:latin typeface="Arial Narrow" pitchFamily="34" charset="0"/>
              </a:rPr>
              <a:t>refers to </a:t>
            </a:r>
            <a:r>
              <a:rPr lang="en-US" sz="4000" dirty="0">
                <a:latin typeface="Arial Narrow" pitchFamily="34" charset="0"/>
              </a:rPr>
              <a:t>mind, soul or sprit while </a:t>
            </a:r>
            <a:r>
              <a:rPr lang="en-US" sz="4000" b="1" i="1" dirty="0">
                <a:latin typeface="Arial Narrow" pitchFamily="34" charset="0"/>
              </a:rPr>
              <a:t>logos </a:t>
            </a:r>
            <a:r>
              <a:rPr lang="en-US" sz="4000" dirty="0">
                <a:latin typeface="Arial Narrow" pitchFamily="34" charset="0"/>
              </a:rPr>
              <a:t>means study, knowledge or discourse</a:t>
            </a:r>
            <a:r>
              <a:rPr lang="en-US" sz="4000" dirty="0" smtClean="0">
                <a:latin typeface="Arial Narrow" pitchFamily="34" charset="0"/>
              </a:rPr>
              <a:t>. </a:t>
            </a:r>
          </a:p>
          <a:p>
            <a:r>
              <a:rPr lang="en-US" sz="4000" i="1" dirty="0">
                <a:latin typeface="Arial Narrow" pitchFamily="34" charset="0"/>
              </a:rPr>
              <a:t>Psychology is the scientific study of human behavior and the underlying mental</a:t>
            </a:r>
            <a:r>
              <a:rPr lang="en-US" sz="4000" dirty="0" smtClean="0">
                <a:latin typeface="Arial Narrow" pitchFamily="34" charset="0"/>
              </a:rPr>
              <a:t> process</a:t>
            </a:r>
          </a:p>
          <a:p>
            <a:pPr lvl="1"/>
            <a:r>
              <a:rPr lang="en-US" sz="4000" b="1" dirty="0">
                <a:latin typeface="Arial Narrow" pitchFamily="34" charset="0"/>
              </a:rPr>
              <a:t>Science</a:t>
            </a:r>
            <a:r>
              <a:rPr lang="en-US" sz="4000" dirty="0">
                <a:latin typeface="Arial Narrow" pitchFamily="34" charset="0"/>
              </a:rPr>
              <a:t>: psychology uses scientific </a:t>
            </a:r>
            <a:r>
              <a:rPr lang="en-US" sz="4000" dirty="0" smtClean="0">
                <a:latin typeface="Arial Narrow" pitchFamily="34" charset="0"/>
              </a:rPr>
              <a:t>methods (scientific procedures and empirical data </a:t>
            </a:r>
            <a:r>
              <a:rPr lang="en-US" sz="4000" dirty="0">
                <a:latin typeface="Arial Narrow" pitchFamily="34" charset="0"/>
              </a:rPr>
              <a:t>to study behavior and mental </a:t>
            </a:r>
            <a:r>
              <a:rPr lang="en-US" sz="4000" dirty="0" smtClean="0">
                <a:latin typeface="Arial Narrow" pitchFamily="34" charset="0"/>
              </a:rPr>
              <a:t>processes.</a:t>
            </a:r>
          </a:p>
          <a:p>
            <a:pPr lvl="1"/>
            <a:r>
              <a:rPr lang="en-US" sz="4000" b="1" dirty="0">
                <a:latin typeface="Arial Narrow" pitchFamily="34" charset="0"/>
              </a:rPr>
              <a:t>Behavior</a:t>
            </a:r>
            <a:r>
              <a:rPr lang="en-US" sz="4000" dirty="0">
                <a:latin typeface="Arial Narrow" pitchFamily="34" charset="0"/>
              </a:rPr>
              <a:t>: </a:t>
            </a:r>
            <a:r>
              <a:rPr lang="en-US" sz="4000" i="1" u="sng" dirty="0" smtClean="0">
                <a:latin typeface="Arial Narrow" pitchFamily="34" charset="0"/>
              </a:rPr>
              <a:t>overt</a:t>
            </a:r>
            <a:r>
              <a:rPr lang="en-US" sz="4000" dirty="0" smtClean="0">
                <a:latin typeface="Arial Narrow" pitchFamily="34" charset="0"/>
              </a:rPr>
              <a:t> or observable actions, </a:t>
            </a:r>
            <a:r>
              <a:rPr lang="en-US" sz="4000" dirty="0">
                <a:latin typeface="Arial Narrow" pitchFamily="34" charset="0"/>
              </a:rPr>
              <a:t>such as talking</a:t>
            </a:r>
            <a:r>
              <a:rPr lang="en-US" sz="4000" dirty="0" smtClean="0">
                <a:latin typeface="Arial Narrow" pitchFamily="34" charset="0"/>
              </a:rPr>
              <a:t>,               </a:t>
            </a:r>
          </a:p>
          <a:p>
            <a:pPr lvl="1">
              <a:buNone/>
            </a:pPr>
            <a:r>
              <a:rPr lang="en-US" sz="4000" dirty="0">
                <a:latin typeface="Arial Narrow" pitchFamily="34" charset="0"/>
              </a:rPr>
              <a:t> </a:t>
            </a:r>
            <a:r>
              <a:rPr lang="en-US" sz="4000" dirty="0" smtClean="0">
                <a:latin typeface="Arial Narrow" pitchFamily="34" charset="0"/>
              </a:rPr>
              <a:t>                    facial </a:t>
            </a:r>
            <a:r>
              <a:rPr lang="en-US" sz="4000" dirty="0">
                <a:latin typeface="Arial Narrow" pitchFamily="34" charset="0"/>
              </a:rPr>
              <a:t>expressions, movement, </a:t>
            </a:r>
            <a:r>
              <a:rPr lang="en-US" sz="4000" dirty="0" smtClean="0">
                <a:latin typeface="Arial Narrow" pitchFamily="34" charset="0"/>
              </a:rPr>
              <a:t>etc and </a:t>
            </a:r>
          </a:p>
          <a:p>
            <a:pPr lvl="4">
              <a:buNone/>
            </a:pPr>
            <a:r>
              <a:rPr lang="en-US" sz="4000" dirty="0" smtClean="0">
                <a:latin typeface="Arial Narrow" pitchFamily="34" charset="0"/>
              </a:rPr>
              <a:t>   </a:t>
            </a:r>
            <a:r>
              <a:rPr lang="en-US" sz="4000" i="1" u="sng" dirty="0" smtClean="0">
                <a:latin typeface="Arial Narrow" pitchFamily="34" charset="0"/>
              </a:rPr>
              <a:t>covert</a:t>
            </a:r>
            <a:r>
              <a:rPr lang="en-US" sz="4000" dirty="0" smtClean="0">
                <a:latin typeface="Arial Narrow" pitchFamily="34" charset="0"/>
              </a:rPr>
              <a:t> or unobservable behavior such as thinking , feelings and memory which are </a:t>
            </a:r>
            <a:r>
              <a:rPr lang="en-US" sz="4000" dirty="0">
                <a:latin typeface="Arial Narrow" pitchFamily="34" charset="0"/>
              </a:rPr>
              <a:t>hidden, </a:t>
            </a:r>
            <a:r>
              <a:rPr lang="en-US" sz="4000" dirty="0" smtClean="0">
                <a:latin typeface="Arial Narrow" pitchFamily="34" charset="0"/>
              </a:rPr>
              <a:t>and </a:t>
            </a:r>
            <a:r>
              <a:rPr lang="en-US" sz="4000" dirty="0">
                <a:latin typeface="Arial Narrow" pitchFamily="34" charset="0"/>
              </a:rPr>
              <a:t>generally considered as a mental </a:t>
            </a:r>
            <a:r>
              <a:rPr lang="en-US" sz="4000" dirty="0" smtClean="0">
                <a:latin typeface="Arial Narrow" pitchFamily="34" charset="0"/>
              </a:rPr>
              <a:t>process. </a:t>
            </a:r>
            <a:br>
              <a:rPr lang="en-US" sz="4000" dirty="0" smtClean="0">
                <a:latin typeface="Arial Narrow" pitchFamily="34" charset="0"/>
              </a:rPr>
            </a:br>
            <a:r>
              <a:rPr lang="en-US" dirty="0" smtClean="0"/>
              <a:t> </a:t>
            </a:r>
            <a:br>
              <a:rPr lang="en-US" dirty="0" smtClean="0"/>
            </a:b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What makes psychology different from other behavioral Sciences?</a:t>
            </a:r>
            <a:endParaRPr lang="en-US" b="1" dirty="0"/>
          </a:p>
        </p:txBody>
      </p:sp>
      <p:sp>
        <p:nvSpPr>
          <p:cNvPr id="3" name="Content Placeholder 2"/>
          <p:cNvSpPr>
            <a:spLocks noGrp="1"/>
          </p:cNvSpPr>
          <p:nvPr>
            <p:ph idx="1"/>
          </p:nvPr>
        </p:nvSpPr>
        <p:spPr/>
        <p:txBody>
          <a:bodyPr/>
          <a:lstStyle/>
          <a:p>
            <a:r>
              <a:rPr lang="en-US" dirty="0" smtClean="0"/>
              <a:t>Unlike some behavioral sciences like sociology and Anthropology, psychology deals about individual’s behaviours than the behaviors of a group. </a:t>
            </a:r>
          </a:p>
          <a:p>
            <a:r>
              <a:rPr lang="en-US" dirty="0" smtClean="0"/>
              <a:t>Unlike other sciences that deals about one or some dimensions of human behaviour, psychology deals about all dimensions of human behaviour.</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600" b="1" dirty="0">
                <a:latin typeface="Arial Narrow" pitchFamily="34" charset="0"/>
              </a:rPr>
              <a:t>1.2. Goals of </a:t>
            </a:r>
            <a:r>
              <a:rPr lang="en-US" sz="3600" b="1" dirty="0" smtClean="0">
                <a:latin typeface="Arial Narrow" pitchFamily="34" charset="0"/>
              </a:rPr>
              <a:t>Psychology</a:t>
            </a:r>
            <a:endParaRPr lang="en-US" dirty="0"/>
          </a:p>
        </p:txBody>
      </p:sp>
      <p:sp>
        <p:nvSpPr>
          <p:cNvPr id="3" name="Content Placeholder 2"/>
          <p:cNvSpPr>
            <a:spLocks noGrp="1"/>
          </p:cNvSpPr>
          <p:nvPr>
            <p:ph idx="1"/>
          </p:nvPr>
        </p:nvSpPr>
        <p:spPr>
          <a:xfrm>
            <a:off x="228600" y="1066800"/>
            <a:ext cx="8686800" cy="5486400"/>
          </a:xfrm>
        </p:spPr>
        <p:txBody>
          <a:bodyPr>
            <a:normAutofit/>
          </a:bodyPr>
          <a:lstStyle/>
          <a:p>
            <a:r>
              <a:rPr lang="en-US" sz="2800" b="1" i="1" dirty="0" smtClean="0">
                <a:latin typeface="Arial Narrow" pitchFamily="34" charset="0"/>
              </a:rPr>
              <a:t>Why </a:t>
            </a:r>
            <a:r>
              <a:rPr lang="en-US" sz="2800" b="1" i="1" dirty="0">
                <a:latin typeface="Arial Narrow" pitchFamily="34" charset="0"/>
              </a:rPr>
              <a:t>do you think is psychology important? </a:t>
            </a:r>
            <a:endParaRPr lang="en-US" sz="2800" b="1" i="1" dirty="0" smtClean="0">
              <a:latin typeface="Arial Narrow" pitchFamily="34" charset="0"/>
            </a:endParaRPr>
          </a:p>
          <a:p>
            <a:r>
              <a:rPr lang="en-US" sz="2800" b="1" i="1" dirty="0" smtClean="0">
                <a:latin typeface="Arial Narrow" pitchFamily="34" charset="0"/>
              </a:rPr>
              <a:t>What </a:t>
            </a:r>
            <a:r>
              <a:rPr lang="en-US" sz="2800" b="1" i="1" dirty="0">
                <a:latin typeface="Arial Narrow" pitchFamily="34" charset="0"/>
              </a:rPr>
              <a:t>do you think a psychologist </a:t>
            </a:r>
            <a:r>
              <a:rPr lang="en-US" sz="2800" b="1" i="1" dirty="0" smtClean="0">
                <a:latin typeface="Arial Narrow" pitchFamily="34" charset="0"/>
              </a:rPr>
              <a:t>is doing </a:t>
            </a:r>
            <a:r>
              <a:rPr lang="en-US" sz="2800" b="1" i="1" dirty="0">
                <a:latin typeface="Arial Narrow" pitchFamily="34" charset="0"/>
              </a:rPr>
              <a:t>when studying behavior and mental processes?</a:t>
            </a:r>
            <a:r>
              <a:rPr lang="en-US" sz="2800" dirty="0" smtClean="0">
                <a:latin typeface="Arial Narrow" pitchFamily="34" charset="0"/>
              </a:rPr>
              <a:t> </a:t>
            </a:r>
          </a:p>
          <a:p>
            <a:pPr>
              <a:buNone/>
            </a:pPr>
            <a:r>
              <a:rPr lang="en-US" sz="2800" dirty="0" smtClean="0">
                <a:latin typeface="Arial Narrow" pitchFamily="34" charset="0"/>
              </a:rPr>
              <a:t/>
            </a:r>
            <a:br>
              <a:rPr lang="en-US" sz="2800" dirty="0" smtClean="0">
                <a:latin typeface="Arial Narrow" pitchFamily="34" charset="0"/>
              </a:rPr>
            </a:br>
            <a:r>
              <a:rPr lang="en-US" sz="2800" dirty="0" smtClean="0">
                <a:latin typeface="Arial Narrow" pitchFamily="34" charset="0"/>
              </a:rPr>
              <a:t> As a science, psychology has four goals;</a:t>
            </a:r>
          </a:p>
          <a:p>
            <a:r>
              <a:rPr lang="en-US" sz="2800" i="1" dirty="0" smtClean="0">
                <a:latin typeface="Arial Narrow" pitchFamily="34" charset="0"/>
              </a:rPr>
              <a:t>Description: </a:t>
            </a:r>
            <a:r>
              <a:rPr lang="en-US" sz="2800" dirty="0" smtClean="0">
                <a:latin typeface="Arial Narrow" pitchFamily="34" charset="0"/>
              </a:rPr>
              <a:t>describing individuals behaviour</a:t>
            </a:r>
          </a:p>
          <a:p>
            <a:r>
              <a:rPr lang="en-US" sz="2800" i="1" dirty="0" smtClean="0">
                <a:latin typeface="Arial Narrow" pitchFamily="34" charset="0"/>
              </a:rPr>
              <a:t>Explanation: </a:t>
            </a:r>
            <a:r>
              <a:rPr lang="en-US" sz="2800" dirty="0" smtClean="0">
                <a:latin typeface="Arial Narrow" pitchFamily="34" charset="0"/>
              </a:rPr>
              <a:t>understanding and telling the cause </a:t>
            </a:r>
          </a:p>
          <a:p>
            <a:r>
              <a:rPr lang="en-US" sz="2800" i="1" dirty="0" smtClean="0">
                <a:latin typeface="Arial Narrow" pitchFamily="34" charset="0"/>
              </a:rPr>
              <a:t>Prediction: </a:t>
            </a:r>
            <a:r>
              <a:rPr lang="en-US" sz="2800" dirty="0" smtClean="0">
                <a:latin typeface="Arial Narrow" pitchFamily="34" charset="0"/>
              </a:rPr>
              <a:t>determining what will happen in the future </a:t>
            </a:r>
            <a:r>
              <a:rPr lang="en-US" sz="2800" i="1" dirty="0" smtClean="0">
                <a:latin typeface="Arial Narrow" pitchFamily="34" charset="0"/>
              </a:rPr>
              <a:t>and </a:t>
            </a:r>
          </a:p>
          <a:p>
            <a:r>
              <a:rPr lang="en-US" sz="2800" i="1" dirty="0" smtClean="0">
                <a:latin typeface="Arial Narrow" pitchFamily="34" charset="0"/>
              </a:rPr>
              <a:t>Control: </a:t>
            </a:r>
            <a:r>
              <a:rPr lang="en-US" sz="2800" dirty="0" smtClean="0">
                <a:latin typeface="Arial Narrow" pitchFamily="34" charset="0"/>
              </a:rPr>
              <a:t>modifying or changing the behavior from undesirable to a desirable one </a:t>
            </a:r>
            <a:endParaRPr lang="en-US" sz="2800" dirty="0">
              <a:latin typeface="Arial Narrow"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534400" cy="944562"/>
          </a:xfrm>
        </p:spPr>
        <p:txBody>
          <a:bodyPr>
            <a:normAutofit fontScale="90000"/>
          </a:bodyPr>
          <a:lstStyle/>
          <a:p>
            <a:r>
              <a:rPr lang="en-US" b="1" dirty="0" smtClean="0"/>
              <a:t/>
            </a:r>
            <a:br>
              <a:rPr lang="en-US" b="1" dirty="0" smtClean="0"/>
            </a:br>
            <a:r>
              <a:rPr lang="en-US" b="1" dirty="0" smtClean="0"/>
              <a:t>1.3</a:t>
            </a:r>
            <a:r>
              <a:rPr lang="en-US" b="1" dirty="0"/>
              <a:t>. Historical Background and Major Perspectives in Psychology</a:t>
            </a:r>
            <a:br>
              <a:rPr lang="en-US" b="1" dirty="0"/>
            </a:br>
            <a:endParaRPr lang="en-US" dirty="0"/>
          </a:p>
        </p:txBody>
      </p:sp>
      <p:sp>
        <p:nvSpPr>
          <p:cNvPr id="3" name="Content Placeholder 2"/>
          <p:cNvSpPr>
            <a:spLocks noGrp="1"/>
          </p:cNvSpPr>
          <p:nvPr>
            <p:ph idx="1"/>
          </p:nvPr>
        </p:nvSpPr>
        <p:spPr>
          <a:xfrm>
            <a:off x="304800" y="1295400"/>
            <a:ext cx="8610600" cy="5105400"/>
          </a:xfrm>
        </p:spPr>
        <p:txBody>
          <a:bodyPr>
            <a:normAutofit/>
          </a:bodyPr>
          <a:lstStyle/>
          <a:p>
            <a:pPr>
              <a:buNone/>
            </a:pPr>
            <a:r>
              <a:rPr lang="en-US" sz="2800" dirty="0" smtClean="0"/>
              <a:t/>
            </a:r>
            <a:br>
              <a:rPr lang="en-US" sz="2800" dirty="0" smtClean="0"/>
            </a:br>
            <a:r>
              <a:rPr lang="en-US" sz="2800" dirty="0" smtClean="0">
                <a:latin typeface="Arial Narrow" pitchFamily="34" charset="0"/>
              </a:rPr>
              <a:t> </a:t>
            </a:r>
            <a:br>
              <a:rPr lang="en-US" sz="2800" dirty="0" smtClean="0">
                <a:latin typeface="Arial Narrow" pitchFamily="34" charset="0"/>
              </a:rPr>
            </a:br>
            <a:endParaRPr lang="en-US" sz="2800" dirty="0">
              <a:latin typeface="Arial Narrow" pitchFamily="34" charset="0"/>
            </a:endParaRPr>
          </a:p>
        </p:txBody>
      </p:sp>
      <p:sp>
        <p:nvSpPr>
          <p:cNvPr id="6" name="Rectangle 5"/>
          <p:cNvSpPr/>
          <p:nvPr/>
        </p:nvSpPr>
        <p:spPr>
          <a:xfrm>
            <a:off x="304800" y="1410355"/>
            <a:ext cx="8534400" cy="5447645"/>
          </a:xfrm>
          <a:prstGeom prst="rect">
            <a:avLst/>
          </a:prstGeom>
        </p:spPr>
        <p:txBody>
          <a:bodyPr wrap="square">
            <a:spAutoFit/>
          </a:bodyPr>
          <a:lstStyle/>
          <a:p>
            <a:pPr marL="274320" indent="-274320">
              <a:spcBef>
                <a:spcPts val="600"/>
              </a:spcBef>
              <a:spcAft>
                <a:spcPts val="600"/>
              </a:spcAft>
            </a:pPr>
            <a:r>
              <a:rPr lang="en-US" sz="2800" b="1" i="1" dirty="0" smtClean="0">
                <a:latin typeface="Arial Narrow" pitchFamily="34" charset="0"/>
              </a:rPr>
              <a:t>Dear student, can you imagine how long has psychology been around and where did it begin?</a:t>
            </a:r>
          </a:p>
          <a:p>
            <a:pPr marL="274320" indent="-274320">
              <a:spcBef>
                <a:spcPts val="600"/>
              </a:spcBef>
              <a:spcAft>
                <a:spcPts val="600"/>
              </a:spcAft>
              <a:buFont typeface="Wingdings" pitchFamily="2" charset="2"/>
              <a:buChar char="§"/>
            </a:pPr>
            <a:r>
              <a:rPr lang="en-US" sz="2800" dirty="0" smtClean="0">
                <a:latin typeface="Arial Narrow" pitchFamily="34" charset="0"/>
              </a:rPr>
              <a:t>Psychology </a:t>
            </a:r>
            <a:r>
              <a:rPr lang="en-US" sz="2800" dirty="0">
                <a:latin typeface="Arial Narrow" pitchFamily="34" charset="0"/>
              </a:rPr>
              <a:t>is a relatively new field in the realm of </a:t>
            </a:r>
            <a:r>
              <a:rPr lang="en-US" sz="2800" dirty="0" smtClean="0">
                <a:latin typeface="Arial Narrow" pitchFamily="34" charset="0"/>
              </a:rPr>
              <a:t>sciences. </a:t>
            </a:r>
          </a:p>
          <a:p>
            <a:pPr marL="274320" indent="-274320">
              <a:spcBef>
                <a:spcPts val="600"/>
              </a:spcBef>
              <a:spcAft>
                <a:spcPts val="600"/>
              </a:spcAft>
              <a:buFont typeface="Wingdings" pitchFamily="2" charset="2"/>
              <a:buChar char="§"/>
            </a:pPr>
            <a:r>
              <a:rPr lang="en-US" sz="2800" dirty="0" smtClean="0">
                <a:latin typeface="Arial Narrow" pitchFamily="34" charset="0"/>
              </a:rPr>
              <a:t>It began </a:t>
            </a:r>
            <a:r>
              <a:rPr lang="en-US" sz="2800" dirty="0">
                <a:latin typeface="Arial Narrow" pitchFamily="34" charset="0"/>
              </a:rPr>
              <a:t>as a science of its own in 1879 in Leipzig, Germany, </a:t>
            </a:r>
            <a:r>
              <a:rPr lang="en-US" sz="2800" dirty="0" smtClean="0">
                <a:latin typeface="Arial Narrow" pitchFamily="34" charset="0"/>
              </a:rPr>
              <a:t>  with </a:t>
            </a:r>
            <a:r>
              <a:rPr lang="en-US" sz="2800" dirty="0">
                <a:latin typeface="Arial Narrow" pitchFamily="34" charset="0"/>
              </a:rPr>
              <a:t>the establishment of </a:t>
            </a:r>
            <a:r>
              <a:rPr lang="en-US" sz="2800" dirty="0" smtClean="0">
                <a:latin typeface="Arial Narrow" pitchFamily="34" charset="0"/>
              </a:rPr>
              <a:t>a psychology </a:t>
            </a:r>
            <a:r>
              <a:rPr lang="en-US" sz="2800" dirty="0">
                <a:latin typeface="Arial Narrow" pitchFamily="34" charset="0"/>
              </a:rPr>
              <a:t>laboratory in the </a:t>
            </a:r>
            <a:r>
              <a:rPr lang="en-US" sz="2800" dirty="0" smtClean="0">
                <a:latin typeface="Arial Narrow" pitchFamily="34" charset="0"/>
              </a:rPr>
              <a:t>University </a:t>
            </a:r>
            <a:r>
              <a:rPr lang="en-US" sz="2800" dirty="0">
                <a:latin typeface="Arial Narrow" pitchFamily="34" charset="0"/>
              </a:rPr>
              <a:t>of Leipzig by Wilhelm </a:t>
            </a:r>
            <a:r>
              <a:rPr lang="en-US" sz="2800" dirty="0" smtClean="0">
                <a:latin typeface="Arial Narrow" pitchFamily="34" charset="0"/>
              </a:rPr>
              <a:t>Wundt (father of modern psychology). </a:t>
            </a:r>
          </a:p>
          <a:p>
            <a:pPr marL="274320" indent="-274320">
              <a:spcBef>
                <a:spcPts val="600"/>
              </a:spcBef>
              <a:spcAft>
                <a:spcPts val="600"/>
              </a:spcAft>
              <a:buFont typeface="Wingdings" pitchFamily="2" charset="2"/>
              <a:buChar char="§"/>
            </a:pPr>
            <a:r>
              <a:rPr lang="en-US" sz="2800" dirty="0" smtClean="0">
                <a:latin typeface="Arial Narrow" pitchFamily="34" charset="0"/>
              </a:rPr>
              <a:t> Wundt </a:t>
            </a:r>
            <a:r>
              <a:rPr lang="en-US" sz="2800" dirty="0">
                <a:latin typeface="Arial Narrow" pitchFamily="34" charset="0"/>
              </a:rPr>
              <a:t>developed </a:t>
            </a:r>
            <a:r>
              <a:rPr lang="en-US" sz="2800" dirty="0" smtClean="0">
                <a:latin typeface="Arial Narrow" pitchFamily="34" charset="0"/>
              </a:rPr>
              <a:t>the technique </a:t>
            </a:r>
            <a:r>
              <a:rPr lang="en-US" sz="2800" dirty="0">
                <a:latin typeface="Arial Narrow" pitchFamily="34" charset="0"/>
              </a:rPr>
              <a:t>of objective introspection to </a:t>
            </a:r>
            <a:r>
              <a:rPr lang="en-US" sz="2800" dirty="0" smtClean="0">
                <a:latin typeface="Arial Narrow" pitchFamily="34" charset="0"/>
              </a:rPr>
              <a:t>scientifically </a:t>
            </a:r>
            <a:r>
              <a:rPr lang="en-US" sz="2800" dirty="0">
                <a:latin typeface="Arial Narrow" pitchFamily="34" charset="0"/>
              </a:rPr>
              <a:t>examine mental experiences.</a:t>
            </a:r>
            <a:r>
              <a:rPr lang="en-US" sz="2800" dirty="0" smtClean="0">
                <a:latin typeface="Arial Narrow" pitchFamily="34" charset="0"/>
              </a:rPr>
              <a:t> </a:t>
            </a:r>
          </a:p>
          <a:p>
            <a:pPr marL="274320" indent="-274320">
              <a:spcBef>
                <a:spcPts val="600"/>
              </a:spcBef>
              <a:spcAft>
                <a:spcPts val="600"/>
              </a:spcAft>
              <a:buFont typeface="Wingdings" pitchFamily="2" charset="2"/>
              <a:buChar char="§"/>
            </a:pPr>
            <a:r>
              <a:rPr lang="en-US" sz="2800" dirty="0" smtClean="0">
                <a:latin typeface="Arial Narrow" pitchFamily="34" charset="0"/>
              </a:rPr>
              <a:t>Previously, the </a:t>
            </a:r>
            <a:r>
              <a:rPr lang="en-US" sz="2800" dirty="0">
                <a:latin typeface="Arial Narrow" pitchFamily="34" charset="0"/>
              </a:rPr>
              <a:t>study of human subjective experiences </a:t>
            </a:r>
            <a:r>
              <a:rPr lang="en-US" sz="2800" dirty="0" smtClean="0">
                <a:latin typeface="Arial Narrow" pitchFamily="34" charset="0"/>
              </a:rPr>
              <a:t>were    under the </a:t>
            </a:r>
            <a:r>
              <a:rPr lang="en-US" sz="2800" dirty="0">
                <a:latin typeface="Arial Narrow" pitchFamily="34" charset="0"/>
              </a:rPr>
              <a:t>field of philosophy </a:t>
            </a:r>
            <a:r>
              <a:rPr lang="en-US" sz="2800" dirty="0" smtClean="0">
                <a:latin typeface="Arial Narrow" pitchFamily="34" charset="0"/>
              </a:rPr>
              <a:t>alone. </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b="1" dirty="0" smtClean="0"/>
              <a:t/>
            </a:r>
            <a:br>
              <a:rPr lang="en-US" b="1" dirty="0" smtClean="0"/>
            </a:br>
            <a:r>
              <a:rPr lang="en-US" b="1" dirty="0" smtClean="0"/>
              <a:t>Schools </a:t>
            </a:r>
            <a:r>
              <a:rPr lang="en-US" b="1" dirty="0"/>
              <a:t>of </a:t>
            </a:r>
            <a:r>
              <a:rPr lang="en-US" b="1" dirty="0" smtClean="0"/>
              <a:t>thoughts in psychology</a:t>
            </a:r>
            <a:r>
              <a:rPr lang="en-US" dirty="0" smtClean="0"/>
              <a:t/>
            </a:r>
            <a:br>
              <a:rPr lang="en-US" dirty="0" smtClean="0"/>
            </a:br>
            <a:endParaRPr lang="en-US" dirty="0"/>
          </a:p>
        </p:txBody>
      </p:sp>
      <p:sp>
        <p:nvSpPr>
          <p:cNvPr id="3" name="Content Placeholder 2"/>
          <p:cNvSpPr>
            <a:spLocks noGrp="1"/>
          </p:cNvSpPr>
          <p:nvPr>
            <p:ph idx="1"/>
          </p:nvPr>
        </p:nvSpPr>
        <p:spPr>
          <a:xfrm>
            <a:off x="457200" y="1295400"/>
            <a:ext cx="8229600" cy="4830763"/>
          </a:xfrm>
        </p:spPr>
        <p:txBody>
          <a:bodyPr>
            <a:normAutofit fontScale="25000" lnSpcReduction="20000"/>
          </a:bodyPr>
          <a:lstStyle/>
          <a:p>
            <a:pPr marL="274320" indent="-274320">
              <a:buNone/>
            </a:pPr>
            <a:r>
              <a:rPr lang="en-US" sz="11200" b="1" i="1" dirty="0" smtClean="0">
                <a:latin typeface="Arial Narrow" pitchFamily="34" charset="0"/>
              </a:rPr>
              <a:t>What </a:t>
            </a:r>
            <a:r>
              <a:rPr lang="en-US" sz="11200" b="1" i="1" dirty="0">
                <a:latin typeface="Arial Narrow" pitchFamily="34" charset="0"/>
              </a:rPr>
              <a:t>do you think is a school of thought</a:t>
            </a:r>
            <a:r>
              <a:rPr lang="en-US" sz="11200" b="1" i="1" dirty="0" smtClean="0">
                <a:latin typeface="Arial Narrow" pitchFamily="34" charset="0"/>
              </a:rPr>
              <a:t>?</a:t>
            </a:r>
          </a:p>
          <a:p>
            <a:pPr marL="274320" indent="-274320">
              <a:lnSpc>
                <a:spcPct val="120000"/>
              </a:lnSpc>
              <a:spcBef>
                <a:spcPts val="600"/>
              </a:spcBef>
              <a:spcAft>
                <a:spcPts val="600"/>
              </a:spcAft>
            </a:pPr>
            <a:r>
              <a:rPr lang="en-US" sz="11200" dirty="0" smtClean="0">
                <a:latin typeface="Arial Narrow" pitchFamily="34" charset="0"/>
              </a:rPr>
              <a:t>In psychology, a </a:t>
            </a:r>
            <a:r>
              <a:rPr lang="en-US" sz="11200" dirty="0">
                <a:latin typeface="Arial Narrow" pitchFamily="34" charset="0"/>
              </a:rPr>
              <a:t>school of thought is a system of thinking about </a:t>
            </a:r>
            <a:r>
              <a:rPr lang="en-US" sz="11200" dirty="0" smtClean="0">
                <a:latin typeface="Arial Narrow" pitchFamily="34" charset="0"/>
              </a:rPr>
              <a:t>human behaviour.</a:t>
            </a:r>
          </a:p>
          <a:p>
            <a:pPr marL="274320" indent="-274320">
              <a:lnSpc>
                <a:spcPct val="120000"/>
              </a:lnSpc>
              <a:spcBef>
                <a:spcPts val="600"/>
              </a:spcBef>
              <a:spcAft>
                <a:spcPts val="600"/>
              </a:spcAft>
            </a:pPr>
            <a:r>
              <a:rPr lang="en-US" sz="11200" dirty="0" smtClean="0">
                <a:latin typeface="Arial Narrow" pitchFamily="34" charset="0"/>
              </a:rPr>
              <a:t>Once </a:t>
            </a:r>
            <a:r>
              <a:rPr lang="en-US" sz="11200" dirty="0">
                <a:latin typeface="Arial Narrow" pitchFamily="34" charset="0"/>
              </a:rPr>
              <a:t>psychology begun to </a:t>
            </a:r>
            <a:r>
              <a:rPr lang="en-US" sz="11200" dirty="0" smtClean="0">
                <a:latin typeface="Arial Narrow" pitchFamily="34" charset="0"/>
              </a:rPr>
              <a:t>use the </a:t>
            </a:r>
            <a:r>
              <a:rPr lang="en-US" sz="11200" dirty="0">
                <a:latin typeface="Arial Narrow" pitchFamily="34" charset="0"/>
              </a:rPr>
              <a:t>scientific method, it then went through successive developments in which </a:t>
            </a:r>
            <a:r>
              <a:rPr lang="en-US" sz="11200" dirty="0" smtClean="0">
                <a:latin typeface="Arial Narrow" pitchFamily="34" charset="0"/>
              </a:rPr>
              <a:t>different schools </a:t>
            </a:r>
            <a:r>
              <a:rPr lang="en-US" sz="11200" dirty="0">
                <a:latin typeface="Arial Narrow" pitchFamily="34" charset="0"/>
              </a:rPr>
              <a:t>of thought emerged at different times. </a:t>
            </a:r>
            <a:endParaRPr lang="en-US" sz="11200" dirty="0" smtClean="0">
              <a:latin typeface="Arial Narrow" pitchFamily="34" charset="0"/>
            </a:endParaRPr>
          </a:p>
          <a:p>
            <a:pPr marL="274320" indent="-274320">
              <a:lnSpc>
                <a:spcPct val="120000"/>
              </a:lnSpc>
              <a:spcBef>
                <a:spcPts val="600"/>
              </a:spcBef>
              <a:spcAft>
                <a:spcPts val="600"/>
              </a:spcAft>
            </a:pPr>
            <a:r>
              <a:rPr lang="en-US" sz="11200" dirty="0" smtClean="0">
                <a:latin typeface="Arial Narrow" pitchFamily="34" charset="0"/>
              </a:rPr>
              <a:t>These </a:t>
            </a:r>
            <a:r>
              <a:rPr lang="en-US" sz="11200" dirty="0">
                <a:latin typeface="Arial Narrow" pitchFamily="34" charset="0"/>
              </a:rPr>
              <a:t>schools of thought can be categorized </a:t>
            </a:r>
            <a:r>
              <a:rPr lang="en-US" sz="11200" dirty="0" smtClean="0">
                <a:latin typeface="Arial Narrow" pitchFamily="34" charset="0"/>
              </a:rPr>
              <a:t>as old </a:t>
            </a:r>
            <a:r>
              <a:rPr lang="en-US" sz="11200" dirty="0">
                <a:latin typeface="Arial Narrow" pitchFamily="34" charset="0"/>
              </a:rPr>
              <a:t>and modern as described below.</a:t>
            </a:r>
            <a:r>
              <a:rPr lang="en-US" sz="11200" dirty="0" smtClean="0">
                <a:latin typeface="Arial Narrow" pitchFamily="34" charset="0"/>
              </a:rPr>
              <a:t> </a:t>
            </a:r>
            <a:r>
              <a:rPr lang="en-US" dirty="0" smtClean="0"/>
              <a:t/>
            </a:r>
            <a:br>
              <a:rPr lang="en-US" dirty="0" smtClean="0"/>
            </a:br>
            <a:r>
              <a:rPr lang="en-US" dirty="0" smtClean="0"/>
              <a:t/>
            </a:r>
            <a:br>
              <a:rPr lang="en-US" dirty="0" smtClean="0"/>
            </a:br>
            <a:r>
              <a:rPr lang="en-US" dirty="0" smtClean="0"/>
              <a:t/>
            </a:r>
            <a:br>
              <a:rPr lang="en-US" dirty="0" smtClean="0"/>
            </a:b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763000" cy="1143000"/>
          </a:xfrm>
        </p:spPr>
        <p:txBody>
          <a:bodyPr>
            <a:normAutofit fontScale="90000"/>
          </a:bodyPr>
          <a:lstStyle/>
          <a:p>
            <a:r>
              <a:rPr lang="en-US" sz="3600" b="1" dirty="0">
                <a:latin typeface="Arial Narrow" pitchFamily="34" charset="0"/>
              </a:rPr>
              <a:t>1.3.1. </a:t>
            </a:r>
            <a:r>
              <a:rPr lang="en-US" sz="3600" b="1" dirty="0" smtClean="0">
                <a:latin typeface="Arial Narrow" pitchFamily="34" charset="0"/>
              </a:rPr>
              <a:t>The </a:t>
            </a:r>
            <a:r>
              <a:rPr lang="en-US" sz="3600" b="1" dirty="0">
                <a:latin typeface="Arial Narrow" pitchFamily="34" charset="0"/>
              </a:rPr>
              <a:t>f</a:t>
            </a:r>
            <a:r>
              <a:rPr lang="en-US" sz="3600" b="1" dirty="0" smtClean="0">
                <a:latin typeface="Arial Narrow" pitchFamily="34" charset="0"/>
              </a:rPr>
              <a:t>ive early </a:t>
            </a:r>
            <a:r>
              <a:rPr lang="en-US" sz="3600" b="1" dirty="0">
                <a:latin typeface="Arial Narrow" pitchFamily="34" charset="0"/>
              </a:rPr>
              <a:t>schools of </a:t>
            </a:r>
            <a:r>
              <a:rPr lang="en-US" sz="3600" b="1" dirty="0" smtClean="0">
                <a:latin typeface="Arial Narrow" pitchFamily="34" charset="0"/>
              </a:rPr>
              <a:t>psychology</a:t>
            </a:r>
            <a:r>
              <a:rPr lang="en-US" dirty="0" smtClean="0"/>
              <a:t/>
            </a:r>
            <a:br>
              <a:rPr lang="en-US" dirty="0" smtClean="0"/>
            </a:br>
            <a:endParaRPr lang="en-US" dirty="0"/>
          </a:p>
        </p:txBody>
      </p:sp>
      <p:sp>
        <p:nvSpPr>
          <p:cNvPr id="3" name="Content Placeholder 2"/>
          <p:cNvSpPr>
            <a:spLocks noGrp="1"/>
          </p:cNvSpPr>
          <p:nvPr>
            <p:ph idx="1"/>
          </p:nvPr>
        </p:nvSpPr>
        <p:spPr>
          <a:xfrm>
            <a:off x="152400" y="990600"/>
            <a:ext cx="8839200" cy="5638800"/>
          </a:xfrm>
        </p:spPr>
        <p:txBody>
          <a:bodyPr>
            <a:normAutofit fontScale="25000" lnSpcReduction="20000"/>
          </a:bodyPr>
          <a:lstStyle/>
          <a:p>
            <a:pPr marL="514350" indent="-514350">
              <a:buAutoNum type="arabicPeriod"/>
            </a:pPr>
            <a:r>
              <a:rPr lang="en-US" sz="11200" b="1" dirty="0" smtClean="0">
                <a:latin typeface="Arial Narrow" pitchFamily="34" charset="0"/>
              </a:rPr>
              <a:t>Structuralism</a:t>
            </a:r>
          </a:p>
          <a:p>
            <a:pPr marL="514350" indent="-514350">
              <a:buNone/>
            </a:pPr>
            <a:r>
              <a:rPr lang="en-US" sz="11200" b="1" dirty="0" smtClean="0">
                <a:latin typeface="Arial Narrow" pitchFamily="34" charset="0"/>
              </a:rPr>
              <a:t>	</a:t>
            </a:r>
            <a:r>
              <a:rPr lang="en-US" sz="11200" dirty="0" smtClean="0">
                <a:latin typeface="Arial Narrow" pitchFamily="34" charset="0"/>
              </a:rPr>
              <a:t>View -  psychology is a study of structure of mind.</a:t>
            </a:r>
          </a:p>
          <a:p>
            <a:pPr marL="514350" indent="-514350">
              <a:buNone/>
            </a:pPr>
            <a:r>
              <a:rPr lang="en-US" sz="11200" dirty="0" smtClean="0">
                <a:latin typeface="Arial Narrow" pitchFamily="34" charset="0"/>
              </a:rPr>
              <a:t>	Founder - Edward </a:t>
            </a:r>
            <a:r>
              <a:rPr lang="en-US" sz="11200" dirty="0" err="1" smtClean="0">
                <a:latin typeface="Arial Narrow" pitchFamily="34" charset="0"/>
              </a:rPr>
              <a:t>Titchener</a:t>
            </a:r>
            <a:r>
              <a:rPr lang="en-US" sz="11200" dirty="0" smtClean="0">
                <a:latin typeface="Arial Narrow" pitchFamily="34" charset="0"/>
              </a:rPr>
              <a:t> based on Wundt‘s ideas	</a:t>
            </a:r>
          </a:p>
          <a:p>
            <a:pPr marL="514350" indent="-514350">
              <a:buNone/>
            </a:pPr>
            <a:r>
              <a:rPr lang="en-US" sz="11200" dirty="0" smtClean="0">
                <a:latin typeface="Arial Narrow" pitchFamily="34" charset="0"/>
              </a:rPr>
              <a:t>	Goal - to analyze the units or elements of mental process </a:t>
            </a:r>
          </a:p>
          <a:p>
            <a:pPr marL="514350" indent="-514350">
              <a:buNone/>
            </a:pPr>
            <a:r>
              <a:rPr lang="en-US" sz="11200" dirty="0" smtClean="0">
                <a:latin typeface="Arial Narrow" pitchFamily="34" charset="0"/>
              </a:rPr>
              <a:t>		      such as; sensations, images, &amp; feelings.</a:t>
            </a:r>
          </a:p>
          <a:p>
            <a:pPr marL="514350" indent="-514350">
              <a:buNone/>
            </a:pPr>
            <a:r>
              <a:rPr lang="en-US" sz="11200" dirty="0" smtClean="0">
                <a:latin typeface="Arial Narrow" pitchFamily="34" charset="0"/>
              </a:rPr>
              <a:t>	Method - introspection (looking inward into our consciousness)</a:t>
            </a:r>
          </a:p>
          <a:p>
            <a:pPr marL="514350" indent="-514350">
              <a:buNone/>
            </a:pPr>
            <a:r>
              <a:rPr lang="en-US" sz="11200" b="1" dirty="0" smtClean="0">
                <a:latin typeface="Arial Narrow" pitchFamily="34" charset="0"/>
              </a:rPr>
              <a:t>2. Functionalism</a:t>
            </a:r>
          </a:p>
          <a:p>
            <a:pPr marL="514350" indent="-514350">
              <a:buNone/>
            </a:pPr>
            <a:r>
              <a:rPr lang="en-US" sz="11200" b="1" dirty="0" smtClean="0">
                <a:latin typeface="Arial Narrow" pitchFamily="34" charset="0"/>
              </a:rPr>
              <a:t>	</a:t>
            </a:r>
            <a:r>
              <a:rPr lang="en-US" sz="11200" dirty="0" smtClean="0">
                <a:latin typeface="Arial Narrow" pitchFamily="34" charset="0"/>
              </a:rPr>
              <a:t>Views - psychology is a study of </a:t>
            </a:r>
            <a:r>
              <a:rPr lang="en-US" sz="11200" i="1" dirty="0" smtClean="0">
                <a:latin typeface="Arial Narrow" pitchFamily="34" charset="0"/>
              </a:rPr>
              <a:t>function of the mind </a:t>
            </a:r>
          </a:p>
          <a:p>
            <a:pPr marL="514350" indent="-514350">
              <a:buNone/>
            </a:pPr>
            <a:r>
              <a:rPr lang="en-US" sz="11200" i="1" dirty="0" smtClean="0">
                <a:latin typeface="Arial Narrow" pitchFamily="34" charset="0"/>
              </a:rPr>
              <a:t>	</a:t>
            </a:r>
            <a:r>
              <a:rPr lang="en-US" sz="11200" dirty="0" smtClean="0">
                <a:latin typeface="Arial Narrow" pitchFamily="34" charset="0"/>
              </a:rPr>
              <a:t>Founder - William James.</a:t>
            </a:r>
          </a:p>
          <a:p>
            <a:pPr marL="514350" indent="-514350">
              <a:buNone/>
            </a:pPr>
            <a:r>
              <a:rPr lang="en-US" sz="11200" dirty="0" smtClean="0">
                <a:latin typeface="Arial Narrow" pitchFamily="34" charset="0"/>
              </a:rPr>
              <a:t>	Goal -  examine how the mind allows people to function in the</a:t>
            </a:r>
          </a:p>
          <a:p>
            <a:pPr marL="514350" indent="-514350">
              <a:buNone/>
            </a:pPr>
            <a:r>
              <a:rPr lang="en-US" sz="11200" dirty="0" smtClean="0">
                <a:latin typeface="Arial Narrow" pitchFamily="34" charset="0"/>
              </a:rPr>
              <a:t>		       real world; </a:t>
            </a:r>
            <a:r>
              <a:rPr lang="en-US" sz="11200" i="1" dirty="0" smtClean="0">
                <a:latin typeface="Arial Narrow" pitchFamily="34" charset="0"/>
              </a:rPr>
              <a:t>– </a:t>
            </a:r>
            <a:r>
              <a:rPr lang="en-US" sz="11200" dirty="0" smtClean="0">
                <a:latin typeface="Arial Narrow" pitchFamily="34" charset="0"/>
              </a:rPr>
              <a:t>how people work, play, and adapt </a:t>
            </a:r>
          </a:p>
          <a:p>
            <a:pPr marL="514350" indent="-514350">
              <a:buNone/>
            </a:pPr>
            <a:r>
              <a:rPr lang="en-US" sz="11200" dirty="0" smtClean="0">
                <a:latin typeface="Arial Narrow" pitchFamily="34" charset="0"/>
              </a:rPr>
              <a:t>	Methods - methods other than introspection including </a:t>
            </a:r>
          </a:p>
          <a:p>
            <a:pPr marL="514350" indent="-514350">
              <a:buNone/>
            </a:pPr>
            <a:r>
              <a:rPr lang="en-US" sz="11200" dirty="0" smtClean="0">
                <a:latin typeface="Arial Narrow" pitchFamily="34" charset="0"/>
              </a:rPr>
              <a:t>		          questionnaires, mental te</a:t>
            </a:r>
            <a:r>
              <a:rPr lang="en-US" sz="11200" i="1" dirty="0" smtClean="0">
                <a:latin typeface="Arial Narrow" pitchFamily="34" charset="0"/>
              </a:rPr>
              <a:t>s</a:t>
            </a:r>
            <a:r>
              <a:rPr lang="en-US" sz="11200" dirty="0" smtClean="0">
                <a:latin typeface="Arial Narrow" pitchFamily="34" charset="0"/>
              </a:rPr>
              <a:t>ts &amp; objective descriptions.</a:t>
            </a:r>
          </a:p>
          <a:p>
            <a:pPr marL="514350" indent="-514350">
              <a:buNone/>
            </a:pPr>
            <a:r>
              <a:rPr lang="en-US" dirty="0" smtClean="0">
                <a:latin typeface="Arial Narrow" pitchFamily="34" charset="0"/>
              </a:rPr>
              <a:t/>
            </a:r>
            <a:br>
              <a:rPr lang="en-US" dirty="0" smtClean="0">
                <a:latin typeface="Arial Narrow" pitchFamily="34" charset="0"/>
              </a:rPr>
            </a:br>
            <a:r>
              <a:rPr lang="en-US" dirty="0" smtClean="0"/>
              <a:t/>
            </a:r>
            <a:br>
              <a:rPr lang="en-US" dirty="0" smtClean="0"/>
            </a:br>
            <a:r>
              <a:rPr lang="en-US" dirty="0" smtClean="0"/>
              <a:t/>
            </a:r>
            <a:br>
              <a:rPr lang="en-US" dirty="0" smtClean="0"/>
            </a:b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610600" cy="639762"/>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304800" y="990600"/>
            <a:ext cx="8610600" cy="5638800"/>
          </a:xfrm>
        </p:spPr>
        <p:txBody>
          <a:bodyPr>
            <a:normAutofit/>
          </a:bodyPr>
          <a:lstStyle/>
          <a:p>
            <a:pPr>
              <a:buNone/>
            </a:pPr>
            <a:r>
              <a:rPr lang="en-US" b="1" dirty="0" smtClean="0"/>
              <a:t>3. Gestalt psychology</a:t>
            </a:r>
          </a:p>
          <a:p>
            <a:pPr>
              <a:buNone/>
            </a:pPr>
            <a:r>
              <a:rPr lang="en-US" sz="3000" b="1" dirty="0" smtClean="0">
                <a:latin typeface="Arial Narrow" pitchFamily="34" charset="0"/>
              </a:rPr>
              <a:t>View - </a:t>
            </a:r>
            <a:r>
              <a:rPr lang="en-US" sz="3000" dirty="0" smtClean="0">
                <a:latin typeface="Arial Narrow" pitchFamily="34" charset="0"/>
              </a:rPr>
              <a:t>psychology is a study of the whole mind than its parts   (images, sensations, and feelings). </a:t>
            </a:r>
          </a:p>
          <a:p>
            <a:pPr>
              <a:buNone/>
            </a:pPr>
            <a:r>
              <a:rPr lang="en-US" sz="3000" b="1" dirty="0" smtClean="0">
                <a:latin typeface="Arial Narrow" pitchFamily="34" charset="0"/>
              </a:rPr>
              <a:t>Founders</a:t>
            </a:r>
            <a:r>
              <a:rPr lang="en-US" sz="3000" dirty="0" smtClean="0">
                <a:latin typeface="Arial Narrow" pitchFamily="34" charset="0"/>
              </a:rPr>
              <a:t> - Max Wertheimer and his colleagues.</a:t>
            </a:r>
          </a:p>
          <a:p>
            <a:pPr>
              <a:buNone/>
            </a:pPr>
            <a:r>
              <a:rPr lang="en-US" sz="3000" b="1" dirty="0" smtClean="0">
                <a:latin typeface="Arial Narrow" pitchFamily="34" charset="0"/>
              </a:rPr>
              <a:t>Goal -</a:t>
            </a:r>
            <a:r>
              <a:rPr lang="en-US" sz="3000" dirty="0" smtClean="0">
                <a:latin typeface="Arial Narrow" pitchFamily="34" charset="0"/>
              </a:rPr>
              <a:t> studying the whole pattern of sensory activity   and the relationships and organizations within their pattern.</a:t>
            </a:r>
          </a:p>
          <a:p>
            <a:endParaRPr lang="en-US" sz="2800" dirty="0" smtClean="0"/>
          </a:p>
          <a:p>
            <a:r>
              <a:rPr lang="en-US" sz="2800" dirty="0" smtClean="0">
                <a:latin typeface="Arial Narrow" pitchFamily="34" charset="0"/>
              </a:rPr>
              <a:t>All the three schools of though try to examine the conscious human mind; which is an internal, no-visible, and hidden experience of human beings. </a:t>
            </a:r>
            <a:br>
              <a:rPr lang="en-US" sz="2800" dirty="0" smtClean="0">
                <a:latin typeface="Arial Narrow" pitchFamily="34" charset="0"/>
              </a:rPr>
            </a:br>
            <a:endParaRPr lang="en-US" sz="3000" dirty="0" smtClean="0">
              <a:latin typeface="Arial Narrow"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228600" y="1066800"/>
            <a:ext cx="8686800" cy="5562600"/>
          </a:xfrm>
        </p:spPr>
        <p:txBody>
          <a:bodyPr>
            <a:normAutofit fontScale="85000" lnSpcReduction="10000"/>
          </a:bodyPr>
          <a:lstStyle/>
          <a:p>
            <a:pPr>
              <a:lnSpc>
                <a:spcPct val="110000"/>
              </a:lnSpc>
              <a:spcBef>
                <a:spcPts val="600"/>
              </a:spcBef>
              <a:spcAft>
                <a:spcPts val="600"/>
              </a:spcAft>
              <a:buNone/>
            </a:pPr>
            <a:r>
              <a:rPr lang="en-US" b="1" dirty="0" smtClean="0">
                <a:latin typeface="Arial Narrow" pitchFamily="34" charset="0"/>
              </a:rPr>
              <a:t>4</a:t>
            </a:r>
            <a:r>
              <a:rPr lang="en-US" sz="3000" b="1" dirty="0" smtClean="0">
                <a:latin typeface="Arial Narrow" pitchFamily="34" charset="0"/>
              </a:rPr>
              <a:t>. </a:t>
            </a:r>
            <a:r>
              <a:rPr lang="en-US" sz="3300" b="1" dirty="0" smtClean="0">
                <a:latin typeface="Arial Narrow" pitchFamily="34" charset="0"/>
              </a:rPr>
              <a:t>Behaviorism</a:t>
            </a:r>
          </a:p>
          <a:p>
            <a:pPr>
              <a:lnSpc>
                <a:spcPct val="110000"/>
              </a:lnSpc>
              <a:spcBef>
                <a:spcPts val="600"/>
              </a:spcBef>
              <a:spcAft>
                <a:spcPts val="600"/>
              </a:spcAft>
              <a:buNone/>
            </a:pPr>
            <a:r>
              <a:rPr lang="en-US" sz="3300" b="1" dirty="0" smtClean="0">
                <a:latin typeface="Arial Narrow" pitchFamily="34" charset="0"/>
              </a:rPr>
              <a:t>	View -</a:t>
            </a:r>
            <a:r>
              <a:rPr lang="en-US" sz="3300" dirty="0" smtClean="0">
                <a:latin typeface="Arial Narrow" pitchFamily="34" charset="0"/>
              </a:rPr>
              <a:t> psychology is the study of observable and measurable behaviors: not about hidden mental processes.</a:t>
            </a:r>
          </a:p>
          <a:p>
            <a:pPr>
              <a:lnSpc>
                <a:spcPct val="110000"/>
              </a:lnSpc>
              <a:spcBef>
                <a:spcPts val="600"/>
              </a:spcBef>
              <a:spcAft>
                <a:spcPts val="600"/>
              </a:spcAft>
              <a:buNone/>
            </a:pPr>
            <a:r>
              <a:rPr lang="en-US" sz="3300" dirty="0" smtClean="0">
                <a:latin typeface="Arial Narrow" pitchFamily="34" charset="0"/>
              </a:rPr>
              <a:t>	</a:t>
            </a:r>
            <a:r>
              <a:rPr lang="en-US" sz="3300" b="1" dirty="0" smtClean="0">
                <a:latin typeface="Arial Narrow" pitchFamily="34" charset="0"/>
              </a:rPr>
              <a:t>Founder </a:t>
            </a:r>
            <a:r>
              <a:rPr lang="en-US" sz="3300" dirty="0" smtClean="0">
                <a:latin typeface="Arial Narrow" pitchFamily="34" charset="0"/>
              </a:rPr>
              <a:t>- John B. Watson is the founder of behaviorism. Other proponents include E. Thorndike and F. Skinner. </a:t>
            </a:r>
          </a:p>
          <a:p>
            <a:pPr>
              <a:lnSpc>
                <a:spcPct val="110000"/>
              </a:lnSpc>
              <a:spcBef>
                <a:spcPts val="600"/>
              </a:spcBef>
              <a:spcAft>
                <a:spcPts val="600"/>
              </a:spcAft>
              <a:buNone/>
            </a:pPr>
            <a:r>
              <a:rPr lang="en-US" sz="3300" dirty="0" smtClean="0">
                <a:latin typeface="Arial Narrow" pitchFamily="34" charset="0"/>
              </a:rPr>
              <a:t>	</a:t>
            </a:r>
            <a:r>
              <a:rPr lang="en-US" sz="3300" b="1" dirty="0" smtClean="0">
                <a:latin typeface="Arial Narrow" pitchFamily="34" charset="0"/>
              </a:rPr>
              <a:t>Goal</a:t>
            </a:r>
            <a:r>
              <a:rPr lang="en-US" sz="3300" dirty="0" smtClean="0">
                <a:latin typeface="Arial Narrow" pitchFamily="34" charset="0"/>
              </a:rPr>
              <a:t> - to observe the effect of the environment on behavior. </a:t>
            </a:r>
            <a:r>
              <a:rPr lang="en-US" dirty="0" smtClean="0"/>
              <a:t/>
            </a:r>
            <a:br>
              <a:rPr lang="en-US" dirty="0" smtClean="0"/>
            </a:br>
            <a:r>
              <a:rPr lang="en-US" sz="3300" b="1" dirty="0" smtClean="0">
                <a:latin typeface="Arial Narrow" pitchFamily="34" charset="0"/>
              </a:rPr>
              <a:t>Method</a:t>
            </a:r>
            <a:r>
              <a:rPr lang="en-US" sz="3300" dirty="0" smtClean="0">
                <a:latin typeface="Arial Narrow" pitchFamily="34" charset="0"/>
              </a:rPr>
              <a:t> - observation and experiment</a:t>
            </a:r>
          </a:p>
          <a:p>
            <a:pPr>
              <a:lnSpc>
                <a:spcPct val="110000"/>
              </a:lnSpc>
              <a:spcBef>
                <a:spcPts val="600"/>
              </a:spcBef>
              <a:spcAft>
                <a:spcPts val="600"/>
              </a:spcAft>
              <a:buFont typeface="Wingdings" pitchFamily="2" charset="2"/>
              <a:buChar char="v"/>
            </a:pPr>
            <a:r>
              <a:rPr lang="en-US" sz="3300" dirty="0" smtClean="0">
                <a:latin typeface="Arial Narrow" pitchFamily="34" charset="0"/>
              </a:rPr>
              <a:t>All the four schools of thought discussed so far were focusing on human mind and behavior as conscious experiences </a:t>
            </a:r>
            <a:r>
              <a:rPr lang="en-US" dirty="0" smtClean="0"/>
              <a:t/>
            </a:r>
            <a:br>
              <a:rPr lang="en-US" dirty="0" smtClean="0"/>
            </a:br>
            <a:r>
              <a:rPr lang="en-US" dirty="0" smtClean="0"/>
              <a:t> </a:t>
            </a:r>
            <a:br>
              <a:rPr lang="en-US" dirty="0" smtClean="0"/>
            </a:b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534400" cy="563562"/>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152400" y="762000"/>
            <a:ext cx="8839200" cy="5943600"/>
          </a:xfrm>
        </p:spPr>
        <p:txBody>
          <a:bodyPr>
            <a:normAutofit fontScale="25000" lnSpcReduction="20000"/>
          </a:bodyPr>
          <a:lstStyle/>
          <a:p>
            <a:pPr>
              <a:buNone/>
            </a:pPr>
            <a:r>
              <a:rPr lang="en-US" sz="11200" b="1" dirty="0" smtClean="0">
                <a:latin typeface="Arial Narrow" pitchFamily="34" charset="0"/>
              </a:rPr>
              <a:t>5. Psychoanalysis</a:t>
            </a:r>
          </a:p>
          <a:p>
            <a:pPr>
              <a:buNone/>
            </a:pPr>
            <a:r>
              <a:rPr lang="en-US" sz="11200" b="1" dirty="0" smtClean="0">
                <a:latin typeface="Arial Narrow" pitchFamily="34" charset="0"/>
              </a:rPr>
              <a:t>View </a:t>
            </a:r>
            <a:r>
              <a:rPr lang="en-US" sz="11200" dirty="0" smtClean="0">
                <a:latin typeface="Arial Narrow" pitchFamily="34" charset="0"/>
              </a:rPr>
              <a:t>- psychology should study about the components of the unconscious part of the mind: </a:t>
            </a:r>
            <a:r>
              <a:rPr lang="en-US" sz="9600" dirty="0" smtClean="0">
                <a:latin typeface="Arial Narrow" pitchFamily="34" charset="0"/>
              </a:rPr>
              <a:t>not about the tips of mental iceberg. </a:t>
            </a:r>
            <a:endParaRPr lang="en-US" sz="11200" dirty="0" smtClean="0">
              <a:latin typeface="Arial Narrow" pitchFamily="34" charset="0"/>
            </a:endParaRPr>
          </a:p>
          <a:p>
            <a:pPr>
              <a:buNone/>
            </a:pPr>
            <a:r>
              <a:rPr lang="en-US" sz="11200" b="1" dirty="0" smtClean="0">
                <a:latin typeface="Arial Narrow" pitchFamily="34" charset="0"/>
              </a:rPr>
              <a:t>Founder</a:t>
            </a:r>
            <a:r>
              <a:rPr lang="en-US" sz="11200" dirty="0" smtClean="0">
                <a:latin typeface="Arial Narrow" pitchFamily="34" charset="0"/>
              </a:rPr>
              <a:t> - Sigmund Freud. </a:t>
            </a:r>
          </a:p>
          <a:p>
            <a:r>
              <a:rPr lang="en-US" sz="11200" dirty="0" smtClean="0">
                <a:latin typeface="Arial Narrow" pitchFamily="34" charset="0"/>
              </a:rPr>
              <a:t>He realized that some physical illnesses of hysteria patients has emotional non-physical causes. He called these </a:t>
            </a:r>
            <a:r>
              <a:rPr lang="en-US" sz="11200" dirty="0" smtClean="0">
                <a:latin typeface="Arial Narrow" pitchFamily="34" charset="0"/>
              </a:rPr>
              <a:t>“ </a:t>
            </a:r>
            <a:r>
              <a:rPr lang="en-US" sz="11200" dirty="0" smtClean="0">
                <a:latin typeface="Arial Narrow" pitchFamily="34" charset="0"/>
              </a:rPr>
              <a:t>conversion reaction” or </a:t>
            </a:r>
            <a:r>
              <a:rPr lang="en-US" sz="11200" dirty="0" smtClean="0">
                <a:latin typeface="Arial Narrow" pitchFamily="34" charset="0"/>
              </a:rPr>
              <a:t>illnesses due to </a:t>
            </a:r>
            <a:r>
              <a:rPr lang="en-US" sz="11200" dirty="0" smtClean="0">
                <a:latin typeface="Arial Narrow" pitchFamily="34" charset="0"/>
              </a:rPr>
              <a:t>conversion of emotional </a:t>
            </a:r>
            <a:r>
              <a:rPr lang="en-US" sz="11200" dirty="0" smtClean="0">
                <a:latin typeface="Arial Narrow" pitchFamily="34" charset="0"/>
              </a:rPr>
              <a:t>problems. </a:t>
            </a:r>
            <a:endParaRPr lang="en-US" sz="11200" dirty="0" smtClean="0">
              <a:latin typeface="Arial Narrow" pitchFamily="34" charset="0"/>
            </a:endParaRPr>
          </a:p>
          <a:p>
            <a:r>
              <a:rPr lang="en-US" sz="11200" dirty="0" smtClean="0">
                <a:latin typeface="Arial Narrow" pitchFamily="34" charset="0"/>
              </a:rPr>
              <a:t>He also underscored that that conflicts and emotional traumas that had occurred in early childhood can be hidden or unconscious and then will remain to affect later behavior. </a:t>
            </a:r>
          </a:p>
          <a:p>
            <a:pPr>
              <a:buNone/>
            </a:pPr>
            <a:r>
              <a:rPr lang="en-US" sz="11200" b="1" dirty="0" smtClean="0">
                <a:latin typeface="Arial Narrow" pitchFamily="34" charset="0"/>
              </a:rPr>
              <a:t>Goal </a:t>
            </a:r>
            <a:r>
              <a:rPr lang="en-US" sz="11200" dirty="0" smtClean="0">
                <a:latin typeface="Arial Narrow" pitchFamily="34" charset="0"/>
              </a:rPr>
              <a:t>– to uncover the hidden wishes, passions, guilty secrets, unspeakable yearnings, and conflict between desire and duty. </a:t>
            </a:r>
          </a:p>
          <a:p>
            <a:pPr>
              <a:buNone/>
            </a:pPr>
            <a:r>
              <a:rPr lang="en-US" sz="11200" b="1" dirty="0" smtClean="0">
                <a:latin typeface="Arial Narrow" pitchFamily="34" charset="0"/>
              </a:rPr>
              <a:t>Method</a:t>
            </a:r>
            <a:r>
              <a:rPr lang="en-US" sz="11200" dirty="0" smtClean="0">
                <a:latin typeface="Arial Narrow" pitchFamily="34" charset="0"/>
              </a:rPr>
              <a:t> -</a:t>
            </a:r>
            <a:r>
              <a:rPr lang="en-US" sz="11200" b="1" i="1" dirty="0" smtClean="0">
                <a:latin typeface="Arial Narrow" pitchFamily="34" charset="0"/>
              </a:rPr>
              <a:t> </a:t>
            </a:r>
            <a:r>
              <a:rPr lang="en-US" sz="11200" dirty="0" smtClean="0">
                <a:latin typeface="Arial Narrow" pitchFamily="34" charset="0"/>
              </a:rPr>
              <a:t>clinical case studies (hypnosis, free association, &amp; dream analysis) </a:t>
            </a:r>
          </a:p>
          <a:p>
            <a:r>
              <a:rPr lang="en-US" sz="9600" dirty="0" smtClean="0">
                <a:latin typeface="Arial Narrow" pitchFamily="34" charset="0"/>
              </a:rPr>
              <a:t>We </a:t>
            </a:r>
            <a:r>
              <a:rPr lang="en-US" sz="9600" dirty="0" smtClean="0">
                <a:latin typeface="Arial Narrow" pitchFamily="34" charset="0"/>
              </a:rPr>
              <a:t>are not aware of our unconscious urges &amp; thoughts; they make themselves known in dreams, slip of the tongue, accidents &amp; even jokes. </a:t>
            </a:r>
            <a:br>
              <a:rPr lang="en-US" sz="9600" dirty="0" smtClean="0">
                <a:latin typeface="Arial Narrow" pitchFamily="34" charset="0"/>
              </a:rPr>
            </a:br>
            <a:r>
              <a:rPr lang="en-US" dirty="0" smtClean="0"/>
              <a:t/>
            </a:r>
            <a:br>
              <a:rPr lang="en-US" dirty="0" smtClean="0"/>
            </a:b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smtClean="0"/>
              <a:t>1.3.2. Modern schools of psychology</a:t>
            </a:r>
            <a:r>
              <a:rPr lang="en-US" dirty="0" smtClean="0"/>
              <a:t> </a:t>
            </a:r>
            <a:endParaRPr lang="en-US" dirty="0"/>
          </a:p>
        </p:txBody>
      </p:sp>
      <p:sp>
        <p:nvSpPr>
          <p:cNvPr id="3" name="Content Placeholder 2"/>
          <p:cNvSpPr>
            <a:spLocks noGrp="1"/>
          </p:cNvSpPr>
          <p:nvPr>
            <p:ph idx="1"/>
          </p:nvPr>
        </p:nvSpPr>
        <p:spPr>
          <a:xfrm>
            <a:off x="152400" y="990600"/>
            <a:ext cx="8839200" cy="5715000"/>
          </a:xfrm>
        </p:spPr>
        <p:txBody>
          <a:bodyPr>
            <a:normAutofit fontScale="25000" lnSpcReduction="20000"/>
          </a:bodyPr>
          <a:lstStyle/>
          <a:p>
            <a:r>
              <a:rPr lang="en-US" sz="11200" dirty="0" smtClean="0">
                <a:latin typeface="Arial Narrow" pitchFamily="34" charset="0"/>
              </a:rPr>
              <a:t>Perspectives are the different assumptions or ways of explaining behaviors. Take the following case to see different explanations by those different perspectives. </a:t>
            </a:r>
          </a:p>
          <a:p>
            <a:pPr>
              <a:buNone/>
            </a:pPr>
            <a:r>
              <a:rPr lang="en-US" sz="11200" b="1" dirty="0" smtClean="0">
                <a:latin typeface="Arial Narrow" pitchFamily="34" charset="0"/>
              </a:rPr>
              <a:t>Case:</a:t>
            </a:r>
            <a:r>
              <a:rPr lang="en-US" sz="11200" dirty="0" smtClean="0">
                <a:latin typeface="Arial Narrow" pitchFamily="34" charset="0"/>
              </a:rPr>
              <a:t> On the playground, a 6 year old Sam pushes little Sara off her bicycle and rides away on it.</a:t>
            </a:r>
          </a:p>
          <a:p>
            <a:pPr marL="514350" indent="-514350">
              <a:buAutoNum type="arabicPeriod"/>
            </a:pPr>
            <a:r>
              <a:rPr lang="en-US" sz="11200" b="1" dirty="0" smtClean="0">
                <a:latin typeface="Arial Narrow" pitchFamily="34" charset="0"/>
              </a:rPr>
              <a:t>Psychodynamic perspective </a:t>
            </a:r>
          </a:p>
          <a:p>
            <a:pPr marL="514350" indent="-514350">
              <a:buNone/>
            </a:pPr>
            <a:r>
              <a:rPr lang="en-US" sz="11200" dirty="0" smtClean="0">
                <a:latin typeface="Arial Narrow" pitchFamily="34" charset="0"/>
              </a:rPr>
              <a:t>	It has its origins in Freud's theory of psychoanalysis, but</a:t>
            </a:r>
            <a:br>
              <a:rPr lang="en-US" sz="11200" dirty="0" smtClean="0">
                <a:latin typeface="Arial Narrow" pitchFamily="34" charset="0"/>
              </a:rPr>
            </a:br>
            <a:r>
              <a:rPr lang="en-US" sz="11200" dirty="0" smtClean="0">
                <a:latin typeface="Arial Narrow" pitchFamily="34" charset="0"/>
              </a:rPr>
              <a:t>many other psychodynamic theories exist. It emphasizes on;</a:t>
            </a:r>
          </a:p>
          <a:p>
            <a:pPr marL="914400" lvl="1" indent="-514350"/>
            <a:r>
              <a:rPr lang="en-US" sz="11200" dirty="0" smtClean="0">
                <a:latin typeface="Arial Narrow" pitchFamily="34" charset="0"/>
              </a:rPr>
              <a:t>the unconscious dynamics within the individual such as inner forces, conflicts or instinctual energy.</a:t>
            </a:r>
          </a:p>
          <a:p>
            <a:pPr marL="914400" lvl="1" indent="-514350"/>
            <a:r>
              <a:rPr lang="en-US" sz="9600" dirty="0" smtClean="0">
                <a:latin typeface="Arial Narrow" pitchFamily="34" charset="0"/>
              </a:rPr>
              <a:t>The role of childhood experiences in shaping adult personality</a:t>
            </a:r>
          </a:p>
          <a:p>
            <a:pPr marL="914400" lvl="1" indent="-514350"/>
            <a:r>
              <a:rPr lang="en-US" sz="11200" dirty="0" smtClean="0">
                <a:latin typeface="Arial Narrow" pitchFamily="34" charset="0"/>
              </a:rPr>
              <a:t>The role of intrapersonal conflict in human behavior</a:t>
            </a:r>
          </a:p>
          <a:p>
            <a:pPr marL="914400" lvl="1" indent="-514350">
              <a:buNone/>
            </a:pPr>
            <a:r>
              <a:rPr lang="en-US" sz="11200" dirty="0" smtClean="0">
                <a:latin typeface="Arial Narrow" pitchFamily="34" charset="0"/>
              </a:rPr>
              <a:t>Psychodynamic view tries to dig below the surface of a person's behavior to get into unconscious motives; </a:t>
            </a:r>
            <a:r>
              <a:rPr lang="en-US" sz="11200" dirty="0" err="1" smtClean="0">
                <a:latin typeface="Arial Narrow" pitchFamily="34" charset="0"/>
              </a:rPr>
              <a:t>psychodynamists</a:t>
            </a:r>
            <a:r>
              <a:rPr lang="en-US" sz="11200" dirty="0" smtClean="0">
                <a:latin typeface="Arial Narrow" pitchFamily="34" charset="0"/>
              </a:rPr>
              <a:t> think of themselves as archaeologists of the mind. </a:t>
            </a:r>
            <a:r>
              <a:rPr lang="en-US" sz="2400" dirty="0" smtClean="0"/>
              <a:t/>
            </a:r>
            <a:br>
              <a:rPr lang="en-US" sz="2400" dirty="0" smtClean="0"/>
            </a:br>
            <a:r>
              <a:rPr lang="en-US" sz="2400" dirty="0" smtClean="0">
                <a:latin typeface="Arial Narrow" pitchFamily="34" charset="0"/>
              </a:rPr>
              <a:t/>
            </a:r>
            <a:br>
              <a:rPr lang="en-US" sz="2400" dirty="0" smtClean="0">
                <a:latin typeface="Arial Narrow" pitchFamily="34" charset="0"/>
              </a:rPr>
            </a:br>
            <a:endParaRPr lang="en-US" sz="2400" dirty="0">
              <a:latin typeface="Arial Narrow"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pPr algn="l"/>
            <a:r>
              <a:rPr lang="en-US" sz="3600" b="1" dirty="0" smtClean="0">
                <a:latin typeface="Arial Narrow" pitchFamily="34" charset="0"/>
              </a:rPr>
              <a:t>2. Behavioral Perspective</a:t>
            </a:r>
            <a:endParaRPr lang="en-US" dirty="0"/>
          </a:p>
        </p:txBody>
      </p:sp>
      <p:sp>
        <p:nvSpPr>
          <p:cNvPr id="3" name="Content Placeholder 2"/>
          <p:cNvSpPr>
            <a:spLocks noGrp="1"/>
          </p:cNvSpPr>
          <p:nvPr>
            <p:ph idx="1"/>
          </p:nvPr>
        </p:nvSpPr>
        <p:spPr>
          <a:xfrm>
            <a:off x="228600" y="1066800"/>
            <a:ext cx="8686800" cy="5562600"/>
          </a:xfrm>
        </p:spPr>
        <p:txBody>
          <a:bodyPr>
            <a:normAutofit fontScale="25000" lnSpcReduction="20000"/>
          </a:bodyPr>
          <a:lstStyle/>
          <a:p>
            <a:pPr>
              <a:lnSpc>
                <a:spcPct val="120000"/>
              </a:lnSpc>
              <a:spcBef>
                <a:spcPts val="600"/>
              </a:spcBef>
              <a:spcAft>
                <a:spcPts val="600"/>
              </a:spcAft>
            </a:pPr>
            <a:r>
              <a:rPr lang="en-US" sz="11200" dirty="0" smtClean="0">
                <a:latin typeface="Arial Narrow" pitchFamily="34" charset="0"/>
              </a:rPr>
              <a:t>It emphasizes on the role learning experiences play in shaping the behavior of an organism. It is concerned with how the environment affects the person‘s actions. </a:t>
            </a:r>
          </a:p>
          <a:p>
            <a:pPr>
              <a:lnSpc>
                <a:spcPct val="120000"/>
              </a:lnSpc>
              <a:spcBef>
                <a:spcPts val="600"/>
              </a:spcBef>
              <a:spcAft>
                <a:spcPts val="600"/>
              </a:spcAft>
            </a:pPr>
            <a:r>
              <a:rPr lang="en-US" sz="11200" dirty="0" smtClean="0">
                <a:latin typeface="Arial Narrow" pitchFamily="34" charset="0"/>
              </a:rPr>
              <a:t>Behaviorists focus on environmental conditions (e.g. rewards, &amp; punishments) that maintain or discourage specific behaviors. </a:t>
            </a:r>
          </a:p>
          <a:p>
            <a:pPr>
              <a:lnSpc>
                <a:spcPct val="120000"/>
              </a:lnSpc>
              <a:spcBef>
                <a:spcPts val="600"/>
              </a:spcBef>
              <a:spcAft>
                <a:spcPts val="600"/>
              </a:spcAft>
            </a:pPr>
            <a:r>
              <a:rPr lang="en-US" sz="11200" dirty="0" smtClean="0">
                <a:latin typeface="Arial Narrow" pitchFamily="34" charset="0"/>
              </a:rPr>
              <a:t>The behavioral perspective is sometimes called the </a:t>
            </a:r>
            <a:r>
              <a:rPr lang="en-US" sz="11200" i="1" dirty="0" smtClean="0">
                <a:latin typeface="Arial Narrow" pitchFamily="34" charset="0"/>
              </a:rPr>
              <a:t>"black box" approach in psychology </a:t>
            </a:r>
            <a:r>
              <a:rPr lang="en-US" sz="11200" dirty="0" smtClean="0">
                <a:latin typeface="Arial Narrow" pitchFamily="34" charset="0"/>
              </a:rPr>
              <a:t>because it treats the mind as less useful </a:t>
            </a:r>
            <a:r>
              <a:rPr lang="en-US" sz="11200" i="1" dirty="0" smtClean="0">
                <a:latin typeface="Arial Narrow" pitchFamily="34" charset="0"/>
              </a:rPr>
              <a:t>in understanding human behavior.</a:t>
            </a:r>
          </a:p>
          <a:p>
            <a:pPr>
              <a:lnSpc>
                <a:spcPct val="120000"/>
              </a:lnSpc>
              <a:spcBef>
                <a:spcPts val="600"/>
              </a:spcBef>
              <a:spcAft>
                <a:spcPts val="600"/>
              </a:spcAft>
            </a:pPr>
            <a:r>
              <a:rPr lang="en-US" sz="11200" dirty="0" smtClean="0">
                <a:latin typeface="Arial Narrow" pitchFamily="34" charset="0"/>
              </a:rPr>
              <a:t>This means, behaviorists are only interested in the effects of the environment (input) on behavior (output) but not in the process inside the box. </a:t>
            </a:r>
            <a:r>
              <a:rPr lang="en-US" dirty="0" smtClean="0"/>
              <a:t/>
            </a:r>
            <a:br>
              <a:rPr lang="en-US" dirty="0" smtClean="0"/>
            </a:b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pPr algn="l"/>
            <a:r>
              <a:rPr lang="en-US" sz="3200" b="1" dirty="0" smtClean="0"/>
              <a:t>3. Humanistic Perspective</a:t>
            </a:r>
            <a:endParaRPr lang="en-US" sz="3200" dirty="0"/>
          </a:p>
        </p:txBody>
      </p:sp>
      <p:sp>
        <p:nvSpPr>
          <p:cNvPr id="3" name="Content Placeholder 2"/>
          <p:cNvSpPr>
            <a:spLocks noGrp="1"/>
          </p:cNvSpPr>
          <p:nvPr>
            <p:ph idx="1"/>
          </p:nvPr>
        </p:nvSpPr>
        <p:spPr>
          <a:xfrm>
            <a:off x="228600" y="1219200"/>
            <a:ext cx="8686800" cy="5410200"/>
          </a:xfrm>
        </p:spPr>
        <p:txBody>
          <a:bodyPr>
            <a:normAutofit/>
          </a:bodyPr>
          <a:lstStyle/>
          <a:p>
            <a:pPr>
              <a:buFont typeface="Wingdings" pitchFamily="2" charset="2"/>
              <a:buChar char="§"/>
            </a:pPr>
            <a:r>
              <a:rPr lang="en-US" sz="2800" dirty="0" smtClean="0">
                <a:latin typeface="Arial Narrow" pitchFamily="34" charset="0"/>
              </a:rPr>
              <a:t>According to this perspective, human behavior is not determined either by unconscious dynamics or the environment. Rather it emphasizes the uniqueness of human beings and focuses on human values and subjective experiences. </a:t>
            </a:r>
          </a:p>
          <a:p>
            <a:pPr>
              <a:buFont typeface="Wingdings" pitchFamily="2" charset="2"/>
              <a:buChar char="§"/>
            </a:pPr>
            <a:r>
              <a:rPr lang="en-US" sz="2800" dirty="0" smtClean="0">
                <a:latin typeface="Arial Narrow" pitchFamily="34" charset="0"/>
              </a:rPr>
              <a:t>This perspective places greater importance on the individual‘s free will. </a:t>
            </a:r>
          </a:p>
          <a:p>
            <a:pPr>
              <a:buFont typeface="Wingdings" pitchFamily="2" charset="2"/>
              <a:buChar char="§"/>
            </a:pPr>
            <a:r>
              <a:rPr lang="en-US" sz="2800" dirty="0" smtClean="0">
                <a:latin typeface="Arial Narrow" pitchFamily="34" charset="0"/>
              </a:rPr>
              <a:t>The goal of humanistic psychology was helping people to express themselves creatively and achieve their full potential or self-actualization (developing human potential to its fullest). </a:t>
            </a:r>
            <a:br>
              <a:rPr lang="en-US" sz="2800" dirty="0" smtClean="0">
                <a:latin typeface="Arial Narrow" pitchFamily="34" charset="0"/>
              </a:rPr>
            </a:br>
            <a:endParaRPr lang="en-US" sz="2800" dirty="0">
              <a:latin typeface="Arial Narrow"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pPr algn="l"/>
            <a:r>
              <a:rPr lang="en-US" sz="3600" b="1" dirty="0" smtClean="0">
                <a:latin typeface="Arial Narrow" pitchFamily="34" charset="0"/>
              </a:rPr>
              <a:t>4. Cognitive Perspective</a:t>
            </a:r>
            <a:r>
              <a:rPr lang="en-US" dirty="0" smtClean="0"/>
              <a:t> </a:t>
            </a:r>
            <a:endParaRPr lang="en-US" dirty="0"/>
          </a:p>
        </p:txBody>
      </p:sp>
      <p:sp>
        <p:nvSpPr>
          <p:cNvPr id="3" name="Content Placeholder 2"/>
          <p:cNvSpPr>
            <a:spLocks noGrp="1"/>
          </p:cNvSpPr>
          <p:nvPr>
            <p:ph idx="1"/>
          </p:nvPr>
        </p:nvSpPr>
        <p:spPr>
          <a:xfrm>
            <a:off x="304800" y="838200"/>
            <a:ext cx="8534400" cy="5715000"/>
          </a:xfrm>
        </p:spPr>
        <p:txBody>
          <a:bodyPr>
            <a:normAutofit fontScale="92500"/>
          </a:bodyPr>
          <a:lstStyle/>
          <a:p>
            <a:r>
              <a:rPr lang="en-US" sz="3000" dirty="0" smtClean="0">
                <a:latin typeface="Arial Narrow" pitchFamily="34" charset="0"/>
              </a:rPr>
              <a:t>It emphasizes what goes on in people's heads; how people reason, remember, understand language, solve problems, explain experiences and form beliefs.</a:t>
            </a:r>
          </a:p>
          <a:p>
            <a:r>
              <a:rPr lang="en-US" sz="3000" dirty="0" smtClean="0">
                <a:latin typeface="Arial Narrow" pitchFamily="34" charset="0"/>
              </a:rPr>
              <a:t> This perspective is concerned about the mental processes. </a:t>
            </a:r>
          </a:p>
          <a:p>
            <a:r>
              <a:rPr lang="en-US" sz="3000" dirty="0" smtClean="0">
                <a:latin typeface="Arial Narrow" pitchFamily="34" charset="0"/>
              </a:rPr>
              <a:t>The most important contribution of this perspective has been to show how people's thoughts and explanations affect their actions, feelings, and choices. </a:t>
            </a:r>
          </a:p>
          <a:p>
            <a:r>
              <a:rPr lang="en-US" sz="3000" dirty="0" smtClean="0">
                <a:latin typeface="Arial Narrow" pitchFamily="34" charset="0"/>
              </a:rPr>
              <a:t>Techniques used to explore behavior from a cognitive perspective include electrical recording of brain activity, electrical stimulation and radioactive tracing of metabolic activity in the nervous system. </a:t>
            </a:r>
            <a:r>
              <a:rPr lang="en-US" dirty="0" smtClean="0"/>
              <a:t/>
            </a:r>
            <a:br>
              <a:rPr lang="en-US" dirty="0" smtClean="0"/>
            </a:b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pPr algn="l"/>
            <a:r>
              <a:rPr lang="en-US" sz="3200" b="1" dirty="0" smtClean="0">
                <a:latin typeface="Arial Narrow" pitchFamily="34" charset="0"/>
              </a:rPr>
              <a:t>5. Biological Perspective</a:t>
            </a:r>
            <a:endParaRPr lang="en-US" sz="3200" dirty="0">
              <a:latin typeface="Arial Narrow" pitchFamily="34" charset="0"/>
            </a:endParaRPr>
          </a:p>
        </p:txBody>
      </p:sp>
      <p:sp>
        <p:nvSpPr>
          <p:cNvPr id="3" name="Content Placeholder 2"/>
          <p:cNvSpPr>
            <a:spLocks noGrp="1"/>
          </p:cNvSpPr>
          <p:nvPr>
            <p:ph idx="1"/>
          </p:nvPr>
        </p:nvSpPr>
        <p:spPr>
          <a:xfrm>
            <a:off x="228600" y="1143000"/>
            <a:ext cx="8686800" cy="5486400"/>
          </a:xfrm>
        </p:spPr>
        <p:txBody>
          <a:bodyPr>
            <a:normAutofit fontScale="85000" lnSpcReduction="20000"/>
          </a:bodyPr>
          <a:lstStyle/>
          <a:p>
            <a:r>
              <a:rPr lang="en-US" sz="3300" dirty="0" smtClean="0">
                <a:latin typeface="Arial Narrow" pitchFamily="34" charset="0"/>
              </a:rPr>
              <a:t>It focuses on how the body affects behavior, feelings, and thoughts. It holds that the brain and the various brain</a:t>
            </a:r>
            <a:br>
              <a:rPr lang="en-US" sz="3300" dirty="0" smtClean="0">
                <a:latin typeface="Arial Narrow" pitchFamily="34" charset="0"/>
              </a:rPr>
            </a:br>
            <a:r>
              <a:rPr lang="en-US" sz="3300" dirty="0" smtClean="0">
                <a:latin typeface="Arial Narrow" pitchFamily="34" charset="0"/>
              </a:rPr>
              <a:t>chemicals affect psychological processes such as learning, performance, perceptions, the experience of emotions, etc. </a:t>
            </a:r>
          </a:p>
          <a:p>
            <a:r>
              <a:rPr lang="en-US" sz="3300" dirty="0" smtClean="0">
                <a:latin typeface="Arial Narrow" pitchFamily="34" charset="0"/>
              </a:rPr>
              <a:t>This perspective underscores that biology and behavior</a:t>
            </a:r>
            <a:br>
              <a:rPr lang="en-US" sz="3300" dirty="0" smtClean="0">
                <a:latin typeface="Arial Narrow" pitchFamily="34" charset="0"/>
              </a:rPr>
            </a:br>
            <a:r>
              <a:rPr lang="en-US" sz="3300" dirty="0" smtClean="0">
                <a:latin typeface="Arial Narrow" pitchFamily="34" charset="0"/>
              </a:rPr>
              <a:t>interact in a complex way; biology affecting behavior and behavior in turn affecting biology.</a:t>
            </a:r>
          </a:p>
          <a:p>
            <a:r>
              <a:rPr lang="en-US" sz="3300" dirty="0" smtClean="0">
                <a:latin typeface="Arial Narrow" pitchFamily="34" charset="0"/>
              </a:rPr>
              <a:t>It also emphasizes the idea that we are physical beings who evolved over a long time and that genetic heritage can predispose us to behaving in a certain way. </a:t>
            </a:r>
          </a:p>
          <a:p>
            <a:r>
              <a:rPr lang="en-US" sz="3300" dirty="0" smtClean="0">
                <a:latin typeface="Arial Narrow" pitchFamily="34" charset="0"/>
              </a:rPr>
              <a:t>In a manner that our eyebrows evolved to protect our eyes, we may have evolved certain kinds of behavior patterns to protect our bodies and ensure the survival of our species. </a:t>
            </a:r>
            <a:r>
              <a:rPr lang="en-US" dirty="0" smtClean="0"/>
              <a:t/>
            </a:r>
            <a:br>
              <a:rPr lang="en-US" dirty="0" smtClean="0"/>
            </a:b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pPr algn="l"/>
            <a:r>
              <a:rPr lang="en-US" sz="3200" b="1" dirty="0" smtClean="0">
                <a:latin typeface="Arial Narrow" pitchFamily="34" charset="0"/>
              </a:rPr>
              <a:t>6. Socio-cultural Perspective- </a:t>
            </a:r>
            <a:endParaRPr lang="en-US" sz="3200" dirty="0">
              <a:latin typeface="Arial Narrow" pitchFamily="34" charset="0"/>
            </a:endParaRPr>
          </a:p>
        </p:txBody>
      </p:sp>
      <p:sp>
        <p:nvSpPr>
          <p:cNvPr id="3" name="Content Placeholder 2"/>
          <p:cNvSpPr>
            <a:spLocks noGrp="1"/>
          </p:cNvSpPr>
          <p:nvPr>
            <p:ph idx="1"/>
          </p:nvPr>
        </p:nvSpPr>
        <p:spPr>
          <a:xfrm>
            <a:off x="228600" y="1143000"/>
            <a:ext cx="8686800" cy="5486400"/>
          </a:xfrm>
        </p:spPr>
        <p:txBody>
          <a:bodyPr>
            <a:normAutofit fontScale="70000" lnSpcReduction="20000"/>
          </a:bodyPr>
          <a:lstStyle/>
          <a:p>
            <a:r>
              <a:rPr lang="en-US" sz="4000" dirty="0" smtClean="0">
                <a:latin typeface="Arial Narrow" pitchFamily="34" charset="0"/>
              </a:rPr>
              <a:t>It focuses on the social and cultural factors that affects human</a:t>
            </a:r>
            <a:br>
              <a:rPr lang="en-US" sz="4000" dirty="0" smtClean="0">
                <a:latin typeface="Arial Narrow" pitchFamily="34" charset="0"/>
              </a:rPr>
            </a:br>
            <a:r>
              <a:rPr lang="en-US" sz="4000" dirty="0" smtClean="0">
                <a:latin typeface="Arial Narrow" pitchFamily="34" charset="0"/>
              </a:rPr>
              <a:t>behavior. </a:t>
            </a:r>
          </a:p>
          <a:p>
            <a:r>
              <a:rPr lang="en-US" sz="4000" dirty="0" smtClean="0">
                <a:latin typeface="Arial Narrow" pitchFamily="34" charset="0"/>
              </a:rPr>
              <a:t>As a fish cannot leave without water, human behavior cannot be understood without </a:t>
            </a:r>
            <a:r>
              <a:rPr lang="en-US" sz="4000" dirty="0" err="1" smtClean="0">
                <a:latin typeface="Arial Narrow" pitchFamily="34" charset="0"/>
              </a:rPr>
              <a:t>sociocultural</a:t>
            </a:r>
            <a:r>
              <a:rPr lang="en-US" sz="4000" dirty="0" smtClean="0">
                <a:latin typeface="Arial Narrow" pitchFamily="34" charset="0"/>
              </a:rPr>
              <a:t> context (the social and cultural environment) that people "Swim" in every day. </a:t>
            </a:r>
          </a:p>
          <a:p>
            <a:r>
              <a:rPr lang="en-US" sz="4000" dirty="0" smtClean="0">
                <a:latin typeface="Arial Narrow" pitchFamily="34" charset="0"/>
              </a:rPr>
              <a:t>For instance, social psychologists examine how group membership affects attitudes and behaviors, why people (like spouse, lovers, friends, bosses, parents, &amp; strangers) affect  us </a:t>
            </a:r>
          </a:p>
          <a:p>
            <a:r>
              <a:rPr lang="en-US" sz="4000" dirty="0" smtClean="0">
                <a:latin typeface="Arial Narrow" pitchFamily="34" charset="0"/>
              </a:rPr>
              <a:t>Cultural psychologists also examine how cultural rules and values affect people's development, behavior, and feelings.</a:t>
            </a:r>
          </a:p>
          <a:p>
            <a:r>
              <a:rPr lang="en-US" sz="4000" dirty="0" smtClean="0">
                <a:latin typeface="Arial Narrow" pitchFamily="34" charset="0"/>
              </a:rPr>
              <a:t> This perspective holds that humans are both the products and the producers of culture, and our behavior always occurs in some cultural contexts. </a:t>
            </a:r>
            <a:r>
              <a:rPr lang="en-US" dirty="0" smtClean="0"/>
              <a:t/>
            </a:r>
            <a:br>
              <a:rPr lang="en-US" dirty="0" smtClean="0"/>
            </a:b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792162"/>
          </a:xfrm>
        </p:spPr>
        <p:txBody>
          <a:bodyPr>
            <a:normAutofit/>
          </a:bodyPr>
          <a:lstStyle/>
          <a:p>
            <a:pPr algn="l"/>
            <a:r>
              <a:rPr lang="en-US" sz="3600" b="1" dirty="0" smtClean="0">
                <a:latin typeface="Arial Narrow" pitchFamily="34" charset="0"/>
              </a:rPr>
              <a:t>1.4 Branches /Sub fields/ of Psychology</a:t>
            </a:r>
            <a:r>
              <a:rPr lang="en-US" sz="3600" dirty="0" smtClean="0">
                <a:latin typeface="Arial Narrow" pitchFamily="34" charset="0"/>
              </a:rPr>
              <a:t> </a:t>
            </a:r>
            <a:endParaRPr lang="en-US" dirty="0"/>
          </a:p>
        </p:txBody>
      </p:sp>
      <p:sp>
        <p:nvSpPr>
          <p:cNvPr id="3" name="Content Placeholder 2"/>
          <p:cNvSpPr>
            <a:spLocks noGrp="1"/>
          </p:cNvSpPr>
          <p:nvPr>
            <p:ph idx="1"/>
          </p:nvPr>
        </p:nvSpPr>
        <p:spPr>
          <a:xfrm>
            <a:off x="228600" y="1066800"/>
            <a:ext cx="8686800" cy="5562600"/>
          </a:xfrm>
        </p:spPr>
        <p:txBody>
          <a:bodyPr>
            <a:normAutofit fontScale="25000" lnSpcReduction="20000"/>
          </a:bodyPr>
          <a:lstStyle/>
          <a:p>
            <a:pPr>
              <a:buNone/>
            </a:pPr>
            <a:r>
              <a:rPr lang="en-US" sz="11200" b="1" i="1" dirty="0" smtClean="0">
                <a:latin typeface="Arial Narrow" pitchFamily="34" charset="0"/>
              </a:rPr>
              <a:t>Where do psychologists employed to work after graduation?</a:t>
            </a:r>
          </a:p>
          <a:p>
            <a:pPr>
              <a:buNone/>
            </a:pPr>
            <a:r>
              <a:rPr lang="en-US" sz="11200" dirty="0" smtClean="0">
                <a:latin typeface="Arial Narrow" pitchFamily="34" charset="0"/>
              </a:rPr>
              <a:t>Psychology has very diverse fields/branches/sub fields which psychologists can pursue. Some of which are;</a:t>
            </a:r>
          </a:p>
          <a:p>
            <a:pPr marL="514350" indent="-514350">
              <a:buFont typeface="+mj-lt"/>
              <a:buAutoNum type="alphaUcPeriod"/>
            </a:pPr>
            <a:r>
              <a:rPr lang="en-US" sz="11200" i="1" dirty="0" smtClean="0">
                <a:latin typeface="Arial Narrow" pitchFamily="34" charset="0"/>
              </a:rPr>
              <a:t>Developmental psychology – </a:t>
            </a:r>
            <a:r>
              <a:rPr lang="en-US" sz="11200" dirty="0" smtClean="0">
                <a:latin typeface="Arial Narrow" pitchFamily="34" charset="0"/>
              </a:rPr>
              <a:t>It studies the physical, cognitive and psychological changes across the life span.</a:t>
            </a:r>
          </a:p>
          <a:p>
            <a:pPr marL="514350" indent="-514350">
              <a:buFont typeface="+mj-lt"/>
              <a:buAutoNum type="alphaUcPeriod"/>
            </a:pPr>
            <a:r>
              <a:rPr lang="en-US" sz="11200" i="1" dirty="0" smtClean="0">
                <a:latin typeface="Arial Narrow" pitchFamily="34" charset="0"/>
              </a:rPr>
              <a:t>Personality Psychology – </a:t>
            </a:r>
            <a:r>
              <a:rPr lang="en-US" sz="11200" dirty="0" smtClean="0">
                <a:latin typeface="Arial Narrow" pitchFamily="34" charset="0"/>
              </a:rPr>
              <a:t>it study about individual differences which focuses on the relatively enduring traits &amp; characteristics of individuals. </a:t>
            </a:r>
          </a:p>
          <a:p>
            <a:pPr marL="514350" indent="-514350">
              <a:buFont typeface="+mj-lt"/>
              <a:buAutoNum type="alphaUcPeriod"/>
            </a:pPr>
            <a:r>
              <a:rPr lang="en-US" sz="11200" i="1" dirty="0" smtClean="0">
                <a:latin typeface="Arial Narrow" pitchFamily="34" charset="0"/>
              </a:rPr>
              <a:t>Social Psychology –</a:t>
            </a:r>
            <a:r>
              <a:rPr lang="en-US" sz="11200" dirty="0" smtClean="0">
                <a:latin typeface="Arial Narrow" pitchFamily="34" charset="0"/>
              </a:rPr>
              <a:t>deals with people‘s social interactions, relationships, social perception, and attitudes.</a:t>
            </a:r>
          </a:p>
          <a:p>
            <a:pPr marL="514350" indent="-514350">
              <a:buFont typeface="+mj-lt"/>
              <a:buAutoNum type="alphaUcPeriod"/>
            </a:pPr>
            <a:r>
              <a:rPr lang="en-US" sz="11200" i="1" dirty="0" smtClean="0">
                <a:latin typeface="Arial Narrow" pitchFamily="34" charset="0"/>
              </a:rPr>
              <a:t>Cross-cultural Psychology </a:t>
            </a:r>
            <a:r>
              <a:rPr lang="en-US" sz="11200" dirty="0" smtClean="0">
                <a:latin typeface="Arial Narrow" pitchFamily="34" charset="0"/>
              </a:rPr>
              <a:t>- examines the role of culture in understanding behavior, thought, and emotion. </a:t>
            </a:r>
          </a:p>
          <a:p>
            <a:pPr marL="514350" indent="-514350">
              <a:buFont typeface="+mj-lt"/>
              <a:buAutoNum type="alphaUcPeriod"/>
            </a:pPr>
            <a:r>
              <a:rPr lang="en-US" sz="11200" i="1" dirty="0" smtClean="0">
                <a:latin typeface="Arial Narrow" pitchFamily="34" charset="0"/>
              </a:rPr>
              <a:t>Industrial psychology </a:t>
            </a:r>
            <a:r>
              <a:rPr lang="en-US" sz="11200" dirty="0" smtClean="0">
                <a:latin typeface="Arial Narrow" pitchFamily="34" charset="0"/>
              </a:rPr>
              <a:t>– applies psychological principles in industries &amp; organizations to increase the productivity.</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763000" cy="639762"/>
          </a:xfrm>
        </p:spPr>
        <p:txBody>
          <a:bodyPr>
            <a:normAutofit fontScale="90000"/>
          </a:bodyPr>
          <a:lstStyle/>
          <a:p>
            <a:endParaRPr lang="en-US" dirty="0"/>
          </a:p>
        </p:txBody>
      </p:sp>
      <p:sp>
        <p:nvSpPr>
          <p:cNvPr id="3" name="Content Placeholder 2"/>
          <p:cNvSpPr>
            <a:spLocks noGrp="1"/>
          </p:cNvSpPr>
          <p:nvPr>
            <p:ph idx="1"/>
          </p:nvPr>
        </p:nvSpPr>
        <p:spPr>
          <a:xfrm>
            <a:off x="152400" y="914400"/>
            <a:ext cx="8839200" cy="5791200"/>
          </a:xfrm>
        </p:spPr>
        <p:txBody>
          <a:bodyPr>
            <a:normAutofit fontScale="25000" lnSpcReduction="20000"/>
          </a:bodyPr>
          <a:lstStyle/>
          <a:p>
            <a:pPr marL="274320" indent="-274320">
              <a:lnSpc>
                <a:spcPct val="120000"/>
              </a:lnSpc>
              <a:spcBef>
                <a:spcPts val="600"/>
              </a:spcBef>
              <a:spcAft>
                <a:spcPts val="600"/>
              </a:spcAft>
              <a:buNone/>
            </a:pPr>
            <a:r>
              <a:rPr lang="en-US" sz="11200" dirty="0" smtClean="0">
                <a:latin typeface="Arial Narrow" pitchFamily="34" charset="0"/>
              </a:rPr>
              <a:t>F. Forensic psychology - applies psychological principles to improve the legal system (police, testimony, etc.</a:t>
            </a:r>
          </a:p>
          <a:p>
            <a:pPr marL="274320" indent="-274320">
              <a:lnSpc>
                <a:spcPct val="120000"/>
              </a:lnSpc>
              <a:spcBef>
                <a:spcPts val="600"/>
              </a:spcBef>
              <a:spcAft>
                <a:spcPts val="600"/>
              </a:spcAft>
              <a:buNone/>
            </a:pPr>
            <a:r>
              <a:rPr lang="en-US" sz="11200" i="1" dirty="0" smtClean="0">
                <a:latin typeface="Arial Narrow" pitchFamily="34" charset="0"/>
              </a:rPr>
              <a:t>G. Educational Psychology - </a:t>
            </a:r>
            <a:r>
              <a:rPr lang="en-US" sz="11200" dirty="0" smtClean="0">
                <a:latin typeface="Arial Narrow" pitchFamily="34" charset="0"/>
              </a:rPr>
              <a:t>concerned with the application of psychological principles &amp; theories to improve education process </a:t>
            </a:r>
          </a:p>
          <a:p>
            <a:pPr marL="274320" indent="-274320">
              <a:lnSpc>
                <a:spcPct val="120000"/>
              </a:lnSpc>
              <a:spcBef>
                <a:spcPts val="600"/>
              </a:spcBef>
              <a:spcAft>
                <a:spcPts val="600"/>
              </a:spcAft>
              <a:buNone/>
            </a:pPr>
            <a:r>
              <a:rPr lang="en-US" sz="11200" i="1" dirty="0" smtClean="0">
                <a:latin typeface="Arial Narrow" pitchFamily="34" charset="0"/>
              </a:rPr>
              <a:t>H. Health Psychology - </a:t>
            </a:r>
            <a:r>
              <a:rPr lang="en-US" sz="11200" dirty="0" smtClean="0">
                <a:latin typeface="Arial Narrow" pitchFamily="34" charset="0"/>
              </a:rPr>
              <a:t>applies psychological principles to the prevention and treatment of physical illness and diseases.</a:t>
            </a:r>
          </a:p>
          <a:p>
            <a:pPr marL="274320" indent="-274320">
              <a:lnSpc>
                <a:spcPct val="120000"/>
              </a:lnSpc>
              <a:spcBef>
                <a:spcPts val="600"/>
              </a:spcBef>
              <a:spcAft>
                <a:spcPts val="600"/>
              </a:spcAft>
              <a:buNone/>
            </a:pPr>
            <a:r>
              <a:rPr lang="en-US" sz="11200" i="1" dirty="0" smtClean="0">
                <a:latin typeface="Arial Narrow" pitchFamily="34" charset="0"/>
              </a:rPr>
              <a:t>I. Clinical Psychology - </a:t>
            </a:r>
            <a:r>
              <a:rPr lang="en-US" sz="11200" dirty="0" smtClean="0">
                <a:latin typeface="Arial Narrow" pitchFamily="34" charset="0"/>
              </a:rPr>
              <a:t>is a field that applies psychological principles and psychotherapeutic techniques to the prevention, diagnosis, and treatment of psychological disorders. </a:t>
            </a:r>
          </a:p>
          <a:p>
            <a:pPr marL="274320" indent="-274320">
              <a:lnSpc>
                <a:spcPct val="120000"/>
              </a:lnSpc>
              <a:spcBef>
                <a:spcPts val="600"/>
              </a:spcBef>
              <a:spcAft>
                <a:spcPts val="600"/>
              </a:spcAft>
              <a:buNone/>
            </a:pPr>
            <a:r>
              <a:rPr lang="en-US" sz="11200" i="1" dirty="0" smtClean="0">
                <a:latin typeface="Arial Narrow" pitchFamily="34" charset="0"/>
              </a:rPr>
              <a:t>J. Counseling Psychology - has</a:t>
            </a:r>
            <a:r>
              <a:rPr lang="en-US" sz="11200" dirty="0" smtClean="0">
                <a:latin typeface="Arial Narrow" pitchFamily="34" charset="0"/>
              </a:rPr>
              <a:t> the same concern as clinical psychology but helps individuals with less severe or  milder (simpler) emotional &amp; personal problems. </a:t>
            </a:r>
            <a:r>
              <a:rPr lang="en-US" dirty="0" smtClean="0"/>
              <a:t/>
            </a:r>
            <a:br>
              <a:rPr lang="en-US" dirty="0" smtClean="0"/>
            </a:b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86800" cy="685800"/>
          </a:xfrm>
        </p:spPr>
        <p:txBody>
          <a:bodyPr>
            <a:normAutofit fontScale="90000"/>
          </a:bodyPr>
          <a:lstStyle/>
          <a:p>
            <a:r>
              <a:rPr lang="en-US" b="1" dirty="0" smtClean="0"/>
              <a:t>1.5. Research Methods in Psychology</a:t>
            </a:r>
            <a:r>
              <a:rPr lang="en-US" dirty="0" smtClean="0"/>
              <a:t> </a:t>
            </a:r>
            <a:endParaRPr lang="en-US" dirty="0"/>
          </a:p>
        </p:txBody>
      </p:sp>
      <p:sp>
        <p:nvSpPr>
          <p:cNvPr id="3" name="Content Placeholder 2"/>
          <p:cNvSpPr>
            <a:spLocks noGrp="1"/>
          </p:cNvSpPr>
          <p:nvPr>
            <p:ph idx="1"/>
          </p:nvPr>
        </p:nvSpPr>
        <p:spPr>
          <a:xfrm>
            <a:off x="228600" y="990600"/>
            <a:ext cx="8686800" cy="5562600"/>
          </a:xfrm>
        </p:spPr>
        <p:txBody>
          <a:bodyPr>
            <a:normAutofit fontScale="40000" lnSpcReduction="20000"/>
          </a:bodyPr>
          <a:lstStyle/>
          <a:p>
            <a:pPr>
              <a:lnSpc>
                <a:spcPct val="110000"/>
              </a:lnSpc>
              <a:spcBef>
                <a:spcPts val="600"/>
              </a:spcBef>
              <a:spcAft>
                <a:spcPts val="600"/>
              </a:spcAft>
              <a:buNone/>
            </a:pPr>
            <a:r>
              <a:rPr lang="en-US" sz="7000" b="1" u="sng" dirty="0" smtClean="0">
                <a:latin typeface="Arial Narrow" pitchFamily="34" charset="0"/>
              </a:rPr>
              <a:t>Definition of terms</a:t>
            </a:r>
            <a:r>
              <a:rPr lang="en-US" sz="7000" u="sng" dirty="0" smtClean="0">
                <a:latin typeface="Arial Narrow" pitchFamily="34" charset="0"/>
              </a:rPr>
              <a:t> </a:t>
            </a:r>
          </a:p>
          <a:p>
            <a:pPr>
              <a:lnSpc>
                <a:spcPct val="110000"/>
              </a:lnSpc>
              <a:spcBef>
                <a:spcPts val="600"/>
              </a:spcBef>
              <a:spcAft>
                <a:spcPts val="600"/>
              </a:spcAft>
            </a:pPr>
            <a:r>
              <a:rPr lang="en-US" sz="7000" b="1" i="1" dirty="0" smtClean="0">
                <a:latin typeface="Arial Narrow" pitchFamily="34" charset="0"/>
              </a:rPr>
              <a:t>Research -</a:t>
            </a:r>
            <a:r>
              <a:rPr lang="en-US" sz="7000" dirty="0" smtClean="0">
                <a:latin typeface="Arial Narrow" pitchFamily="34" charset="0"/>
              </a:rPr>
              <a:t> is a scientific method of acquiring knowledge and solving problems.</a:t>
            </a:r>
          </a:p>
          <a:p>
            <a:pPr>
              <a:lnSpc>
                <a:spcPct val="110000"/>
              </a:lnSpc>
              <a:spcBef>
                <a:spcPts val="600"/>
              </a:spcBef>
              <a:spcAft>
                <a:spcPts val="600"/>
              </a:spcAft>
            </a:pPr>
            <a:r>
              <a:rPr lang="en-US" sz="7000" b="1" i="1" dirty="0" smtClean="0">
                <a:latin typeface="Arial Narrow" pitchFamily="34" charset="0"/>
              </a:rPr>
              <a:t>Scientific method </a:t>
            </a:r>
            <a:r>
              <a:rPr lang="en-US" sz="7000" dirty="0" smtClean="0">
                <a:latin typeface="Arial Narrow" pitchFamily="34" charset="0"/>
              </a:rPr>
              <a:t>- a process of testing ideas through systematic observations, experimentations, and statistical analysis. </a:t>
            </a:r>
          </a:p>
          <a:p>
            <a:pPr>
              <a:lnSpc>
                <a:spcPct val="110000"/>
              </a:lnSpc>
              <a:spcBef>
                <a:spcPts val="600"/>
              </a:spcBef>
              <a:spcAft>
                <a:spcPts val="600"/>
              </a:spcAft>
            </a:pPr>
            <a:r>
              <a:rPr lang="en-US" sz="7000" b="1" i="1" dirty="0" smtClean="0">
                <a:latin typeface="Arial Narrow" pitchFamily="34" charset="0"/>
              </a:rPr>
              <a:t>Hypotheses </a:t>
            </a:r>
            <a:r>
              <a:rPr lang="en-US" sz="7000" dirty="0" smtClean="0">
                <a:latin typeface="Arial Narrow" pitchFamily="34" charset="0"/>
              </a:rPr>
              <a:t>- is a tentative proposition about the relationship between two or more variables or phenomena. </a:t>
            </a:r>
          </a:p>
          <a:p>
            <a:pPr>
              <a:lnSpc>
                <a:spcPct val="110000"/>
              </a:lnSpc>
              <a:spcBef>
                <a:spcPts val="600"/>
              </a:spcBef>
              <a:spcAft>
                <a:spcPts val="600"/>
              </a:spcAft>
            </a:pPr>
            <a:r>
              <a:rPr lang="en-US" sz="7000" b="1" i="1" dirty="0" smtClean="0">
                <a:latin typeface="Arial Narrow" pitchFamily="34" charset="0"/>
              </a:rPr>
              <a:t>Theory </a:t>
            </a:r>
            <a:r>
              <a:rPr lang="en-US" sz="7000" dirty="0" smtClean="0">
                <a:latin typeface="Arial Narrow" pitchFamily="34" charset="0"/>
              </a:rPr>
              <a:t>- is an integrated set of principles about observed facts that is intended to describe and explain some aspects of experience. </a:t>
            </a:r>
            <a:r>
              <a:rPr lang="en-US" sz="4500" dirty="0" smtClean="0">
                <a:latin typeface="Arial Narrow" pitchFamily="34" charset="0"/>
              </a:rPr>
              <a:t/>
            </a:r>
            <a:br>
              <a:rPr lang="en-US" sz="4500" dirty="0" smtClean="0">
                <a:latin typeface="Arial Narrow" pitchFamily="34" charset="0"/>
              </a:rPr>
            </a:br>
            <a:r>
              <a:rPr lang="en-US" dirty="0" smtClean="0"/>
              <a:t/>
            </a:r>
            <a:br>
              <a:rPr lang="en-US" dirty="0" smtClean="0"/>
            </a:br>
            <a:r>
              <a:rPr lang="en-US" dirty="0" smtClean="0"/>
              <a:t/>
            </a:r>
            <a:br>
              <a:rPr lang="en-US" dirty="0" smtClean="0"/>
            </a:br>
            <a:endParaRPr lang="en-US" dirty="0" smtClean="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fontScale="90000"/>
          </a:bodyPr>
          <a:lstStyle/>
          <a:p>
            <a:pPr algn="l"/>
            <a:r>
              <a:rPr lang="en-US" b="1" dirty="0" smtClean="0"/>
              <a:t>Steps in scientific research</a:t>
            </a:r>
            <a:r>
              <a:rPr lang="en-US" dirty="0" smtClean="0"/>
              <a:t> </a:t>
            </a:r>
            <a:endParaRPr lang="en-US" dirty="0"/>
          </a:p>
        </p:txBody>
      </p:sp>
      <p:sp>
        <p:nvSpPr>
          <p:cNvPr id="3" name="Content Placeholder 2"/>
          <p:cNvSpPr>
            <a:spLocks noGrp="1"/>
          </p:cNvSpPr>
          <p:nvPr>
            <p:ph idx="1"/>
          </p:nvPr>
        </p:nvSpPr>
        <p:spPr>
          <a:xfrm>
            <a:off x="228600" y="762000"/>
            <a:ext cx="8763000" cy="5943600"/>
          </a:xfrm>
        </p:spPr>
        <p:txBody>
          <a:bodyPr>
            <a:normAutofit fontScale="25000" lnSpcReduction="20000"/>
          </a:bodyPr>
          <a:lstStyle/>
          <a:p>
            <a:pPr>
              <a:buNone/>
            </a:pPr>
            <a:r>
              <a:rPr lang="en-US" sz="11200" b="1" dirty="0" smtClean="0">
                <a:latin typeface="Arial Narrow" pitchFamily="34" charset="0"/>
              </a:rPr>
              <a:t>1. Defining the Problem </a:t>
            </a:r>
            <a:r>
              <a:rPr lang="en-US" sz="11200" dirty="0" smtClean="0">
                <a:latin typeface="Arial Narrow" pitchFamily="34" charset="0"/>
              </a:rPr>
              <a:t>- noticing something attention catching in the surrounding for which one would like to have an explanation. E.g., Students’ dropout</a:t>
            </a:r>
          </a:p>
          <a:p>
            <a:pPr>
              <a:buNone/>
            </a:pPr>
            <a:r>
              <a:rPr lang="en-US" sz="11200" b="1" dirty="0" smtClean="0">
                <a:latin typeface="Arial Narrow" pitchFamily="34" charset="0"/>
              </a:rPr>
              <a:t>2. Formulating the Hypothesis - </a:t>
            </a:r>
            <a:r>
              <a:rPr lang="en-US" sz="11200" dirty="0" smtClean="0">
                <a:latin typeface="Arial Narrow" pitchFamily="34" charset="0"/>
              </a:rPr>
              <a:t>after having an observation on surroundings (perceiving the problem), you might form an educated guess about the explanation for your observations, putting it into the form of a statement that can be tested. </a:t>
            </a:r>
          </a:p>
          <a:p>
            <a:pPr>
              <a:buNone/>
            </a:pPr>
            <a:r>
              <a:rPr lang="en-US" sz="11200" b="1" dirty="0" smtClean="0">
                <a:latin typeface="Arial Narrow" pitchFamily="34" charset="0"/>
              </a:rPr>
              <a:t>3. Testing the Hypothesis - </a:t>
            </a:r>
            <a:r>
              <a:rPr lang="en-US" sz="11200" dirty="0" smtClean="0">
                <a:latin typeface="Arial Narrow" pitchFamily="34" charset="0"/>
              </a:rPr>
              <a:t>at this step, the researcher employs appropriate research methods and collects ample data (information) to accept or reject the proposed statement. </a:t>
            </a:r>
          </a:p>
          <a:p>
            <a:pPr>
              <a:buNone/>
            </a:pPr>
            <a:r>
              <a:rPr lang="en-US" sz="11200" b="1" dirty="0" smtClean="0">
                <a:latin typeface="Arial Narrow" pitchFamily="34" charset="0"/>
              </a:rPr>
              <a:t>4. Drawing Conclusions - </a:t>
            </a:r>
            <a:r>
              <a:rPr lang="en-US" sz="11200" dirty="0" smtClean="0">
                <a:latin typeface="Arial Narrow" pitchFamily="34" charset="0"/>
              </a:rPr>
              <a:t>the step in which researchers attempt to make generalization or draw implication from tested relations</a:t>
            </a:r>
          </a:p>
          <a:p>
            <a:pPr>
              <a:buNone/>
            </a:pPr>
            <a:r>
              <a:rPr lang="en-US" sz="11200" b="1" dirty="0" smtClean="0">
                <a:latin typeface="Arial Narrow" pitchFamily="34" charset="0"/>
              </a:rPr>
              <a:t>5. Reporting Results - </a:t>
            </a:r>
            <a:r>
              <a:rPr lang="en-US" sz="11200" dirty="0" smtClean="0">
                <a:latin typeface="Arial Narrow" pitchFamily="34" charset="0"/>
              </a:rPr>
              <a:t>at this point, the researcher write up exactly what s/he did, why s/he did, and what s/he found. So that, others can learn from what s/he already </a:t>
            </a:r>
            <a:r>
              <a:rPr lang="en-US" sz="11200" dirty="0" smtClean="0">
                <a:latin typeface="Arial Narrow" pitchFamily="34" charset="0"/>
              </a:rPr>
              <a:t>accomplished. </a:t>
            </a:r>
            <a:r>
              <a:rPr lang="en-US" sz="11200" dirty="0" smtClean="0">
                <a:latin typeface="Arial Narrow" pitchFamily="34" charset="0"/>
              </a:rPr>
              <a:t>The findings allows </a:t>
            </a:r>
            <a:r>
              <a:rPr lang="en-US" sz="11200" dirty="0" smtClean="0">
                <a:latin typeface="Arial Narrow" pitchFamily="34" charset="0"/>
              </a:rPr>
              <a:t>others to predict and modify </a:t>
            </a:r>
            <a:r>
              <a:rPr lang="en-US" sz="11200" dirty="0" smtClean="0">
                <a:latin typeface="Arial Narrow" pitchFamily="34" charset="0"/>
              </a:rPr>
              <a:t>behavior. </a:t>
            </a:r>
            <a:r>
              <a:rPr lang="en-US" dirty="0" smtClean="0"/>
              <a:t/>
            </a:r>
            <a:br>
              <a:rPr lang="en-US" dirty="0" smtClean="0"/>
            </a:b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715962"/>
          </a:xfrm>
        </p:spPr>
        <p:txBody>
          <a:bodyPr>
            <a:normAutofit/>
          </a:bodyPr>
          <a:lstStyle/>
          <a:p>
            <a:r>
              <a:rPr lang="en-US" sz="3200" b="1" dirty="0" smtClean="0">
                <a:latin typeface="Arial Narrow" pitchFamily="34" charset="0"/>
              </a:rPr>
              <a:t>Major types of research methods</a:t>
            </a:r>
            <a:endParaRPr lang="en-US" sz="3200" dirty="0">
              <a:latin typeface="Arial Narrow" pitchFamily="34" charset="0"/>
            </a:endParaRPr>
          </a:p>
        </p:txBody>
      </p:sp>
      <p:sp>
        <p:nvSpPr>
          <p:cNvPr id="3" name="Content Placeholder 2"/>
          <p:cNvSpPr>
            <a:spLocks noGrp="1"/>
          </p:cNvSpPr>
          <p:nvPr>
            <p:ph idx="1"/>
          </p:nvPr>
        </p:nvSpPr>
        <p:spPr>
          <a:xfrm>
            <a:off x="152400" y="1066800"/>
            <a:ext cx="8839200" cy="5638800"/>
          </a:xfrm>
        </p:spPr>
        <p:txBody>
          <a:bodyPr>
            <a:normAutofit fontScale="25000" lnSpcReduction="20000"/>
          </a:bodyPr>
          <a:lstStyle/>
          <a:p>
            <a:pPr marL="274320" lvl="1" indent="-274320">
              <a:lnSpc>
                <a:spcPct val="120000"/>
              </a:lnSpc>
              <a:spcBef>
                <a:spcPts val="0"/>
              </a:spcBef>
              <a:spcAft>
                <a:spcPts val="600"/>
              </a:spcAft>
              <a:buAutoNum type="alphaUcPeriod"/>
            </a:pPr>
            <a:r>
              <a:rPr lang="en-US" sz="10800" b="1" dirty="0" smtClean="0">
                <a:latin typeface="Arial Narrow" pitchFamily="34" charset="0"/>
              </a:rPr>
              <a:t>Descriptive </a:t>
            </a:r>
            <a:r>
              <a:rPr lang="en-US" sz="10800" b="1" dirty="0" smtClean="0">
                <a:latin typeface="Arial Narrow" pitchFamily="34" charset="0"/>
              </a:rPr>
              <a:t>research - </a:t>
            </a:r>
            <a:r>
              <a:rPr lang="en-US" sz="10800" dirty="0" smtClean="0">
                <a:latin typeface="Arial Narrow" pitchFamily="34" charset="0"/>
              </a:rPr>
              <a:t>in this type of research, the researcher simply records what s/he has observed. It includes; </a:t>
            </a:r>
            <a:endParaRPr lang="en-US" sz="10800" dirty="0" smtClean="0">
              <a:latin typeface="Arial Narrow" pitchFamily="34" charset="0"/>
            </a:endParaRPr>
          </a:p>
          <a:p>
            <a:pPr marL="274320" lvl="1" indent="-274320">
              <a:lnSpc>
                <a:spcPct val="120000"/>
              </a:lnSpc>
              <a:spcBef>
                <a:spcPts val="0"/>
              </a:spcBef>
              <a:spcAft>
                <a:spcPts val="600"/>
              </a:spcAft>
              <a:buNone/>
            </a:pPr>
            <a:r>
              <a:rPr lang="en-US" sz="10800" b="1" i="1" dirty="0" err="1" smtClean="0">
                <a:latin typeface="Arial Narrow" pitchFamily="34" charset="0"/>
              </a:rPr>
              <a:t>i</a:t>
            </a:r>
            <a:r>
              <a:rPr lang="en-US" sz="10800" b="1" i="1" dirty="0" smtClean="0">
                <a:latin typeface="Arial Narrow" pitchFamily="34" charset="0"/>
              </a:rPr>
              <a:t>. </a:t>
            </a:r>
            <a:r>
              <a:rPr lang="en-US" sz="10800" i="1" dirty="0" smtClean="0">
                <a:latin typeface="Arial Narrow" pitchFamily="34" charset="0"/>
              </a:rPr>
              <a:t>Naturalistic observation</a:t>
            </a:r>
            <a:r>
              <a:rPr lang="en-US" sz="10800" dirty="0" smtClean="0">
                <a:latin typeface="Arial Narrow" pitchFamily="34" charset="0"/>
              </a:rPr>
              <a:t>: it is a method in which subjects are observed in their natural environment to get a real (not artificial) picture of how behavior occurs. Limitations of naturalistic observation are observer effect and observer bias. </a:t>
            </a:r>
            <a:endParaRPr lang="en-US" sz="10800" dirty="0" smtClean="0">
              <a:latin typeface="Arial Narrow" pitchFamily="34" charset="0"/>
            </a:endParaRPr>
          </a:p>
          <a:p>
            <a:pPr marL="274320" lvl="1" indent="-274320">
              <a:lnSpc>
                <a:spcPct val="120000"/>
              </a:lnSpc>
              <a:spcBef>
                <a:spcPts val="0"/>
              </a:spcBef>
              <a:spcAft>
                <a:spcPts val="600"/>
              </a:spcAft>
              <a:buNone/>
            </a:pPr>
            <a:r>
              <a:rPr lang="en-US" sz="10800" b="1" i="1" dirty="0" smtClean="0">
                <a:latin typeface="Arial Narrow" pitchFamily="34" charset="0"/>
              </a:rPr>
              <a:t>ii</a:t>
            </a:r>
            <a:r>
              <a:rPr lang="en-US" sz="10800" b="1" i="1" dirty="0" smtClean="0">
                <a:latin typeface="Arial Narrow" pitchFamily="34" charset="0"/>
              </a:rPr>
              <a:t>. </a:t>
            </a:r>
            <a:r>
              <a:rPr lang="en-US" sz="10800" i="1" dirty="0" smtClean="0">
                <a:latin typeface="Arial Narrow" pitchFamily="34" charset="0"/>
              </a:rPr>
              <a:t>Case study: </a:t>
            </a:r>
            <a:r>
              <a:rPr lang="en-US" sz="10800" dirty="0" smtClean="0">
                <a:latin typeface="Arial Narrow" pitchFamily="34" charset="0"/>
              </a:rPr>
              <a:t>is a technique in which an individual is studied in great detail.  It provides tremendous amount of data about a single case or individual. But the result can‘t be applied to </a:t>
            </a:r>
            <a:r>
              <a:rPr lang="en-US" sz="10800" dirty="0" smtClean="0">
                <a:latin typeface="Arial Narrow" pitchFamily="34" charset="0"/>
              </a:rPr>
              <a:t>others</a:t>
            </a:r>
          </a:p>
          <a:p>
            <a:pPr marL="274320" lvl="1" indent="-274320">
              <a:lnSpc>
                <a:spcPct val="120000"/>
              </a:lnSpc>
              <a:spcBef>
                <a:spcPts val="0"/>
              </a:spcBef>
              <a:spcAft>
                <a:spcPts val="600"/>
              </a:spcAft>
              <a:buNone/>
            </a:pPr>
            <a:r>
              <a:rPr lang="en-US" sz="10800" b="1" i="1" dirty="0" smtClean="0">
                <a:latin typeface="Arial Narrow" pitchFamily="34" charset="0"/>
              </a:rPr>
              <a:t>iii</a:t>
            </a:r>
            <a:r>
              <a:rPr lang="en-US" sz="10800" b="1" i="1" dirty="0" smtClean="0">
                <a:latin typeface="Arial Narrow" pitchFamily="34" charset="0"/>
              </a:rPr>
              <a:t>. </a:t>
            </a:r>
            <a:r>
              <a:rPr lang="en-US" sz="10800" dirty="0" smtClean="0">
                <a:latin typeface="Arial Narrow" pitchFamily="34" charset="0"/>
              </a:rPr>
              <a:t>Survey: is used to collect data from a very large group of people. It enables to address hundreds of people with the same questions at the same time, but it needs a careful selection of a representative sample of the actual population.</a:t>
            </a:r>
            <a:r>
              <a:rPr lang="en-US" sz="4700" dirty="0" smtClean="0">
                <a:latin typeface="Arial Narrow" pitchFamily="34" charset="0"/>
              </a:rPr>
              <a:t> </a:t>
            </a:r>
            <a:endParaRPr lang="en-US" sz="4700" dirty="0">
              <a:latin typeface="Arial Narrow"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610600" cy="685800"/>
          </a:xfrm>
        </p:spPr>
        <p:txBody>
          <a:bodyPr>
            <a:normAutofit/>
          </a:bodyPr>
          <a:lstStyle/>
          <a:p>
            <a:pPr algn="l"/>
            <a:r>
              <a:rPr lang="en-US" sz="3200" b="1" dirty="0" smtClean="0">
                <a:latin typeface="Arial Narrow" pitchFamily="34" charset="0"/>
              </a:rPr>
              <a:t>B. </a:t>
            </a:r>
            <a:r>
              <a:rPr lang="en-US" sz="3200" b="1" dirty="0" err="1" smtClean="0">
                <a:latin typeface="Arial Narrow" pitchFamily="34" charset="0"/>
              </a:rPr>
              <a:t>Correlational</a:t>
            </a:r>
            <a:r>
              <a:rPr lang="en-US" sz="3200" b="1" dirty="0" smtClean="0">
                <a:latin typeface="Arial Narrow" pitchFamily="34" charset="0"/>
              </a:rPr>
              <a:t> research </a:t>
            </a:r>
            <a:endParaRPr lang="en-US" sz="3200" dirty="0">
              <a:latin typeface="Arial Narrow" pitchFamily="34" charset="0"/>
            </a:endParaRPr>
          </a:p>
        </p:txBody>
      </p:sp>
      <p:sp>
        <p:nvSpPr>
          <p:cNvPr id="3" name="Content Placeholder 2"/>
          <p:cNvSpPr>
            <a:spLocks noGrp="1"/>
          </p:cNvSpPr>
          <p:nvPr>
            <p:ph idx="1"/>
          </p:nvPr>
        </p:nvSpPr>
        <p:spPr>
          <a:xfrm>
            <a:off x="152400" y="914400"/>
            <a:ext cx="8839200" cy="5791200"/>
          </a:xfrm>
        </p:spPr>
        <p:txBody>
          <a:bodyPr>
            <a:normAutofit fontScale="77500" lnSpcReduction="20000"/>
          </a:bodyPr>
          <a:lstStyle/>
          <a:p>
            <a:pPr>
              <a:buFont typeface="Wingdings" pitchFamily="2" charset="2"/>
              <a:buChar char="§"/>
            </a:pPr>
            <a:r>
              <a:rPr lang="en-US" sz="3600" b="1" dirty="0" smtClean="0">
                <a:latin typeface="Arial Narrow" pitchFamily="34" charset="0"/>
              </a:rPr>
              <a:t>I</a:t>
            </a:r>
            <a:r>
              <a:rPr lang="en-US" sz="3600" dirty="0" smtClean="0">
                <a:latin typeface="Arial Narrow" pitchFamily="34" charset="0"/>
              </a:rPr>
              <a:t>s a research method that measures the relationship between two or more variables. </a:t>
            </a:r>
          </a:p>
          <a:p>
            <a:pPr>
              <a:buFont typeface="Wingdings" pitchFamily="2" charset="2"/>
              <a:buChar char="§"/>
            </a:pPr>
            <a:r>
              <a:rPr lang="en-US" sz="3600" dirty="0" smtClean="0">
                <a:latin typeface="Arial Narrow" pitchFamily="34" charset="0"/>
              </a:rPr>
              <a:t>A variable is anything that can change or vary - scores on a test, the temperature in a room, and so on. For example, a researcher might be curious to know whether or not smoking is correlated to life expectancy.</a:t>
            </a:r>
          </a:p>
          <a:p>
            <a:pPr>
              <a:buFont typeface="Wingdings" pitchFamily="2" charset="2"/>
              <a:buChar char="§"/>
            </a:pPr>
            <a:r>
              <a:rPr lang="en-US" sz="3600" dirty="0" smtClean="0">
                <a:latin typeface="Arial Narrow" pitchFamily="34" charset="0"/>
              </a:rPr>
              <a:t>Though correlation tells researchers if there is a relationship between variables, how strong the relationship is, and in what direction the relationship goes, it doesn‘t prove causation (which means it doesn‘t show the cause and effect relationship). </a:t>
            </a:r>
          </a:p>
          <a:p>
            <a:pPr>
              <a:buFont typeface="Wingdings" pitchFamily="2" charset="2"/>
              <a:buChar char="§"/>
            </a:pPr>
            <a:r>
              <a:rPr lang="en-US" sz="3600" dirty="0" smtClean="0">
                <a:latin typeface="Arial Narrow" pitchFamily="34" charset="0"/>
              </a:rPr>
              <a:t>For example, if there is a relationship between smoking and lung cancer, this doesn‘t mean that smoking causes lung cancer. </a:t>
            </a:r>
          </a:p>
          <a:p>
            <a:pPr>
              <a:buFont typeface="Wingdings" pitchFamily="2" charset="2"/>
              <a:buChar char="§"/>
            </a:pPr>
            <a:r>
              <a:rPr lang="en-US" sz="3600" dirty="0" smtClean="0">
                <a:latin typeface="Arial Narrow" pitchFamily="34" charset="0"/>
              </a:rPr>
              <a:t>Relationships may be positive, negative, or  zero.</a:t>
            </a:r>
            <a:r>
              <a:rPr lang="en-US" dirty="0" smtClean="0"/>
              <a:t/>
            </a:r>
            <a:br>
              <a:rPr lang="en-US" dirty="0" smtClean="0"/>
            </a:b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a:bodyPr>
          <a:lstStyle/>
          <a:p>
            <a:pPr algn="l"/>
            <a:r>
              <a:rPr lang="en-US" sz="2800" b="1" dirty="0" smtClean="0">
                <a:latin typeface="Arial Narrow" pitchFamily="34" charset="0"/>
              </a:rPr>
              <a:t>C. Experimental Research</a:t>
            </a:r>
            <a:endParaRPr lang="en-US" sz="2800" dirty="0">
              <a:latin typeface="Arial Narrow" pitchFamily="34" charset="0"/>
            </a:endParaRPr>
          </a:p>
        </p:txBody>
      </p:sp>
      <p:sp>
        <p:nvSpPr>
          <p:cNvPr id="3" name="Content Placeholder 2"/>
          <p:cNvSpPr>
            <a:spLocks noGrp="1"/>
          </p:cNvSpPr>
          <p:nvPr>
            <p:ph idx="1"/>
          </p:nvPr>
        </p:nvSpPr>
        <p:spPr>
          <a:xfrm>
            <a:off x="152400" y="914400"/>
            <a:ext cx="8839200" cy="5791200"/>
          </a:xfrm>
        </p:spPr>
        <p:txBody>
          <a:bodyPr>
            <a:normAutofit fontScale="25000" lnSpcReduction="20000"/>
          </a:bodyPr>
          <a:lstStyle/>
          <a:p>
            <a:r>
              <a:rPr lang="en-US" sz="11200" dirty="0" smtClean="0">
                <a:latin typeface="Arial Narrow" pitchFamily="34" charset="0"/>
              </a:rPr>
              <a:t>It is a research method that allows researchers to study the cause and effect relationship between variables. In experimental research, one or more factors are believed to influence the behavior being studied, while all other factors are held constant. </a:t>
            </a:r>
          </a:p>
          <a:p>
            <a:r>
              <a:rPr lang="en-US" sz="11200" dirty="0" smtClean="0">
                <a:latin typeface="Arial Narrow" pitchFamily="34" charset="0"/>
              </a:rPr>
              <a:t>Experiments involve at least one independent variable and one dependent variable. The independent </a:t>
            </a:r>
            <a:r>
              <a:rPr lang="en-US" sz="11200" dirty="0" smtClean="0">
                <a:latin typeface="Arial Narrow" pitchFamily="34" charset="0"/>
              </a:rPr>
              <a:t>variable (</a:t>
            </a:r>
            <a:r>
              <a:rPr lang="en-US" sz="11200" b="1" dirty="0" smtClean="0">
                <a:latin typeface="Arial Narrow" pitchFamily="34" charset="0"/>
              </a:rPr>
              <a:t>IV</a:t>
            </a:r>
            <a:r>
              <a:rPr lang="en-US" sz="11200" dirty="0" smtClean="0">
                <a:latin typeface="Arial Narrow" pitchFamily="34" charset="0"/>
              </a:rPr>
              <a:t>) </a:t>
            </a:r>
            <a:r>
              <a:rPr lang="en-US" sz="11200" dirty="0" smtClean="0">
                <a:latin typeface="Arial Narrow" pitchFamily="34" charset="0"/>
              </a:rPr>
              <a:t>is the </a:t>
            </a:r>
            <a:r>
              <a:rPr lang="en-US" sz="11200" dirty="0" smtClean="0">
                <a:latin typeface="Arial Narrow" pitchFamily="34" charset="0"/>
              </a:rPr>
              <a:t>manipulated</a:t>
            </a:r>
            <a:r>
              <a:rPr lang="en-US" sz="11200" dirty="0" smtClean="0">
                <a:latin typeface="Arial Narrow" pitchFamily="34" charset="0"/>
              </a:rPr>
              <a:t>, influential, experimental factor. The dependent variable (</a:t>
            </a:r>
            <a:r>
              <a:rPr lang="en-US" sz="11200" b="1" dirty="0" smtClean="0">
                <a:latin typeface="Arial Narrow" pitchFamily="34" charset="0"/>
              </a:rPr>
              <a:t>DV</a:t>
            </a:r>
            <a:r>
              <a:rPr lang="en-US" sz="11200" dirty="0" smtClean="0">
                <a:latin typeface="Arial Narrow" pitchFamily="34" charset="0"/>
              </a:rPr>
              <a:t>) is the factor that is measured in an experiment. It can change as the independent variable </a:t>
            </a:r>
            <a:r>
              <a:rPr lang="en-US" sz="11200" dirty="0" smtClean="0">
                <a:latin typeface="Arial Narrow" pitchFamily="34" charset="0"/>
              </a:rPr>
              <a:t>is </a:t>
            </a:r>
            <a:r>
              <a:rPr lang="en-US" sz="11200" dirty="0" smtClean="0">
                <a:latin typeface="Arial Narrow" pitchFamily="34" charset="0"/>
              </a:rPr>
              <a:t>manipulated.</a:t>
            </a:r>
          </a:p>
          <a:p>
            <a:r>
              <a:rPr lang="en-US" sz="11200" dirty="0" smtClean="0">
                <a:latin typeface="Arial Narrow" pitchFamily="34" charset="0"/>
              </a:rPr>
              <a:t>For example, a researcher may need to know whether or not class size</a:t>
            </a:r>
            <a:r>
              <a:rPr lang="en-US" sz="9600" dirty="0" smtClean="0">
                <a:latin typeface="Arial Narrow" pitchFamily="34" charset="0"/>
              </a:rPr>
              <a:t> </a:t>
            </a:r>
            <a:r>
              <a:rPr lang="en-US" sz="9600" b="1" i="1" dirty="0" smtClean="0">
                <a:latin typeface="Arial Narrow" pitchFamily="34" charset="0"/>
              </a:rPr>
              <a:t>(IV) </a:t>
            </a:r>
            <a:r>
              <a:rPr lang="en-US" sz="11200" dirty="0" smtClean="0">
                <a:latin typeface="Arial Narrow" pitchFamily="34" charset="0"/>
              </a:rPr>
              <a:t>has an effect on students achievement </a:t>
            </a:r>
            <a:r>
              <a:rPr lang="en-US" sz="9600" b="1" i="1" dirty="0" smtClean="0">
                <a:latin typeface="Arial Narrow" pitchFamily="34" charset="0"/>
              </a:rPr>
              <a:t>(DV</a:t>
            </a:r>
            <a:r>
              <a:rPr lang="en-US" sz="9600" b="1" i="1" dirty="0" smtClean="0">
                <a:latin typeface="Arial Narrow" pitchFamily="34" charset="0"/>
              </a:rPr>
              <a:t>).</a:t>
            </a:r>
            <a:endParaRPr lang="en-US" sz="9600" b="1" i="1" dirty="0" smtClean="0">
              <a:latin typeface="Arial Narrow" pitchFamily="34" charset="0"/>
            </a:endParaRPr>
          </a:p>
          <a:p>
            <a:r>
              <a:rPr lang="en-US" sz="11200" dirty="0" smtClean="0">
                <a:latin typeface="Arial Narrow" pitchFamily="34" charset="0"/>
              </a:rPr>
              <a:t>Experiments also involve randomly assigned experimental/ treatment groups and control/baseline groups. An experimental group is a group whose experience is manipulated. </a:t>
            </a:r>
          </a:p>
          <a:p>
            <a:r>
              <a:rPr lang="en-US" sz="11200" dirty="0" smtClean="0">
                <a:latin typeface="Arial Narrow" pitchFamily="34" charset="0"/>
              </a:rPr>
              <a:t>Although experimental research is useful to discover causes of behaviors, such research must be done cautiously. </a:t>
            </a:r>
            <a:r>
              <a:rPr lang="en-US" dirty="0" smtClean="0"/>
              <a:t/>
            </a:r>
            <a:br>
              <a:rPr lang="en-US" dirty="0" smtClean="0"/>
            </a:b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1393</TotalTime>
  <Words>1974</Words>
  <Application>Microsoft Office PowerPoint</Application>
  <PresentationFormat>On-screen Show (4:3)</PresentationFormat>
  <Paragraphs>162</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General Psychology and Life Skills (PsyL 1011) </vt:lpstr>
      <vt:lpstr> Chapter One: Essence of Psychology </vt:lpstr>
      <vt:lpstr> 1.1. Definition of Psychology and Related Concepts  </vt:lpstr>
      <vt:lpstr>…</vt:lpstr>
      <vt:lpstr>What makes psychology different from other behavioral Sciences?</vt:lpstr>
      <vt:lpstr>1.2. Goals of Psychology</vt:lpstr>
      <vt:lpstr> 1.3. Historical Background and Major Perspectives in Psychology </vt:lpstr>
      <vt:lpstr> Schools of thoughts in psychology </vt:lpstr>
      <vt:lpstr>1.3.1. The five early schools of psychology </vt:lpstr>
      <vt:lpstr>.</vt:lpstr>
      <vt:lpstr>.</vt:lpstr>
      <vt:lpstr>.</vt:lpstr>
      <vt:lpstr>1.3.2. Modern schools of psychology </vt:lpstr>
      <vt:lpstr>2. Behavioral Perspective</vt:lpstr>
      <vt:lpstr>3. Humanistic Perspective</vt:lpstr>
      <vt:lpstr>4. Cognitive Perspective </vt:lpstr>
      <vt:lpstr>5. Biological Perspective</vt:lpstr>
      <vt:lpstr>6. Socio-cultural Perspective- </vt:lpstr>
      <vt:lpstr>1.4 Branches /Sub fields/ of Psychology </vt:lpstr>
      <vt:lpstr>Slide 20</vt:lpstr>
      <vt:lpstr>1.5. Research Methods in Psychology </vt:lpstr>
      <vt:lpstr>Steps in scientific research </vt:lpstr>
      <vt:lpstr>Major types of research methods</vt:lpstr>
      <vt:lpstr>B. Correlational research </vt:lpstr>
      <vt:lpstr>C. Experimental Research</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General Psychology (Psyc 1011)</dc:title>
  <dc:creator>user</dc:creator>
  <cp:lastModifiedBy>user</cp:lastModifiedBy>
  <cp:revision>55</cp:revision>
  <dcterms:created xsi:type="dcterms:W3CDTF">2019-10-28T04:38:19Z</dcterms:created>
  <dcterms:modified xsi:type="dcterms:W3CDTF">2019-10-30T08:40:33Z</dcterms:modified>
</cp:coreProperties>
</file>