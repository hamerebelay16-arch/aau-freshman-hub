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72" r:id="rId10"/>
    <p:sldId id="266" r:id="rId11"/>
    <p:sldId id="267" r:id="rId12"/>
    <p:sldId id="268" r:id="rId13"/>
    <p:sldId id="269" r:id="rId14"/>
    <p:sldId id="294" r:id="rId15"/>
    <p:sldId id="270" r:id="rId16"/>
    <p:sldId id="271" r:id="rId17"/>
    <p:sldId id="274" r:id="rId18"/>
    <p:sldId id="275" r:id="rId19"/>
    <p:sldId id="276" r:id="rId20"/>
    <p:sldId id="277" r:id="rId21"/>
    <p:sldId id="278" r:id="rId22"/>
    <p:sldId id="289" r:id="rId23"/>
    <p:sldId id="279" r:id="rId24"/>
    <p:sldId id="280" r:id="rId25"/>
    <p:sldId id="295" r:id="rId26"/>
    <p:sldId id="296" r:id="rId27"/>
    <p:sldId id="282" r:id="rId28"/>
    <p:sldId id="284" r:id="rId29"/>
    <p:sldId id="285" r:id="rId30"/>
    <p:sldId id="293" r:id="rId31"/>
    <p:sldId id="287" r:id="rId32"/>
    <p:sldId id="298" r:id="rId33"/>
    <p:sldId id="291" r:id="rId34"/>
    <p:sldId id="288" r:id="rId35"/>
    <p:sldId id="299"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C4C37E2-9CC7-484E-B2A8-945AA7E26BD7}" type="datetimeFigureOut">
              <a:rPr lang="en-US" smtClean="0"/>
              <a:pPr/>
              <a:t>12/26/2019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0970DD-2E3A-4DA0-A4D2-2E9020B7126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4C37E2-9CC7-484E-B2A8-945AA7E26BD7}" type="datetimeFigureOut">
              <a:rPr lang="en-US" smtClean="0"/>
              <a:pPr/>
              <a:t>12/26/2019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0970DD-2E3A-4DA0-A4D2-2E9020B7126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524000"/>
            <a:ext cx="7772400" cy="536575"/>
          </a:xfrm>
        </p:spPr>
        <p:txBody>
          <a:bodyPr>
            <a:normAutofit fontScale="90000"/>
          </a:bodyPr>
          <a:lstStyle/>
          <a:p>
            <a:r>
              <a:rPr lang="en-US" b="1" dirty="0" smtClean="0"/>
              <a:t/>
            </a:r>
            <a:br>
              <a:rPr lang="en-US" b="1" dirty="0" smtClean="0"/>
            </a:br>
            <a:r>
              <a:rPr lang="en-US" b="1" dirty="0"/>
              <a:t/>
            </a:r>
            <a:br>
              <a:rPr lang="en-US" b="1" dirty="0"/>
            </a:br>
            <a:r>
              <a:rPr lang="en-US" b="1" dirty="0" smtClean="0"/>
              <a:t>CHAPTER THREE</a:t>
            </a:r>
            <a:r>
              <a:rPr lang="en-US" b="1" dirty="0"/>
              <a:t/>
            </a:r>
            <a:br>
              <a:rPr lang="en-US" b="1" dirty="0"/>
            </a:br>
            <a:r>
              <a:rPr lang="en-US" dirty="0" smtClean="0"/>
              <a:t/>
            </a:r>
            <a:br>
              <a:rPr lang="en-US" dirty="0" smtClean="0"/>
            </a:br>
            <a:endParaRPr lang="en-US" dirty="0"/>
          </a:p>
        </p:txBody>
      </p:sp>
      <p:sp>
        <p:nvSpPr>
          <p:cNvPr id="3" name="Subtitle 2"/>
          <p:cNvSpPr>
            <a:spLocks noGrp="1"/>
          </p:cNvSpPr>
          <p:nvPr>
            <p:ph type="subTitle" idx="1"/>
          </p:nvPr>
        </p:nvSpPr>
        <p:spPr>
          <a:xfrm>
            <a:off x="609600" y="3048000"/>
            <a:ext cx="7848600" cy="609600"/>
          </a:xfrm>
        </p:spPr>
        <p:txBody>
          <a:bodyPr/>
          <a:lstStyle/>
          <a:p>
            <a:r>
              <a:rPr lang="en-US" b="1" dirty="0" smtClean="0">
                <a:solidFill>
                  <a:schemeClr val="tx1"/>
                </a:solidFill>
              </a:rPr>
              <a:t>LEARNING AND THEORIES OF LEARNING</a:t>
            </a:r>
            <a:r>
              <a:rPr lang="en-US" dirty="0" smtClean="0">
                <a:solidFill>
                  <a:schemeClr val="tx1"/>
                </a:solidFill>
              </a:rPr>
              <a:t> </a:t>
            </a: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1143000"/>
          </a:xfrm>
        </p:spPr>
        <p:txBody>
          <a:bodyPr>
            <a:normAutofit/>
          </a:bodyPr>
          <a:lstStyle/>
          <a:p>
            <a:r>
              <a:rPr lang="en-US" sz="3200" b="1" dirty="0"/>
              <a:t>3.1. Definition, Characteristics and Principles of </a:t>
            </a:r>
            <a:r>
              <a:rPr lang="en-US" sz="3200" b="1" dirty="0" smtClean="0"/>
              <a:t>Learning</a:t>
            </a:r>
            <a:endParaRPr lang="en-US" sz="3200" dirty="0"/>
          </a:p>
        </p:txBody>
      </p:sp>
      <p:sp>
        <p:nvSpPr>
          <p:cNvPr id="3" name="Content Placeholder 2"/>
          <p:cNvSpPr>
            <a:spLocks noGrp="1"/>
          </p:cNvSpPr>
          <p:nvPr>
            <p:ph idx="1"/>
          </p:nvPr>
        </p:nvSpPr>
        <p:spPr>
          <a:xfrm>
            <a:off x="228600" y="1371600"/>
            <a:ext cx="8610600" cy="5257800"/>
          </a:xfrm>
        </p:spPr>
        <p:txBody>
          <a:bodyPr>
            <a:normAutofit fontScale="25000" lnSpcReduction="20000"/>
          </a:bodyPr>
          <a:lstStyle/>
          <a:p>
            <a:pPr>
              <a:lnSpc>
                <a:spcPct val="120000"/>
              </a:lnSpc>
              <a:spcBef>
                <a:spcPts val="600"/>
              </a:spcBef>
              <a:spcAft>
                <a:spcPts val="600"/>
              </a:spcAft>
              <a:buNone/>
            </a:pPr>
            <a:r>
              <a:rPr lang="en-US" sz="11200" b="1" dirty="0" smtClean="0">
                <a:latin typeface="Arial Narrow" pitchFamily="34" charset="0"/>
              </a:rPr>
              <a:t>3.1.1. Definitions of learning</a:t>
            </a:r>
            <a:r>
              <a:rPr lang="en-US" sz="11200" dirty="0" smtClean="0">
                <a:latin typeface="Arial Narrow" pitchFamily="34" charset="0"/>
              </a:rPr>
              <a:t> </a:t>
            </a:r>
          </a:p>
          <a:p>
            <a:pPr>
              <a:lnSpc>
                <a:spcPct val="120000"/>
              </a:lnSpc>
              <a:spcBef>
                <a:spcPts val="600"/>
              </a:spcBef>
              <a:spcAft>
                <a:spcPts val="600"/>
              </a:spcAft>
            </a:pPr>
            <a:r>
              <a:rPr lang="en-US" sz="11200" i="1" dirty="0">
                <a:latin typeface="Arial Narrow" pitchFamily="34" charset="0"/>
              </a:rPr>
              <a:t>Learning </a:t>
            </a:r>
            <a:r>
              <a:rPr lang="en-US" sz="11200" dirty="0">
                <a:latin typeface="Arial Narrow" pitchFamily="34" charset="0"/>
              </a:rPr>
              <a:t>is a relatively permanent change in behavior occurring as a result of </a:t>
            </a:r>
            <a:r>
              <a:rPr lang="en-US" sz="11200" dirty="0" smtClean="0">
                <a:latin typeface="Arial Narrow" pitchFamily="34" charset="0"/>
              </a:rPr>
              <a:t>experience or </a:t>
            </a:r>
            <a:r>
              <a:rPr lang="en-US" sz="11200" dirty="0">
                <a:latin typeface="Arial Narrow" pitchFamily="34" charset="0"/>
              </a:rPr>
              <a:t>practice</a:t>
            </a:r>
            <a:r>
              <a:rPr lang="en-US" sz="11200" i="1" dirty="0">
                <a:latin typeface="Arial Narrow" pitchFamily="34" charset="0"/>
              </a:rPr>
              <a:t>.</a:t>
            </a:r>
            <a:r>
              <a:rPr lang="en-US" sz="11200" dirty="0" smtClean="0">
                <a:latin typeface="Arial Narrow" pitchFamily="34" charset="0"/>
              </a:rPr>
              <a:t> </a:t>
            </a:r>
          </a:p>
          <a:p>
            <a:pPr>
              <a:lnSpc>
                <a:spcPct val="120000"/>
              </a:lnSpc>
              <a:spcBef>
                <a:spcPts val="600"/>
              </a:spcBef>
              <a:spcAft>
                <a:spcPts val="600"/>
              </a:spcAft>
            </a:pPr>
            <a:r>
              <a:rPr lang="en-US" sz="11200" dirty="0">
                <a:latin typeface="Arial Narrow" pitchFamily="34" charset="0"/>
              </a:rPr>
              <a:t>The above definition emphasizes four attributes of learning:</a:t>
            </a:r>
            <a:br>
              <a:rPr lang="en-US" sz="11200" dirty="0">
                <a:latin typeface="Arial Narrow" pitchFamily="34" charset="0"/>
              </a:rPr>
            </a:br>
            <a:r>
              <a:rPr lang="en-US" sz="11200" dirty="0" smtClean="0">
                <a:latin typeface="Arial Narrow" pitchFamily="34" charset="0"/>
              </a:rPr>
              <a:t>-Learning </a:t>
            </a:r>
            <a:r>
              <a:rPr lang="en-US" sz="11200" dirty="0">
                <a:latin typeface="Arial Narrow" pitchFamily="34" charset="0"/>
              </a:rPr>
              <a:t>is a change in </a:t>
            </a:r>
            <a:r>
              <a:rPr lang="en-US" sz="11200" dirty="0" smtClean="0">
                <a:latin typeface="Arial Narrow" pitchFamily="34" charset="0"/>
              </a:rPr>
              <a:t>behavior.</a:t>
            </a:r>
          </a:p>
          <a:p>
            <a:pPr>
              <a:lnSpc>
                <a:spcPct val="120000"/>
              </a:lnSpc>
              <a:spcBef>
                <a:spcPts val="600"/>
              </a:spcBef>
              <a:spcAft>
                <a:spcPts val="600"/>
              </a:spcAft>
              <a:buNone/>
            </a:pPr>
            <a:r>
              <a:rPr lang="en-US" sz="11200" dirty="0">
                <a:latin typeface="Arial Narrow" pitchFamily="34" charset="0"/>
              </a:rPr>
              <a:t>	</a:t>
            </a:r>
            <a:r>
              <a:rPr lang="en-US" sz="11200" dirty="0" smtClean="0">
                <a:latin typeface="Arial Narrow" pitchFamily="34" charset="0"/>
              </a:rPr>
              <a:t>-This </a:t>
            </a:r>
            <a:r>
              <a:rPr lang="en-US" sz="11200" dirty="0">
                <a:latin typeface="Arial Narrow" pitchFamily="34" charset="0"/>
              </a:rPr>
              <a:t>change in behavior is relatively permanent</a:t>
            </a:r>
            <a:br>
              <a:rPr lang="en-US" sz="11200" dirty="0">
                <a:latin typeface="Arial Narrow" pitchFamily="34" charset="0"/>
              </a:rPr>
            </a:br>
            <a:r>
              <a:rPr lang="en-US" sz="11200" dirty="0" smtClean="0">
                <a:latin typeface="Arial Narrow" pitchFamily="34" charset="0"/>
              </a:rPr>
              <a:t>-This change </a:t>
            </a:r>
            <a:r>
              <a:rPr lang="en-US" sz="11200" dirty="0">
                <a:latin typeface="Arial Narrow" pitchFamily="34" charset="0"/>
              </a:rPr>
              <a:t>in behavior is </a:t>
            </a:r>
            <a:r>
              <a:rPr lang="en-US" sz="11200" dirty="0" smtClean="0">
                <a:latin typeface="Arial Narrow" pitchFamily="34" charset="0"/>
              </a:rPr>
              <a:t>because </a:t>
            </a:r>
            <a:r>
              <a:rPr lang="en-US" sz="11200" dirty="0">
                <a:latin typeface="Arial Narrow" pitchFamily="34" charset="0"/>
              </a:rPr>
              <a:t>of experience, or practice</a:t>
            </a:r>
            <a:br>
              <a:rPr lang="en-US" sz="11200" dirty="0">
                <a:latin typeface="Arial Narrow" pitchFamily="34" charset="0"/>
              </a:rPr>
            </a:br>
            <a:r>
              <a:rPr lang="en-US" sz="11200" dirty="0" smtClean="0">
                <a:latin typeface="Arial Narrow" pitchFamily="34" charset="0"/>
              </a:rPr>
              <a:t>- The </a:t>
            </a:r>
            <a:r>
              <a:rPr lang="en-US" sz="11200" dirty="0">
                <a:latin typeface="Arial Narrow" pitchFamily="34" charset="0"/>
              </a:rPr>
              <a:t>learning is not directly observable but manifests in the activities of the individual</a:t>
            </a:r>
            <a:r>
              <a:rPr lang="en-US" sz="11200" dirty="0" smtClean="0">
                <a:latin typeface="Arial Narrow" pitchFamily="34" charset="0"/>
              </a:rPr>
              <a:t> </a:t>
            </a: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3.1.2. Characteristics of </a:t>
            </a:r>
            <a:r>
              <a:rPr lang="en-US" b="1" dirty="0" smtClean="0"/>
              <a:t>learning</a:t>
            </a:r>
            <a:endParaRPr lang="en-US" dirty="0"/>
          </a:p>
        </p:txBody>
      </p:sp>
      <p:sp>
        <p:nvSpPr>
          <p:cNvPr id="3" name="Content Placeholder 2"/>
          <p:cNvSpPr>
            <a:spLocks noGrp="1"/>
          </p:cNvSpPr>
          <p:nvPr>
            <p:ph idx="1"/>
          </p:nvPr>
        </p:nvSpPr>
        <p:spPr>
          <a:xfrm>
            <a:off x="152400" y="1066800"/>
            <a:ext cx="8839200" cy="5562600"/>
          </a:xfrm>
        </p:spPr>
        <p:txBody>
          <a:bodyPr>
            <a:normAutofit fontScale="85000" lnSpcReduction="10000"/>
          </a:bodyPr>
          <a:lstStyle/>
          <a:p>
            <a:r>
              <a:rPr lang="en-US" sz="3300" dirty="0">
                <a:latin typeface="Arial Narrow" pitchFamily="34" charset="0"/>
              </a:rPr>
              <a:t>Learning is continuous modification of behavior throughout </a:t>
            </a:r>
            <a:r>
              <a:rPr lang="en-US" sz="3300" dirty="0" smtClean="0">
                <a:latin typeface="Arial Narrow" pitchFamily="34" charset="0"/>
              </a:rPr>
              <a:t>life.</a:t>
            </a:r>
          </a:p>
          <a:p>
            <a:r>
              <a:rPr lang="en-US" sz="3300" dirty="0" smtClean="0">
                <a:latin typeface="Arial Narrow" pitchFamily="34" charset="0"/>
              </a:rPr>
              <a:t>Learning </a:t>
            </a:r>
            <a:r>
              <a:rPr lang="en-US" sz="3300" dirty="0">
                <a:latin typeface="Arial Narrow" pitchFamily="34" charset="0"/>
              </a:rPr>
              <a:t>is pervasive, it reaches into all aspects of human </a:t>
            </a:r>
            <a:r>
              <a:rPr lang="en-US" sz="3300" dirty="0" smtClean="0">
                <a:latin typeface="Arial Narrow" pitchFamily="34" charset="0"/>
              </a:rPr>
              <a:t>life.</a:t>
            </a:r>
          </a:p>
          <a:p>
            <a:r>
              <a:rPr lang="en-US" sz="3300" dirty="0" smtClean="0">
                <a:latin typeface="Arial Narrow" pitchFamily="34" charset="0"/>
              </a:rPr>
              <a:t>Learning </a:t>
            </a:r>
            <a:r>
              <a:rPr lang="en-US" sz="3300" dirty="0">
                <a:latin typeface="Arial Narrow" pitchFamily="34" charset="0"/>
              </a:rPr>
              <a:t>involves the whole person, socially, emotionally &amp; </a:t>
            </a:r>
            <a:r>
              <a:rPr lang="en-US" sz="3300" dirty="0" smtClean="0">
                <a:latin typeface="Arial Narrow" pitchFamily="34" charset="0"/>
              </a:rPr>
              <a:t>intellectually.</a:t>
            </a:r>
          </a:p>
          <a:p>
            <a:r>
              <a:rPr lang="en-US" sz="3300" dirty="0" smtClean="0">
                <a:latin typeface="Arial Narrow" pitchFamily="34" charset="0"/>
              </a:rPr>
              <a:t>Learning </a:t>
            </a:r>
            <a:r>
              <a:rPr lang="en-US" sz="3300" dirty="0">
                <a:latin typeface="Arial Narrow" pitchFamily="34" charset="0"/>
              </a:rPr>
              <a:t>is often a change in the organization of </a:t>
            </a:r>
            <a:r>
              <a:rPr lang="en-US" sz="3300" dirty="0" smtClean="0">
                <a:latin typeface="Arial Narrow" pitchFamily="34" charset="0"/>
              </a:rPr>
              <a:t>experiences.</a:t>
            </a:r>
          </a:p>
          <a:p>
            <a:r>
              <a:rPr lang="en-US" sz="3300" dirty="0" smtClean="0">
                <a:latin typeface="Arial Narrow" pitchFamily="34" charset="0"/>
              </a:rPr>
              <a:t>Learning </a:t>
            </a:r>
            <a:r>
              <a:rPr lang="en-US" sz="3300" dirty="0">
                <a:latin typeface="Arial Narrow" pitchFamily="34" charset="0"/>
              </a:rPr>
              <a:t>is responsive to </a:t>
            </a:r>
            <a:r>
              <a:rPr lang="en-US" sz="3300" dirty="0" smtClean="0">
                <a:latin typeface="Arial Narrow" pitchFamily="34" charset="0"/>
              </a:rPr>
              <a:t>incentives.</a:t>
            </a:r>
          </a:p>
          <a:p>
            <a:r>
              <a:rPr lang="en-US" sz="3300" dirty="0" smtClean="0">
                <a:latin typeface="Arial Narrow" pitchFamily="34" charset="0"/>
              </a:rPr>
              <a:t>Learning </a:t>
            </a:r>
            <a:r>
              <a:rPr lang="en-US" sz="3300" dirty="0">
                <a:latin typeface="Arial Narrow" pitchFamily="34" charset="0"/>
              </a:rPr>
              <a:t>is an active </a:t>
            </a:r>
            <a:r>
              <a:rPr lang="en-US" sz="3300" dirty="0" smtClean="0">
                <a:latin typeface="Arial Narrow" pitchFamily="34" charset="0"/>
              </a:rPr>
              <a:t>process.</a:t>
            </a:r>
          </a:p>
          <a:p>
            <a:r>
              <a:rPr lang="en-US" sz="3300" dirty="0" smtClean="0">
                <a:latin typeface="Arial Narrow" pitchFamily="34" charset="0"/>
              </a:rPr>
              <a:t>Learning </a:t>
            </a:r>
            <a:r>
              <a:rPr lang="en-US" sz="3300" dirty="0">
                <a:latin typeface="Arial Narrow" pitchFamily="34" charset="0"/>
              </a:rPr>
              <a:t>is </a:t>
            </a:r>
            <a:r>
              <a:rPr lang="en-US" sz="3300" dirty="0" smtClean="0">
                <a:latin typeface="Arial Narrow" pitchFamily="34" charset="0"/>
              </a:rPr>
              <a:t>purposeful.</a:t>
            </a:r>
          </a:p>
          <a:p>
            <a:r>
              <a:rPr lang="en-US" sz="3300" dirty="0" smtClean="0">
                <a:latin typeface="Arial Narrow" pitchFamily="34" charset="0"/>
              </a:rPr>
              <a:t>Learning </a:t>
            </a:r>
            <a:r>
              <a:rPr lang="en-US" sz="3300" dirty="0">
                <a:latin typeface="Arial Narrow" pitchFamily="34" charset="0"/>
              </a:rPr>
              <a:t>depends on maturation, motivation and </a:t>
            </a:r>
            <a:r>
              <a:rPr lang="en-US" sz="3300" dirty="0" smtClean="0">
                <a:latin typeface="Arial Narrow" pitchFamily="34" charset="0"/>
              </a:rPr>
              <a:t>practice.</a:t>
            </a:r>
          </a:p>
          <a:p>
            <a:r>
              <a:rPr lang="en-US" sz="3300" dirty="0" smtClean="0">
                <a:latin typeface="Arial Narrow" pitchFamily="34" charset="0"/>
              </a:rPr>
              <a:t>Learning </a:t>
            </a:r>
            <a:r>
              <a:rPr lang="en-US" sz="3300" dirty="0">
                <a:latin typeface="Arial Narrow" pitchFamily="34" charset="0"/>
              </a:rPr>
              <a:t>is </a:t>
            </a:r>
            <a:r>
              <a:rPr lang="en-US" sz="3300" dirty="0" smtClean="0">
                <a:latin typeface="Arial Narrow" pitchFamily="34" charset="0"/>
              </a:rPr>
              <a:t>multifaceted. </a:t>
            </a:r>
            <a:r>
              <a:rPr lang="en-US" dirty="0" smtClean="0"/>
              <a:t/>
            </a:r>
            <a:br>
              <a:rPr lang="en-US" dirty="0" smtClean="0"/>
            </a:b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57200"/>
          </a:xfrm>
        </p:spPr>
        <p:txBody>
          <a:bodyPr>
            <a:normAutofit fontScale="90000"/>
          </a:bodyPr>
          <a:lstStyle/>
          <a:p>
            <a:r>
              <a:rPr lang="en-US" b="1" dirty="0"/>
              <a:t>3.1.3. Principles of </a:t>
            </a:r>
            <a:r>
              <a:rPr lang="en-US" b="1" dirty="0" smtClean="0"/>
              <a:t>learning</a:t>
            </a:r>
            <a:endParaRPr lang="en-US" dirty="0"/>
          </a:p>
        </p:txBody>
      </p:sp>
      <p:sp>
        <p:nvSpPr>
          <p:cNvPr id="3" name="Content Placeholder 2"/>
          <p:cNvSpPr>
            <a:spLocks noGrp="1"/>
          </p:cNvSpPr>
          <p:nvPr>
            <p:ph idx="1"/>
          </p:nvPr>
        </p:nvSpPr>
        <p:spPr>
          <a:xfrm>
            <a:off x="228600" y="838200"/>
            <a:ext cx="8763000" cy="5791200"/>
          </a:xfrm>
        </p:spPr>
        <p:txBody>
          <a:bodyPr>
            <a:normAutofit fontScale="25000" lnSpcReduction="20000"/>
          </a:bodyPr>
          <a:lstStyle/>
          <a:p>
            <a:pPr>
              <a:lnSpc>
                <a:spcPct val="120000"/>
              </a:lnSpc>
              <a:spcBef>
                <a:spcPts val="0"/>
              </a:spcBef>
              <a:spcAft>
                <a:spcPts val="600"/>
              </a:spcAft>
              <a:buNone/>
            </a:pPr>
            <a:r>
              <a:rPr lang="en-US" sz="11200" b="1" dirty="0" smtClean="0">
                <a:latin typeface="Arial Narrow" pitchFamily="34" charset="0"/>
              </a:rPr>
              <a:t>Individuals </a:t>
            </a:r>
            <a:r>
              <a:rPr lang="en-US" sz="11200" b="1" dirty="0">
                <a:latin typeface="Arial Narrow" pitchFamily="34" charset="0"/>
              </a:rPr>
              <a:t>learn </a:t>
            </a:r>
            <a:r>
              <a:rPr lang="en-US" sz="11200" b="1" dirty="0" smtClean="0">
                <a:latin typeface="Arial Narrow" pitchFamily="34" charset="0"/>
              </a:rPr>
              <a:t>best;</a:t>
            </a:r>
          </a:p>
          <a:p>
            <a:pPr>
              <a:lnSpc>
                <a:spcPct val="120000"/>
              </a:lnSpc>
              <a:spcBef>
                <a:spcPts val="0"/>
              </a:spcBef>
              <a:spcAft>
                <a:spcPts val="600"/>
              </a:spcAft>
            </a:pPr>
            <a:r>
              <a:rPr lang="en-US" sz="11200" dirty="0" smtClean="0">
                <a:latin typeface="Arial Narrow" pitchFamily="34" charset="0"/>
              </a:rPr>
              <a:t>When </a:t>
            </a:r>
            <a:r>
              <a:rPr lang="en-US" sz="11200" dirty="0">
                <a:latin typeface="Arial Narrow" pitchFamily="34" charset="0"/>
              </a:rPr>
              <a:t>they are physically, mentally, &amp;</a:t>
            </a:r>
            <a:r>
              <a:rPr lang="en-US" sz="11200" dirty="0" smtClean="0">
                <a:latin typeface="Arial Narrow" pitchFamily="34" charset="0"/>
              </a:rPr>
              <a:t> </a:t>
            </a:r>
            <a:r>
              <a:rPr lang="en-US" sz="11200" dirty="0">
                <a:latin typeface="Arial Narrow" pitchFamily="34" charset="0"/>
              </a:rPr>
              <a:t>emotionally </a:t>
            </a:r>
            <a:r>
              <a:rPr lang="en-US" sz="11200" dirty="0" smtClean="0">
                <a:latin typeface="Arial Narrow" pitchFamily="34" charset="0"/>
              </a:rPr>
              <a:t>ready.</a:t>
            </a:r>
          </a:p>
          <a:p>
            <a:pPr>
              <a:lnSpc>
                <a:spcPct val="120000"/>
              </a:lnSpc>
              <a:spcBef>
                <a:spcPts val="0"/>
              </a:spcBef>
              <a:spcAft>
                <a:spcPts val="600"/>
              </a:spcAft>
            </a:pPr>
            <a:r>
              <a:rPr lang="en-US" sz="11200" dirty="0" smtClean="0">
                <a:latin typeface="Arial Narrow" pitchFamily="34" charset="0"/>
              </a:rPr>
              <a:t>When </a:t>
            </a:r>
            <a:r>
              <a:rPr lang="en-US" sz="11200" dirty="0">
                <a:latin typeface="Arial Narrow" pitchFamily="34" charset="0"/>
              </a:rPr>
              <a:t>they have meaningful practice </a:t>
            </a:r>
            <a:r>
              <a:rPr lang="en-US" sz="11200" dirty="0" smtClean="0">
                <a:latin typeface="Arial Narrow" pitchFamily="34" charset="0"/>
              </a:rPr>
              <a:t>and exercise, and</a:t>
            </a:r>
          </a:p>
          <a:p>
            <a:pPr>
              <a:lnSpc>
                <a:spcPct val="120000"/>
              </a:lnSpc>
              <a:spcBef>
                <a:spcPts val="0"/>
              </a:spcBef>
              <a:spcAft>
                <a:spcPts val="600"/>
              </a:spcAft>
            </a:pPr>
            <a:r>
              <a:rPr lang="en-US" sz="11200" dirty="0" smtClean="0">
                <a:latin typeface="Arial Narrow" pitchFamily="34" charset="0"/>
              </a:rPr>
              <a:t>When it is accompanied </a:t>
            </a:r>
            <a:r>
              <a:rPr lang="en-US" sz="11200" dirty="0">
                <a:latin typeface="Arial Narrow" pitchFamily="34" charset="0"/>
              </a:rPr>
              <a:t>by a pleasant or satisfying </a:t>
            </a:r>
            <a:r>
              <a:rPr lang="en-US" sz="11200" dirty="0" smtClean="0">
                <a:latin typeface="Arial Narrow" pitchFamily="34" charset="0"/>
              </a:rPr>
              <a:t>feeling</a:t>
            </a:r>
          </a:p>
          <a:p>
            <a:pPr>
              <a:lnSpc>
                <a:spcPct val="120000"/>
              </a:lnSpc>
              <a:spcBef>
                <a:spcPts val="0"/>
              </a:spcBef>
              <a:spcAft>
                <a:spcPts val="600"/>
              </a:spcAft>
            </a:pPr>
            <a:r>
              <a:rPr lang="en-US" sz="11200" dirty="0" smtClean="0">
                <a:latin typeface="Arial Narrow" pitchFamily="34" charset="0"/>
              </a:rPr>
              <a:t>Things </a:t>
            </a:r>
            <a:r>
              <a:rPr lang="en-US" sz="11200" dirty="0">
                <a:latin typeface="Arial Narrow" pitchFamily="34" charset="0"/>
              </a:rPr>
              <a:t>learned first create a </a:t>
            </a:r>
            <a:r>
              <a:rPr lang="en-US" sz="11200" dirty="0" smtClean="0">
                <a:latin typeface="Arial Narrow" pitchFamily="34" charset="0"/>
              </a:rPr>
              <a:t>strong unforgettable impression.</a:t>
            </a:r>
          </a:p>
          <a:p>
            <a:pPr>
              <a:lnSpc>
                <a:spcPct val="120000"/>
              </a:lnSpc>
              <a:spcBef>
                <a:spcPts val="0"/>
              </a:spcBef>
              <a:spcAft>
                <a:spcPts val="600"/>
              </a:spcAft>
            </a:pPr>
            <a:r>
              <a:rPr lang="en-US" sz="11200" dirty="0" smtClean="0">
                <a:latin typeface="Arial Narrow" pitchFamily="34" charset="0"/>
              </a:rPr>
              <a:t>Things </a:t>
            </a:r>
            <a:r>
              <a:rPr lang="en-US" sz="11200" dirty="0">
                <a:latin typeface="Arial Narrow" pitchFamily="34" charset="0"/>
              </a:rPr>
              <a:t>most recently learned are best </a:t>
            </a:r>
            <a:r>
              <a:rPr lang="en-US" sz="11200" dirty="0" smtClean="0">
                <a:latin typeface="Arial Narrow" pitchFamily="34" charset="0"/>
              </a:rPr>
              <a:t>remembered.</a:t>
            </a:r>
          </a:p>
          <a:p>
            <a:pPr>
              <a:lnSpc>
                <a:spcPct val="120000"/>
              </a:lnSpc>
              <a:spcBef>
                <a:spcPts val="0"/>
              </a:spcBef>
              <a:spcAft>
                <a:spcPts val="600"/>
              </a:spcAft>
            </a:pPr>
            <a:r>
              <a:rPr lang="en-US" sz="11200" dirty="0" smtClean="0">
                <a:latin typeface="Arial Narrow" pitchFamily="34" charset="0"/>
              </a:rPr>
              <a:t>The </a:t>
            </a:r>
            <a:r>
              <a:rPr lang="en-US" sz="11200" dirty="0">
                <a:latin typeface="Arial Narrow" pitchFamily="34" charset="0"/>
              </a:rPr>
              <a:t>principle of intensity implies that a student will learn more from the real thing </a:t>
            </a:r>
            <a:r>
              <a:rPr lang="en-US" sz="11200" dirty="0" smtClean="0">
                <a:latin typeface="Arial Narrow" pitchFamily="34" charset="0"/>
              </a:rPr>
              <a:t>than from </a:t>
            </a:r>
            <a:r>
              <a:rPr lang="en-US" sz="11200" dirty="0">
                <a:latin typeface="Arial Narrow" pitchFamily="34" charset="0"/>
              </a:rPr>
              <a:t>a </a:t>
            </a:r>
            <a:r>
              <a:rPr lang="en-US" sz="11200" dirty="0" smtClean="0">
                <a:latin typeface="Arial Narrow" pitchFamily="34" charset="0"/>
              </a:rPr>
              <a:t>substitute.</a:t>
            </a:r>
          </a:p>
          <a:p>
            <a:pPr>
              <a:lnSpc>
                <a:spcPct val="120000"/>
              </a:lnSpc>
              <a:spcBef>
                <a:spcPts val="0"/>
              </a:spcBef>
              <a:spcAft>
                <a:spcPts val="600"/>
              </a:spcAft>
            </a:pPr>
            <a:r>
              <a:rPr lang="en-US" sz="11200" dirty="0">
                <a:latin typeface="Arial Narrow" pitchFamily="34" charset="0"/>
              </a:rPr>
              <a:t>S</a:t>
            </a:r>
            <a:r>
              <a:rPr lang="en-US" sz="11200" dirty="0" smtClean="0">
                <a:latin typeface="Arial Narrow" pitchFamily="34" charset="0"/>
              </a:rPr>
              <a:t>ome </a:t>
            </a:r>
            <a:r>
              <a:rPr lang="en-US" sz="11200" dirty="0">
                <a:latin typeface="Arial Narrow" pitchFamily="34" charset="0"/>
              </a:rPr>
              <a:t>abilities and skills that may help </a:t>
            </a:r>
            <a:r>
              <a:rPr lang="en-US" sz="11200" dirty="0" smtClean="0">
                <a:latin typeface="Arial Narrow" pitchFamily="34" charset="0"/>
              </a:rPr>
              <a:t>individuals to learn.</a:t>
            </a:r>
          </a:p>
          <a:p>
            <a:pPr>
              <a:lnSpc>
                <a:spcPct val="120000"/>
              </a:lnSpc>
              <a:spcBef>
                <a:spcPts val="0"/>
              </a:spcBef>
              <a:spcAft>
                <a:spcPts val="600"/>
              </a:spcAft>
            </a:pPr>
            <a:r>
              <a:rPr lang="en-US" sz="11200" dirty="0" smtClean="0">
                <a:latin typeface="Arial Narrow" pitchFamily="34" charset="0"/>
              </a:rPr>
              <a:t>Things </a:t>
            </a:r>
            <a:r>
              <a:rPr lang="en-US" sz="11200" dirty="0">
                <a:latin typeface="Arial Narrow" pitchFamily="34" charset="0"/>
              </a:rPr>
              <a:t>freely learned are best learned </a:t>
            </a:r>
            <a:r>
              <a:rPr lang="en-US" sz="11200" dirty="0" smtClean="0">
                <a:latin typeface="Arial Narrow" pitchFamily="34" charset="0"/>
              </a:rPr>
              <a:t>- higher </a:t>
            </a:r>
            <a:r>
              <a:rPr lang="en-US" sz="11200" dirty="0">
                <a:latin typeface="Arial Narrow" pitchFamily="34" charset="0"/>
              </a:rPr>
              <a:t>intellectual and moral </a:t>
            </a:r>
            <a:r>
              <a:rPr lang="en-US" sz="11200" dirty="0" smtClean="0">
                <a:latin typeface="Arial Narrow" pitchFamily="34" charset="0"/>
              </a:rPr>
              <a:t>advancement occur when learning is through freedom.</a:t>
            </a:r>
            <a:r>
              <a:rPr lang="en-US" sz="44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3.2. Factors Influencing </a:t>
            </a:r>
            <a:r>
              <a:rPr lang="en-US" b="1" dirty="0" smtClean="0"/>
              <a:t>Learning</a:t>
            </a:r>
            <a:endParaRPr lang="en-US" dirty="0"/>
          </a:p>
        </p:txBody>
      </p:sp>
      <p:sp>
        <p:nvSpPr>
          <p:cNvPr id="3" name="Content Placeholder 2"/>
          <p:cNvSpPr>
            <a:spLocks noGrp="1"/>
          </p:cNvSpPr>
          <p:nvPr>
            <p:ph idx="1"/>
          </p:nvPr>
        </p:nvSpPr>
        <p:spPr>
          <a:xfrm>
            <a:off x="304800" y="914400"/>
            <a:ext cx="8610600" cy="5638800"/>
          </a:xfrm>
        </p:spPr>
        <p:txBody>
          <a:bodyPr>
            <a:normAutofit fontScale="32500" lnSpcReduction="20000"/>
          </a:bodyPr>
          <a:lstStyle/>
          <a:p>
            <a:pPr>
              <a:lnSpc>
                <a:spcPct val="120000"/>
              </a:lnSpc>
              <a:spcBef>
                <a:spcPts val="600"/>
              </a:spcBef>
            </a:pPr>
            <a:r>
              <a:rPr lang="en-US" sz="8600" dirty="0">
                <a:latin typeface="Arial Narrow" pitchFamily="34" charset="0"/>
              </a:rPr>
              <a:t>Motivation</a:t>
            </a:r>
            <a:r>
              <a:rPr lang="en-US" sz="8600" dirty="0" smtClean="0">
                <a:latin typeface="Arial Narrow" pitchFamily="34" charset="0"/>
              </a:rPr>
              <a:t> </a:t>
            </a:r>
          </a:p>
          <a:p>
            <a:pPr>
              <a:lnSpc>
                <a:spcPct val="120000"/>
              </a:lnSpc>
              <a:spcBef>
                <a:spcPts val="600"/>
              </a:spcBef>
            </a:pPr>
            <a:r>
              <a:rPr lang="en-US" sz="8600" dirty="0" smtClean="0">
                <a:latin typeface="Arial Narrow" pitchFamily="34" charset="0"/>
              </a:rPr>
              <a:t>Maturation </a:t>
            </a:r>
          </a:p>
          <a:p>
            <a:pPr>
              <a:lnSpc>
                <a:spcPct val="120000"/>
              </a:lnSpc>
              <a:spcBef>
                <a:spcPts val="600"/>
              </a:spcBef>
            </a:pPr>
            <a:r>
              <a:rPr lang="en-US" sz="8600" dirty="0">
                <a:latin typeface="Arial Narrow" pitchFamily="34" charset="0"/>
              </a:rPr>
              <a:t>Health condition of the learner</a:t>
            </a:r>
            <a:r>
              <a:rPr lang="en-US" sz="8600" dirty="0" smtClean="0">
                <a:latin typeface="Arial Narrow" pitchFamily="34" charset="0"/>
              </a:rPr>
              <a:t> </a:t>
            </a:r>
          </a:p>
          <a:p>
            <a:pPr>
              <a:lnSpc>
                <a:spcPct val="120000"/>
              </a:lnSpc>
              <a:spcBef>
                <a:spcPts val="600"/>
              </a:spcBef>
            </a:pPr>
            <a:r>
              <a:rPr lang="en-US" sz="8600" dirty="0" smtClean="0">
                <a:latin typeface="Arial Narrow" pitchFamily="34" charset="0"/>
              </a:rPr>
              <a:t>Psychological </a:t>
            </a:r>
            <a:r>
              <a:rPr lang="en-US" sz="8600" dirty="0">
                <a:latin typeface="Arial Narrow" pitchFamily="34" charset="0"/>
              </a:rPr>
              <a:t>wellbeing of the learner</a:t>
            </a:r>
            <a:r>
              <a:rPr lang="en-US" sz="8600" dirty="0" smtClean="0">
                <a:latin typeface="Arial Narrow" pitchFamily="34" charset="0"/>
              </a:rPr>
              <a:t> </a:t>
            </a:r>
          </a:p>
          <a:p>
            <a:pPr>
              <a:lnSpc>
                <a:spcPct val="120000"/>
              </a:lnSpc>
              <a:spcBef>
                <a:spcPts val="600"/>
              </a:spcBef>
            </a:pPr>
            <a:r>
              <a:rPr lang="en-US" sz="8600" dirty="0">
                <a:latin typeface="Arial Narrow" pitchFamily="34" charset="0"/>
              </a:rPr>
              <a:t>Good </a:t>
            </a:r>
            <a:r>
              <a:rPr lang="en-US" sz="8600" dirty="0" smtClean="0">
                <a:latin typeface="Arial Narrow" pitchFamily="34" charset="0"/>
              </a:rPr>
              <a:t>learning </a:t>
            </a:r>
            <a:r>
              <a:rPr lang="en-US" sz="8600" dirty="0">
                <a:latin typeface="Arial Narrow" pitchFamily="34" charset="0"/>
              </a:rPr>
              <a:t>conditions</a:t>
            </a:r>
            <a:r>
              <a:rPr lang="en-US" sz="8600" dirty="0" smtClean="0">
                <a:latin typeface="Arial Narrow" pitchFamily="34" charset="0"/>
              </a:rPr>
              <a:t> </a:t>
            </a:r>
          </a:p>
          <a:p>
            <a:pPr>
              <a:lnSpc>
                <a:spcPct val="120000"/>
              </a:lnSpc>
              <a:spcBef>
                <a:spcPts val="600"/>
              </a:spcBef>
            </a:pPr>
            <a:r>
              <a:rPr lang="en-US" sz="8600" dirty="0" smtClean="0">
                <a:latin typeface="Arial Narrow" pitchFamily="34" charset="0"/>
              </a:rPr>
              <a:t>Background </a:t>
            </a:r>
            <a:r>
              <a:rPr lang="en-US" sz="8600" dirty="0">
                <a:latin typeface="Arial Narrow" pitchFamily="34" charset="0"/>
              </a:rPr>
              <a:t>experiences</a:t>
            </a:r>
            <a:r>
              <a:rPr lang="en-US" sz="8600" dirty="0" smtClean="0">
                <a:latin typeface="Arial Narrow" pitchFamily="34" charset="0"/>
              </a:rPr>
              <a:t> </a:t>
            </a:r>
          </a:p>
          <a:p>
            <a:pPr>
              <a:lnSpc>
                <a:spcPct val="120000"/>
              </a:lnSpc>
              <a:spcBef>
                <a:spcPts val="600"/>
              </a:spcBef>
            </a:pPr>
            <a:r>
              <a:rPr lang="en-US" sz="8600" dirty="0">
                <a:latin typeface="Arial Narrow" pitchFamily="34" charset="0"/>
              </a:rPr>
              <a:t>Length of the working period</a:t>
            </a:r>
            <a:r>
              <a:rPr lang="en-US" sz="8600" dirty="0" smtClean="0">
                <a:latin typeface="Arial Narrow" pitchFamily="34" charset="0"/>
              </a:rPr>
              <a:t> </a:t>
            </a:r>
          </a:p>
          <a:p>
            <a:pPr>
              <a:lnSpc>
                <a:spcPct val="120000"/>
              </a:lnSpc>
              <a:spcBef>
                <a:spcPts val="600"/>
              </a:spcBef>
            </a:pPr>
            <a:r>
              <a:rPr lang="en-US" sz="8600" dirty="0" smtClean="0">
                <a:latin typeface="Arial Narrow" pitchFamily="34" charset="0"/>
              </a:rPr>
              <a:t>Massed </a:t>
            </a:r>
            <a:r>
              <a:rPr lang="en-US" sz="8600" dirty="0">
                <a:latin typeface="Arial Narrow" pitchFamily="34" charset="0"/>
              </a:rPr>
              <a:t>and distributed learning</a:t>
            </a:r>
            <a:r>
              <a:rPr lang="en-US" sz="8600" dirty="0" smtClean="0">
                <a:latin typeface="Arial Narrow" pitchFamily="34" charset="0"/>
              </a:rPr>
              <a:t> </a:t>
            </a:r>
            <a:br>
              <a:rPr lang="en-US" sz="8600" dirty="0" smtClean="0">
                <a:latin typeface="Arial Narrow" pitchFamily="34" charset="0"/>
              </a:rPr>
            </a:br>
            <a:r>
              <a:rPr lang="en-US" dirty="0" smtClean="0"/>
              <a:t/>
            </a:r>
            <a:br>
              <a:rPr lang="en-US" dirty="0" smtClean="0"/>
            </a:br>
            <a:r>
              <a:rPr lang="en-US" sz="7400" i="1" dirty="0">
                <a:latin typeface="Arial Narrow" pitchFamily="34" charset="0"/>
              </a:rPr>
              <a:t>Do learning materials, teaching styles, teaching methods, and medium </a:t>
            </a:r>
            <a:r>
              <a:rPr lang="en-US" sz="7400" i="1" dirty="0" smtClean="0">
                <a:latin typeface="Arial Narrow" pitchFamily="34" charset="0"/>
              </a:rPr>
              <a:t>of instruction </a:t>
            </a:r>
            <a:r>
              <a:rPr lang="en-US" sz="7400" i="1" dirty="0">
                <a:latin typeface="Arial Narrow" pitchFamily="34" charset="0"/>
              </a:rPr>
              <a:t>affects learning like the factors listed above?</a:t>
            </a:r>
            <a:r>
              <a:rPr lang="en-US" sz="7400" dirty="0" smtClean="0">
                <a:latin typeface="Arial Narrow" pitchFamily="34" charset="0"/>
              </a:rPr>
              <a:t>  </a:t>
            </a:r>
            <a:r>
              <a:rPr lang="en-US" sz="7400" i="1" dirty="0" smtClean="0">
                <a:latin typeface="Arial Narrow" pitchFamily="34" charset="0"/>
              </a:rPr>
              <a:t>Why?</a:t>
            </a:r>
            <a:r>
              <a:rPr lang="en-US" sz="7400" dirty="0" smtClean="0">
                <a:latin typeface="Arial Narrow" pitchFamily="34" charset="0"/>
              </a:rPr>
              <a:t/>
            </a:r>
            <a:br>
              <a:rPr lang="en-US" sz="7400" dirty="0" smtClean="0">
                <a:latin typeface="Arial Narrow" pitchFamily="34" charset="0"/>
              </a:rPr>
            </a:b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792162"/>
          </a:xfrm>
        </p:spPr>
        <p:txBody>
          <a:bodyPr>
            <a:normAutofit/>
          </a:bodyPr>
          <a:lstStyle/>
          <a:p>
            <a:r>
              <a:rPr lang="en-US" sz="3600" b="1" dirty="0">
                <a:latin typeface="Arial Narrow" pitchFamily="34" charset="0"/>
              </a:rPr>
              <a:t>3.3. Theories of Learning and their </a:t>
            </a:r>
            <a:r>
              <a:rPr lang="en-US" sz="3600" b="1" dirty="0" smtClean="0">
                <a:latin typeface="Arial Narrow" pitchFamily="34" charset="0"/>
              </a:rPr>
              <a:t>Applications</a:t>
            </a:r>
            <a:endParaRPr lang="en-US" dirty="0"/>
          </a:p>
        </p:txBody>
      </p:sp>
      <p:sp>
        <p:nvSpPr>
          <p:cNvPr id="3" name="Content Placeholder 2"/>
          <p:cNvSpPr>
            <a:spLocks noGrp="1"/>
          </p:cNvSpPr>
          <p:nvPr>
            <p:ph idx="1"/>
          </p:nvPr>
        </p:nvSpPr>
        <p:spPr>
          <a:xfrm>
            <a:off x="228600" y="990600"/>
            <a:ext cx="8686800" cy="5638800"/>
          </a:xfrm>
        </p:spPr>
        <p:txBody>
          <a:bodyPr/>
          <a:lstStyle/>
          <a:p>
            <a:pPr>
              <a:buNone/>
            </a:pPr>
            <a:r>
              <a:rPr lang="en-US" b="1" dirty="0" smtClean="0">
                <a:latin typeface="Arial Narrow" pitchFamily="34" charset="0"/>
              </a:rPr>
              <a:t>1</a:t>
            </a:r>
            <a:r>
              <a:rPr lang="en-US" b="1" dirty="0">
                <a:latin typeface="Arial Narrow" pitchFamily="34" charset="0"/>
              </a:rPr>
              <a:t>. Behavioral Theory of Learning</a:t>
            </a:r>
            <a:r>
              <a:rPr lang="en-US" dirty="0" smtClean="0"/>
              <a:t> </a:t>
            </a:r>
          </a:p>
          <a:p>
            <a:r>
              <a:rPr lang="en-US" sz="2800" dirty="0" smtClean="0">
                <a:latin typeface="Arial Narrow" pitchFamily="34" charset="0"/>
              </a:rPr>
              <a:t>Behavioral </a:t>
            </a:r>
            <a:r>
              <a:rPr lang="en-US" sz="2800" dirty="0">
                <a:latin typeface="Arial Narrow" pitchFamily="34" charset="0"/>
              </a:rPr>
              <a:t>theory of learning believes that learning occurs as a result of </a:t>
            </a:r>
            <a:r>
              <a:rPr lang="en-US" sz="2800" dirty="0" smtClean="0">
                <a:latin typeface="Arial Narrow" pitchFamily="34" charset="0"/>
              </a:rPr>
              <a:t>stimulus-response associations.</a:t>
            </a:r>
          </a:p>
          <a:p>
            <a:r>
              <a:rPr lang="en-US" sz="2800" dirty="0">
                <a:latin typeface="Arial Narrow" pitchFamily="34" charset="0"/>
              </a:rPr>
              <a:t>Behavioral theories </a:t>
            </a:r>
            <a:r>
              <a:rPr lang="en-US" sz="2800" dirty="0" smtClean="0">
                <a:latin typeface="Arial Narrow" pitchFamily="34" charset="0"/>
              </a:rPr>
              <a:t>emphasize on </a:t>
            </a:r>
            <a:r>
              <a:rPr lang="en-US" sz="2800" dirty="0">
                <a:latin typeface="Arial Narrow" pitchFamily="34" charset="0"/>
              </a:rPr>
              <a:t>observable behaviors, seek laws to govern </a:t>
            </a:r>
            <a:r>
              <a:rPr lang="en-US" sz="2800" dirty="0" smtClean="0">
                <a:latin typeface="Arial Narrow" pitchFamily="34" charset="0"/>
              </a:rPr>
              <a:t>all organisms</a:t>
            </a:r>
            <a:r>
              <a:rPr lang="en-US" sz="2800" dirty="0">
                <a:latin typeface="Arial Narrow" pitchFamily="34" charset="0"/>
              </a:rPr>
              <a:t>, and provide explanations which focus on consequences. </a:t>
            </a:r>
            <a:endParaRPr lang="en-US" sz="2800" dirty="0" smtClean="0">
              <a:latin typeface="Arial Narrow" pitchFamily="34" charset="0"/>
            </a:endParaRPr>
          </a:p>
          <a:p>
            <a:r>
              <a:rPr lang="en-US" sz="2800" dirty="0" smtClean="0">
                <a:latin typeface="Arial Narrow" pitchFamily="34" charset="0"/>
              </a:rPr>
              <a:t>There </a:t>
            </a:r>
            <a:r>
              <a:rPr lang="en-US" sz="2800" dirty="0">
                <a:latin typeface="Arial Narrow" pitchFamily="34" charset="0"/>
              </a:rPr>
              <a:t>are two major behavioral theories of learning. They are known as classical and </a:t>
            </a:r>
            <a:r>
              <a:rPr lang="en-US" sz="2800" dirty="0" smtClean="0">
                <a:latin typeface="Arial Narrow" pitchFamily="34" charset="0"/>
              </a:rPr>
              <a:t>operant conditioning</a:t>
            </a:r>
            <a:r>
              <a:rPr lang="en-US" sz="2800" dirty="0">
                <a:latin typeface="Arial Narrow" pitchFamily="34" charset="0"/>
              </a:rPr>
              <a:t>.</a:t>
            </a:r>
            <a:r>
              <a:rPr lang="en-US" sz="2800" dirty="0" smtClean="0">
                <a:latin typeface="Arial Narrow" pitchFamily="34" charset="0"/>
              </a:rPr>
              <a:t> </a:t>
            </a:r>
          </a:p>
          <a:p>
            <a:pPr>
              <a:buNone/>
            </a:pPr>
            <a:r>
              <a:rPr lang="en-US" sz="2800" dirty="0" smtClean="0">
                <a:latin typeface="Arial Narrow" pitchFamily="34" charset="0"/>
              </a:rPr>
              <a:t/>
            </a:r>
            <a:br>
              <a:rPr lang="en-US" sz="2800" dirty="0" smtClean="0">
                <a:latin typeface="Arial Narrow" pitchFamily="34" charset="0"/>
              </a:rPr>
            </a:br>
            <a:endParaRPr lang="en-US" sz="2800" dirty="0">
              <a:latin typeface="Arial Narrow"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rmAutofit fontScale="90000"/>
          </a:bodyPr>
          <a:lstStyle/>
          <a:p>
            <a:r>
              <a:rPr lang="en-US" sz="3600" b="1" dirty="0" smtClean="0">
                <a:latin typeface="Arial Narrow" pitchFamily="34" charset="0"/>
              </a:rPr>
              <a:t>1 A. Pavlov’s Classical </a:t>
            </a:r>
            <a:r>
              <a:rPr lang="en-US" sz="3600" b="1" dirty="0">
                <a:latin typeface="Arial Narrow" pitchFamily="34" charset="0"/>
              </a:rPr>
              <a:t>conditioning </a:t>
            </a:r>
            <a:r>
              <a:rPr lang="en-US" b="1" dirty="0" smtClean="0"/>
              <a:t>theory</a:t>
            </a:r>
            <a:endParaRPr lang="en-US" dirty="0"/>
          </a:p>
        </p:txBody>
      </p:sp>
      <p:sp>
        <p:nvSpPr>
          <p:cNvPr id="3" name="Content Placeholder 2"/>
          <p:cNvSpPr>
            <a:spLocks noGrp="1"/>
          </p:cNvSpPr>
          <p:nvPr>
            <p:ph idx="1"/>
          </p:nvPr>
        </p:nvSpPr>
        <p:spPr>
          <a:xfrm>
            <a:off x="228600" y="1066800"/>
            <a:ext cx="8763000" cy="5562600"/>
          </a:xfrm>
        </p:spPr>
        <p:txBody>
          <a:bodyPr>
            <a:normAutofit fontScale="40000" lnSpcReduction="20000"/>
          </a:bodyPr>
          <a:lstStyle/>
          <a:p>
            <a:r>
              <a:rPr lang="en-US" sz="7000" dirty="0" smtClean="0">
                <a:latin typeface="Arial Narrow" pitchFamily="34" charset="0"/>
              </a:rPr>
              <a:t>It is sometimes called learning through </a:t>
            </a:r>
            <a:r>
              <a:rPr lang="en-US" sz="7000" b="1" dirty="0" smtClean="0">
                <a:latin typeface="Arial Narrow" pitchFamily="34" charset="0"/>
              </a:rPr>
              <a:t>association.</a:t>
            </a:r>
          </a:p>
          <a:p>
            <a:r>
              <a:rPr lang="en-US" sz="7000" dirty="0" smtClean="0">
                <a:latin typeface="Arial Narrow" pitchFamily="34" charset="0"/>
              </a:rPr>
              <a:t>Classical </a:t>
            </a:r>
            <a:r>
              <a:rPr lang="en-US" sz="7000" dirty="0">
                <a:latin typeface="Arial Narrow" pitchFamily="34" charset="0"/>
              </a:rPr>
              <a:t>conditioning focuses on the learning of making </a:t>
            </a:r>
            <a:r>
              <a:rPr lang="en-US" sz="7000" i="1" dirty="0">
                <a:latin typeface="Arial Narrow" pitchFamily="34" charset="0"/>
              </a:rPr>
              <a:t>involuntary emotional </a:t>
            </a:r>
            <a:r>
              <a:rPr lang="en-US" sz="7000" dirty="0" smtClean="0">
                <a:latin typeface="Arial Narrow" pitchFamily="34" charset="0"/>
              </a:rPr>
              <a:t>or </a:t>
            </a:r>
            <a:r>
              <a:rPr lang="en-US" sz="7000" i="1" dirty="0" smtClean="0">
                <a:latin typeface="Arial Narrow" pitchFamily="34" charset="0"/>
              </a:rPr>
              <a:t>physiological </a:t>
            </a:r>
            <a:r>
              <a:rPr lang="en-US" sz="7000" i="1" dirty="0">
                <a:latin typeface="Arial Narrow" pitchFamily="34" charset="0"/>
              </a:rPr>
              <a:t>responses to stimuli that normally elicit no </a:t>
            </a:r>
            <a:r>
              <a:rPr lang="en-US" sz="7000" i="1" dirty="0" smtClean="0">
                <a:latin typeface="Arial Narrow" pitchFamily="34" charset="0"/>
              </a:rPr>
              <a:t>response. E.g.,</a:t>
            </a:r>
            <a:r>
              <a:rPr lang="en-US" sz="7000" dirty="0" smtClean="0">
                <a:latin typeface="Arial Narrow" pitchFamily="34" charset="0"/>
              </a:rPr>
              <a:t> </a:t>
            </a:r>
            <a:r>
              <a:rPr lang="en-US" sz="7000" dirty="0">
                <a:latin typeface="Arial Narrow" pitchFamily="34" charset="0"/>
              </a:rPr>
              <a:t>fear</a:t>
            </a:r>
            <a:r>
              <a:rPr lang="en-US" sz="7000" dirty="0" smtClean="0">
                <a:latin typeface="Arial Narrow" pitchFamily="34" charset="0"/>
              </a:rPr>
              <a:t>, increased </a:t>
            </a:r>
            <a:r>
              <a:rPr lang="en-US" sz="7000" dirty="0">
                <a:latin typeface="Arial Narrow" pitchFamily="34" charset="0"/>
              </a:rPr>
              <a:t>heartbeat, salivation or sweating at the sight of a hyena. </a:t>
            </a:r>
            <a:endParaRPr lang="en-US" sz="7000" dirty="0" smtClean="0">
              <a:latin typeface="Arial Narrow" pitchFamily="34" charset="0"/>
            </a:endParaRPr>
          </a:p>
          <a:p>
            <a:r>
              <a:rPr lang="en-US" sz="7000" dirty="0" smtClean="0">
                <a:latin typeface="Arial Narrow" pitchFamily="34" charset="0"/>
              </a:rPr>
              <a:t>Through </a:t>
            </a:r>
            <a:r>
              <a:rPr lang="en-US" sz="7000" dirty="0">
                <a:latin typeface="Arial Narrow" pitchFamily="34" charset="0"/>
              </a:rPr>
              <a:t>the process </a:t>
            </a:r>
            <a:r>
              <a:rPr lang="en-US" sz="7000" dirty="0" smtClean="0">
                <a:latin typeface="Arial Narrow" pitchFamily="34" charset="0"/>
              </a:rPr>
              <a:t>of classical </a:t>
            </a:r>
            <a:r>
              <a:rPr lang="en-US" sz="7000" dirty="0">
                <a:latin typeface="Arial Narrow" pitchFamily="34" charset="0"/>
              </a:rPr>
              <a:t>conditioning, humans and animals can be trained to act </a:t>
            </a:r>
            <a:r>
              <a:rPr lang="en-US" sz="7000" b="1" u="sng" dirty="0">
                <a:latin typeface="Arial Narrow" pitchFamily="34" charset="0"/>
              </a:rPr>
              <a:t>involuntarily </a:t>
            </a:r>
            <a:r>
              <a:rPr lang="en-US" sz="7000" dirty="0">
                <a:latin typeface="Arial Narrow" pitchFamily="34" charset="0"/>
              </a:rPr>
              <a:t>to a </a:t>
            </a:r>
            <a:r>
              <a:rPr lang="en-US" sz="7000" dirty="0" smtClean="0">
                <a:latin typeface="Arial Narrow" pitchFamily="34" charset="0"/>
              </a:rPr>
              <a:t>stimulus that </a:t>
            </a:r>
            <a:r>
              <a:rPr lang="en-US" sz="7000" dirty="0">
                <a:latin typeface="Arial Narrow" pitchFamily="34" charset="0"/>
              </a:rPr>
              <a:t>previously had no effect - or a very different effect - on them</a:t>
            </a:r>
            <a:r>
              <a:rPr lang="en-US" sz="7000" dirty="0" smtClean="0">
                <a:latin typeface="Arial Narrow" pitchFamily="34" charset="0"/>
              </a:rPr>
              <a:t>. </a:t>
            </a:r>
          </a:p>
          <a:p>
            <a:r>
              <a:rPr lang="en-US" sz="7000" dirty="0" smtClean="0">
                <a:latin typeface="Arial Narrow" pitchFamily="34" charset="0"/>
              </a:rPr>
              <a:t>Classical </a:t>
            </a:r>
            <a:r>
              <a:rPr lang="en-US" sz="7000" dirty="0">
                <a:latin typeface="Arial Narrow" pitchFamily="34" charset="0"/>
              </a:rPr>
              <a:t>conditioning involves </a:t>
            </a:r>
            <a:r>
              <a:rPr lang="en-US" sz="7000" dirty="0" smtClean="0">
                <a:latin typeface="Arial Narrow" pitchFamily="34" charset="0"/>
              </a:rPr>
              <a:t>conditioned </a:t>
            </a:r>
            <a:r>
              <a:rPr lang="en-US" sz="7000" dirty="0">
                <a:latin typeface="Arial Narrow" pitchFamily="34" charset="0"/>
              </a:rPr>
              <a:t>reflexes.</a:t>
            </a:r>
            <a:r>
              <a:rPr lang="en-US" sz="7000" dirty="0" smtClean="0">
                <a:latin typeface="Arial Narrow" pitchFamily="34" charset="0"/>
              </a:rPr>
              <a:t> E.g., </a:t>
            </a:r>
            <a:r>
              <a:rPr lang="en-US" sz="7000" dirty="0">
                <a:latin typeface="Arial Narrow" pitchFamily="34" charset="0"/>
              </a:rPr>
              <a:t>the production </a:t>
            </a:r>
            <a:r>
              <a:rPr lang="en-US" sz="7000" dirty="0" smtClean="0">
                <a:latin typeface="Arial Narrow" pitchFamily="34" charset="0"/>
              </a:rPr>
              <a:t>of saliva (conditioned reflex) in </a:t>
            </a:r>
            <a:r>
              <a:rPr lang="en-US" sz="7000" dirty="0">
                <a:latin typeface="Arial Narrow" pitchFamily="34" charset="0"/>
              </a:rPr>
              <a:t>a response to </a:t>
            </a:r>
            <a:r>
              <a:rPr lang="en-US" sz="7000" dirty="0" smtClean="0">
                <a:latin typeface="Arial Narrow" pitchFamily="34" charset="0"/>
              </a:rPr>
              <a:t>food. </a:t>
            </a:r>
          </a:p>
          <a:p>
            <a:r>
              <a:rPr lang="en-US" sz="7000" dirty="0" smtClean="0">
                <a:latin typeface="Arial Narrow" pitchFamily="34" charset="0"/>
              </a:rPr>
              <a:t>In short, classical conditioning (sometimes called </a:t>
            </a:r>
            <a:r>
              <a:rPr lang="en-US" sz="7000" i="1" dirty="0" smtClean="0">
                <a:latin typeface="Arial Narrow" pitchFamily="34" charset="0"/>
              </a:rPr>
              <a:t>substitution </a:t>
            </a:r>
            <a:r>
              <a:rPr lang="en-US" sz="7000" i="1" dirty="0">
                <a:latin typeface="Arial Narrow" pitchFamily="34" charset="0"/>
              </a:rPr>
              <a:t>learning</a:t>
            </a:r>
            <a:r>
              <a:rPr lang="en-US" sz="7000" dirty="0" smtClean="0">
                <a:latin typeface="Arial Narrow" pitchFamily="34" charset="0"/>
              </a:rPr>
              <a:t> ) is a type of learning in which a neutral stimulus comes to bring about a response after it is paired with a stimulus that naturally brings about that response.</a:t>
            </a:r>
            <a:r>
              <a:rPr lang="en-US" sz="3300" dirty="0" smtClean="0">
                <a:latin typeface="Arial Narrow" pitchFamily="34" charset="0"/>
              </a:rPr>
              <a:t/>
            </a:r>
            <a:br>
              <a:rPr lang="en-US" sz="3300" dirty="0" smtClean="0">
                <a:latin typeface="Arial Narrow" pitchFamily="34" charset="0"/>
              </a:rPr>
            </a:br>
            <a:r>
              <a:rPr lang="en-US" dirty="0" smtClean="0">
                <a:latin typeface="Arial Narrow" pitchFamily="34" charset="0"/>
              </a:rPr>
              <a:t/>
            </a:r>
            <a:br>
              <a:rPr lang="en-US" dirty="0" smtClean="0">
                <a:latin typeface="Arial Narrow" pitchFamily="34" charset="0"/>
              </a:rPr>
            </a:br>
            <a:endParaRPr lang="en-US" dirty="0">
              <a:latin typeface="Arial Narrow"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39762"/>
          </a:xfrm>
        </p:spPr>
        <p:txBody>
          <a:bodyPr>
            <a:normAutofit fontScale="90000"/>
          </a:bodyPr>
          <a:lstStyle/>
          <a:p>
            <a:r>
              <a:rPr lang="en-US" b="1" dirty="0" smtClean="0"/>
              <a:t>Basics of Classical Condition</a:t>
            </a:r>
            <a:endParaRPr lang="en-US" dirty="0"/>
          </a:p>
        </p:txBody>
      </p:sp>
      <p:sp>
        <p:nvSpPr>
          <p:cNvPr id="3" name="Content Placeholder 2"/>
          <p:cNvSpPr>
            <a:spLocks noGrp="1"/>
          </p:cNvSpPr>
          <p:nvPr>
            <p:ph idx="1"/>
          </p:nvPr>
        </p:nvSpPr>
        <p:spPr>
          <a:xfrm>
            <a:off x="152400" y="838200"/>
            <a:ext cx="8763000" cy="5867400"/>
          </a:xfrm>
        </p:spPr>
        <p:txBody>
          <a:bodyPr>
            <a:normAutofit fontScale="25000" lnSpcReduction="20000"/>
          </a:bodyPr>
          <a:lstStyle/>
          <a:p>
            <a:pPr>
              <a:lnSpc>
                <a:spcPct val="120000"/>
              </a:lnSpc>
              <a:spcBef>
                <a:spcPts val="0"/>
              </a:spcBef>
              <a:spcAft>
                <a:spcPts val="600"/>
              </a:spcAft>
              <a:buNone/>
            </a:pPr>
            <a:r>
              <a:rPr lang="en-US" sz="11200" dirty="0" smtClean="0">
                <a:latin typeface="Arial Narrow" pitchFamily="34" charset="0"/>
              </a:rPr>
              <a:t>To </a:t>
            </a:r>
            <a:r>
              <a:rPr lang="en-US" sz="11200" dirty="0">
                <a:latin typeface="Arial Narrow" pitchFamily="34" charset="0"/>
              </a:rPr>
              <a:t>demonstrate classical conditioning, we must </a:t>
            </a:r>
            <a:r>
              <a:rPr lang="en-US" sz="11200" dirty="0" smtClean="0">
                <a:latin typeface="Arial Narrow" pitchFamily="34" charset="0"/>
              </a:rPr>
              <a:t>first identify </a:t>
            </a:r>
            <a:r>
              <a:rPr lang="en-US" sz="11200" dirty="0">
                <a:latin typeface="Arial Narrow" pitchFamily="34" charset="0"/>
              </a:rPr>
              <a:t>stimuli and </a:t>
            </a:r>
            <a:r>
              <a:rPr lang="en-US" sz="11200" dirty="0" smtClean="0">
                <a:latin typeface="Arial Narrow" pitchFamily="34" charset="0"/>
              </a:rPr>
              <a:t>responses.</a:t>
            </a:r>
          </a:p>
          <a:p>
            <a:pPr>
              <a:lnSpc>
                <a:spcPct val="120000"/>
              </a:lnSpc>
              <a:spcBef>
                <a:spcPts val="0"/>
              </a:spcBef>
              <a:spcAft>
                <a:spcPts val="600"/>
              </a:spcAft>
              <a:buFont typeface="Wingdings" pitchFamily="2" charset="2"/>
              <a:buChar char="§"/>
            </a:pPr>
            <a:r>
              <a:rPr lang="en-US" sz="11200" b="1" dirty="0" smtClean="0">
                <a:latin typeface="Arial Narrow" pitchFamily="34" charset="0"/>
              </a:rPr>
              <a:t>Neutral </a:t>
            </a:r>
            <a:r>
              <a:rPr lang="en-US" sz="11200" b="1" dirty="0">
                <a:latin typeface="Arial Narrow" pitchFamily="34" charset="0"/>
              </a:rPr>
              <a:t>stimulus: </a:t>
            </a:r>
            <a:r>
              <a:rPr lang="en-US" sz="11200" dirty="0">
                <a:latin typeface="Arial Narrow" pitchFamily="34" charset="0"/>
              </a:rPr>
              <a:t>A stimulus that, before conditioning, does not naturally bring about </a:t>
            </a:r>
            <a:r>
              <a:rPr lang="en-US" sz="11200" dirty="0" smtClean="0">
                <a:latin typeface="Arial Narrow" pitchFamily="34" charset="0"/>
              </a:rPr>
              <a:t>the response </a:t>
            </a:r>
            <a:r>
              <a:rPr lang="en-US" sz="11200" dirty="0">
                <a:latin typeface="Arial Narrow" pitchFamily="34" charset="0"/>
              </a:rPr>
              <a:t>of </a:t>
            </a:r>
            <a:r>
              <a:rPr lang="en-US" sz="11200" dirty="0" smtClean="0">
                <a:latin typeface="Arial Narrow" pitchFamily="34" charset="0"/>
              </a:rPr>
              <a:t>interest.</a:t>
            </a:r>
          </a:p>
          <a:p>
            <a:pPr>
              <a:lnSpc>
                <a:spcPct val="120000"/>
              </a:lnSpc>
              <a:spcBef>
                <a:spcPts val="0"/>
              </a:spcBef>
              <a:spcAft>
                <a:spcPts val="600"/>
              </a:spcAft>
              <a:buFont typeface="Wingdings" pitchFamily="2" charset="2"/>
              <a:buChar char="§"/>
            </a:pPr>
            <a:r>
              <a:rPr lang="en-US" sz="11200" b="1" dirty="0" smtClean="0">
                <a:latin typeface="Arial Narrow" pitchFamily="34" charset="0"/>
              </a:rPr>
              <a:t>Unconditioned </a:t>
            </a:r>
            <a:r>
              <a:rPr lang="en-US" sz="11200" b="1" dirty="0">
                <a:latin typeface="Arial Narrow" pitchFamily="34" charset="0"/>
              </a:rPr>
              <a:t>stimulus (UCS): </a:t>
            </a:r>
            <a:r>
              <a:rPr lang="en-US" sz="11200" dirty="0">
                <a:latin typeface="Arial Narrow" pitchFamily="34" charset="0"/>
              </a:rPr>
              <a:t>A stimulus that naturally </a:t>
            </a:r>
            <a:r>
              <a:rPr lang="en-US" sz="11200" dirty="0" smtClean="0">
                <a:latin typeface="Arial Narrow" pitchFamily="34" charset="0"/>
              </a:rPr>
              <a:t>brings </a:t>
            </a:r>
            <a:r>
              <a:rPr lang="en-US" sz="11200" dirty="0">
                <a:latin typeface="Arial Narrow" pitchFamily="34" charset="0"/>
              </a:rPr>
              <a:t>a particular </a:t>
            </a:r>
            <a:r>
              <a:rPr lang="en-US" sz="11200" dirty="0" smtClean="0">
                <a:latin typeface="Arial Narrow" pitchFamily="34" charset="0"/>
              </a:rPr>
              <a:t>response without </a:t>
            </a:r>
            <a:r>
              <a:rPr lang="en-US" sz="11200" dirty="0">
                <a:latin typeface="Arial Narrow" pitchFamily="34" charset="0"/>
              </a:rPr>
              <a:t>having been </a:t>
            </a:r>
            <a:r>
              <a:rPr lang="en-US" sz="11200" dirty="0" smtClean="0">
                <a:latin typeface="Arial Narrow" pitchFamily="34" charset="0"/>
              </a:rPr>
              <a:t>learned.</a:t>
            </a:r>
          </a:p>
          <a:p>
            <a:pPr>
              <a:lnSpc>
                <a:spcPct val="120000"/>
              </a:lnSpc>
              <a:spcBef>
                <a:spcPts val="0"/>
              </a:spcBef>
              <a:spcAft>
                <a:spcPts val="600"/>
              </a:spcAft>
              <a:buFont typeface="Wingdings" pitchFamily="2" charset="2"/>
              <a:buChar char="§"/>
            </a:pPr>
            <a:r>
              <a:rPr lang="en-US" sz="11200" b="1" dirty="0" smtClean="0">
                <a:latin typeface="Arial Narrow" pitchFamily="34" charset="0"/>
              </a:rPr>
              <a:t>Unconditioned </a:t>
            </a:r>
            <a:r>
              <a:rPr lang="en-US" sz="11200" b="1" dirty="0">
                <a:latin typeface="Arial Narrow" pitchFamily="34" charset="0"/>
              </a:rPr>
              <a:t>response (UCR): </a:t>
            </a:r>
            <a:r>
              <a:rPr lang="en-US" sz="11200" dirty="0">
                <a:latin typeface="Arial Narrow" pitchFamily="34" charset="0"/>
              </a:rPr>
              <a:t>A response that is natural and needs no training (e.g</a:t>
            </a:r>
            <a:r>
              <a:rPr lang="en-US" sz="11200" dirty="0" smtClean="0">
                <a:latin typeface="Arial Narrow" pitchFamily="34" charset="0"/>
              </a:rPr>
              <a:t>., salivation </a:t>
            </a:r>
            <a:r>
              <a:rPr lang="en-US" sz="11200" dirty="0">
                <a:latin typeface="Arial Narrow" pitchFamily="34" charset="0"/>
              </a:rPr>
              <a:t>at the smell of food</a:t>
            </a:r>
            <a:r>
              <a:rPr lang="en-US" sz="11200" dirty="0" smtClean="0">
                <a:latin typeface="Arial Narrow" pitchFamily="34" charset="0"/>
              </a:rPr>
              <a:t>).</a:t>
            </a:r>
          </a:p>
          <a:p>
            <a:pPr>
              <a:lnSpc>
                <a:spcPct val="120000"/>
              </a:lnSpc>
              <a:spcBef>
                <a:spcPts val="0"/>
              </a:spcBef>
              <a:spcAft>
                <a:spcPts val="600"/>
              </a:spcAft>
              <a:buFont typeface="Wingdings" pitchFamily="2" charset="2"/>
              <a:buChar char="§"/>
            </a:pPr>
            <a:r>
              <a:rPr lang="en-US" sz="11200" b="1" dirty="0" smtClean="0">
                <a:latin typeface="Arial Narrow" pitchFamily="34" charset="0"/>
              </a:rPr>
              <a:t>Conditioned </a:t>
            </a:r>
            <a:r>
              <a:rPr lang="en-US" sz="11200" b="1" dirty="0">
                <a:latin typeface="Arial Narrow" pitchFamily="34" charset="0"/>
              </a:rPr>
              <a:t>stimulus (CS): </a:t>
            </a:r>
            <a:r>
              <a:rPr lang="en-US" sz="11200" dirty="0">
                <a:latin typeface="Arial Narrow" pitchFamily="34" charset="0"/>
              </a:rPr>
              <a:t>A once neutral stimulus that has been paired with </a:t>
            </a:r>
            <a:r>
              <a:rPr lang="en-US" sz="11200" dirty="0" smtClean="0">
                <a:latin typeface="Arial Narrow" pitchFamily="34" charset="0"/>
              </a:rPr>
              <a:t>an UCS </a:t>
            </a:r>
            <a:r>
              <a:rPr lang="en-US" sz="11200" dirty="0">
                <a:latin typeface="Arial Narrow" pitchFamily="34" charset="0"/>
              </a:rPr>
              <a:t>to bring about a response formerly caused only by the </a:t>
            </a:r>
            <a:r>
              <a:rPr lang="en-US" sz="11200" dirty="0" smtClean="0">
                <a:latin typeface="Arial Narrow" pitchFamily="34" charset="0"/>
              </a:rPr>
              <a:t>UCS.</a:t>
            </a:r>
          </a:p>
          <a:p>
            <a:pPr>
              <a:lnSpc>
                <a:spcPct val="120000"/>
              </a:lnSpc>
              <a:spcBef>
                <a:spcPts val="0"/>
              </a:spcBef>
              <a:spcAft>
                <a:spcPts val="600"/>
              </a:spcAft>
              <a:buFont typeface="Wingdings" pitchFamily="2" charset="2"/>
              <a:buChar char="§"/>
            </a:pPr>
            <a:r>
              <a:rPr lang="en-US" sz="11200" b="1" dirty="0" smtClean="0">
                <a:latin typeface="Arial Narrow" pitchFamily="34" charset="0"/>
              </a:rPr>
              <a:t>Conditioned </a:t>
            </a:r>
            <a:r>
              <a:rPr lang="en-US" sz="11200" b="1" dirty="0">
                <a:latin typeface="Arial Narrow" pitchFamily="34" charset="0"/>
              </a:rPr>
              <a:t>response (CR): </a:t>
            </a:r>
            <a:r>
              <a:rPr lang="en-US" sz="11200" dirty="0">
                <a:latin typeface="Arial Narrow" pitchFamily="34" charset="0"/>
              </a:rPr>
              <a:t>A response </a:t>
            </a:r>
            <a:r>
              <a:rPr lang="en-US" sz="11200" dirty="0" smtClean="0">
                <a:latin typeface="Arial Narrow" pitchFamily="34" charset="0"/>
              </a:rPr>
              <a:t>to the CS. </a:t>
            </a:r>
            <a:r>
              <a:rPr lang="en-US" dirty="0" smtClean="0"/>
              <a:t/>
            </a:r>
            <a:br>
              <a:rPr lang="en-US" dirty="0" smtClean="0"/>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9634" name="Picture 2" descr="C:\edtech\clscndbe.gif"/>
          <p:cNvPicPr>
            <a:picLocks noChangeAspect="1" noChangeArrowheads="1"/>
          </p:cNvPicPr>
          <p:nvPr/>
        </p:nvPicPr>
        <p:blipFill>
          <a:blip r:embed="rId2"/>
          <a:srcRect/>
          <a:stretch>
            <a:fillRect/>
          </a:stretch>
        </p:blipFill>
        <p:spPr bwMode="auto">
          <a:xfrm>
            <a:off x="533400" y="685800"/>
            <a:ext cx="3553968" cy="1905000"/>
          </a:xfrm>
          <a:prstGeom prst="rect">
            <a:avLst/>
          </a:prstGeom>
          <a:noFill/>
        </p:spPr>
      </p:pic>
      <p:pic>
        <p:nvPicPr>
          <p:cNvPr id="69636" name="Picture 4" descr="C:\edtech\clscnddr.gif"/>
          <p:cNvPicPr>
            <a:picLocks noChangeAspect="1" noChangeArrowheads="1"/>
          </p:cNvPicPr>
          <p:nvPr/>
        </p:nvPicPr>
        <p:blipFill>
          <a:blip r:embed="rId3"/>
          <a:srcRect/>
          <a:stretch>
            <a:fillRect/>
          </a:stretch>
        </p:blipFill>
        <p:spPr bwMode="auto">
          <a:xfrm>
            <a:off x="533400" y="2743200"/>
            <a:ext cx="3581400" cy="1910080"/>
          </a:xfrm>
          <a:prstGeom prst="rect">
            <a:avLst/>
          </a:prstGeom>
          <a:noFill/>
        </p:spPr>
      </p:pic>
      <p:pic>
        <p:nvPicPr>
          <p:cNvPr id="69637" name="Picture 5" descr="C:\edtech\clscndaf.gif"/>
          <p:cNvPicPr>
            <a:picLocks noChangeAspect="1" noChangeArrowheads="1"/>
          </p:cNvPicPr>
          <p:nvPr/>
        </p:nvPicPr>
        <p:blipFill>
          <a:blip r:embed="rId4"/>
          <a:srcRect/>
          <a:stretch>
            <a:fillRect/>
          </a:stretch>
        </p:blipFill>
        <p:spPr bwMode="auto">
          <a:xfrm>
            <a:off x="533400" y="4800600"/>
            <a:ext cx="3581400" cy="1828800"/>
          </a:xfrm>
          <a:prstGeom prst="rect">
            <a:avLst/>
          </a:prstGeom>
          <a:noFill/>
        </p:spPr>
      </p:pic>
      <p:sp>
        <p:nvSpPr>
          <p:cNvPr id="69638" name="Rectangle 6"/>
          <p:cNvSpPr>
            <a:spLocks noChangeArrowheads="1"/>
          </p:cNvSpPr>
          <p:nvPr/>
        </p:nvSpPr>
        <p:spPr bwMode="auto">
          <a:xfrm>
            <a:off x="228600" y="0"/>
            <a:ext cx="8918575" cy="609600"/>
          </a:xfrm>
          <a:prstGeom prst="rect">
            <a:avLst/>
          </a:prstGeom>
          <a:noFill/>
          <a:ln w="9525">
            <a:noFill/>
            <a:miter lim="800000"/>
            <a:headEnd/>
            <a:tailEnd/>
          </a:ln>
          <a:effectLst/>
        </p:spPr>
        <p:txBody>
          <a:bodyPr lIns="92075" tIns="46038" rIns="92075" bIns="46038" anchor="ctr"/>
          <a:lstStyle/>
          <a:p>
            <a:r>
              <a:rPr lang="en-US" sz="3200" b="1" i="1" dirty="0" smtClean="0">
                <a:latin typeface="Arial Narrow" pitchFamily="34" charset="0"/>
              </a:rPr>
              <a:t>Pavlov’s </a:t>
            </a:r>
            <a:r>
              <a:rPr lang="en-US" sz="3200" b="1" i="1" dirty="0">
                <a:latin typeface="Arial Narrow" pitchFamily="34" charset="0"/>
              </a:rPr>
              <a:t>classical conditioning experiment</a:t>
            </a:r>
            <a:r>
              <a:rPr lang="en-US" sz="3200" dirty="0" smtClean="0">
                <a:latin typeface="Arial Narrow" pitchFamily="34" charset="0"/>
              </a:rPr>
              <a:t> </a:t>
            </a:r>
            <a:endParaRPr kumimoji="1" lang="en-GB" sz="3200" dirty="0">
              <a:solidFill>
                <a:schemeClr val="tx2"/>
              </a:solidFill>
              <a:effectLst>
                <a:outerShdw blurRad="38100" dist="38100" dir="2700000" algn="tl">
                  <a:srgbClr val="C0C0C0"/>
                </a:outerShdw>
              </a:effectLst>
              <a:latin typeface="Arial Narrow" pitchFamily="34" charset="0"/>
            </a:endParaRPr>
          </a:p>
        </p:txBody>
      </p:sp>
      <p:sp>
        <p:nvSpPr>
          <p:cNvPr id="1027" name="Rectangle 3"/>
          <p:cNvSpPr>
            <a:spLocks noChangeArrowheads="1"/>
          </p:cNvSpPr>
          <p:nvPr/>
        </p:nvSpPr>
        <p:spPr bwMode="auto">
          <a:xfrm>
            <a:off x="4267200" y="685801"/>
            <a:ext cx="4724400" cy="5355312"/>
          </a:xfrm>
          <a:prstGeom prst="rect">
            <a:avLst/>
          </a:prstGeom>
          <a:no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Narrow" pitchFamily="34" charset="0"/>
                <a:ea typeface="Calibri" pitchFamily="34" charset="0"/>
                <a:cs typeface="Times New Roman" pitchFamily="18" charset="0"/>
              </a:rPr>
              <a:t>Food (UCS) </a:t>
            </a:r>
            <a:r>
              <a:rPr kumimoji="0" lang="en-US" sz="2800" b="0" i="0" u="none" strike="noStrike" cap="none" normalizeH="0" baseline="0" dirty="0" smtClean="0">
                <a:ln>
                  <a:noFill/>
                </a:ln>
                <a:solidFill>
                  <a:schemeClr val="tx1"/>
                </a:solidFill>
                <a:effectLst/>
                <a:latin typeface="Arial Narrow" pitchFamily="34" charset="0"/>
                <a:ea typeface="Calibri" pitchFamily="34" charset="0"/>
                <a:cs typeface="Times New Roman" pitchFamily="18" charset="0"/>
                <a:sym typeface="Symbol" pitchFamily="18" charset="2"/>
              </a:rPr>
              <a:t></a:t>
            </a:r>
            <a:r>
              <a:rPr kumimoji="0" lang="en-US" sz="2800" b="0" i="0" u="none" strike="noStrike" cap="none" normalizeH="0" baseline="0" dirty="0" smtClean="0">
                <a:ln>
                  <a:noFill/>
                </a:ln>
                <a:solidFill>
                  <a:schemeClr val="tx1"/>
                </a:solidFill>
                <a:effectLst/>
                <a:latin typeface="Arial Narrow" pitchFamily="34" charset="0"/>
                <a:ea typeface="Calibri" pitchFamily="34" charset="0"/>
                <a:cs typeface="Times New Roman" pitchFamily="18" charset="0"/>
              </a:rPr>
              <a:t> Saliva (UCR)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Arial Narrow" pitchFamily="34" charset="0"/>
              <a:cs typeface="Arial" pitchFamily="34" charset="0"/>
              <a:sym typeface="Symbol"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Narrow" pitchFamily="34" charset="0"/>
                <a:ea typeface="Calibri" pitchFamily="34" charset="0"/>
                <a:cs typeface="Times New Roman" pitchFamily="18" charset="0"/>
                <a:sym typeface="Symbol" pitchFamily="18" charset="2"/>
              </a:rPr>
              <a:t>Bell (neutral stimulus) </a:t>
            </a:r>
            <a:r>
              <a:rPr kumimoji="0" lang="en-US" sz="2800" b="0" i="0" u="none" strike="noStrike" cap="none" normalizeH="0" baseline="0" dirty="0" smtClean="0">
                <a:ln>
                  <a:noFill/>
                </a:ln>
                <a:solidFill>
                  <a:schemeClr val="tx1"/>
                </a:solidFill>
                <a:effectLst/>
                <a:latin typeface="Arial Narrow" pitchFamily="34" charset="0"/>
                <a:ea typeface="Calibri" pitchFamily="34" charset="0"/>
                <a:cs typeface="Times New Roman" pitchFamily="18" charset="0"/>
              </a:rPr>
              <a:t> No saliva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Arial Narrow" pitchFamily="34" charset="0"/>
              <a:ea typeface="Calibri" pitchFamily="34"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sz="3200" dirty="0" smtClean="0">
              <a:latin typeface="Arial Narrow" pitchFamily="34" charset="0"/>
              <a:cs typeface="Times New Roman" pitchFamily="18" charset="0"/>
              <a:sym typeface="Symbol"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sz="3200" dirty="0">
              <a:latin typeface="Arial Narrow" pitchFamily="34" charset="0"/>
              <a:cs typeface="Times New Roman" pitchFamily="18" charset="0"/>
              <a:sym typeface="Symbol"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pitchFamily="34" charset="0"/>
              <a:cs typeface="Arial" pitchFamily="34" charset="0"/>
              <a:sym typeface="Symbol"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Narrow" pitchFamily="34" charset="0"/>
                <a:ea typeface="Calibri" pitchFamily="34" charset="0"/>
                <a:cs typeface="Times New Roman" pitchFamily="18" charset="0"/>
                <a:sym typeface="Symbol" pitchFamily="18" charset="2"/>
              </a:rPr>
              <a:t>Food(UCS)+Bell(NS)S</a:t>
            </a:r>
            <a:r>
              <a:rPr kumimoji="0" lang="en-US" sz="2800" b="0" i="0" u="none" strike="noStrike" cap="none" normalizeH="0" baseline="0" dirty="0" smtClean="0">
                <a:ln>
                  <a:noFill/>
                </a:ln>
                <a:solidFill>
                  <a:schemeClr val="tx1"/>
                </a:solidFill>
                <a:effectLst/>
                <a:latin typeface="Arial Narrow" pitchFamily="34" charset="0"/>
                <a:ea typeface="Calibri" pitchFamily="34" charset="0"/>
                <a:cs typeface="Times New Roman" pitchFamily="18" charset="0"/>
              </a:rPr>
              <a:t>aliva(UCR)</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3200" dirty="0">
              <a:latin typeface="Arial Narrow" pitchFamily="34" charset="0"/>
              <a:ea typeface="Calibri" pitchFamily="34"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dirty="0" smtClean="0">
              <a:ln>
                <a:noFill/>
              </a:ln>
              <a:solidFill>
                <a:schemeClr val="tx1"/>
              </a:solidFill>
              <a:effectLst/>
              <a:latin typeface="Arial Narrow" pitchFamily="34" charset="0"/>
              <a:ea typeface="Calibri" pitchFamily="34"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sz="3200" dirty="0">
              <a:latin typeface="Arial Narrow" pitchFamily="34" charset="0"/>
              <a:ea typeface="Calibri" pitchFamily="34" charset="0"/>
              <a:cs typeface="Times New Roman" pitchFamily="18" charset="0"/>
            </a:endParaRPr>
          </a:p>
          <a:p>
            <a:pPr lvl="0" algn="just" eaLnBrk="0" fontAlgn="base" hangingPunct="0">
              <a:spcBef>
                <a:spcPct val="0"/>
              </a:spcBef>
              <a:spcAft>
                <a:spcPct val="0"/>
              </a:spcAft>
            </a:pPr>
            <a:r>
              <a:rPr lang="en-US" sz="3200" dirty="0" smtClean="0"/>
              <a:t>Bell (CS) </a:t>
            </a:r>
            <a:r>
              <a:rPr lang="en-US" sz="3200" dirty="0" smtClean="0">
                <a:sym typeface="Symbol"/>
              </a:rPr>
              <a:t> Salivation</a:t>
            </a:r>
            <a:r>
              <a:rPr lang="en-US" sz="3200" dirty="0" smtClean="0"/>
              <a:t> (CR)</a:t>
            </a:r>
            <a:endParaRPr kumimoji="0" lang="en-US" sz="3200" b="0" i="0" u="none" strike="noStrike" cap="none" normalizeH="0" baseline="0" dirty="0" smtClean="0">
              <a:ln>
                <a:noFill/>
              </a:ln>
              <a:solidFill>
                <a:schemeClr val="tx1"/>
              </a:solidFill>
              <a:effectLst/>
              <a:latin typeface="Arial Narrow" pitchFamily="34" charset="0"/>
              <a:ea typeface="Calibri" pitchFamily="34" charset="0"/>
              <a:cs typeface="Times New Roman" pitchFamily="18" charset="0"/>
              <a:sym typeface="Symbol"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additive="base">
                                        <p:cTn id="7" dur="500" fill="hold"/>
                                        <p:tgtEl>
                                          <p:spTgt spid="69634"/>
                                        </p:tgtEl>
                                        <p:attrNameLst>
                                          <p:attrName>ppt_x</p:attrName>
                                        </p:attrNameLst>
                                      </p:cBhvr>
                                      <p:tavLst>
                                        <p:tav tm="0">
                                          <p:val>
                                            <p:strVal val="0-#ppt_w/2"/>
                                          </p:val>
                                        </p:tav>
                                        <p:tav tm="100000">
                                          <p:val>
                                            <p:strVal val="#ppt_x"/>
                                          </p:val>
                                        </p:tav>
                                      </p:tavLst>
                                    </p:anim>
                                    <p:anim calcmode="lin" valueType="num">
                                      <p:cBhvr additive="base">
                                        <p:cTn id="8" dur="500" fill="hold"/>
                                        <p:tgtEl>
                                          <p:spTgt spid="6963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69634"/>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9636"/>
                                        </p:tgtEl>
                                        <p:attrNameLst>
                                          <p:attrName>style.visibility</p:attrName>
                                        </p:attrNameLst>
                                      </p:cBhvr>
                                      <p:to>
                                        <p:strVal val="visible"/>
                                      </p:to>
                                    </p:set>
                                    <p:anim calcmode="lin" valueType="num">
                                      <p:cBhvr additive="base">
                                        <p:cTn id="13" dur="500" fill="hold"/>
                                        <p:tgtEl>
                                          <p:spTgt spid="69636"/>
                                        </p:tgtEl>
                                        <p:attrNameLst>
                                          <p:attrName>ppt_x</p:attrName>
                                        </p:attrNameLst>
                                      </p:cBhvr>
                                      <p:tavLst>
                                        <p:tav tm="0">
                                          <p:val>
                                            <p:strVal val="0-#ppt_w/2"/>
                                          </p:val>
                                        </p:tav>
                                        <p:tav tm="100000">
                                          <p:val>
                                            <p:strVal val="#ppt_x"/>
                                          </p:val>
                                        </p:tav>
                                      </p:tavLst>
                                    </p:anim>
                                    <p:anim calcmode="lin" valueType="num">
                                      <p:cBhvr additive="base">
                                        <p:cTn id="14" dur="500" fill="hold"/>
                                        <p:tgtEl>
                                          <p:spTgt spid="6963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6963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9637"/>
                                        </p:tgtEl>
                                        <p:attrNameLst>
                                          <p:attrName>style.visibility</p:attrName>
                                        </p:attrNameLst>
                                      </p:cBhvr>
                                      <p:to>
                                        <p:strVal val="visible"/>
                                      </p:to>
                                    </p:set>
                                    <p:anim calcmode="lin" valueType="num">
                                      <p:cBhvr additive="base">
                                        <p:cTn id="19" dur="500" fill="hold"/>
                                        <p:tgtEl>
                                          <p:spTgt spid="69637"/>
                                        </p:tgtEl>
                                        <p:attrNameLst>
                                          <p:attrName>ppt_x</p:attrName>
                                        </p:attrNameLst>
                                      </p:cBhvr>
                                      <p:tavLst>
                                        <p:tav tm="0">
                                          <p:val>
                                            <p:strVal val="0-#ppt_w/2"/>
                                          </p:val>
                                        </p:tav>
                                        <p:tav tm="100000">
                                          <p:val>
                                            <p:strVal val="#ppt_x"/>
                                          </p:val>
                                        </p:tav>
                                      </p:tavLst>
                                    </p:anim>
                                    <p:anim calcmode="lin" valueType="num">
                                      <p:cBhvr additive="base">
                                        <p:cTn id="20" dur="500" fill="hold"/>
                                        <p:tgtEl>
                                          <p:spTgt spid="696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533400"/>
          </a:xfrm>
        </p:spPr>
        <p:txBody>
          <a:bodyPr>
            <a:normAutofit fontScale="90000"/>
          </a:bodyPr>
          <a:lstStyle/>
          <a:p>
            <a:r>
              <a:rPr lang="en-US" b="1" dirty="0"/>
              <a:t>Principles of Classical </a:t>
            </a:r>
            <a:r>
              <a:rPr lang="en-US" b="1" dirty="0" smtClean="0"/>
              <a:t>Condition</a:t>
            </a:r>
            <a:endParaRPr lang="en-US" dirty="0"/>
          </a:p>
        </p:txBody>
      </p:sp>
      <p:sp>
        <p:nvSpPr>
          <p:cNvPr id="3" name="Content Placeholder 2"/>
          <p:cNvSpPr>
            <a:spLocks noGrp="1"/>
          </p:cNvSpPr>
          <p:nvPr>
            <p:ph idx="1"/>
          </p:nvPr>
        </p:nvSpPr>
        <p:spPr>
          <a:xfrm>
            <a:off x="228600" y="914400"/>
            <a:ext cx="8686800" cy="5715000"/>
          </a:xfrm>
        </p:spPr>
        <p:txBody>
          <a:bodyPr>
            <a:normAutofit/>
          </a:bodyPr>
          <a:lstStyle/>
          <a:p>
            <a:pPr>
              <a:buNone/>
            </a:pPr>
            <a:r>
              <a:rPr lang="en-US" sz="3000" b="1" dirty="0">
                <a:latin typeface="Arial Narrow" pitchFamily="34" charset="0"/>
              </a:rPr>
              <a:t>A. </a:t>
            </a:r>
            <a:r>
              <a:rPr lang="en-US" sz="3000" b="1" dirty="0" smtClean="0">
                <a:latin typeface="Arial Narrow" pitchFamily="34" charset="0"/>
              </a:rPr>
              <a:t>Stimulus </a:t>
            </a:r>
            <a:r>
              <a:rPr lang="en-US" sz="3000" b="1" dirty="0">
                <a:latin typeface="Arial Narrow" pitchFamily="34" charset="0"/>
              </a:rPr>
              <a:t>generalization </a:t>
            </a:r>
            <a:r>
              <a:rPr lang="en-US" sz="3000" dirty="0">
                <a:latin typeface="Arial Narrow" pitchFamily="34" charset="0"/>
              </a:rPr>
              <a:t>is a process in </a:t>
            </a:r>
            <a:r>
              <a:rPr lang="en-US" sz="3000" dirty="0" smtClean="0">
                <a:latin typeface="Arial Narrow" pitchFamily="34" charset="0"/>
              </a:rPr>
              <a:t>which stimuli </a:t>
            </a:r>
            <a:r>
              <a:rPr lang="en-US" sz="3000" dirty="0">
                <a:latin typeface="Arial Narrow" pitchFamily="34" charset="0"/>
              </a:rPr>
              <a:t>that are similar to the original stimulus begin </a:t>
            </a:r>
            <a:r>
              <a:rPr lang="en-US" sz="3000" dirty="0" smtClean="0">
                <a:latin typeface="Arial Narrow" pitchFamily="34" charset="0"/>
              </a:rPr>
              <a:t>to produce </a:t>
            </a:r>
            <a:r>
              <a:rPr lang="en-US" sz="3000" dirty="0">
                <a:latin typeface="Arial Narrow" pitchFamily="34" charset="0"/>
              </a:rPr>
              <a:t>the same responses. For example, a dog conditioned to salivate to a dinner bell (CS</a:t>
            </a:r>
            <a:r>
              <a:rPr lang="en-US" sz="3000" dirty="0" smtClean="0">
                <a:latin typeface="Arial Narrow" pitchFamily="34" charset="0"/>
              </a:rPr>
              <a:t>) might </a:t>
            </a:r>
            <a:r>
              <a:rPr lang="en-US" sz="3000" dirty="0">
                <a:latin typeface="Arial Narrow" pitchFamily="34" charset="0"/>
              </a:rPr>
              <a:t>also salivate to a door bell, a telephone bell.</a:t>
            </a:r>
            <a:r>
              <a:rPr lang="en-US" sz="3000" dirty="0" smtClean="0">
                <a:latin typeface="Arial Narrow" pitchFamily="34" charset="0"/>
              </a:rPr>
              <a:t> </a:t>
            </a:r>
          </a:p>
          <a:p>
            <a:pPr>
              <a:buNone/>
            </a:pPr>
            <a:r>
              <a:rPr lang="en-US" sz="3000" dirty="0">
                <a:latin typeface="Arial Narrow" pitchFamily="34" charset="0"/>
              </a:rPr>
              <a:t>B</a:t>
            </a:r>
            <a:r>
              <a:rPr lang="en-US" sz="3000" dirty="0" smtClean="0">
                <a:latin typeface="Arial Narrow" pitchFamily="34" charset="0"/>
              </a:rPr>
              <a:t>. </a:t>
            </a:r>
            <a:r>
              <a:rPr lang="en-US" sz="3000" b="1" i="1" dirty="0" smtClean="0">
                <a:latin typeface="Arial Narrow" pitchFamily="34" charset="0"/>
              </a:rPr>
              <a:t>Stimulus </a:t>
            </a:r>
            <a:r>
              <a:rPr lang="en-US" sz="3000" b="1" i="1" dirty="0">
                <a:latin typeface="Arial Narrow" pitchFamily="34" charset="0"/>
              </a:rPr>
              <a:t>discrimination </a:t>
            </a:r>
            <a:r>
              <a:rPr lang="en-US" sz="3000" dirty="0">
                <a:latin typeface="Arial Narrow" pitchFamily="34" charset="0"/>
              </a:rPr>
              <a:t>is </a:t>
            </a:r>
            <a:r>
              <a:rPr lang="en-US" sz="3000" dirty="0" smtClean="0">
                <a:latin typeface="Arial Narrow" pitchFamily="34" charset="0"/>
              </a:rPr>
              <a:t>the </a:t>
            </a:r>
            <a:r>
              <a:rPr lang="en-US" sz="3000" dirty="0">
                <a:latin typeface="Arial Narrow" pitchFamily="34" charset="0"/>
              </a:rPr>
              <a:t>ability </a:t>
            </a:r>
            <a:r>
              <a:rPr lang="en-US" sz="3000" dirty="0" smtClean="0">
                <a:latin typeface="Arial Narrow" pitchFamily="34" charset="0"/>
              </a:rPr>
              <a:t>to differentiate similar stimuli and responding only to a specific stimulus. E.g., </a:t>
            </a:r>
            <a:r>
              <a:rPr lang="en-US" sz="3000" dirty="0">
                <a:latin typeface="Arial Narrow" pitchFamily="34" charset="0"/>
              </a:rPr>
              <a:t>the dog salivates only in response to the dinner </a:t>
            </a:r>
            <a:r>
              <a:rPr lang="en-US" sz="3000" dirty="0" smtClean="0">
                <a:latin typeface="Arial Narrow" pitchFamily="34" charset="0"/>
              </a:rPr>
              <a:t>bell instead </a:t>
            </a:r>
            <a:r>
              <a:rPr lang="en-US" sz="3000" dirty="0">
                <a:latin typeface="Arial Narrow" pitchFamily="34" charset="0"/>
              </a:rPr>
              <a:t>of the doorbell or the telephone bell.</a:t>
            </a:r>
            <a:r>
              <a:rPr lang="en-US" sz="30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838200"/>
            <a:ext cx="8686800" cy="5791200"/>
          </a:xfrm>
        </p:spPr>
        <p:txBody>
          <a:bodyPr>
            <a:noAutofit/>
          </a:bodyPr>
          <a:lstStyle/>
          <a:p>
            <a:pPr>
              <a:buNone/>
            </a:pPr>
            <a:r>
              <a:rPr lang="en-US" sz="2800" b="1" dirty="0" smtClean="0"/>
              <a:t>C.</a:t>
            </a:r>
            <a:r>
              <a:rPr lang="en-US" sz="2800" b="1" dirty="0" smtClean="0">
                <a:latin typeface="Arial Narrow" pitchFamily="34" charset="0"/>
              </a:rPr>
              <a:t> </a:t>
            </a:r>
            <a:r>
              <a:rPr lang="en-US" sz="2800" b="1" dirty="0">
                <a:latin typeface="Arial Narrow" pitchFamily="34" charset="0"/>
              </a:rPr>
              <a:t>Extinction </a:t>
            </a:r>
            <a:br>
              <a:rPr lang="en-US" sz="2800" b="1" dirty="0">
                <a:latin typeface="Arial Narrow" pitchFamily="34" charset="0"/>
              </a:rPr>
            </a:br>
            <a:r>
              <a:rPr lang="en-US" sz="2800" dirty="0" smtClean="0">
                <a:latin typeface="Arial Narrow" pitchFamily="34" charset="0"/>
              </a:rPr>
              <a:t>If </a:t>
            </a:r>
            <a:r>
              <a:rPr lang="en-US" sz="2800" dirty="0">
                <a:latin typeface="Arial Narrow" pitchFamily="34" charset="0"/>
              </a:rPr>
              <a:t>a CS is repeatedly presented without presenting the UCS (meat), </a:t>
            </a:r>
            <a:r>
              <a:rPr lang="en-US" sz="2800" dirty="0" smtClean="0">
                <a:latin typeface="Arial Narrow" pitchFamily="34" charset="0"/>
              </a:rPr>
              <a:t>the CR </a:t>
            </a:r>
            <a:r>
              <a:rPr lang="en-US" sz="2800" dirty="0">
                <a:latin typeface="Arial Narrow" pitchFamily="34" charset="0"/>
              </a:rPr>
              <a:t>will diminish and eventually stop occurring. This process is called </a:t>
            </a:r>
            <a:r>
              <a:rPr lang="en-US" sz="2800" b="1" dirty="0">
                <a:latin typeface="Arial Narrow" pitchFamily="34" charset="0"/>
              </a:rPr>
              <a:t>extinction. </a:t>
            </a:r>
            <a:r>
              <a:rPr lang="en-US" sz="2800" dirty="0" smtClean="0">
                <a:latin typeface="Arial Narrow" pitchFamily="34" charset="0"/>
              </a:rPr>
              <a:t>But extinction </a:t>
            </a:r>
            <a:r>
              <a:rPr lang="en-US" sz="2800" dirty="0">
                <a:latin typeface="Arial Narrow" pitchFamily="34" charset="0"/>
              </a:rPr>
              <a:t>only inhibits the CR, it does not eliminate </a:t>
            </a:r>
            <a:r>
              <a:rPr lang="en-US" sz="2800" dirty="0" smtClean="0">
                <a:latin typeface="Arial Narrow" pitchFamily="34" charset="0"/>
              </a:rPr>
              <a:t>it.</a:t>
            </a:r>
          </a:p>
          <a:p>
            <a:pPr>
              <a:buNone/>
            </a:pPr>
            <a:r>
              <a:rPr lang="en-US" sz="2800" b="1" i="1" dirty="0" smtClean="0">
                <a:latin typeface="Arial Narrow" pitchFamily="34" charset="0"/>
              </a:rPr>
              <a:t>D. Spontaneous </a:t>
            </a:r>
            <a:r>
              <a:rPr lang="en-US" sz="2800" b="1" i="1" dirty="0">
                <a:latin typeface="Arial Narrow" pitchFamily="34" charset="0"/>
              </a:rPr>
              <a:t>recovery </a:t>
            </a:r>
            <a:r>
              <a:rPr lang="en-US" sz="2800" dirty="0">
                <a:latin typeface="Arial Narrow" pitchFamily="34" charset="0"/>
              </a:rPr>
              <a:t>is the reemergence of an extinguished conditioned response after </a:t>
            </a:r>
            <a:r>
              <a:rPr lang="en-US" sz="2800" dirty="0" smtClean="0">
                <a:latin typeface="Arial Narrow" pitchFamily="34" charset="0"/>
              </a:rPr>
              <a:t>a period </a:t>
            </a:r>
            <a:r>
              <a:rPr lang="en-US" sz="2800" dirty="0">
                <a:latin typeface="Arial Narrow" pitchFamily="34" charset="0"/>
              </a:rPr>
              <a:t>of rest and with no further conditioning. For </a:t>
            </a:r>
            <a:r>
              <a:rPr lang="en-US" sz="2800" dirty="0" smtClean="0">
                <a:latin typeface="Arial Narrow" pitchFamily="34" charset="0"/>
              </a:rPr>
              <a:t>example, if the dog respond to the dinner bell after experience of extinction by </a:t>
            </a:r>
            <a:r>
              <a:rPr lang="en-US" sz="2800" dirty="0">
                <a:latin typeface="Arial Narrow" pitchFamily="34" charset="0"/>
              </a:rPr>
              <a:t>salivating</a:t>
            </a:r>
            <a:r>
              <a:rPr lang="en-US" sz="2800" dirty="0" smtClean="0">
                <a:latin typeface="Arial Narrow" pitchFamily="34" charset="0"/>
              </a:rPr>
              <a:t>. </a:t>
            </a:r>
            <a:endParaRPr lang="en-US" sz="2800" dirty="0">
              <a:latin typeface="Arial Narrow"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normAutofit fontScale="90000"/>
          </a:bodyPr>
          <a:lstStyle/>
          <a:p>
            <a:r>
              <a:rPr lang="en-US" b="1" dirty="0" smtClean="0"/>
              <a:t/>
            </a:r>
            <a:br>
              <a:rPr lang="en-US" b="1" dirty="0" smtClean="0"/>
            </a:br>
            <a:r>
              <a:rPr lang="en-US" sz="4000" b="1" dirty="0" smtClean="0">
                <a:latin typeface="Arial Narrow" pitchFamily="34" charset="0"/>
              </a:rPr>
              <a:t>1 B. Operant/Instrumental conditioning</a:t>
            </a:r>
            <a:r>
              <a:rPr lang="en-US" sz="4000" dirty="0" smtClean="0">
                <a:latin typeface="Arial Narrow" pitchFamily="34" charset="0"/>
              </a:rPr>
              <a:t/>
            </a:r>
            <a:br>
              <a:rPr lang="en-US" sz="4000" dirty="0" smtClean="0">
                <a:latin typeface="Arial Narrow" pitchFamily="34" charset="0"/>
              </a:rPr>
            </a:br>
            <a:endParaRPr lang="en-US" sz="3600" dirty="0">
              <a:latin typeface="Arial Narrow" pitchFamily="34" charset="0"/>
            </a:endParaRPr>
          </a:p>
        </p:txBody>
      </p:sp>
      <p:sp>
        <p:nvSpPr>
          <p:cNvPr id="3" name="Content Placeholder 2"/>
          <p:cNvSpPr>
            <a:spLocks noGrp="1"/>
          </p:cNvSpPr>
          <p:nvPr>
            <p:ph idx="1"/>
          </p:nvPr>
        </p:nvSpPr>
        <p:spPr>
          <a:xfrm>
            <a:off x="152400" y="838200"/>
            <a:ext cx="8839200" cy="5791200"/>
          </a:xfrm>
        </p:spPr>
        <p:txBody>
          <a:bodyPr>
            <a:normAutofit/>
          </a:bodyPr>
          <a:lstStyle/>
          <a:p>
            <a:r>
              <a:rPr lang="en-US" sz="2800" b="1" i="1" dirty="0">
                <a:latin typeface="Arial Narrow" pitchFamily="34" charset="0"/>
              </a:rPr>
              <a:t>Operant </a:t>
            </a:r>
            <a:r>
              <a:rPr lang="en-US" sz="2800" b="1" i="1" dirty="0" smtClean="0">
                <a:latin typeface="Arial Narrow" pitchFamily="34" charset="0"/>
              </a:rPr>
              <a:t>conditioning </a:t>
            </a:r>
            <a:r>
              <a:rPr lang="en-US" sz="2800" dirty="0" smtClean="0">
                <a:latin typeface="Arial Narrow" pitchFamily="34" charset="0"/>
              </a:rPr>
              <a:t>also </a:t>
            </a:r>
            <a:r>
              <a:rPr lang="en-US" sz="2800" dirty="0">
                <a:latin typeface="Arial Narrow" pitchFamily="34" charset="0"/>
              </a:rPr>
              <a:t>called </a:t>
            </a:r>
            <a:r>
              <a:rPr lang="en-US" sz="2800" i="1" dirty="0">
                <a:latin typeface="Arial Narrow" pitchFamily="34" charset="0"/>
              </a:rPr>
              <a:t>Instrumental </a:t>
            </a:r>
            <a:r>
              <a:rPr lang="en-US" sz="2800" i="1" dirty="0" smtClean="0">
                <a:latin typeface="Arial Narrow" pitchFamily="34" charset="0"/>
              </a:rPr>
              <a:t>conditioning</a:t>
            </a:r>
            <a:r>
              <a:rPr lang="en-US" sz="2800" dirty="0" smtClean="0">
                <a:latin typeface="Arial Narrow" pitchFamily="34" charset="0"/>
              </a:rPr>
              <a:t> is </a:t>
            </a:r>
            <a:r>
              <a:rPr lang="en-US" sz="2800" dirty="0">
                <a:latin typeface="Arial Narrow" pitchFamily="34" charset="0"/>
              </a:rPr>
              <a:t>learning in which a voluntary response is strengthened or weakened</a:t>
            </a:r>
            <a:r>
              <a:rPr lang="en-US" sz="2800" dirty="0" smtClean="0">
                <a:latin typeface="Arial Narrow" pitchFamily="34" charset="0"/>
              </a:rPr>
              <a:t>, depending </a:t>
            </a:r>
            <a:r>
              <a:rPr lang="en-US" sz="2800" dirty="0">
                <a:latin typeface="Arial Narrow" pitchFamily="34" charset="0"/>
              </a:rPr>
              <a:t>on its </a:t>
            </a:r>
            <a:r>
              <a:rPr lang="en-US" sz="2800" dirty="0" smtClean="0">
                <a:latin typeface="Arial Narrow" pitchFamily="34" charset="0"/>
              </a:rPr>
              <a:t>consequences.</a:t>
            </a:r>
          </a:p>
          <a:p>
            <a:r>
              <a:rPr lang="en-US" sz="2800" dirty="0" smtClean="0">
                <a:latin typeface="Arial Narrow" pitchFamily="34" charset="0"/>
              </a:rPr>
              <a:t>In </a:t>
            </a:r>
            <a:r>
              <a:rPr lang="en-US" sz="2800" dirty="0">
                <a:latin typeface="Arial Narrow" pitchFamily="34" charset="0"/>
              </a:rPr>
              <a:t>operant conditioning, the </a:t>
            </a:r>
            <a:r>
              <a:rPr lang="en-US" sz="2800" dirty="0" smtClean="0">
                <a:latin typeface="Arial Narrow" pitchFamily="34" charset="0"/>
              </a:rPr>
              <a:t>organism's response </a:t>
            </a:r>
            <a:r>
              <a:rPr lang="en-US" sz="2800" dirty="0">
                <a:latin typeface="Arial Narrow" pitchFamily="34" charset="0"/>
              </a:rPr>
              <a:t>operates or produces effects on the environment. These effects, in turn, influence</a:t>
            </a:r>
            <a:r>
              <a:rPr lang="en-US" sz="2800" dirty="0" smtClean="0">
                <a:latin typeface="Arial Narrow" pitchFamily="34" charset="0"/>
              </a:rPr>
              <a:t>, whether </a:t>
            </a:r>
            <a:r>
              <a:rPr lang="en-US" sz="2800" dirty="0">
                <a:latin typeface="Arial Narrow" pitchFamily="34" charset="0"/>
              </a:rPr>
              <a:t>the response will occur again.</a:t>
            </a:r>
            <a:r>
              <a:rPr lang="en-US" sz="2800" dirty="0" smtClean="0">
                <a:latin typeface="Arial Narrow" pitchFamily="34" charset="0"/>
              </a:rPr>
              <a:t> </a:t>
            </a:r>
          </a:p>
          <a:p>
            <a:r>
              <a:rPr lang="en-US" sz="2800" dirty="0">
                <a:latin typeface="Arial Narrow" pitchFamily="34" charset="0"/>
              </a:rPr>
              <a:t>Unlike </a:t>
            </a:r>
            <a:r>
              <a:rPr lang="en-US" sz="2800" dirty="0" smtClean="0">
                <a:latin typeface="Arial Narrow" pitchFamily="34" charset="0"/>
              </a:rPr>
              <a:t>in classical conditioning, operant conditioning applies </a:t>
            </a:r>
            <a:r>
              <a:rPr lang="en-US" sz="2800" dirty="0">
                <a:latin typeface="Arial Narrow" pitchFamily="34" charset="0"/>
              </a:rPr>
              <a:t>to voluntary responses, </a:t>
            </a:r>
            <a:r>
              <a:rPr lang="en-US" sz="2800" dirty="0" smtClean="0">
                <a:latin typeface="Arial Narrow" pitchFamily="34" charset="0"/>
              </a:rPr>
              <a:t>in which </a:t>
            </a:r>
            <a:r>
              <a:rPr lang="en-US" sz="2800" dirty="0">
                <a:latin typeface="Arial Narrow" pitchFamily="34" charset="0"/>
              </a:rPr>
              <a:t>an organism performs deliberately to produce </a:t>
            </a:r>
            <a:r>
              <a:rPr lang="en-US" sz="2800" dirty="0" smtClean="0">
                <a:latin typeface="Arial Narrow" pitchFamily="34" charset="0"/>
              </a:rPr>
              <a:t>a desirable </a:t>
            </a:r>
            <a:r>
              <a:rPr lang="en-US" sz="2800" dirty="0">
                <a:latin typeface="Arial Narrow" pitchFamily="34" charset="0"/>
              </a:rPr>
              <a:t>outcome. </a:t>
            </a:r>
            <a:r>
              <a:rPr lang="en-US" dirty="0" smtClean="0"/>
              <a:t/>
            </a:r>
            <a:br>
              <a:rPr lang="en-US" dirty="0" smtClean="0"/>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5635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914400"/>
            <a:ext cx="8763000" cy="5562600"/>
          </a:xfrm>
        </p:spPr>
        <p:txBody>
          <a:bodyPr>
            <a:normAutofit fontScale="25000" lnSpcReduction="20000"/>
          </a:bodyPr>
          <a:lstStyle/>
          <a:p>
            <a:pPr>
              <a:buNone/>
            </a:pPr>
            <a:r>
              <a:rPr lang="en-US" sz="11200" dirty="0" smtClean="0">
                <a:latin typeface="Arial Narrow" pitchFamily="34" charset="0"/>
              </a:rPr>
              <a:t>According to Skinner, </a:t>
            </a:r>
            <a:r>
              <a:rPr lang="en-US" sz="11200" dirty="0">
                <a:latin typeface="Arial Narrow" pitchFamily="34" charset="0"/>
              </a:rPr>
              <a:t>a response </a:t>
            </a:r>
            <a:r>
              <a:rPr lang="en-US" sz="11200" dirty="0" smtClean="0">
                <a:latin typeface="Arial Narrow" pitchFamily="34" charset="0"/>
              </a:rPr>
              <a:t>(operant) </a:t>
            </a:r>
            <a:r>
              <a:rPr lang="en-US" sz="11200" dirty="0">
                <a:latin typeface="Arial Narrow" pitchFamily="34" charset="0"/>
              </a:rPr>
              <a:t>can lead to three types of consequences: </a:t>
            </a:r>
            <a:r>
              <a:rPr lang="en-US" sz="11200" dirty="0" smtClean="0">
                <a:latin typeface="Arial Narrow" pitchFamily="34" charset="0"/>
              </a:rPr>
              <a:t>(</a:t>
            </a:r>
            <a:r>
              <a:rPr lang="en-US" sz="11200" b="1" dirty="0" smtClean="0">
                <a:latin typeface="Arial Narrow" pitchFamily="34" charset="0"/>
              </a:rPr>
              <a:t>a</a:t>
            </a:r>
            <a:r>
              <a:rPr lang="en-US" sz="11200" dirty="0">
                <a:latin typeface="Arial Narrow" pitchFamily="34" charset="0"/>
              </a:rPr>
              <a:t>) N</a:t>
            </a:r>
            <a:r>
              <a:rPr lang="en-US" sz="11200" dirty="0" smtClean="0">
                <a:latin typeface="Arial Narrow" pitchFamily="34" charset="0"/>
              </a:rPr>
              <a:t>eutral </a:t>
            </a:r>
            <a:r>
              <a:rPr lang="en-US" sz="11200" dirty="0">
                <a:latin typeface="Arial Narrow" pitchFamily="34" charset="0"/>
              </a:rPr>
              <a:t>consequence </a:t>
            </a:r>
            <a:r>
              <a:rPr lang="en-US" sz="11200" dirty="0" smtClean="0">
                <a:latin typeface="Arial Narrow" pitchFamily="34" charset="0"/>
              </a:rPr>
              <a:t>(</a:t>
            </a:r>
            <a:r>
              <a:rPr lang="en-US" sz="11200" b="1" dirty="0" smtClean="0">
                <a:latin typeface="Arial Narrow" pitchFamily="34" charset="0"/>
              </a:rPr>
              <a:t>b</a:t>
            </a:r>
            <a:r>
              <a:rPr lang="en-US" sz="11200" dirty="0">
                <a:latin typeface="Arial Narrow" pitchFamily="34" charset="0"/>
              </a:rPr>
              <a:t>) </a:t>
            </a:r>
            <a:r>
              <a:rPr lang="en-US" sz="11200" dirty="0" smtClean="0">
                <a:latin typeface="Arial Narrow" pitchFamily="34" charset="0"/>
              </a:rPr>
              <a:t>Reinforcement </a:t>
            </a:r>
            <a:r>
              <a:rPr lang="en-US" sz="11200" dirty="0">
                <a:latin typeface="Arial Narrow" pitchFamily="34" charset="0"/>
              </a:rPr>
              <a:t>or </a:t>
            </a:r>
            <a:r>
              <a:rPr lang="en-US" sz="11200" dirty="0" smtClean="0">
                <a:latin typeface="Arial Narrow" pitchFamily="34" charset="0"/>
              </a:rPr>
              <a:t>(</a:t>
            </a:r>
            <a:r>
              <a:rPr lang="en-US" sz="11200" b="1" dirty="0" smtClean="0">
                <a:latin typeface="Arial Narrow" pitchFamily="34" charset="0"/>
              </a:rPr>
              <a:t>c</a:t>
            </a:r>
            <a:r>
              <a:rPr lang="en-US" sz="11200" dirty="0">
                <a:latin typeface="Arial Narrow" pitchFamily="34" charset="0"/>
              </a:rPr>
              <a:t>) </a:t>
            </a:r>
            <a:r>
              <a:rPr lang="en-US" sz="11200" dirty="0" smtClean="0">
                <a:latin typeface="Arial Narrow" pitchFamily="34" charset="0"/>
              </a:rPr>
              <a:t>Punishment.</a:t>
            </a:r>
          </a:p>
          <a:p>
            <a:pPr>
              <a:buNone/>
            </a:pPr>
            <a:r>
              <a:rPr lang="en-US" sz="11200" b="1" dirty="0" smtClean="0">
                <a:latin typeface="Arial Narrow" pitchFamily="34" charset="0"/>
              </a:rPr>
              <a:t>(a) </a:t>
            </a:r>
            <a:r>
              <a:rPr lang="en-US" sz="11200" b="1" dirty="0" smtClean="0">
                <a:solidFill>
                  <a:srgbClr val="FF0000"/>
                </a:solidFill>
                <a:latin typeface="Arial Narrow" pitchFamily="34" charset="0"/>
              </a:rPr>
              <a:t>A </a:t>
            </a:r>
            <a:r>
              <a:rPr lang="en-US" sz="11200" b="1" dirty="0">
                <a:solidFill>
                  <a:srgbClr val="FF0000"/>
                </a:solidFill>
                <a:latin typeface="Arial Narrow" pitchFamily="34" charset="0"/>
              </a:rPr>
              <a:t>neutral Consequence </a:t>
            </a:r>
            <a:r>
              <a:rPr lang="en-US" sz="11200" dirty="0">
                <a:latin typeface="Arial Narrow" pitchFamily="34" charset="0"/>
              </a:rPr>
              <a:t>that does not alter the response</a:t>
            </a:r>
            <a:r>
              <a:rPr lang="en-US" sz="11200" dirty="0" smtClean="0">
                <a:latin typeface="Arial Narrow" pitchFamily="34" charset="0"/>
              </a:rPr>
              <a:t>.</a:t>
            </a:r>
          </a:p>
          <a:p>
            <a:pPr>
              <a:buNone/>
            </a:pPr>
            <a:r>
              <a:rPr lang="en-US" sz="11200" b="1" dirty="0" smtClean="0">
                <a:latin typeface="Arial Narrow" pitchFamily="34" charset="0"/>
              </a:rPr>
              <a:t>(b)</a:t>
            </a:r>
            <a:r>
              <a:rPr lang="en-US" sz="11200" b="1" dirty="0" smtClean="0">
                <a:solidFill>
                  <a:srgbClr val="FF0000"/>
                </a:solidFill>
                <a:latin typeface="Arial Narrow" pitchFamily="34" charset="0"/>
              </a:rPr>
              <a:t> A </a:t>
            </a:r>
            <a:r>
              <a:rPr lang="en-US" sz="11200" b="1" dirty="0">
                <a:solidFill>
                  <a:srgbClr val="FF0000"/>
                </a:solidFill>
                <a:latin typeface="Arial Narrow" pitchFamily="34" charset="0"/>
              </a:rPr>
              <a:t>reinforcement </a:t>
            </a:r>
            <a:r>
              <a:rPr lang="en-US" sz="11200" dirty="0" smtClean="0">
                <a:latin typeface="Arial Narrow" pitchFamily="34" charset="0"/>
              </a:rPr>
              <a:t>strengthens </a:t>
            </a:r>
            <a:r>
              <a:rPr lang="en-US" sz="11200" dirty="0">
                <a:latin typeface="Arial Narrow" pitchFamily="34" charset="0"/>
              </a:rPr>
              <a:t>the </a:t>
            </a:r>
            <a:r>
              <a:rPr lang="en-US" sz="11200" dirty="0" smtClean="0">
                <a:latin typeface="Arial Narrow" pitchFamily="34" charset="0"/>
              </a:rPr>
              <a:t>response. </a:t>
            </a:r>
            <a:r>
              <a:rPr lang="en-US" sz="11200" dirty="0">
                <a:latin typeface="Arial Narrow" pitchFamily="34" charset="0"/>
              </a:rPr>
              <a:t>A </a:t>
            </a:r>
            <a:r>
              <a:rPr lang="en-US" sz="11200" dirty="0" err="1" smtClean="0">
                <a:latin typeface="Arial Narrow" pitchFamily="34" charset="0"/>
              </a:rPr>
              <a:t>reinforcer</a:t>
            </a:r>
            <a:r>
              <a:rPr lang="en-US" sz="11200" dirty="0" smtClean="0">
                <a:latin typeface="Arial Narrow" pitchFamily="34" charset="0"/>
              </a:rPr>
              <a:t> is </a:t>
            </a:r>
            <a:r>
              <a:rPr lang="en-US" sz="11200" dirty="0">
                <a:latin typeface="Arial Narrow" pitchFamily="34" charset="0"/>
              </a:rPr>
              <a:t>any event that increases </a:t>
            </a:r>
            <a:r>
              <a:rPr lang="en-US" sz="11200" dirty="0" smtClean="0">
                <a:latin typeface="Arial Narrow" pitchFamily="34" charset="0"/>
              </a:rPr>
              <a:t>the re-</a:t>
            </a:r>
            <a:r>
              <a:rPr lang="en-US" sz="11200" dirty="0" err="1" smtClean="0">
                <a:latin typeface="Arial Narrow" pitchFamily="34" charset="0"/>
              </a:rPr>
              <a:t>occurance</a:t>
            </a:r>
            <a:r>
              <a:rPr lang="en-US" sz="11200" dirty="0" smtClean="0">
                <a:latin typeface="Arial Narrow" pitchFamily="34" charset="0"/>
              </a:rPr>
              <a:t> of a behaviour.</a:t>
            </a:r>
          </a:p>
          <a:p>
            <a:pPr>
              <a:buNone/>
            </a:pPr>
            <a:r>
              <a:rPr lang="en-US" sz="11200" dirty="0" smtClean="0">
                <a:latin typeface="Arial Narrow" pitchFamily="34" charset="0"/>
              </a:rPr>
              <a:t>There </a:t>
            </a:r>
            <a:r>
              <a:rPr lang="en-US" sz="11200" dirty="0">
                <a:latin typeface="Arial Narrow" pitchFamily="34" charset="0"/>
              </a:rPr>
              <a:t>are two basic types of </a:t>
            </a:r>
            <a:r>
              <a:rPr lang="en-US" sz="11200" dirty="0" err="1" smtClean="0">
                <a:latin typeface="Arial Narrow" pitchFamily="34" charset="0"/>
              </a:rPr>
              <a:t>reinforcers</a:t>
            </a:r>
            <a:r>
              <a:rPr lang="en-US" sz="11200" dirty="0" smtClean="0">
                <a:latin typeface="Arial Narrow" pitchFamily="34" charset="0"/>
              </a:rPr>
              <a:t>.</a:t>
            </a:r>
          </a:p>
          <a:p>
            <a:pPr>
              <a:buNone/>
            </a:pPr>
            <a:r>
              <a:rPr lang="en-US" sz="11200" b="1" dirty="0" smtClean="0">
                <a:latin typeface="Arial Narrow" pitchFamily="34" charset="0"/>
              </a:rPr>
              <a:t>Primary </a:t>
            </a:r>
            <a:r>
              <a:rPr lang="en-US" sz="11200" b="1" dirty="0" err="1">
                <a:latin typeface="Arial Narrow" pitchFamily="34" charset="0"/>
              </a:rPr>
              <a:t>reinforcers</a:t>
            </a:r>
            <a:r>
              <a:rPr lang="en-US" sz="11200" b="1" dirty="0">
                <a:latin typeface="Arial Narrow" pitchFamily="34" charset="0"/>
              </a:rPr>
              <a:t>: </a:t>
            </a:r>
            <a:r>
              <a:rPr lang="en-US" sz="11200" dirty="0">
                <a:latin typeface="Arial Narrow" pitchFamily="34" charset="0"/>
              </a:rPr>
              <a:t>Food, water, light, stroking of the skin, and a comfortable </a:t>
            </a:r>
            <a:r>
              <a:rPr lang="en-US" sz="11200" dirty="0" smtClean="0">
                <a:latin typeface="Arial Narrow" pitchFamily="34" charset="0"/>
              </a:rPr>
              <a:t>air temperature </a:t>
            </a:r>
            <a:r>
              <a:rPr lang="en-US" sz="11200" dirty="0">
                <a:latin typeface="Arial Narrow" pitchFamily="34" charset="0"/>
              </a:rPr>
              <a:t>are naturally reinforcing because they satisfy biological needs. </a:t>
            </a:r>
            <a:r>
              <a:rPr lang="en-US" sz="11200" dirty="0" smtClean="0">
                <a:latin typeface="Arial Narrow" pitchFamily="34" charset="0"/>
              </a:rPr>
              <a:t>Primary </a:t>
            </a:r>
            <a:r>
              <a:rPr lang="en-US" sz="11200" dirty="0" err="1" smtClean="0">
                <a:latin typeface="Arial Narrow" pitchFamily="34" charset="0"/>
              </a:rPr>
              <a:t>reinforcers</a:t>
            </a:r>
            <a:r>
              <a:rPr lang="en-US" sz="11200" dirty="0" smtClean="0">
                <a:latin typeface="Arial Narrow" pitchFamily="34" charset="0"/>
              </a:rPr>
              <a:t> have </a:t>
            </a:r>
            <a:r>
              <a:rPr lang="en-US" sz="11200" dirty="0">
                <a:latin typeface="Arial Narrow" pitchFamily="34" charset="0"/>
              </a:rPr>
              <a:t>the ability </a:t>
            </a:r>
            <a:r>
              <a:rPr lang="en-US" sz="11200" dirty="0" smtClean="0">
                <a:latin typeface="Arial Narrow" pitchFamily="34" charset="0"/>
              </a:rPr>
              <a:t>to strengthen </a:t>
            </a:r>
            <a:r>
              <a:rPr lang="en-US" sz="11200" dirty="0">
                <a:latin typeface="Arial Narrow" pitchFamily="34" charset="0"/>
              </a:rPr>
              <a:t>a behavior without prior learning</a:t>
            </a:r>
            <a:r>
              <a:rPr lang="en-US" sz="11200" dirty="0" smtClean="0">
                <a:latin typeface="Arial Narrow" pitchFamily="34" charset="0"/>
              </a:rPr>
              <a:t>.</a:t>
            </a:r>
          </a:p>
          <a:p>
            <a:pPr>
              <a:buNone/>
            </a:pPr>
            <a:r>
              <a:rPr lang="en-US" sz="11200" b="1" dirty="0" smtClean="0">
                <a:latin typeface="Arial Narrow" pitchFamily="34" charset="0"/>
              </a:rPr>
              <a:t>Secondary </a:t>
            </a:r>
            <a:r>
              <a:rPr lang="en-US" sz="11200" b="1" dirty="0" err="1" smtClean="0">
                <a:latin typeface="Arial Narrow" pitchFamily="34" charset="0"/>
              </a:rPr>
              <a:t>reinforcers</a:t>
            </a:r>
            <a:r>
              <a:rPr lang="en-US" sz="11200" b="1" dirty="0">
                <a:latin typeface="Arial Narrow" pitchFamily="34" charset="0"/>
              </a:rPr>
              <a:t>: </a:t>
            </a:r>
            <a:r>
              <a:rPr lang="en-US" sz="11200" dirty="0" smtClean="0">
                <a:latin typeface="Arial Narrow" pitchFamily="34" charset="0"/>
              </a:rPr>
              <a:t>They reinforce </a:t>
            </a:r>
            <a:r>
              <a:rPr lang="en-US" sz="11200" dirty="0">
                <a:latin typeface="Arial Narrow" pitchFamily="34" charset="0"/>
              </a:rPr>
              <a:t>behavior because of their prior association with primary reinforcing stimuli. Money</a:t>
            </a:r>
            <a:r>
              <a:rPr lang="en-US" sz="11200" dirty="0" smtClean="0">
                <a:latin typeface="Arial Narrow" pitchFamily="34" charset="0"/>
              </a:rPr>
              <a:t>, praise</a:t>
            </a:r>
            <a:r>
              <a:rPr lang="en-US" sz="11200" dirty="0">
                <a:latin typeface="Arial Narrow" pitchFamily="34" charset="0"/>
              </a:rPr>
              <a:t>, applause, good grades, awards, and gold stars are common secondary </a:t>
            </a:r>
            <a:r>
              <a:rPr lang="en-US" sz="11200" dirty="0" err="1" smtClean="0">
                <a:latin typeface="Arial Narrow" pitchFamily="34" charset="0"/>
              </a:rPr>
              <a:t>reinforcers</a:t>
            </a:r>
            <a:r>
              <a:rPr lang="en-US" sz="11200" dirty="0" smtClean="0">
                <a:latin typeface="Arial Narrow" pitchFamily="34" charset="0"/>
              </a:rPr>
              <a:t>.</a:t>
            </a:r>
            <a:r>
              <a:rPr lang="en-US" sz="51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lstStyle/>
          <a:p>
            <a:endParaRPr lang="en-US" dirty="0"/>
          </a:p>
        </p:txBody>
      </p:sp>
      <p:sp>
        <p:nvSpPr>
          <p:cNvPr id="48130" name="AutoShape 2" descr="Skinner Box illustration operant conditioni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8132" name="Picture 4" descr="á¨skinner experiment pigeons ááµá áá¤áµ"/>
          <p:cNvPicPr>
            <a:picLocks noChangeAspect="1" noChangeArrowheads="1"/>
          </p:cNvPicPr>
          <p:nvPr/>
        </p:nvPicPr>
        <p:blipFill>
          <a:blip r:embed="rId2"/>
          <a:srcRect/>
          <a:stretch>
            <a:fillRect/>
          </a:stretch>
        </p:blipFill>
        <p:spPr bwMode="auto">
          <a:xfrm>
            <a:off x="762000" y="1676400"/>
            <a:ext cx="3505200" cy="2590800"/>
          </a:xfrm>
          <a:prstGeom prst="rect">
            <a:avLst/>
          </a:prstGeom>
          <a:noFill/>
        </p:spPr>
      </p:pic>
      <p:pic>
        <p:nvPicPr>
          <p:cNvPr id="48134" name="Picture 6" descr="á¨skinner experiment on pigeons ááµá áá¤áµ"/>
          <p:cNvPicPr>
            <a:picLocks noChangeAspect="1" noChangeArrowheads="1"/>
          </p:cNvPicPr>
          <p:nvPr/>
        </p:nvPicPr>
        <p:blipFill>
          <a:blip r:embed="rId3"/>
          <a:srcRect/>
          <a:stretch>
            <a:fillRect/>
          </a:stretch>
        </p:blipFill>
        <p:spPr bwMode="auto">
          <a:xfrm>
            <a:off x="4191000" y="1524000"/>
            <a:ext cx="3790950" cy="2943225"/>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i="1" dirty="0" smtClean="0"/>
              <a:t>Positive and Negative reinforcement </a:t>
            </a:r>
            <a:endParaRPr lang="en-US" dirty="0"/>
          </a:p>
        </p:txBody>
      </p:sp>
      <p:sp>
        <p:nvSpPr>
          <p:cNvPr id="3" name="Content Placeholder 2"/>
          <p:cNvSpPr>
            <a:spLocks noGrp="1"/>
          </p:cNvSpPr>
          <p:nvPr>
            <p:ph idx="1"/>
          </p:nvPr>
        </p:nvSpPr>
        <p:spPr>
          <a:xfrm>
            <a:off x="228600" y="990600"/>
            <a:ext cx="8686800" cy="5715000"/>
          </a:xfrm>
        </p:spPr>
        <p:txBody>
          <a:bodyPr>
            <a:normAutofit/>
          </a:bodyPr>
          <a:lstStyle/>
          <a:p>
            <a:r>
              <a:rPr lang="en-US" sz="2800" dirty="0">
                <a:latin typeface="Arial Narrow" pitchFamily="34" charset="0"/>
              </a:rPr>
              <a:t>Both primary and secondary </a:t>
            </a:r>
            <a:r>
              <a:rPr lang="en-US" sz="2800" dirty="0" err="1">
                <a:latin typeface="Arial Narrow" pitchFamily="34" charset="0"/>
              </a:rPr>
              <a:t>reinforcers</a:t>
            </a:r>
            <a:r>
              <a:rPr lang="en-US" sz="2800" dirty="0">
                <a:latin typeface="Arial Narrow" pitchFamily="34" charset="0"/>
              </a:rPr>
              <a:t> can be positive or negative. </a:t>
            </a:r>
            <a:endParaRPr lang="en-US" sz="2800" dirty="0" smtClean="0">
              <a:latin typeface="Arial Narrow" pitchFamily="34" charset="0"/>
            </a:endParaRPr>
          </a:p>
          <a:p>
            <a:r>
              <a:rPr lang="en-US" sz="2800" b="1" i="1" dirty="0" smtClean="0">
                <a:latin typeface="Arial Narrow" pitchFamily="34" charset="0"/>
              </a:rPr>
              <a:t>Positive reinforcement </a:t>
            </a:r>
            <a:r>
              <a:rPr lang="en-US" sz="2800" dirty="0" smtClean="0">
                <a:latin typeface="Arial Narrow" pitchFamily="34" charset="0"/>
              </a:rPr>
              <a:t>is </a:t>
            </a:r>
            <a:r>
              <a:rPr lang="en-US" sz="2800" dirty="0">
                <a:latin typeface="Arial Narrow" pitchFamily="34" charset="0"/>
              </a:rPr>
              <a:t>the process whereby presentation of a stimulus makes behavior more likely to occur again</a:t>
            </a:r>
            <a:r>
              <a:rPr lang="en-US" sz="2800" dirty="0" smtClean="0">
                <a:latin typeface="Arial Narrow" pitchFamily="34" charset="0"/>
              </a:rPr>
              <a:t>.</a:t>
            </a:r>
          </a:p>
          <a:p>
            <a:r>
              <a:rPr lang="en-US" sz="2800" b="1" i="1" dirty="0" smtClean="0">
                <a:latin typeface="Arial Narrow" pitchFamily="34" charset="0"/>
              </a:rPr>
              <a:t>Negative </a:t>
            </a:r>
            <a:r>
              <a:rPr lang="en-US" sz="2800" b="1" i="1" dirty="0">
                <a:latin typeface="Arial Narrow" pitchFamily="34" charset="0"/>
              </a:rPr>
              <a:t>reinforcement </a:t>
            </a:r>
            <a:r>
              <a:rPr lang="en-US" sz="2800" dirty="0">
                <a:latin typeface="Arial Narrow" pitchFamily="34" charset="0"/>
              </a:rPr>
              <a:t>is the process whereby termination of an aversive stimulus </a:t>
            </a:r>
            <a:r>
              <a:rPr lang="en-US" sz="2800" dirty="0" smtClean="0">
                <a:latin typeface="Arial Narrow" pitchFamily="34" charset="0"/>
              </a:rPr>
              <a:t>makes behavior </a:t>
            </a:r>
            <a:r>
              <a:rPr lang="en-US" sz="2800" dirty="0">
                <a:latin typeface="Arial Narrow" pitchFamily="34" charset="0"/>
              </a:rPr>
              <a:t>more likely to occur. The basic principle of negative reinforcement is </a:t>
            </a:r>
            <a:r>
              <a:rPr lang="en-US" sz="2800" dirty="0" smtClean="0">
                <a:latin typeface="Arial Narrow" pitchFamily="34" charset="0"/>
              </a:rPr>
              <a:t>that eliminating </a:t>
            </a:r>
            <a:r>
              <a:rPr lang="en-US" sz="2800" dirty="0">
                <a:latin typeface="Arial Narrow" pitchFamily="34" charset="0"/>
              </a:rPr>
              <a:t>something aversive can itself be a </a:t>
            </a:r>
            <a:r>
              <a:rPr lang="en-US" sz="2800" dirty="0" err="1">
                <a:latin typeface="Arial Narrow" pitchFamily="34" charset="0"/>
              </a:rPr>
              <a:t>reinforcer</a:t>
            </a:r>
            <a:r>
              <a:rPr lang="en-US" sz="2800" dirty="0">
                <a:latin typeface="Arial Narrow" pitchFamily="34" charset="0"/>
              </a:rPr>
              <a:t> or a reward. </a:t>
            </a:r>
            <a:endParaRPr lang="en-US" sz="2800" dirty="0" smtClean="0">
              <a:latin typeface="Arial Narrow" pitchFamily="34" charset="0"/>
            </a:endParaRPr>
          </a:p>
          <a:p>
            <a:r>
              <a:rPr lang="en-US" sz="2800" dirty="0" smtClean="0">
                <a:latin typeface="Arial Narrow" pitchFamily="34" charset="0"/>
              </a:rPr>
              <a:t>For </a:t>
            </a:r>
            <a:r>
              <a:rPr lang="en-US" sz="2800" dirty="0">
                <a:latin typeface="Arial Narrow" pitchFamily="34" charset="0"/>
              </a:rPr>
              <a:t>example, </a:t>
            </a:r>
            <a:r>
              <a:rPr lang="en-US" sz="2800" dirty="0" smtClean="0">
                <a:latin typeface="Arial Narrow" pitchFamily="34" charset="0"/>
              </a:rPr>
              <a:t>if someone </a:t>
            </a:r>
            <a:r>
              <a:rPr lang="en-US" sz="2800" dirty="0">
                <a:latin typeface="Arial Narrow" pitchFamily="34" charset="0"/>
              </a:rPr>
              <a:t>nags you all the time to study, but stops nagging when you comply, your studying is</a:t>
            </a:r>
            <a:br>
              <a:rPr lang="en-US" sz="2800" dirty="0">
                <a:latin typeface="Arial Narrow" pitchFamily="34" charset="0"/>
              </a:rPr>
            </a:br>
            <a:r>
              <a:rPr lang="en-US" sz="2800" dirty="0">
                <a:latin typeface="Arial Narrow" pitchFamily="34" charset="0"/>
              </a:rPr>
              <a:t>likely to increase- because you will then avoid the nagging.</a:t>
            </a:r>
            <a:r>
              <a:rPr lang="en-US" sz="2800" dirty="0" smtClean="0">
                <a:latin typeface="Arial Narrow" pitchFamily="34" charset="0"/>
              </a:rPr>
              <a:t> </a:t>
            </a:r>
            <a:br>
              <a:rPr lang="en-US" sz="2800" dirty="0" smtClean="0">
                <a:latin typeface="Arial Narrow" pitchFamily="34" charset="0"/>
              </a:rPr>
            </a:br>
            <a:endParaRPr lang="en-US" sz="2800" dirty="0">
              <a:latin typeface="Arial Narrow"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792162"/>
          </a:xfrm>
        </p:spPr>
        <p:txBody>
          <a:bodyPr>
            <a:normAutofit/>
          </a:bodyPr>
          <a:lstStyle/>
          <a:p>
            <a:r>
              <a:rPr lang="en-US" sz="2800" b="1" dirty="0" smtClean="0">
                <a:latin typeface="Arial Narrow" pitchFamily="34" charset="0"/>
              </a:rPr>
              <a:t>Negative reinforcement </a:t>
            </a:r>
            <a:r>
              <a:rPr lang="en-US" sz="2800" dirty="0" smtClean="0">
                <a:latin typeface="Arial Narrow" pitchFamily="34" charset="0"/>
              </a:rPr>
              <a:t>involves </a:t>
            </a:r>
            <a:r>
              <a:rPr lang="en-US" sz="2800" b="1" dirty="0" smtClean="0">
                <a:latin typeface="Arial Narrow" pitchFamily="34" charset="0"/>
              </a:rPr>
              <a:t>escape</a:t>
            </a:r>
            <a:r>
              <a:rPr lang="en-US" sz="2800" dirty="0" smtClean="0">
                <a:latin typeface="Arial Narrow" pitchFamily="34" charset="0"/>
              </a:rPr>
              <a:t> &amp; </a:t>
            </a:r>
            <a:r>
              <a:rPr lang="en-US" sz="2800" b="1" dirty="0" smtClean="0">
                <a:latin typeface="Arial Narrow" pitchFamily="34" charset="0"/>
              </a:rPr>
              <a:t>avoidance</a:t>
            </a:r>
            <a:r>
              <a:rPr lang="en-US" sz="2800" dirty="0" smtClean="0">
                <a:latin typeface="Arial Narrow" pitchFamily="34" charset="0"/>
              </a:rPr>
              <a:t> learning.</a:t>
            </a:r>
            <a:endParaRPr lang="en-US" sz="2800" dirty="0">
              <a:latin typeface="Arial Narrow" pitchFamily="34" charset="0"/>
            </a:endParaRPr>
          </a:p>
        </p:txBody>
      </p:sp>
      <p:sp>
        <p:nvSpPr>
          <p:cNvPr id="3" name="Content Placeholder 2"/>
          <p:cNvSpPr>
            <a:spLocks noGrp="1"/>
          </p:cNvSpPr>
          <p:nvPr>
            <p:ph idx="1"/>
          </p:nvPr>
        </p:nvSpPr>
        <p:spPr>
          <a:xfrm>
            <a:off x="228600" y="1066800"/>
            <a:ext cx="8686800" cy="5638800"/>
          </a:xfrm>
        </p:spPr>
        <p:txBody>
          <a:bodyPr>
            <a:normAutofit fontScale="70000" lnSpcReduction="20000"/>
          </a:bodyPr>
          <a:lstStyle/>
          <a:p>
            <a:pPr>
              <a:lnSpc>
                <a:spcPct val="120000"/>
              </a:lnSpc>
              <a:spcBef>
                <a:spcPts val="600"/>
              </a:spcBef>
            </a:pPr>
            <a:r>
              <a:rPr lang="en-US" sz="4000" dirty="0" smtClean="0">
                <a:latin typeface="Arial Narrow" pitchFamily="34" charset="0"/>
              </a:rPr>
              <a:t>In </a:t>
            </a:r>
            <a:r>
              <a:rPr lang="en-US" sz="4000" b="1" dirty="0" smtClean="0">
                <a:latin typeface="Arial Narrow" pitchFamily="34" charset="0"/>
              </a:rPr>
              <a:t>Escape </a:t>
            </a:r>
            <a:r>
              <a:rPr lang="en-US" sz="4000" b="1" dirty="0">
                <a:latin typeface="Arial Narrow" pitchFamily="34" charset="0"/>
              </a:rPr>
              <a:t>learning </a:t>
            </a:r>
            <a:r>
              <a:rPr lang="en-US" sz="4000" dirty="0">
                <a:latin typeface="Arial Narrow" pitchFamily="34" charset="0"/>
              </a:rPr>
              <a:t>animals learn </a:t>
            </a:r>
            <a:r>
              <a:rPr lang="en-US" sz="4000" dirty="0" smtClean="0">
                <a:latin typeface="Arial Narrow" pitchFamily="34" charset="0"/>
              </a:rPr>
              <a:t>to make </a:t>
            </a:r>
            <a:r>
              <a:rPr lang="en-US" sz="4000" dirty="0">
                <a:latin typeface="Arial Narrow" pitchFamily="34" charset="0"/>
              </a:rPr>
              <a:t>a response that terminates/stops a noxious, painful or unpleasant stimulus. </a:t>
            </a:r>
            <a:endParaRPr lang="en-US" sz="4000" dirty="0" smtClean="0">
              <a:latin typeface="Arial Narrow" pitchFamily="34" charset="0"/>
            </a:endParaRPr>
          </a:p>
          <a:p>
            <a:pPr>
              <a:lnSpc>
                <a:spcPct val="120000"/>
              </a:lnSpc>
              <a:spcBef>
                <a:spcPts val="600"/>
              </a:spcBef>
            </a:pPr>
            <a:r>
              <a:rPr lang="en-US" sz="4000" dirty="0" smtClean="0">
                <a:latin typeface="Arial Narrow" pitchFamily="34" charset="0"/>
              </a:rPr>
              <a:t>In </a:t>
            </a:r>
            <a:r>
              <a:rPr lang="en-US" sz="4000" b="1" dirty="0" smtClean="0">
                <a:latin typeface="Arial Narrow" pitchFamily="34" charset="0"/>
              </a:rPr>
              <a:t>Avoidance </a:t>
            </a:r>
            <a:r>
              <a:rPr lang="en-US" sz="4000" b="1" dirty="0">
                <a:latin typeface="Arial Narrow" pitchFamily="34" charset="0"/>
              </a:rPr>
              <a:t>Learning</a:t>
            </a:r>
            <a:r>
              <a:rPr lang="en-US" sz="4000" b="1" dirty="0" smtClean="0">
                <a:latin typeface="Arial Narrow" pitchFamily="34" charset="0"/>
              </a:rPr>
              <a:t>, </a:t>
            </a:r>
            <a:r>
              <a:rPr lang="en-US" sz="4000" dirty="0" smtClean="0">
                <a:latin typeface="Arial Narrow" pitchFamily="34" charset="0"/>
              </a:rPr>
              <a:t>which </a:t>
            </a:r>
            <a:r>
              <a:rPr lang="en-US" sz="4000" dirty="0">
                <a:latin typeface="Arial Narrow" pitchFamily="34" charset="0"/>
              </a:rPr>
              <a:t>refers to learning to avoid a painful, noxious stimulus prior to exposure.</a:t>
            </a:r>
            <a:r>
              <a:rPr lang="en-US" sz="4000" dirty="0" smtClean="0">
                <a:latin typeface="Arial Narrow" pitchFamily="34" charset="0"/>
              </a:rPr>
              <a:t> </a:t>
            </a:r>
          </a:p>
          <a:p>
            <a:pPr>
              <a:lnSpc>
                <a:spcPct val="120000"/>
              </a:lnSpc>
              <a:spcBef>
                <a:spcPts val="600"/>
              </a:spcBef>
              <a:buNone/>
            </a:pPr>
            <a:endParaRPr lang="en-US" sz="1100" b="1" i="1" u="sng" dirty="0">
              <a:latin typeface="Arial Narrow" pitchFamily="34" charset="0"/>
            </a:endParaRPr>
          </a:p>
          <a:p>
            <a:pPr>
              <a:lnSpc>
                <a:spcPct val="120000"/>
              </a:lnSpc>
              <a:spcBef>
                <a:spcPts val="600"/>
              </a:spcBef>
              <a:buNone/>
            </a:pPr>
            <a:r>
              <a:rPr lang="en-US" sz="3800" b="1" i="1" u="sng" dirty="0" smtClean="0"/>
              <a:t>Schedules of reinforcement</a:t>
            </a:r>
            <a:r>
              <a:rPr lang="en-US" sz="3800" u="sng" dirty="0" smtClean="0"/>
              <a:t> </a:t>
            </a:r>
            <a:endParaRPr lang="en-US" sz="3800" u="sng" dirty="0">
              <a:latin typeface="Arial Narrow" pitchFamily="34" charset="0"/>
            </a:endParaRPr>
          </a:p>
          <a:p>
            <a:pPr>
              <a:lnSpc>
                <a:spcPct val="120000"/>
              </a:lnSpc>
              <a:spcBef>
                <a:spcPts val="0"/>
              </a:spcBef>
              <a:spcAft>
                <a:spcPts val="600"/>
              </a:spcAft>
            </a:pPr>
            <a:r>
              <a:rPr lang="en-US" sz="4000" dirty="0" smtClean="0">
                <a:latin typeface="Arial Narrow" pitchFamily="34" charset="0"/>
              </a:rPr>
              <a:t>When a response is first acquired, </a:t>
            </a:r>
            <a:r>
              <a:rPr lang="en-US" sz="4000" u="sng" dirty="0" smtClean="0">
                <a:latin typeface="Arial Narrow" pitchFamily="34" charset="0"/>
              </a:rPr>
              <a:t>learning is usually most rapid</a:t>
            </a:r>
            <a:r>
              <a:rPr lang="en-US" sz="4000" dirty="0" smtClean="0">
                <a:latin typeface="Arial Narrow" pitchFamily="34" charset="0"/>
              </a:rPr>
              <a:t> if the response is reinforced each time it occurs. This procedure is called </a:t>
            </a:r>
            <a:r>
              <a:rPr lang="en-US" sz="4000" b="1" dirty="0" smtClean="0">
                <a:latin typeface="Arial Narrow" pitchFamily="34" charset="0"/>
              </a:rPr>
              <a:t>continuous reinforcement</a:t>
            </a:r>
            <a:r>
              <a:rPr lang="en-US" sz="4000" dirty="0" smtClean="0">
                <a:latin typeface="Arial Narrow" pitchFamily="34" charset="0"/>
              </a:rPr>
              <a:t>. </a:t>
            </a:r>
          </a:p>
          <a:p>
            <a:pPr>
              <a:lnSpc>
                <a:spcPct val="120000"/>
              </a:lnSpc>
              <a:spcBef>
                <a:spcPts val="0"/>
              </a:spcBef>
              <a:spcAft>
                <a:spcPts val="600"/>
              </a:spcAft>
            </a:pPr>
            <a:r>
              <a:rPr lang="en-US" sz="4000" dirty="0" smtClean="0">
                <a:latin typeface="Arial Narrow" pitchFamily="34" charset="0"/>
              </a:rPr>
              <a:t>However, once a response has become reliable, it will be more </a:t>
            </a:r>
            <a:r>
              <a:rPr lang="en-US" sz="4000" u="sng" dirty="0" smtClean="0">
                <a:latin typeface="Arial Narrow" pitchFamily="34" charset="0"/>
              </a:rPr>
              <a:t>resistant to extinction </a:t>
            </a:r>
            <a:r>
              <a:rPr lang="en-US" sz="4000" dirty="0" smtClean="0">
                <a:latin typeface="Arial Narrow" pitchFamily="34" charset="0"/>
              </a:rPr>
              <a:t>if it is rewarded on an </a:t>
            </a:r>
            <a:r>
              <a:rPr lang="en-US" sz="4000" b="1" i="1" dirty="0" smtClean="0">
                <a:latin typeface="Arial Narrow" pitchFamily="34" charset="0"/>
              </a:rPr>
              <a:t>intermittent (partial) </a:t>
            </a:r>
            <a:r>
              <a:rPr lang="en-US" sz="4000" dirty="0" smtClean="0">
                <a:latin typeface="Arial Narrow" pitchFamily="34" charset="0"/>
              </a:rPr>
              <a:t>schedule of reinforcement, which involves reinforcing only some responses, not all of them. </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92162"/>
          </a:xfrm>
        </p:spPr>
        <p:txBody>
          <a:bodyPr>
            <a:normAutofit/>
          </a:bodyPr>
          <a:lstStyle/>
          <a:p>
            <a:r>
              <a:rPr lang="en-US" sz="3200" dirty="0">
                <a:latin typeface="Arial Narrow" pitchFamily="34" charset="0"/>
              </a:rPr>
              <a:t>There are four types of </a:t>
            </a:r>
            <a:r>
              <a:rPr lang="en-US" sz="3200" dirty="0" smtClean="0">
                <a:latin typeface="Arial Narrow" pitchFamily="34" charset="0"/>
              </a:rPr>
              <a:t>partial/intermittent </a:t>
            </a:r>
            <a:r>
              <a:rPr lang="en-US" sz="3200" dirty="0">
                <a:latin typeface="Arial Narrow" pitchFamily="34" charset="0"/>
              </a:rPr>
              <a:t>schedules.</a:t>
            </a:r>
            <a:r>
              <a:rPr lang="en-US" sz="3200" dirty="0" smtClean="0">
                <a:latin typeface="Arial Narrow" pitchFamily="34" charset="0"/>
              </a:rPr>
              <a:t> </a:t>
            </a:r>
            <a:endParaRPr lang="en-US" sz="3200" dirty="0">
              <a:latin typeface="Arial Narrow" pitchFamily="34" charset="0"/>
            </a:endParaRPr>
          </a:p>
        </p:txBody>
      </p:sp>
      <p:sp>
        <p:nvSpPr>
          <p:cNvPr id="3" name="Content Placeholder 2"/>
          <p:cNvSpPr>
            <a:spLocks noGrp="1"/>
          </p:cNvSpPr>
          <p:nvPr>
            <p:ph idx="1"/>
          </p:nvPr>
        </p:nvSpPr>
        <p:spPr>
          <a:xfrm>
            <a:off x="228600" y="990600"/>
            <a:ext cx="8686800" cy="5715000"/>
          </a:xfrm>
        </p:spPr>
        <p:txBody>
          <a:bodyPr>
            <a:normAutofit fontScale="25000" lnSpcReduction="20000"/>
          </a:bodyPr>
          <a:lstStyle/>
          <a:p>
            <a:pPr>
              <a:lnSpc>
                <a:spcPct val="120000"/>
              </a:lnSpc>
              <a:spcBef>
                <a:spcPts val="0"/>
              </a:spcBef>
              <a:spcAft>
                <a:spcPts val="600"/>
              </a:spcAft>
              <a:buNone/>
            </a:pPr>
            <a:r>
              <a:rPr lang="en-US" sz="8000" b="1" dirty="0" smtClean="0">
                <a:latin typeface="Arial Narrow" pitchFamily="34" charset="0"/>
              </a:rPr>
              <a:t>1</a:t>
            </a:r>
            <a:r>
              <a:rPr lang="en-US" sz="11200" b="1" dirty="0" smtClean="0">
                <a:latin typeface="Arial Narrow" pitchFamily="34" charset="0"/>
              </a:rPr>
              <a:t>. Fixed-ratio </a:t>
            </a:r>
            <a:r>
              <a:rPr lang="en-US" sz="11200" b="1" dirty="0">
                <a:latin typeface="Arial Narrow" pitchFamily="34" charset="0"/>
              </a:rPr>
              <a:t>schedules: </a:t>
            </a:r>
            <a:r>
              <a:rPr lang="en-US" sz="11200" dirty="0" smtClean="0">
                <a:latin typeface="Arial Narrow" pitchFamily="34" charset="0"/>
              </a:rPr>
              <a:t>Reinforcement </a:t>
            </a:r>
            <a:r>
              <a:rPr lang="en-US" sz="11200" dirty="0">
                <a:latin typeface="Arial Narrow" pitchFamily="34" charset="0"/>
              </a:rPr>
              <a:t>occurs after a </a:t>
            </a:r>
            <a:r>
              <a:rPr lang="en-US" sz="11200" dirty="0" smtClean="0">
                <a:latin typeface="Arial Narrow" pitchFamily="34" charset="0"/>
              </a:rPr>
              <a:t>fixed number </a:t>
            </a:r>
            <a:r>
              <a:rPr lang="en-US" sz="11200" dirty="0">
                <a:latin typeface="Arial Narrow" pitchFamily="34" charset="0"/>
              </a:rPr>
              <a:t>of responses. </a:t>
            </a:r>
            <a:r>
              <a:rPr lang="en-US" sz="11200" dirty="0" smtClean="0">
                <a:latin typeface="Arial Narrow" pitchFamily="34" charset="0"/>
              </a:rPr>
              <a:t>It </a:t>
            </a:r>
            <a:r>
              <a:rPr lang="en-US" sz="11200" dirty="0">
                <a:latin typeface="Arial Narrow" pitchFamily="34" charset="0"/>
              </a:rPr>
              <a:t>produce </a:t>
            </a:r>
            <a:r>
              <a:rPr lang="en-US" sz="11200" u="sng" dirty="0">
                <a:latin typeface="Arial Narrow" pitchFamily="34" charset="0"/>
              </a:rPr>
              <a:t>high rate of responding</a:t>
            </a:r>
            <a:r>
              <a:rPr lang="en-US" sz="11200" dirty="0">
                <a:latin typeface="Arial Narrow" pitchFamily="34" charset="0"/>
              </a:rPr>
              <a:t>. Employers </a:t>
            </a:r>
            <a:r>
              <a:rPr lang="en-US" sz="11200" dirty="0" smtClean="0">
                <a:latin typeface="Arial Narrow" pitchFamily="34" charset="0"/>
              </a:rPr>
              <a:t>use fixed ratio </a:t>
            </a:r>
            <a:r>
              <a:rPr lang="en-US" sz="11200" dirty="0">
                <a:latin typeface="Arial Narrow" pitchFamily="34" charset="0"/>
              </a:rPr>
              <a:t>schedules to increase productivity. </a:t>
            </a:r>
            <a:endParaRPr lang="en-US" sz="11200" dirty="0" smtClean="0">
              <a:latin typeface="Arial Narrow" pitchFamily="34" charset="0"/>
            </a:endParaRPr>
          </a:p>
          <a:p>
            <a:pPr>
              <a:lnSpc>
                <a:spcPct val="120000"/>
              </a:lnSpc>
              <a:spcBef>
                <a:spcPts val="0"/>
              </a:spcBef>
              <a:spcAft>
                <a:spcPts val="600"/>
              </a:spcAft>
              <a:buNone/>
            </a:pPr>
            <a:r>
              <a:rPr lang="en-US" sz="11200" b="1" dirty="0" smtClean="0">
                <a:latin typeface="Arial Narrow" pitchFamily="34" charset="0"/>
              </a:rPr>
              <a:t>2. Variable-Ratio </a:t>
            </a:r>
            <a:r>
              <a:rPr lang="en-US" sz="11200" b="1" dirty="0">
                <a:latin typeface="Arial Narrow" pitchFamily="34" charset="0"/>
              </a:rPr>
              <a:t>Schedule: </a:t>
            </a:r>
            <a:r>
              <a:rPr lang="en-US" sz="11200" dirty="0" smtClean="0">
                <a:latin typeface="Arial Narrow" pitchFamily="34" charset="0"/>
              </a:rPr>
              <a:t>Reinforcement </a:t>
            </a:r>
            <a:r>
              <a:rPr lang="en-US" sz="11200" dirty="0">
                <a:latin typeface="Arial Narrow" pitchFamily="34" charset="0"/>
              </a:rPr>
              <a:t>occurs after </a:t>
            </a:r>
            <a:r>
              <a:rPr lang="en-US" sz="11200" dirty="0" smtClean="0">
                <a:latin typeface="Arial Narrow" pitchFamily="34" charset="0"/>
              </a:rPr>
              <a:t>some varying </a:t>
            </a:r>
            <a:r>
              <a:rPr lang="en-US" sz="11200" dirty="0">
                <a:latin typeface="Arial Narrow" pitchFamily="34" charset="0"/>
              </a:rPr>
              <a:t>number of </a:t>
            </a:r>
            <a:r>
              <a:rPr lang="en-US" sz="11200" dirty="0" smtClean="0">
                <a:latin typeface="Arial Narrow" pitchFamily="34" charset="0"/>
              </a:rPr>
              <a:t>responses. It produces </a:t>
            </a:r>
            <a:r>
              <a:rPr lang="en-US" sz="11200" dirty="0">
                <a:latin typeface="Arial Narrow" pitchFamily="34" charset="0"/>
              </a:rPr>
              <a:t>extremely high steady rates of </a:t>
            </a:r>
            <a:r>
              <a:rPr lang="en-US" sz="11200" dirty="0" smtClean="0">
                <a:latin typeface="Arial Narrow" pitchFamily="34" charset="0"/>
              </a:rPr>
              <a:t>responding. The responses are </a:t>
            </a:r>
            <a:r>
              <a:rPr lang="en-US" sz="11200" dirty="0">
                <a:latin typeface="Arial Narrow" pitchFamily="34" charset="0"/>
              </a:rPr>
              <a:t>more </a:t>
            </a:r>
            <a:r>
              <a:rPr lang="en-US" sz="11200" i="1" u="sng" dirty="0">
                <a:latin typeface="Arial Narrow" pitchFamily="34" charset="0"/>
              </a:rPr>
              <a:t>resistant to extinction </a:t>
            </a:r>
            <a:r>
              <a:rPr lang="en-US" sz="11200" dirty="0">
                <a:latin typeface="Arial Narrow" pitchFamily="34" charset="0"/>
              </a:rPr>
              <a:t>than when a fixed ratio schedule is </a:t>
            </a:r>
            <a:r>
              <a:rPr lang="en-US" sz="11200" dirty="0" smtClean="0">
                <a:latin typeface="Arial Narrow" pitchFamily="34" charset="0"/>
              </a:rPr>
              <a:t>used.</a:t>
            </a:r>
          </a:p>
          <a:p>
            <a:pPr>
              <a:lnSpc>
                <a:spcPct val="120000"/>
              </a:lnSpc>
              <a:spcBef>
                <a:spcPts val="0"/>
              </a:spcBef>
              <a:spcAft>
                <a:spcPts val="600"/>
              </a:spcAft>
              <a:buNone/>
            </a:pPr>
            <a:r>
              <a:rPr lang="en-US" sz="11200" b="1" dirty="0" smtClean="0">
                <a:latin typeface="Arial Narrow" pitchFamily="34" charset="0"/>
              </a:rPr>
              <a:t>3. Fixed </a:t>
            </a:r>
            <a:r>
              <a:rPr lang="en-US" sz="11200" b="1" dirty="0">
                <a:latin typeface="Arial Narrow" pitchFamily="34" charset="0"/>
              </a:rPr>
              <a:t>Interval Schedule: </a:t>
            </a:r>
            <a:r>
              <a:rPr lang="en-US" sz="11200" dirty="0">
                <a:latin typeface="Arial Narrow" pitchFamily="34" charset="0"/>
              </a:rPr>
              <a:t>A fixed interval schedule of reinforcement occurs only if </a:t>
            </a:r>
            <a:r>
              <a:rPr lang="en-US" sz="11200" dirty="0" smtClean="0">
                <a:latin typeface="Arial Narrow" pitchFamily="34" charset="0"/>
              </a:rPr>
              <a:t>a fixed </a:t>
            </a:r>
            <a:r>
              <a:rPr lang="en-US" sz="11200" dirty="0">
                <a:latin typeface="Arial Narrow" pitchFamily="34" charset="0"/>
              </a:rPr>
              <a:t>amount of time has passed since the previous </a:t>
            </a:r>
            <a:r>
              <a:rPr lang="en-US" sz="11200" dirty="0" err="1" smtClean="0">
                <a:latin typeface="Arial Narrow" pitchFamily="34" charset="0"/>
              </a:rPr>
              <a:t>reinforcer</a:t>
            </a:r>
            <a:r>
              <a:rPr lang="en-US" sz="11200" dirty="0" smtClean="0">
                <a:latin typeface="Arial Narrow" pitchFamily="34" charset="0"/>
              </a:rPr>
              <a:t>.</a:t>
            </a:r>
          </a:p>
          <a:p>
            <a:pPr>
              <a:lnSpc>
                <a:spcPct val="120000"/>
              </a:lnSpc>
              <a:spcBef>
                <a:spcPts val="0"/>
              </a:spcBef>
              <a:spcAft>
                <a:spcPts val="600"/>
              </a:spcAft>
              <a:buNone/>
            </a:pPr>
            <a:r>
              <a:rPr lang="en-US" sz="11200" b="1" dirty="0" smtClean="0">
                <a:latin typeface="Arial Narrow" pitchFamily="34" charset="0"/>
              </a:rPr>
              <a:t>4. Variable </a:t>
            </a:r>
            <a:r>
              <a:rPr lang="en-US" sz="11200" b="1" dirty="0">
                <a:latin typeface="Arial Narrow" pitchFamily="34" charset="0"/>
              </a:rPr>
              <a:t>Interval Schedule: </a:t>
            </a:r>
            <a:r>
              <a:rPr lang="en-US" sz="11200" dirty="0">
                <a:latin typeface="Arial Narrow" pitchFamily="34" charset="0"/>
              </a:rPr>
              <a:t>A variable interval schedule of reinforcement occurs only </a:t>
            </a:r>
            <a:r>
              <a:rPr lang="en-US" sz="11200" dirty="0" smtClean="0">
                <a:latin typeface="Arial Narrow" pitchFamily="34" charset="0"/>
              </a:rPr>
              <a:t>if variable </a:t>
            </a:r>
            <a:r>
              <a:rPr lang="en-US" sz="11200" dirty="0">
                <a:latin typeface="Arial Narrow" pitchFamily="34" charset="0"/>
              </a:rPr>
              <a:t>amount of time has passed since the previous </a:t>
            </a:r>
            <a:r>
              <a:rPr lang="en-US" sz="11200" dirty="0" err="1">
                <a:latin typeface="Arial Narrow" pitchFamily="34" charset="0"/>
              </a:rPr>
              <a:t>reinforcer</a:t>
            </a:r>
            <a:r>
              <a:rPr lang="en-US" sz="11200" dirty="0">
                <a:latin typeface="Arial Narrow" pitchFamily="34" charset="0"/>
              </a:rPr>
              <a:t>.</a:t>
            </a:r>
            <a:r>
              <a:rPr lang="en-US" sz="112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a:t>
            </a:r>
            <a:endParaRPr lang="en-US" dirty="0"/>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pPr>
              <a:buNone/>
            </a:pPr>
            <a:r>
              <a:rPr lang="en-US" sz="3000" b="1" dirty="0">
                <a:latin typeface="Arial Narrow" pitchFamily="34" charset="0"/>
              </a:rPr>
              <a:t>c) </a:t>
            </a:r>
            <a:r>
              <a:rPr lang="en-US" sz="3000" b="1" dirty="0" smtClean="0">
                <a:solidFill>
                  <a:srgbClr val="FF0000"/>
                </a:solidFill>
                <a:latin typeface="Arial Narrow" pitchFamily="34" charset="0"/>
              </a:rPr>
              <a:t>Punishment -</a:t>
            </a:r>
            <a:r>
              <a:rPr lang="en-US" sz="3000" b="1" dirty="0" smtClean="0">
                <a:latin typeface="Arial Narrow" pitchFamily="34" charset="0"/>
              </a:rPr>
              <a:t> </a:t>
            </a:r>
            <a:r>
              <a:rPr lang="en-US" sz="3000" dirty="0">
                <a:latin typeface="Arial Narrow" pitchFamily="34" charset="0"/>
              </a:rPr>
              <a:t>is a stimulus that weakens the response or makes it less likely to recur</a:t>
            </a:r>
            <a:r>
              <a:rPr lang="en-US" sz="3000" dirty="0" smtClean="0">
                <a:latin typeface="Arial Narrow" pitchFamily="34" charset="0"/>
              </a:rPr>
              <a:t>.</a:t>
            </a:r>
          </a:p>
          <a:p>
            <a:r>
              <a:rPr lang="en-US" sz="3000" dirty="0" smtClean="0">
                <a:latin typeface="Arial Narrow" pitchFamily="34" charset="0"/>
              </a:rPr>
              <a:t>Punisher </a:t>
            </a:r>
            <a:r>
              <a:rPr lang="en-US" sz="3000" dirty="0">
                <a:latin typeface="Arial Narrow" pitchFamily="34" charset="0"/>
              </a:rPr>
              <a:t>can be any aversive (unpleasant) stimuli that weaken responses or make </a:t>
            </a:r>
            <a:r>
              <a:rPr lang="en-US" sz="3000" dirty="0" smtClean="0">
                <a:latin typeface="Arial Narrow" pitchFamily="34" charset="0"/>
              </a:rPr>
              <a:t>them unlikely </a:t>
            </a:r>
            <a:r>
              <a:rPr lang="en-US" sz="3000" dirty="0">
                <a:latin typeface="Arial Narrow" pitchFamily="34" charset="0"/>
              </a:rPr>
              <a:t>to recur. </a:t>
            </a:r>
            <a:endParaRPr lang="en-US" sz="3000" dirty="0" smtClean="0">
              <a:latin typeface="Arial Narrow" pitchFamily="34" charset="0"/>
            </a:endParaRPr>
          </a:p>
          <a:p>
            <a:r>
              <a:rPr lang="en-US" sz="3000" dirty="0" smtClean="0">
                <a:latin typeface="Arial Narrow" pitchFamily="34" charset="0"/>
              </a:rPr>
              <a:t>Like </a:t>
            </a:r>
            <a:r>
              <a:rPr lang="en-US" sz="3000" dirty="0" err="1">
                <a:latin typeface="Arial Narrow" pitchFamily="34" charset="0"/>
              </a:rPr>
              <a:t>reinforcers</a:t>
            </a:r>
            <a:r>
              <a:rPr lang="en-US" sz="3000" dirty="0">
                <a:latin typeface="Arial Narrow" pitchFamily="34" charset="0"/>
              </a:rPr>
              <a:t>, punishers can also be primary or secondary. </a:t>
            </a:r>
            <a:endParaRPr lang="en-US" sz="3000" dirty="0" smtClean="0">
              <a:latin typeface="Arial Narrow" pitchFamily="34" charset="0"/>
            </a:endParaRPr>
          </a:p>
          <a:p>
            <a:r>
              <a:rPr lang="en-US" sz="3000" dirty="0" smtClean="0">
                <a:latin typeface="Arial Narrow" pitchFamily="34" charset="0"/>
              </a:rPr>
              <a:t>Pain and extreme </a:t>
            </a:r>
            <a:r>
              <a:rPr lang="en-US" sz="3000" dirty="0">
                <a:latin typeface="Arial Narrow" pitchFamily="34" charset="0"/>
              </a:rPr>
              <a:t>heat or cold are inherently punishing and are therefore known as </a:t>
            </a:r>
            <a:r>
              <a:rPr lang="en-US" sz="3000" b="1" dirty="0" smtClean="0">
                <a:latin typeface="Arial Narrow" pitchFamily="34" charset="0"/>
              </a:rPr>
              <a:t>primary punishers</a:t>
            </a:r>
            <a:r>
              <a:rPr lang="en-US" sz="3000" dirty="0">
                <a:latin typeface="Arial Narrow" pitchFamily="34" charset="0"/>
              </a:rPr>
              <a:t>. </a:t>
            </a:r>
            <a:endParaRPr lang="en-US" sz="3000" dirty="0" smtClean="0">
              <a:latin typeface="Arial Narrow" pitchFamily="34" charset="0"/>
            </a:endParaRPr>
          </a:p>
          <a:p>
            <a:r>
              <a:rPr lang="en-US" sz="3000" dirty="0" smtClean="0">
                <a:latin typeface="Arial Narrow" pitchFamily="34" charset="0"/>
              </a:rPr>
              <a:t>Criticism</a:t>
            </a:r>
            <a:r>
              <a:rPr lang="en-US" sz="3000" dirty="0">
                <a:latin typeface="Arial Narrow" pitchFamily="34" charset="0"/>
              </a:rPr>
              <a:t>, demerits, catcalls, scolding, fines, and bad grades are </a:t>
            </a:r>
            <a:r>
              <a:rPr lang="en-US" sz="3000" dirty="0" smtClean="0">
                <a:latin typeface="Arial Narrow" pitchFamily="34" charset="0"/>
              </a:rPr>
              <a:t>common </a:t>
            </a:r>
            <a:r>
              <a:rPr lang="en-US" sz="3000" b="1" dirty="0" smtClean="0">
                <a:latin typeface="Arial Narrow" pitchFamily="34" charset="0"/>
              </a:rPr>
              <a:t>secondary </a:t>
            </a:r>
            <a:r>
              <a:rPr lang="en-US" sz="3000" b="1" dirty="0">
                <a:latin typeface="Arial Narrow" pitchFamily="34" charset="0"/>
              </a:rPr>
              <a:t>punishers.</a:t>
            </a:r>
            <a:r>
              <a:rPr lang="en-US" sz="30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563562"/>
          </a:xfrm>
        </p:spPr>
        <p:txBody>
          <a:bodyPr>
            <a:noAutofit/>
          </a:bodyPr>
          <a:lstStyle/>
          <a:p>
            <a:pPr algn="l"/>
            <a:r>
              <a:rPr lang="en-US" sz="3200" b="1" dirty="0" smtClean="0"/>
              <a:t>Positive and negative punishment</a:t>
            </a:r>
            <a:endParaRPr lang="en-US" sz="3200" b="1" dirty="0"/>
          </a:p>
        </p:txBody>
      </p:sp>
      <p:sp>
        <p:nvSpPr>
          <p:cNvPr id="3" name="Content Placeholder 2"/>
          <p:cNvSpPr>
            <a:spLocks noGrp="1"/>
          </p:cNvSpPr>
          <p:nvPr>
            <p:ph idx="1"/>
          </p:nvPr>
        </p:nvSpPr>
        <p:spPr>
          <a:xfrm>
            <a:off x="304800" y="914400"/>
            <a:ext cx="8686800" cy="5791200"/>
          </a:xfrm>
        </p:spPr>
        <p:txBody>
          <a:bodyPr>
            <a:normAutofit fontScale="25000" lnSpcReduction="20000"/>
          </a:bodyPr>
          <a:lstStyle/>
          <a:p>
            <a:r>
              <a:rPr lang="en-US" sz="11200" dirty="0" smtClean="0">
                <a:latin typeface="Arial Narrow" pitchFamily="34" charset="0"/>
              </a:rPr>
              <a:t>The </a:t>
            </a:r>
            <a:r>
              <a:rPr lang="en-US" sz="11200" dirty="0">
                <a:latin typeface="Arial Narrow" pitchFamily="34" charset="0"/>
              </a:rPr>
              <a:t>positive-negative distinction can also be applied to punishment. Something </a:t>
            </a:r>
            <a:r>
              <a:rPr lang="en-US" sz="11200" dirty="0" smtClean="0">
                <a:latin typeface="Arial Narrow" pitchFamily="34" charset="0"/>
              </a:rPr>
              <a:t>unpleasant may </a:t>
            </a:r>
            <a:r>
              <a:rPr lang="en-US" sz="11200" dirty="0">
                <a:latin typeface="Arial Narrow" pitchFamily="34" charset="0"/>
              </a:rPr>
              <a:t>occur following some behavior (positive punishment), or something pleasant may be</a:t>
            </a:r>
            <a:br>
              <a:rPr lang="en-US" sz="11200" dirty="0">
                <a:latin typeface="Arial Narrow" pitchFamily="34" charset="0"/>
              </a:rPr>
            </a:br>
            <a:r>
              <a:rPr lang="en-US" sz="11200" dirty="0">
                <a:latin typeface="Arial Narrow" pitchFamily="34" charset="0"/>
              </a:rPr>
              <a:t>removed (negative punishment).</a:t>
            </a:r>
            <a:r>
              <a:rPr lang="en-US" sz="11200" dirty="0" smtClean="0">
                <a:latin typeface="Arial Narrow" pitchFamily="34" charset="0"/>
              </a:rPr>
              <a:t> </a:t>
            </a:r>
          </a:p>
          <a:p>
            <a:r>
              <a:rPr lang="en-US" sz="11200" b="1" dirty="0">
                <a:latin typeface="Arial Narrow" pitchFamily="34" charset="0"/>
              </a:rPr>
              <a:t>The Pros and Cons of Punishment</a:t>
            </a:r>
            <a:br>
              <a:rPr lang="en-US" sz="11200" b="1" dirty="0">
                <a:latin typeface="Arial Narrow" pitchFamily="34" charset="0"/>
              </a:rPr>
            </a:br>
            <a:r>
              <a:rPr lang="en-US" sz="11200" dirty="0">
                <a:latin typeface="Arial Narrow" pitchFamily="34" charset="0"/>
              </a:rPr>
              <a:t>Immediacy, consistency and intensity matter are important for </a:t>
            </a:r>
            <a:r>
              <a:rPr lang="en-US" sz="11200" i="1" u="sng" dirty="0">
                <a:latin typeface="Arial Narrow" pitchFamily="34" charset="0"/>
              </a:rPr>
              <a:t>effectiveness</a:t>
            </a:r>
            <a:r>
              <a:rPr lang="en-US" sz="11200" dirty="0">
                <a:latin typeface="Arial Narrow" pitchFamily="34" charset="0"/>
              </a:rPr>
              <a:t> of </a:t>
            </a:r>
            <a:r>
              <a:rPr lang="en-US" sz="11200" dirty="0" smtClean="0">
                <a:latin typeface="Arial Narrow" pitchFamily="34" charset="0"/>
              </a:rPr>
              <a:t>punishment.</a:t>
            </a:r>
          </a:p>
          <a:p>
            <a:r>
              <a:rPr lang="en-US" sz="11200" b="1" dirty="0" smtClean="0">
                <a:latin typeface="Arial Narrow" pitchFamily="34" charset="0"/>
              </a:rPr>
              <a:t>Immediacy </a:t>
            </a:r>
            <a:r>
              <a:rPr lang="en-US" sz="11200" dirty="0">
                <a:latin typeface="Arial Narrow" pitchFamily="34" charset="0"/>
              </a:rPr>
              <a:t>– When punishment follows immediately after the behavior to be </a:t>
            </a:r>
            <a:r>
              <a:rPr lang="en-US" sz="11200" dirty="0" smtClean="0">
                <a:latin typeface="Arial Narrow" pitchFamily="34" charset="0"/>
              </a:rPr>
              <a:t>punished.</a:t>
            </a:r>
          </a:p>
          <a:p>
            <a:r>
              <a:rPr lang="en-US" sz="11200" b="1" dirty="0" smtClean="0">
                <a:latin typeface="Arial Narrow" pitchFamily="34" charset="0"/>
              </a:rPr>
              <a:t>Consistency</a:t>
            </a:r>
            <a:r>
              <a:rPr lang="en-US" sz="11200" dirty="0" smtClean="0">
                <a:latin typeface="Arial Narrow" pitchFamily="34" charset="0"/>
              </a:rPr>
              <a:t>- </a:t>
            </a:r>
            <a:r>
              <a:rPr lang="en-US" sz="11200" dirty="0">
                <a:latin typeface="Arial Narrow" pitchFamily="34" charset="0"/>
              </a:rPr>
              <a:t>when punishment is inconsistent the behavior being punished is </a:t>
            </a:r>
            <a:r>
              <a:rPr lang="en-US" sz="11200" dirty="0" smtClean="0">
                <a:latin typeface="Arial Narrow" pitchFamily="34" charset="0"/>
              </a:rPr>
              <a:t>intermittently reinforced </a:t>
            </a:r>
            <a:r>
              <a:rPr lang="en-US" sz="11200" dirty="0">
                <a:latin typeface="Arial Narrow" pitchFamily="34" charset="0"/>
              </a:rPr>
              <a:t>and therefore becomes resistant to </a:t>
            </a:r>
            <a:r>
              <a:rPr lang="en-US" sz="11200" dirty="0" smtClean="0">
                <a:latin typeface="Arial Narrow" pitchFamily="34" charset="0"/>
              </a:rPr>
              <a:t>extinction.</a:t>
            </a:r>
          </a:p>
          <a:p>
            <a:r>
              <a:rPr lang="en-US" sz="11200" b="1" dirty="0" smtClean="0">
                <a:latin typeface="Arial Narrow" pitchFamily="34" charset="0"/>
              </a:rPr>
              <a:t>Intensity</a:t>
            </a:r>
            <a:r>
              <a:rPr lang="en-US" sz="11200" dirty="0" smtClean="0">
                <a:latin typeface="Arial Narrow" pitchFamily="34" charset="0"/>
              </a:rPr>
              <a:t>- </a:t>
            </a:r>
            <a:r>
              <a:rPr lang="en-US" sz="11200" dirty="0">
                <a:latin typeface="Arial Narrow" pitchFamily="34" charset="0"/>
              </a:rPr>
              <a:t>In general terms severe punishments are more effective than mild ones. However</a:t>
            </a:r>
            <a:r>
              <a:rPr lang="en-US" sz="11200" dirty="0" smtClean="0">
                <a:latin typeface="Arial Narrow" pitchFamily="34" charset="0"/>
              </a:rPr>
              <a:t>, there </a:t>
            </a:r>
            <a:r>
              <a:rPr lang="en-US" sz="11200" dirty="0">
                <a:latin typeface="Arial Narrow" pitchFamily="34" charset="0"/>
              </a:rPr>
              <a:t>are studies that indicate that even less intense punishments are effective provided </a:t>
            </a:r>
            <a:r>
              <a:rPr lang="en-US" sz="11200" dirty="0" smtClean="0">
                <a:latin typeface="Arial Narrow" pitchFamily="34" charset="0"/>
              </a:rPr>
              <a:t>that they </a:t>
            </a:r>
            <a:r>
              <a:rPr lang="en-US" sz="11200" dirty="0">
                <a:latin typeface="Arial Narrow" pitchFamily="34" charset="0"/>
              </a:rPr>
              <a:t>are applied immediately and consistently.</a:t>
            </a:r>
            <a:r>
              <a:rPr lang="en-US" sz="11200" dirty="0" smtClean="0">
                <a:latin typeface="Arial Narrow" pitchFamily="34" charset="0"/>
              </a:rPr>
              <a:t> </a:t>
            </a:r>
            <a:r>
              <a:rPr lang="en-US" dirty="0" smtClean="0"/>
              <a:t/>
            </a:r>
            <a:br>
              <a:rPr lang="en-US" dirty="0" smtClean="0"/>
            </a:br>
            <a:r>
              <a:rPr lang="en-US" dirty="0" smtClean="0"/>
              <a:t> </a:t>
            </a:r>
            <a:br>
              <a:rPr lang="en-US" dirty="0" smtClean="0"/>
            </a:b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i="1" dirty="0" smtClean="0"/>
              <a:t>When punishment fails?</a:t>
            </a:r>
            <a:endParaRPr lang="en-US" dirty="0"/>
          </a:p>
        </p:txBody>
      </p:sp>
      <p:sp>
        <p:nvSpPr>
          <p:cNvPr id="3" name="Content Placeholder 2"/>
          <p:cNvSpPr>
            <a:spLocks noGrp="1"/>
          </p:cNvSpPr>
          <p:nvPr>
            <p:ph idx="1"/>
          </p:nvPr>
        </p:nvSpPr>
        <p:spPr>
          <a:xfrm>
            <a:off x="152400" y="990600"/>
            <a:ext cx="8839200" cy="5638800"/>
          </a:xfrm>
        </p:spPr>
        <p:txBody>
          <a:bodyPr>
            <a:normAutofit fontScale="70000" lnSpcReduction="20000"/>
          </a:bodyPr>
          <a:lstStyle/>
          <a:p>
            <a:r>
              <a:rPr lang="en-US" sz="4300" dirty="0">
                <a:latin typeface="Arial Narrow" pitchFamily="34" charset="0"/>
              </a:rPr>
              <a:t>People often administer punishment inappropriately or </a:t>
            </a:r>
            <a:r>
              <a:rPr lang="en-US" sz="4300" dirty="0" smtClean="0">
                <a:latin typeface="Arial Narrow" pitchFamily="34" charset="0"/>
              </a:rPr>
              <a:t>mindlessly. </a:t>
            </a:r>
          </a:p>
          <a:p>
            <a:r>
              <a:rPr lang="en-US" sz="4300" dirty="0" smtClean="0">
                <a:latin typeface="Arial Narrow" pitchFamily="34" charset="0"/>
              </a:rPr>
              <a:t>The </a:t>
            </a:r>
            <a:r>
              <a:rPr lang="en-US" sz="4300" dirty="0">
                <a:latin typeface="Arial Narrow" pitchFamily="34" charset="0"/>
              </a:rPr>
              <a:t>recipient of punishment often responds with anxiety, fear or </a:t>
            </a:r>
            <a:r>
              <a:rPr lang="en-US" sz="4300" dirty="0" smtClean="0">
                <a:latin typeface="Arial Narrow" pitchFamily="34" charset="0"/>
              </a:rPr>
              <a:t>rage.</a:t>
            </a:r>
          </a:p>
          <a:p>
            <a:r>
              <a:rPr lang="en-US" sz="4300" dirty="0">
                <a:latin typeface="Arial Narrow" pitchFamily="34" charset="0"/>
              </a:rPr>
              <a:t>The effectiveness of punishment is often temporary, depending heavily on the presence </a:t>
            </a:r>
            <a:r>
              <a:rPr lang="en-US" sz="4300" dirty="0" smtClean="0">
                <a:latin typeface="Arial Narrow" pitchFamily="34" charset="0"/>
              </a:rPr>
              <a:t>of the </a:t>
            </a:r>
            <a:r>
              <a:rPr lang="en-US" sz="4300" dirty="0">
                <a:latin typeface="Arial Narrow" pitchFamily="34" charset="0"/>
              </a:rPr>
              <a:t>punishing person or </a:t>
            </a:r>
            <a:r>
              <a:rPr lang="en-US" sz="4300" dirty="0" smtClean="0">
                <a:latin typeface="Arial Narrow" pitchFamily="34" charset="0"/>
              </a:rPr>
              <a:t>circumstances.</a:t>
            </a:r>
          </a:p>
          <a:p>
            <a:r>
              <a:rPr lang="en-US" sz="4300" dirty="0">
                <a:latin typeface="Arial Narrow" pitchFamily="34" charset="0"/>
              </a:rPr>
              <a:t>Most behavior is hard to punish </a:t>
            </a:r>
            <a:r>
              <a:rPr lang="en-US" sz="4300" dirty="0" smtClean="0">
                <a:latin typeface="Arial Narrow" pitchFamily="34" charset="0"/>
              </a:rPr>
              <a:t>immediately.</a:t>
            </a:r>
          </a:p>
          <a:p>
            <a:r>
              <a:rPr lang="en-US" sz="4300" dirty="0" smtClean="0">
                <a:latin typeface="Arial Narrow" pitchFamily="34" charset="0"/>
              </a:rPr>
              <a:t>Punishment </a:t>
            </a:r>
            <a:r>
              <a:rPr lang="en-US" sz="4300" dirty="0">
                <a:latin typeface="Arial Narrow" pitchFamily="34" charset="0"/>
              </a:rPr>
              <a:t>conveys little information. An action intended to punish may instead </a:t>
            </a:r>
            <a:r>
              <a:rPr lang="en-US" sz="4300" dirty="0" smtClean="0">
                <a:latin typeface="Arial Narrow" pitchFamily="34" charset="0"/>
              </a:rPr>
              <a:t>be reinforcing </a:t>
            </a:r>
            <a:r>
              <a:rPr lang="en-US" sz="4300" dirty="0">
                <a:latin typeface="Arial Narrow" pitchFamily="34" charset="0"/>
              </a:rPr>
              <a:t>because it brings attention.</a:t>
            </a:r>
            <a:r>
              <a:rPr lang="en-US" sz="4300" dirty="0" smtClean="0">
                <a:latin typeface="Arial Narrow" pitchFamily="34" charset="0"/>
              </a:rPr>
              <a:t> </a:t>
            </a:r>
            <a:r>
              <a:rPr lang="en-US" dirty="0" smtClean="0"/>
              <a:t/>
            </a:r>
            <a:br>
              <a:rPr lang="en-US" dirty="0" smtClean="0"/>
            </a:br>
            <a:r>
              <a:rPr lang="en-US" dirty="0" smtClean="0"/>
              <a:t> </a:t>
            </a:r>
            <a:br>
              <a:rPr lang="en-US" dirty="0" smtClean="0"/>
            </a:br>
            <a:r>
              <a:rPr lang="en-US" dirty="0" smtClean="0"/>
              <a:t> </a:t>
            </a:r>
            <a:br>
              <a:rPr lang="en-US" dirty="0" smtClean="0"/>
            </a:b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762000"/>
          </a:xfrm>
        </p:spPr>
        <p:txBody>
          <a:bodyPr>
            <a:normAutofit/>
          </a:bodyPr>
          <a:lstStyle/>
          <a:p>
            <a:r>
              <a:rPr lang="en-US" sz="3200" b="1" dirty="0" smtClean="0">
                <a:latin typeface="Arial Narrow" pitchFamily="34" charset="0"/>
              </a:rPr>
              <a:t>Shaping</a:t>
            </a:r>
            <a:endParaRPr lang="en-US" sz="3200" dirty="0">
              <a:latin typeface="Arial Narrow" pitchFamily="34" charset="0"/>
            </a:endParaRPr>
          </a:p>
        </p:txBody>
      </p:sp>
      <p:sp>
        <p:nvSpPr>
          <p:cNvPr id="3" name="Content Placeholder 2"/>
          <p:cNvSpPr>
            <a:spLocks noGrp="1"/>
          </p:cNvSpPr>
          <p:nvPr>
            <p:ph idx="1"/>
          </p:nvPr>
        </p:nvSpPr>
        <p:spPr>
          <a:xfrm>
            <a:off x="228600" y="914400"/>
            <a:ext cx="8686800" cy="5715000"/>
          </a:xfrm>
        </p:spPr>
        <p:txBody>
          <a:bodyPr>
            <a:normAutofit/>
          </a:bodyPr>
          <a:lstStyle/>
          <a:p>
            <a:pPr>
              <a:buNone/>
            </a:pPr>
            <a:r>
              <a:rPr lang="en-US" sz="3000" dirty="0" smtClean="0">
                <a:latin typeface="Arial Narrow" pitchFamily="34" charset="0"/>
              </a:rPr>
              <a:t>Shaping </a:t>
            </a:r>
            <a:r>
              <a:rPr lang="en-US" sz="3000" dirty="0">
                <a:latin typeface="Arial Narrow" pitchFamily="34" charset="0"/>
              </a:rPr>
              <a:t>is an operant conditioning procedure </a:t>
            </a:r>
            <a:r>
              <a:rPr lang="en-US" sz="3000" dirty="0" smtClean="0">
                <a:latin typeface="Arial Narrow" pitchFamily="34" charset="0"/>
              </a:rPr>
              <a:t>in which </a:t>
            </a:r>
            <a:r>
              <a:rPr lang="en-US" sz="3000" dirty="0">
                <a:latin typeface="Arial Narrow" pitchFamily="34" charset="0"/>
              </a:rPr>
              <a:t>successive approximations of a desired response are reinforced. </a:t>
            </a:r>
            <a:endParaRPr lang="en-US" sz="3000" dirty="0" smtClean="0">
              <a:latin typeface="Arial Narrow" pitchFamily="34" charset="0"/>
            </a:endParaRPr>
          </a:p>
          <a:p>
            <a:pPr>
              <a:buNone/>
            </a:pPr>
            <a:r>
              <a:rPr lang="en-US" sz="3000" dirty="0" smtClean="0">
                <a:latin typeface="Arial Narrow" pitchFamily="34" charset="0"/>
              </a:rPr>
              <a:t>In </a:t>
            </a:r>
            <a:r>
              <a:rPr lang="en-US" sz="3000" dirty="0">
                <a:latin typeface="Arial Narrow" pitchFamily="34" charset="0"/>
              </a:rPr>
              <a:t>shaping you start </a:t>
            </a:r>
            <a:r>
              <a:rPr lang="en-US" sz="3000" dirty="0" smtClean="0">
                <a:latin typeface="Arial Narrow" pitchFamily="34" charset="0"/>
              </a:rPr>
              <a:t>by reinforcing </a:t>
            </a:r>
            <a:r>
              <a:rPr lang="en-US" sz="3000" dirty="0">
                <a:latin typeface="Arial Narrow" pitchFamily="34" charset="0"/>
              </a:rPr>
              <a:t>a tendency in the right direction. Then you gradually require responses that </a:t>
            </a:r>
            <a:r>
              <a:rPr lang="en-US" sz="3000" dirty="0" smtClean="0">
                <a:latin typeface="Arial Narrow" pitchFamily="34" charset="0"/>
              </a:rPr>
              <a:t>are more </a:t>
            </a:r>
            <a:r>
              <a:rPr lang="en-US" sz="3000" dirty="0">
                <a:latin typeface="Arial Narrow" pitchFamily="34" charset="0"/>
              </a:rPr>
              <a:t>and more similar to the final desired response. </a:t>
            </a:r>
            <a:endParaRPr lang="en-US" sz="3000" dirty="0" smtClean="0">
              <a:latin typeface="Arial Narrow" pitchFamily="34" charset="0"/>
            </a:endParaRPr>
          </a:p>
          <a:p>
            <a:pPr>
              <a:buNone/>
            </a:pPr>
            <a:r>
              <a:rPr lang="en-US" sz="3000" dirty="0" smtClean="0">
                <a:latin typeface="Arial Narrow" pitchFamily="34" charset="0"/>
              </a:rPr>
              <a:t>The </a:t>
            </a:r>
            <a:r>
              <a:rPr lang="en-US" sz="3000" dirty="0">
                <a:latin typeface="Arial Narrow" pitchFamily="34" charset="0"/>
              </a:rPr>
              <a:t>responses that you reinforce on </a:t>
            </a:r>
            <a:r>
              <a:rPr lang="en-US" sz="3000" dirty="0" smtClean="0">
                <a:latin typeface="Arial Narrow" pitchFamily="34" charset="0"/>
              </a:rPr>
              <a:t>the way </a:t>
            </a:r>
            <a:r>
              <a:rPr lang="en-US" sz="3000" dirty="0">
                <a:latin typeface="Arial Narrow" pitchFamily="34" charset="0"/>
              </a:rPr>
              <a:t>to the final one are called successive approximations.</a:t>
            </a:r>
            <a:r>
              <a:rPr lang="en-US" sz="30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dirty="0" smtClean="0"/>
              <a:t>…</a:t>
            </a:r>
            <a:endParaRPr lang="en-US" dirty="0"/>
          </a:p>
        </p:txBody>
      </p:sp>
      <p:pic>
        <p:nvPicPr>
          <p:cNvPr id="4" name="Picture 11" descr="C:\Users\User\AppData\Local\Microsoft\Windows\Temporary Internet Files\t046260a.bmp"/>
          <p:cNvPicPr>
            <a:picLocks noGrp="1" noChangeAspect="1" noChangeArrowheads="1"/>
          </p:cNvPicPr>
          <p:nvPr>
            <p:ph idx="1"/>
          </p:nvPr>
        </p:nvPicPr>
        <p:blipFill>
          <a:blip r:embed="rId2"/>
          <a:srcRect b="3529"/>
          <a:stretch>
            <a:fillRect/>
          </a:stretch>
        </p:blipFill>
        <p:spPr bwMode="auto">
          <a:xfrm>
            <a:off x="914400" y="1066800"/>
            <a:ext cx="7315200" cy="3733800"/>
          </a:xfrm>
          <a:prstGeom prst="rect">
            <a:avLst/>
          </a:prstGeom>
          <a:noFill/>
          <a:ln w="9525">
            <a:noFill/>
            <a:miter lim="800000"/>
            <a:headEnd/>
            <a:tailEnd/>
          </a:ln>
        </p:spPr>
      </p:pic>
      <p:sp>
        <p:nvSpPr>
          <p:cNvPr id="5" name="Rectangle 4"/>
          <p:cNvSpPr/>
          <p:nvPr/>
        </p:nvSpPr>
        <p:spPr>
          <a:xfrm>
            <a:off x="457200" y="4953000"/>
            <a:ext cx="8458200" cy="830997"/>
          </a:xfrm>
          <a:prstGeom prst="rect">
            <a:avLst/>
          </a:prstGeom>
        </p:spPr>
        <p:txBody>
          <a:bodyPr wrap="square">
            <a:spAutoFit/>
          </a:bodyPr>
          <a:lstStyle/>
          <a:p>
            <a:r>
              <a:rPr lang="en-US" sz="2400" dirty="0" smtClean="0">
                <a:latin typeface="Arial Narrow" pitchFamily="34" charset="0"/>
              </a:rPr>
              <a:t>Skinner’s  process of  Successive approximation and Shaping behavior  by means of reinforcement and punishment.</a:t>
            </a:r>
            <a:endParaRPr lang="en-US" sz="2400" dirty="0">
              <a:latin typeface="Arial Narrow"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792162"/>
          </a:xfrm>
        </p:spPr>
        <p:txBody>
          <a:bodyPr>
            <a:normAutofit/>
          </a:bodyPr>
          <a:lstStyle/>
          <a:p>
            <a:r>
              <a:rPr lang="en-US" sz="3600" b="1" dirty="0">
                <a:latin typeface="Arial Narrow" pitchFamily="34" charset="0"/>
              </a:rPr>
              <a:t>Application of the </a:t>
            </a:r>
            <a:r>
              <a:rPr lang="en-US" sz="3600" b="1" dirty="0" smtClean="0">
                <a:latin typeface="Arial Narrow" pitchFamily="34" charset="0"/>
              </a:rPr>
              <a:t>behavioral learning theories</a:t>
            </a:r>
            <a:endParaRPr lang="en-US" dirty="0"/>
          </a:p>
        </p:txBody>
      </p:sp>
      <p:sp>
        <p:nvSpPr>
          <p:cNvPr id="3" name="Content Placeholder 2"/>
          <p:cNvSpPr>
            <a:spLocks noGrp="1"/>
          </p:cNvSpPr>
          <p:nvPr>
            <p:ph idx="1"/>
          </p:nvPr>
        </p:nvSpPr>
        <p:spPr>
          <a:xfrm>
            <a:off x="228600" y="990600"/>
            <a:ext cx="8686800" cy="5638800"/>
          </a:xfrm>
        </p:spPr>
        <p:txBody>
          <a:bodyPr>
            <a:normAutofit/>
          </a:bodyPr>
          <a:lstStyle/>
          <a:p>
            <a:r>
              <a:rPr lang="en-US" sz="2800" i="1" dirty="0">
                <a:latin typeface="Arial Narrow" pitchFamily="34" charset="0"/>
              </a:rPr>
              <a:t>Conditioning study behavior</a:t>
            </a:r>
            <a:r>
              <a:rPr lang="en-US" sz="2800" dirty="0" smtClean="0">
                <a:latin typeface="Arial Narrow" pitchFamily="34" charset="0"/>
              </a:rPr>
              <a:t> </a:t>
            </a:r>
          </a:p>
          <a:p>
            <a:r>
              <a:rPr lang="en-US" sz="2800" i="1" dirty="0" smtClean="0">
                <a:latin typeface="Arial Narrow" pitchFamily="34" charset="0"/>
              </a:rPr>
              <a:t> </a:t>
            </a:r>
            <a:r>
              <a:rPr lang="en-US" sz="2800" i="1" dirty="0">
                <a:latin typeface="Arial Narrow" pitchFamily="34" charset="0"/>
              </a:rPr>
              <a:t>Conditioning and classroom </a:t>
            </a:r>
            <a:r>
              <a:rPr lang="en-US" sz="2800" i="1" dirty="0" smtClean="0">
                <a:latin typeface="Arial Narrow" pitchFamily="34" charset="0"/>
              </a:rPr>
              <a:t>behavior</a:t>
            </a:r>
          </a:p>
          <a:p>
            <a:r>
              <a:rPr lang="en-US" sz="2800" i="1" dirty="0" smtClean="0">
                <a:latin typeface="Arial Narrow" pitchFamily="34" charset="0"/>
              </a:rPr>
              <a:t>Managing </a:t>
            </a:r>
            <a:r>
              <a:rPr lang="en-US" sz="2800" i="1" dirty="0">
                <a:latin typeface="Arial Narrow" pitchFamily="34" charset="0"/>
              </a:rPr>
              <a:t>Problem Behavior</a:t>
            </a:r>
            <a:r>
              <a:rPr lang="en-US" sz="2800" dirty="0" smtClean="0">
                <a:latin typeface="Arial Narrow" pitchFamily="34" charset="0"/>
              </a:rPr>
              <a:t> </a:t>
            </a:r>
          </a:p>
          <a:p>
            <a:r>
              <a:rPr lang="en-US" sz="2800" i="1" dirty="0" smtClean="0">
                <a:latin typeface="Arial Narrow" pitchFamily="34" charset="0"/>
              </a:rPr>
              <a:t>Dealing </a:t>
            </a:r>
            <a:r>
              <a:rPr lang="en-US" sz="2800" i="1" dirty="0">
                <a:latin typeface="Arial Narrow" pitchFamily="34" charset="0"/>
              </a:rPr>
              <a:t>with anxieties through </a:t>
            </a:r>
            <a:r>
              <a:rPr lang="en-US" sz="2800" i="1" dirty="0" smtClean="0">
                <a:latin typeface="Arial Narrow" pitchFamily="34" charset="0"/>
              </a:rPr>
              <a:t>conditioning</a:t>
            </a:r>
          </a:p>
          <a:p>
            <a:r>
              <a:rPr lang="en-US" sz="2800" i="1" dirty="0" smtClean="0">
                <a:latin typeface="Arial Narrow" pitchFamily="34" charset="0"/>
              </a:rPr>
              <a:t>Conditioning </a:t>
            </a:r>
            <a:r>
              <a:rPr lang="en-US" sz="2800" i="1" dirty="0">
                <a:latin typeface="Arial Narrow" pitchFamily="34" charset="0"/>
              </a:rPr>
              <a:t>group behavior</a:t>
            </a:r>
            <a:r>
              <a:rPr lang="en-US" sz="2800" dirty="0" smtClean="0">
                <a:latin typeface="Arial Narrow" pitchFamily="34" charset="0"/>
              </a:rPr>
              <a:t> </a:t>
            </a:r>
          </a:p>
          <a:p>
            <a:r>
              <a:rPr lang="en-US" sz="2800" i="1" dirty="0" smtClean="0">
                <a:latin typeface="Arial Narrow" pitchFamily="34" charset="0"/>
              </a:rPr>
              <a:t>Conditioning </a:t>
            </a:r>
            <a:r>
              <a:rPr lang="en-US" sz="2800" i="1" dirty="0">
                <a:latin typeface="Arial Narrow" pitchFamily="34" charset="0"/>
              </a:rPr>
              <a:t>and Cognitive </a:t>
            </a:r>
            <a:r>
              <a:rPr lang="en-US" sz="2800" i="1" dirty="0" smtClean="0">
                <a:latin typeface="Arial Narrow" pitchFamily="34" charset="0"/>
              </a:rPr>
              <a:t>Processes</a:t>
            </a:r>
          </a:p>
          <a:p>
            <a:r>
              <a:rPr lang="en-US" sz="2800" i="1" dirty="0" smtClean="0">
                <a:latin typeface="Arial Narrow" pitchFamily="34" charset="0"/>
              </a:rPr>
              <a:t>Shaping </a:t>
            </a:r>
            <a:r>
              <a:rPr lang="en-US" sz="2800" i="1" dirty="0">
                <a:latin typeface="Arial Narrow" pitchFamily="34" charset="0"/>
              </a:rPr>
              <a:t>Complex Behavior</a:t>
            </a:r>
            <a:r>
              <a:rPr lang="en-US" sz="2800" dirty="0" smtClean="0">
                <a:latin typeface="Arial Narrow" pitchFamily="34" charset="0"/>
              </a:rPr>
              <a:t> </a:t>
            </a:r>
            <a:r>
              <a:rPr lang="en-US" dirty="0" smtClean="0"/>
              <a:t/>
            </a:r>
            <a:br>
              <a:rPr lang="en-US" dirty="0" smtClean="0"/>
            </a:b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839200" cy="609600"/>
          </a:xfrm>
        </p:spPr>
        <p:txBody>
          <a:bodyPr>
            <a:normAutofit fontScale="90000"/>
          </a:bodyPr>
          <a:lstStyle/>
          <a:p>
            <a:r>
              <a:rPr lang="en-US" sz="3600" b="1" dirty="0" smtClean="0"/>
              <a:t>2. Social </a:t>
            </a:r>
            <a:r>
              <a:rPr lang="en-US" sz="3600" b="1" dirty="0"/>
              <a:t>Learning Theory </a:t>
            </a:r>
            <a:r>
              <a:rPr lang="en-US" sz="3600" b="1" dirty="0" smtClean="0"/>
              <a:t>(Observational learning)</a:t>
            </a:r>
            <a:r>
              <a:rPr lang="en-US" dirty="0" smtClean="0"/>
              <a:t> </a:t>
            </a:r>
            <a:endParaRPr lang="en-US" dirty="0"/>
          </a:p>
        </p:txBody>
      </p:sp>
      <p:sp>
        <p:nvSpPr>
          <p:cNvPr id="3" name="Content Placeholder 2"/>
          <p:cNvSpPr>
            <a:spLocks noGrp="1"/>
          </p:cNvSpPr>
          <p:nvPr>
            <p:ph idx="1"/>
          </p:nvPr>
        </p:nvSpPr>
        <p:spPr>
          <a:xfrm>
            <a:off x="304800" y="838200"/>
            <a:ext cx="8839200" cy="5867400"/>
          </a:xfrm>
        </p:spPr>
        <p:txBody>
          <a:bodyPr>
            <a:normAutofit fontScale="25000" lnSpcReduction="20000"/>
          </a:bodyPr>
          <a:lstStyle/>
          <a:p>
            <a:pPr>
              <a:lnSpc>
                <a:spcPct val="120000"/>
              </a:lnSpc>
              <a:spcBef>
                <a:spcPts val="0"/>
              </a:spcBef>
              <a:spcAft>
                <a:spcPts val="600"/>
              </a:spcAft>
            </a:pPr>
            <a:r>
              <a:rPr lang="en-US" sz="11200" dirty="0">
                <a:latin typeface="Arial Narrow" pitchFamily="34" charset="0"/>
              </a:rPr>
              <a:t>According to </a:t>
            </a:r>
            <a:r>
              <a:rPr lang="en-US" sz="11200" dirty="0" err="1" smtClean="0">
                <a:latin typeface="Arial Narrow" pitchFamily="34" charset="0"/>
              </a:rPr>
              <a:t>Bandura</a:t>
            </a:r>
            <a:r>
              <a:rPr lang="en-US" sz="11200" dirty="0">
                <a:latin typeface="Arial Narrow" pitchFamily="34" charset="0"/>
              </a:rPr>
              <a:t>, </a:t>
            </a:r>
            <a:r>
              <a:rPr lang="en-US" sz="11200" dirty="0" smtClean="0">
                <a:latin typeface="Arial Narrow" pitchFamily="34" charset="0"/>
              </a:rPr>
              <a:t>human </a:t>
            </a:r>
            <a:r>
              <a:rPr lang="en-US" sz="11200" dirty="0">
                <a:latin typeface="Arial Narrow" pitchFamily="34" charset="0"/>
              </a:rPr>
              <a:t>learning consists </a:t>
            </a:r>
            <a:r>
              <a:rPr lang="en-US" sz="11200" dirty="0" smtClean="0">
                <a:latin typeface="Arial Narrow" pitchFamily="34" charset="0"/>
              </a:rPr>
              <a:t>of observational </a:t>
            </a:r>
            <a:r>
              <a:rPr lang="en-US" sz="11200" dirty="0">
                <a:latin typeface="Arial Narrow" pitchFamily="34" charset="0"/>
              </a:rPr>
              <a:t>learning, which is learning by watching the behavior of another person, </a:t>
            </a:r>
            <a:r>
              <a:rPr lang="en-US" sz="11200" dirty="0" smtClean="0">
                <a:latin typeface="Arial Narrow" pitchFamily="34" charset="0"/>
              </a:rPr>
              <a:t>or </a:t>
            </a:r>
            <a:r>
              <a:rPr lang="en-US" sz="11200" i="1" dirty="0" smtClean="0">
                <a:latin typeface="Arial Narrow" pitchFamily="34" charset="0"/>
              </a:rPr>
              <a:t>model</a:t>
            </a:r>
            <a:r>
              <a:rPr lang="en-US" sz="11200" dirty="0">
                <a:latin typeface="Arial Narrow" pitchFamily="34" charset="0"/>
              </a:rPr>
              <a:t>. </a:t>
            </a:r>
            <a:r>
              <a:rPr lang="en-US" sz="11200" dirty="0" smtClean="0">
                <a:latin typeface="Arial Narrow" pitchFamily="34" charset="0"/>
              </a:rPr>
              <a:t>It is also called a </a:t>
            </a:r>
            <a:r>
              <a:rPr lang="en-US" sz="11200" i="1" dirty="0">
                <a:latin typeface="Arial Narrow" pitchFamily="34" charset="0"/>
              </a:rPr>
              <a:t>social </a:t>
            </a:r>
            <a:r>
              <a:rPr lang="en-US" sz="11200" i="1" dirty="0" smtClean="0">
                <a:latin typeface="Arial Narrow" pitchFamily="34" charset="0"/>
              </a:rPr>
              <a:t>cognitive</a:t>
            </a:r>
            <a:r>
              <a:rPr lang="en-US" sz="11200" dirty="0" smtClean="0">
                <a:latin typeface="Arial Narrow" pitchFamily="34" charset="0"/>
              </a:rPr>
              <a:t> learning.</a:t>
            </a:r>
            <a:endParaRPr lang="en-US" sz="11200" dirty="0">
              <a:latin typeface="Arial Narrow" pitchFamily="34" charset="0"/>
            </a:endParaRPr>
          </a:p>
          <a:p>
            <a:pPr>
              <a:lnSpc>
                <a:spcPct val="120000"/>
              </a:lnSpc>
              <a:spcBef>
                <a:spcPts val="0"/>
              </a:spcBef>
              <a:spcAft>
                <a:spcPts val="600"/>
              </a:spcAft>
              <a:buNone/>
            </a:pPr>
            <a:r>
              <a:rPr lang="en-US" sz="11200" dirty="0" err="1" smtClean="0">
                <a:latin typeface="Arial Narrow" pitchFamily="34" charset="0"/>
              </a:rPr>
              <a:t>Bandura</a:t>
            </a:r>
            <a:r>
              <a:rPr lang="en-US" sz="11200" dirty="0" smtClean="0">
                <a:latin typeface="Arial Narrow" pitchFamily="34" charset="0"/>
              </a:rPr>
              <a:t> </a:t>
            </a:r>
            <a:r>
              <a:rPr lang="en-US" sz="11200" dirty="0">
                <a:latin typeface="Arial Narrow" pitchFamily="34" charset="0"/>
              </a:rPr>
              <a:t>identifies three forms of reinforcement that can encourage observational learning</a:t>
            </a:r>
            <a:r>
              <a:rPr lang="en-US" sz="11200" dirty="0" smtClean="0">
                <a:latin typeface="Arial Narrow" pitchFamily="34" charset="0"/>
              </a:rPr>
              <a:t>. First</a:t>
            </a:r>
            <a:r>
              <a:rPr lang="en-US" sz="11200" dirty="0">
                <a:latin typeface="Arial Narrow" pitchFamily="34" charset="0"/>
              </a:rPr>
              <a:t>, </a:t>
            </a:r>
            <a:r>
              <a:rPr lang="en-US" sz="11200" dirty="0" smtClean="0">
                <a:latin typeface="Arial Narrow" pitchFamily="34" charset="0"/>
              </a:rPr>
              <a:t>the </a:t>
            </a:r>
            <a:r>
              <a:rPr lang="en-US" sz="11200" dirty="0">
                <a:latin typeface="Arial Narrow" pitchFamily="34" charset="0"/>
              </a:rPr>
              <a:t>observer may reproduce the behaviors of the model and receive </a:t>
            </a:r>
            <a:r>
              <a:rPr lang="en-US" sz="11200" i="1" dirty="0" smtClean="0">
                <a:latin typeface="Arial Narrow" pitchFamily="34" charset="0"/>
              </a:rPr>
              <a:t>direct reinforcement</a:t>
            </a:r>
            <a:r>
              <a:rPr lang="en-US" sz="11200" dirty="0" smtClean="0">
                <a:latin typeface="Arial Narrow" pitchFamily="34" charset="0"/>
              </a:rPr>
              <a:t>.</a:t>
            </a:r>
          </a:p>
          <a:p>
            <a:pPr>
              <a:lnSpc>
                <a:spcPct val="120000"/>
              </a:lnSpc>
              <a:spcBef>
                <a:spcPts val="0"/>
              </a:spcBef>
              <a:spcAft>
                <a:spcPts val="600"/>
              </a:spcAft>
            </a:pPr>
            <a:r>
              <a:rPr lang="en-US" sz="11200" dirty="0" smtClean="0">
                <a:latin typeface="Arial Narrow" pitchFamily="34" charset="0"/>
              </a:rPr>
              <a:t>Second, the </a:t>
            </a:r>
            <a:r>
              <a:rPr lang="en-US" sz="11200" dirty="0">
                <a:latin typeface="Arial Narrow" pitchFamily="34" charset="0"/>
              </a:rPr>
              <a:t>reinforcement need not be direct - it may be </a:t>
            </a:r>
            <a:r>
              <a:rPr lang="en-US" sz="11200" i="1" dirty="0">
                <a:latin typeface="Arial Narrow" pitchFamily="34" charset="0"/>
              </a:rPr>
              <a:t>vicarious reinforcement </a:t>
            </a:r>
            <a:r>
              <a:rPr lang="en-US" sz="11200" dirty="0" smtClean="0">
                <a:latin typeface="Arial Narrow" pitchFamily="34" charset="0"/>
              </a:rPr>
              <a:t>as well</a:t>
            </a:r>
            <a:r>
              <a:rPr lang="en-US" sz="11200" dirty="0">
                <a:latin typeface="Arial Narrow" pitchFamily="34" charset="0"/>
              </a:rPr>
              <a:t>. </a:t>
            </a:r>
            <a:r>
              <a:rPr lang="en-US" sz="11200" dirty="0" smtClean="0">
                <a:latin typeface="Arial Narrow" pitchFamily="34" charset="0"/>
              </a:rPr>
              <a:t>The </a:t>
            </a:r>
            <a:r>
              <a:rPr lang="en-US" sz="11200" dirty="0">
                <a:latin typeface="Arial Narrow" pitchFamily="34" charset="0"/>
              </a:rPr>
              <a:t>observer may </a:t>
            </a:r>
            <a:r>
              <a:rPr lang="en-US" sz="11200" dirty="0" smtClean="0">
                <a:latin typeface="Arial Narrow" pitchFamily="34" charset="0"/>
              </a:rPr>
              <a:t>see </a:t>
            </a:r>
            <a:r>
              <a:rPr lang="en-US" sz="11200" dirty="0">
                <a:latin typeface="Arial Narrow" pitchFamily="34" charset="0"/>
              </a:rPr>
              <a:t>others reinforced for a </a:t>
            </a:r>
            <a:r>
              <a:rPr lang="en-US" sz="11200" dirty="0" smtClean="0">
                <a:latin typeface="Arial Narrow" pitchFamily="34" charset="0"/>
              </a:rPr>
              <a:t>particular behavior and </a:t>
            </a:r>
            <a:r>
              <a:rPr lang="en-US" sz="11200" dirty="0">
                <a:latin typeface="Arial Narrow" pitchFamily="34" charset="0"/>
              </a:rPr>
              <a:t>increase </a:t>
            </a:r>
            <a:r>
              <a:rPr lang="en-US" sz="11200" dirty="0" smtClean="0">
                <a:latin typeface="Arial Narrow" pitchFamily="34" charset="0"/>
              </a:rPr>
              <a:t>his production.</a:t>
            </a:r>
          </a:p>
          <a:p>
            <a:pPr>
              <a:lnSpc>
                <a:spcPct val="120000"/>
              </a:lnSpc>
              <a:spcBef>
                <a:spcPts val="0"/>
              </a:spcBef>
              <a:spcAft>
                <a:spcPts val="600"/>
              </a:spcAft>
            </a:pPr>
            <a:r>
              <a:rPr lang="en-US" sz="11200" dirty="0" smtClean="0">
                <a:latin typeface="Arial Narrow" pitchFamily="34" charset="0"/>
              </a:rPr>
              <a:t>The </a:t>
            </a:r>
            <a:r>
              <a:rPr lang="en-US" sz="11200" dirty="0">
                <a:latin typeface="Arial Narrow" pitchFamily="34" charset="0"/>
              </a:rPr>
              <a:t>final </a:t>
            </a:r>
            <a:r>
              <a:rPr lang="en-US" sz="11200" dirty="0" smtClean="0">
                <a:latin typeface="Arial Narrow" pitchFamily="34" charset="0"/>
              </a:rPr>
              <a:t>form of reinforcement </a:t>
            </a:r>
            <a:r>
              <a:rPr lang="en-US" sz="11200" dirty="0">
                <a:latin typeface="Arial Narrow" pitchFamily="34" charset="0"/>
              </a:rPr>
              <a:t>is </a:t>
            </a:r>
            <a:r>
              <a:rPr lang="en-US" sz="11200" i="1" dirty="0">
                <a:latin typeface="Arial Narrow" pitchFamily="34" charset="0"/>
              </a:rPr>
              <a:t>self-reinforcement</a:t>
            </a:r>
            <a:r>
              <a:rPr lang="en-US" sz="11200" dirty="0">
                <a:latin typeface="Arial Narrow" pitchFamily="34" charset="0"/>
              </a:rPr>
              <a:t>, or controlling your </a:t>
            </a:r>
            <a:r>
              <a:rPr lang="en-US" sz="11200" dirty="0" err="1">
                <a:latin typeface="Arial Narrow" pitchFamily="34" charset="0"/>
              </a:rPr>
              <a:t>reinforcers</a:t>
            </a:r>
            <a:r>
              <a:rPr lang="en-US" sz="11200" dirty="0">
                <a:latin typeface="Arial Narrow" pitchFamily="34" charset="0"/>
              </a:rPr>
              <a:t>. </a:t>
            </a:r>
            <a:r>
              <a:rPr lang="en-US" sz="11200" dirty="0" smtClean="0">
                <a:latin typeface="Arial Narrow" pitchFamily="34" charset="0"/>
              </a:rPr>
              <a:t>In this </a:t>
            </a:r>
            <a:r>
              <a:rPr lang="en-US" sz="11200" dirty="0">
                <a:latin typeface="Arial Narrow" pitchFamily="34" charset="0"/>
              </a:rPr>
              <a:t>sort </a:t>
            </a:r>
            <a:r>
              <a:rPr lang="en-US" sz="11200" dirty="0" smtClean="0">
                <a:latin typeface="Arial Narrow" pitchFamily="34" charset="0"/>
              </a:rPr>
              <a:t>of reinforcement the learner does not get </a:t>
            </a:r>
            <a:r>
              <a:rPr lang="en-US" sz="11200" dirty="0">
                <a:latin typeface="Arial Narrow" pitchFamily="34" charset="0"/>
              </a:rPr>
              <a:t>external rewards but </a:t>
            </a:r>
            <a:r>
              <a:rPr lang="en-US" sz="11200" dirty="0" smtClean="0">
                <a:latin typeface="Arial Narrow" pitchFamily="34" charset="0"/>
              </a:rPr>
              <a:t>the </a:t>
            </a:r>
            <a:r>
              <a:rPr lang="en-US" sz="11200" dirty="0">
                <a:latin typeface="Arial Narrow" pitchFamily="34" charset="0"/>
              </a:rPr>
              <a:t>students value and enjoy </a:t>
            </a:r>
            <a:r>
              <a:rPr lang="en-US" sz="11200" dirty="0" smtClean="0">
                <a:latin typeface="Arial Narrow" pitchFamily="34" charset="0"/>
              </a:rPr>
              <a:t>their growing </a:t>
            </a:r>
            <a:r>
              <a:rPr lang="en-US" sz="11200" dirty="0">
                <a:latin typeface="Arial Narrow" pitchFamily="34" charset="0"/>
              </a:rPr>
              <a:t>competence</a:t>
            </a:r>
            <a:r>
              <a:rPr lang="en-US" sz="2800" dirty="0">
                <a:latin typeface="Arial Narrow" pitchFamily="34" charset="0"/>
              </a:rPr>
              <a:t>.</a:t>
            </a:r>
            <a:r>
              <a:rPr lang="en-US" sz="2800" dirty="0" smtClean="0">
                <a:latin typeface="Arial Narrow" pitchFamily="34" charset="0"/>
              </a:rPr>
              <a:t> </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143000"/>
          </a:xfrm>
        </p:spPr>
        <p:txBody>
          <a:bodyPr/>
          <a:lstStyle/>
          <a:p>
            <a:r>
              <a:rPr lang="en-US" dirty="0" err="1" smtClean="0"/>
              <a:t>Bandura’s</a:t>
            </a:r>
            <a:r>
              <a:rPr lang="en-US" dirty="0" smtClean="0"/>
              <a:t> </a:t>
            </a:r>
            <a:r>
              <a:rPr lang="en-US" dirty="0" err="1" smtClean="0"/>
              <a:t>Bobo</a:t>
            </a:r>
            <a:r>
              <a:rPr lang="en-US" dirty="0" smtClean="0"/>
              <a:t> Doll Experiment </a:t>
            </a:r>
            <a:endParaRPr lang="en-US" dirty="0"/>
          </a:p>
        </p:txBody>
      </p:sp>
      <p:pic>
        <p:nvPicPr>
          <p:cNvPr id="49155" name="Picture 3"/>
          <p:cNvPicPr>
            <a:picLocks noGrp="1" noChangeAspect="1" noChangeArrowheads="1"/>
          </p:cNvPicPr>
          <p:nvPr>
            <p:ph idx="1"/>
          </p:nvPr>
        </p:nvPicPr>
        <p:blipFill>
          <a:blip r:embed="rId2"/>
          <a:srcRect/>
          <a:stretch>
            <a:fillRect/>
          </a:stretch>
        </p:blipFill>
        <p:spPr bwMode="auto">
          <a:xfrm>
            <a:off x="685800" y="1676400"/>
            <a:ext cx="6629400" cy="43434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3200" dirty="0" err="1" smtClean="0">
                <a:latin typeface="Arial Narrow" pitchFamily="34" charset="0"/>
              </a:rPr>
              <a:t>Bandura’s</a:t>
            </a:r>
            <a:r>
              <a:rPr lang="en-US" sz="3200" dirty="0" smtClean="0">
                <a:latin typeface="Arial Narrow" pitchFamily="34" charset="0"/>
              </a:rPr>
              <a:t> Social Cognitive Theory of Learning</a:t>
            </a:r>
            <a:endParaRPr lang="en-US" sz="3200" dirty="0">
              <a:latin typeface="Arial Narrow" pitchFamily="34" charset="0"/>
            </a:endParaRPr>
          </a:p>
        </p:txBody>
      </p:sp>
      <p:pic>
        <p:nvPicPr>
          <p:cNvPr id="50178" name="Picture 2" descr="á¨bandura's social learning theory ááµá áá¤áµ"/>
          <p:cNvPicPr>
            <a:picLocks noGrp="1" noChangeAspect="1" noChangeArrowheads="1"/>
          </p:cNvPicPr>
          <p:nvPr>
            <p:ph idx="1"/>
          </p:nvPr>
        </p:nvPicPr>
        <p:blipFill>
          <a:blip r:embed="rId2"/>
          <a:srcRect/>
          <a:stretch>
            <a:fillRect/>
          </a:stretch>
        </p:blipFill>
        <p:spPr bwMode="auto">
          <a:xfrm>
            <a:off x="990600" y="1143000"/>
            <a:ext cx="6934200" cy="4800600"/>
          </a:xfrm>
          <a:prstGeom prst="rect">
            <a:avLst/>
          </a:prstGeom>
          <a:noFill/>
        </p:spPr>
      </p:pic>
      <p:pic>
        <p:nvPicPr>
          <p:cNvPr id="4" name="Content Placeholder 3"/>
          <p:cNvPicPr>
            <a:picLocks/>
          </p:cNvPicPr>
          <p:nvPr/>
        </p:nvPicPr>
        <p:blipFill>
          <a:blip r:embed="rId3" cstate="print"/>
          <a:srcRect/>
          <a:stretch>
            <a:fillRect/>
          </a:stretch>
        </p:blipFill>
        <p:spPr bwMode="auto">
          <a:xfrm>
            <a:off x="152400" y="914400"/>
            <a:ext cx="8839200" cy="5867400"/>
          </a:xfrm>
          <a:prstGeom prst="rect">
            <a:avLst/>
          </a:prstGeom>
          <a:noFill/>
          <a:ln w="9525">
            <a:noFill/>
            <a:miter lim="800000"/>
            <a:headEnd/>
            <a:tailEnd/>
          </a:ln>
        </p:spPr>
      </p:pic>
      <p:sp>
        <p:nvSpPr>
          <p:cNvPr id="5" name="TextBox 4"/>
          <p:cNvSpPr txBox="1"/>
          <p:nvPr/>
        </p:nvSpPr>
        <p:spPr>
          <a:xfrm>
            <a:off x="3505200" y="4343400"/>
            <a:ext cx="386644" cy="523220"/>
          </a:xfrm>
          <a:prstGeom prst="rect">
            <a:avLst/>
          </a:prstGeom>
          <a:solidFill>
            <a:srgbClr val="92D050"/>
          </a:solidFill>
        </p:spPr>
        <p:txBody>
          <a:bodyPr wrap="none" rtlCol="0">
            <a:spAutoFit/>
          </a:bodyPr>
          <a:lstStyle/>
          <a:p>
            <a:r>
              <a:rPr lang="en-US" sz="2800" b="1" dirty="0" smtClean="0">
                <a:solidFill>
                  <a:schemeClr val="bg1"/>
                </a:solidFill>
              </a:rPr>
              <a:t>B</a:t>
            </a:r>
            <a:endParaRPr lang="en-US" sz="2800" b="1" dirty="0">
              <a:solidFill>
                <a:schemeClr val="bg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381000"/>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914400"/>
            <a:ext cx="8686800" cy="5791200"/>
          </a:xfrm>
        </p:spPr>
        <p:txBody>
          <a:bodyPr>
            <a:normAutofit/>
          </a:bodyPr>
          <a:lstStyle/>
          <a:p>
            <a:r>
              <a:rPr lang="en-US" sz="2800" dirty="0">
                <a:latin typeface="Arial Narrow" pitchFamily="34" charset="0"/>
              </a:rPr>
              <a:t>S</a:t>
            </a:r>
            <a:r>
              <a:rPr lang="en-US" sz="2800" dirty="0" smtClean="0">
                <a:latin typeface="Arial Narrow" pitchFamily="34" charset="0"/>
              </a:rPr>
              <a:t>ocial </a:t>
            </a:r>
            <a:r>
              <a:rPr lang="en-US" sz="2800" dirty="0">
                <a:latin typeface="Arial Narrow" pitchFamily="34" charset="0"/>
              </a:rPr>
              <a:t>cognitive theorists believe that in human beings, observational learning cannot be</a:t>
            </a:r>
            <a:br>
              <a:rPr lang="en-US" sz="2800" dirty="0">
                <a:latin typeface="Arial Narrow" pitchFamily="34" charset="0"/>
              </a:rPr>
            </a:br>
            <a:r>
              <a:rPr lang="en-US" sz="2800" dirty="0">
                <a:latin typeface="Arial Narrow" pitchFamily="34" charset="0"/>
              </a:rPr>
              <a:t>fully understood without taking into account the thought processes of the learner</a:t>
            </a:r>
            <a:r>
              <a:rPr lang="en-US" sz="2800" dirty="0" smtClean="0">
                <a:latin typeface="Arial Narrow" pitchFamily="34" charset="0"/>
              </a:rPr>
              <a:t>. </a:t>
            </a:r>
          </a:p>
          <a:p>
            <a:r>
              <a:rPr lang="en-US" sz="2800" dirty="0" err="1" smtClean="0">
                <a:latin typeface="Arial Narrow" pitchFamily="34" charset="0"/>
              </a:rPr>
              <a:t>Bandura</a:t>
            </a:r>
            <a:r>
              <a:rPr lang="en-US" sz="2800" dirty="0" smtClean="0">
                <a:latin typeface="Arial Narrow" pitchFamily="34" charset="0"/>
              </a:rPr>
              <a:t> </a:t>
            </a:r>
            <a:r>
              <a:rPr lang="en-US" sz="2800" dirty="0">
                <a:latin typeface="Arial Narrow" pitchFamily="34" charset="0"/>
              </a:rPr>
              <a:t>mentions </a:t>
            </a:r>
            <a:r>
              <a:rPr lang="en-US" sz="2800" i="1" dirty="0">
                <a:latin typeface="Arial Narrow" pitchFamily="34" charset="0"/>
              </a:rPr>
              <a:t>four conditions </a:t>
            </a:r>
            <a:r>
              <a:rPr lang="en-US" sz="2800" dirty="0">
                <a:latin typeface="Arial Narrow" pitchFamily="34" charset="0"/>
              </a:rPr>
              <a:t>that are necessary before an individual can successfully</a:t>
            </a:r>
            <a:br>
              <a:rPr lang="en-US" sz="2800" dirty="0">
                <a:latin typeface="Arial Narrow" pitchFamily="34" charset="0"/>
              </a:rPr>
            </a:br>
            <a:r>
              <a:rPr lang="en-US" sz="2800" dirty="0">
                <a:latin typeface="Arial Narrow" pitchFamily="34" charset="0"/>
              </a:rPr>
              <a:t>model the behavior of someone else:</a:t>
            </a:r>
            <a:br>
              <a:rPr lang="en-US" sz="2800" dirty="0">
                <a:latin typeface="Arial Narrow" pitchFamily="34" charset="0"/>
              </a:rPr>
            </a:br>
            <a:r>
              <a:rPr lang="en-US" sz="2800" b="1" dirty="0">
                <a:latin typeface="Arial Narrow" pitchFamily="34" charset="0"/>
              </a:rPr>
              <a:t>1. </a:t>
            </a:r>
            <a:r>
              <a:rPr lang="en-US" sz="2800" b="1" i="1" dirty="0">
                <a:latin typeface="Arial Narrow" pitchFamily="34" charset="0"/>
              </a:rPr>
              <a:t>Attention</a:t>
            </a:r>
            <a:r>
              <a:rPr lang="en-US" sz="2800" b="1" dirty="0">
                <a:latin typeface="Arial Narrow" pitchFamily="34" charset="0"/>
              </a:rPr>
              <a:t>: </a:t>
            </a:r>
            <a:r>
              <a:rPr lang="en-US" sz="2800" dirty="0">
                <a:latin typeface="Arial Narrow" pitchFamily="34" charset="0"/>
              </a:rPr>
              <a:t>the person must first pay attention to the model.</a:t>
            </a:r>
            <a:r>
              <a:rPr lang="en-US" sz="2800" dirty="0" smtClean="0">
                <a:latin typeface="Arial Narrow" pitchFamily="34" charset="0"/>
              </a:rPr>
              <a:t> </a:t>
            </a:r>
          </a:p>
          <a:p>
            <a:pPr>
              <a:buNone/>
            </a:pPr>
            <a:r>
              <a:rPr lang="en-US" sz="2800" b="1" dirty="0" smtClean="0">
                <a:latin typeface="Arial Narrow" pitchFamily="34" charset="0"/>
              </a:rPr>
              <a:t>	2. </a:t>
            </a:r>
            <a:r>
              <a:rPr lang="en-US" sz="2800" b="1" i="1" dirty="0" smtClean="0">
                <a:latin typeface="Arial Narrow" pitchFamily="34" charset="0"/>
              </a:rPr>
              <a:t>Retention</a:t>
            </a:r>
            <a:r>
              <a:rPr lang="en-US" sz="2800" b="1" dirty="0" smtClean="0">
                <a:latin typeface="Arial Narrow" pitchFamily="34" charset="0"/>
              </a:rPr>
              <a:t>: </a:t>
            </a:r>
            <a:r>
              <a:rPr lang="en-US" sz="2800" dirty="0" smtClean="0">
                <a:latin typeface="Arial Narrow" pitchFamily="34" charset="0"/>
              </a:rPr>
              <a:t>remembering the behavior observed. </a:t>
            </a:r>
            <a:br>
              <a:rPr lang="en-US" sz="2800" dirty="0" smtClean="0">
                <a:latin typeface="Arial Narrow" pitchFamily="34" charset="0"/>
              </a:rPr>
            </a:br>
            <a:r>
              <a:rPr lang="en-US" sz="2800" b="1" dirty="0" smtClean="0">
                <a:latin typeface="Arial Narrow" pitchFamily="34" charset="0"/>
              </a:rPr>
              <a:t>3. </a:t>
            </a:r>
            <a:r>
              <a:rPr lang="en-US" sz="2800" b="1" i="1" dirty="0" smtClean="0">
                <a:latin typeface="Arial Narrow" pitchFamily="34" charset="0"/>
              </a:rPr>
              <a:t>Motor reproduction</a:t>
            </a:r>
            <a:r>
              <a:rPr lang="en-US" sz="2800" dirty="0" smtClean="0">
                <a:latin typeface="Arial Narrow" pitchFamily="34" charset="0"/>
              </a:rPr>
              <a:t>: replicating the action.</a:t>
            </a:r>
          </a:p>
          <a:p>
            <a:pPr>
              <a:buNone/>
            </a:pPr>
            <a:r>
              <a:rPr lang="en-US" sz="2800" dirty="0" smtClean="0">
                <a:latin typeface="Arial Narrow" pitchFamily="34" charset="0"/>
              </a:rPr>
              <a:t>	</a:t>
            </a:r>
            <a:r>
              <a:rPr lang="en-US" sz="2800" b="1" dirty="0" smtClean="0">
                <a:latin typeface="Arial Narrow" pitchFamily="34" charset="0"/>
              </a:rPr>
              <a:t>4. </a:t>
            </a:r>
            <a:r>
              <a:rPr lang="en-US" sz="2800" b="1" i="1" dirty="0" smtClean="0">
                <a:latin typeface="Arial Narrow" pitchFamily="34" charset="0"/>
              </a:rPr>
              <a:t>Motivation</a:t>
            </a:r>
            <a:r>
              <a:rPr lang="en-US" sz="2800" b="1" dirty="0" smtClean="0">
                <a:latin typeface="Arial Narrow" pitchFamily="34" charset="0"/>
              </a:rPr>
              <a:t>: </a:t>
            </a:r>
            <a:r>
              <a:rPr lang="en-US" sz="2800" dirty="0" smtClean="0">
                <a:latin typeface="Arial Narrow" pitchFamily="34" charset="0"/>
              </a:rPr>
              <a:t>learners need a motivating factor </a:t>
            </a:r>
            <a:r>
              <a:rPr lang="en-US" sz="2800" i="1" dirty="0" smtClean="0">
                <a:latin typeface="Arial Narrow" pitchFamily="34" charset="0"/>
              </a:rPr>
              <a:t>to   demonstrate </a:t>
            </a:r>
            <a:r>
              <a:rPr lang="en-US" sz="2800" dirty="0" smtClean="0">
                <a:latin typeface="Arial Narrow" pitchFamily="34" charset="0"/>
              </a:rPr>
              <a:t>what they have learned. </a:t>
            </a:r>
            <a:endParaRPr lang="en-US" sz="2800" dirty="0">
              <a:latin typeface="Arial Narrow"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763000" cy="685800"/>
          </a:xfrm>
        </p:spPr>
        <p:txBody>
          <a:bodyPr>
            <a:normAutofit fontScale="90000"/>
          </a:bodyPr>
          <a:lstStyle/>
          <a:p>
            <a:r>
              <a:rPr lang="en-US" b="1" dirty="0" smtClean="0"/>
              <a:t>Implications of Social Learning Theory</a:t>
            </a:r>
            <a:endParaRPr lang="en-US" dirty="0"/>
          </a:p>
        </p:txBody>
      </p:sp>
      <p:sp>
        <p:nvSpPr>
          <p:cNvPr id="3" name="Content Placeholder 2"/>
          <p:cNvSpPr>
            <a:spLocks noGrp="1"/>
          </p:cNvSpPr>
          <p:nvPr>
            <p:ph idx="1"/>
          </p:nvPr>
        </p:nvSpPr>
        <p:spPr>
          <a:xfrm>
            <a:off x="381000" y="914400"/>
            <a:ext cx="8763000" cy="5715000"/>
          </a:xfrm>
        </p:spPr>
        <p:txBody>
          <a:bodyPr>
            <a:normAutofit fontScale="25000" lnSpcReduction="20000"/>
          </a:bodyPr>
          <a:lstStyle/>
          <a:p>
            <a:pPr>
              <a:buNone/>
            </a:pPr>
            <a:r>
              <a:rPr lang="en-US" sz="11200" dirty="0" smtClean="0">
                <a:latin typeface="Arial Narrow" pitchFamily="34" charset="0"/>
              </a:rPr>
              <a:t>1. Students </a:t>
            </a:r>
            <a:r>
              <a:rPr lang="en-US" sz="11200" dirty="0">
                <a:latin typeface="Arial Narrow" pitchFamily="34" charset="0"/>
              </a:rPr>
              <a:t>often </a:t>
            </a:r>
            <a:r>
              <a:rPr lang="en-US" sz="11200" i="1" dirty="0" smtClean="0">
                <a:latin typeface="Arial Narrow" pitchFamily="34" charset="0"/>
              </a:rPr>
              <a:t>learn</a:t>
            </a:r>
            <a:r>
              <a:rPr lang="en-US" sz="11200" dirty="0" smtClean="0">
                <a:latin typeface="Arial Narrow" pitchFamily="34" charset="0"/>
              </a:rPr>
              <a:t> </a:t>
            </a:r>
            <a:r>
              <a:rPr lang="en-US" sz="11200" dirty="0">
                <a:latin typeface="Arial Narrow" pitchFamily="34" charset="0"/>
              </a:rPr>
              <a:t>simply by </a:t>
            </a:r>
            <a:r>
              <a:rPr lang="en-US" sz="11200" i="1" dirty="0">
                <a:latin typeface="Arial Narrow" pitchFamily="34" charset="0"/>
              </a:rPr>
              <a:t>observing </a:t>
            </a:r>
            <a:r>
              <a:rPr lang="en-US" sz="11200" dirty="0">
                <a:latin typeface="Arial Narrow" pitchFamily="34" charset="0"/>
              </a:rPr>
              <a:t>other </a:t>
            </a:r>
            <a:r>
              <a:rPr lang="en-US" sz="11200" dirty="0" smtClean="0">
                <a:latin typeface="Arial Narrow" pitchFamily="34" charset="0"/>
              </a:rPr>
              <a:t>people.</a:t>
            </a:r>
          </a:p>
          <a:p>
            <a:pPr>
              <a:buNone/>
            </a:pPr>
            <a:r>
              <a:rPr lang="en-US" sz="11200" dirty="0" smtClean="0">
                <a:latin typeface="Arial Narrow" pitchFamily="34" charset="0"/>
              </a:rPr>
              <a:t>2</a:t>
            </a:r>
            <a:r>
              <a:rPr lang="en-US" sz="11200" dirty="0">
                <a:latin typeface="Arial Narrow" pitchFamily="34" charset="0"/>
              </a:rPr>
              <a:t>. </a:t>
            </a:r>
            <a:r>
              <a:rPr lang="en-US" sz="11200" i="1" dirty="0">
                <a:latin typeface="Arial Narrow" pitchFamily="34" charset="0"/>
              </a:rPr>
              <a:t>Describing </a:t>
            </a:r>
            <a:r>
              <a:rPr lang="en-US" sz="11200" dirty="0">
                <a:latin typeface="Arial Narrow" pitchFamily="34" charset="0"/>
              </a:rPr>
              <a:t>the </a:t>
            </a:r>
            <a:r>
              <a:rPr lang="en-US" sz="11200" i="1" dirty="0">
                <a:latin typeface="Arial Narrow" pitchFamily="34" charset="0"/>
              </a:rPr>
              <a:t>consequences </a:t>
            </a:r>
            <a:r>
              <a:rPr lang="en-US" sz="11200" dirty="0">
                <a:latin typeface="Arial Narrow" pitchFamily="34" charset="0"/>
              </a:rPr>
              <a:t>of behavior </a:t>
            </a:r>
            <a:r>
              <a:rPr lang="en-US" sz="11200" dirty="0" smtClean="0">
                <a:latin typeface="Arial Narrow" pitchFamily="34" charset="0"/>
              </a:rPr>
              <a:t>involve </a:t>
            </a:r>
            <a:r>
              <a:rPr lang="en-US" sz="11200" dirty="0">
                <a:latin typeface="Arial Narrow" pitchFamily="34" charset="0"/>
              </a:rPr>
              <a:t>discussing with learners about the </a:t>
            </a:r>
            <a:r>
              <a:rPr lang="en-US" sz="11200" dirty="0" smtClean="0">
                <a:latin typeface="Arial Narrow" pitchFamily="34" charset="0"/>
              </a:rPr>
              <a:t>rewards and </a:t>
            </a:r>
            <a:r>
              <a:rPr lang="en-US" sz="11200" dirty="0">
                <a:latin typeface="Arial Narrow" pitchFamily="34" charset="0"/>
              </a:rPr>
              <a:t>consequences of </a:t>
            </a:r>
            <a:r>
              <a:rPr lang="en-US" sz="11200" dirty="0" smtClean="0">
                <a:latin typeface="Arial Narrow" pitchFamily="34" charset="0"/>
              </a:rPr>
              <a:t>actions</a:t>
            </a:r>
          </a:p>
          <a:p>
            <a:pPr>
              <a:buNone/>
            </a:pPr>
            <a:r>
              <a:rPr lang="en-US" sz="11200" dirty="0" smtClean="0">
                <a:latin typeface="Arial Narrow" pitchFamily="34" charset="0"/>
              </a:rPr>
              <a:t>3</a:t>
            </a:r>
            <a:r>
              <a:rPr lang="en-US" sz="11200" dirty="0">
                <a:latin typeface="Arial Narrow" pitchFamily="34" charset="0"/>
              </a:rPr>
              <a:t>. Modeling provides an </a:t>
            </a:r>
            <a:r>
              <a:rPr lang="en-US" sz="11200" i="1" dirty="0">
                <a:latin typeface="Arial Narrow" pitchFamily="34" charset="0"/>
              </a:rPr>
              <a:t>alternative to </a:t>
            </a:r>
            <a:r>
              <a:rPr lang="en-US" sz="11200" i="1" dirty="0" smtClean="0">
                <a:latin typeface="Arial Narrow" pitchFamily="34" charset="0"/>
              </a:rPr>
              <a:t>shaping.</a:t>
            </a:r>
            <a:r>
              <a:rPr lang="en-US" sz="11200" dirty="0" smtClean="0">
                <a:latin typeface="Arial Narrow" pitchFamily="34" charset="0"/>
              </a:rPr>
              <a:t> </a:t>
            </a:r>
            <a:r>
              <a:rPr lang="en-US" sz="11200" dirty="0">
                <a:latin typeface="Arial Narrow" pitchFamily="34" charset="0"/>
              </a:rPr>
              <a:t>Instead of </a:t>
            </a:r>
            <a:r>
              <a:rPr lang="en-US" sz="11200" dirty="0" smtClean="0">
                <a:latin typeface="Arial Narrow" pitchFamily="34" charset="0"/>
              </a:rPr>
              <a:t>using shaping</a:t>
            </a:r>
            <a:r>
              <a:rPr lang="en-US" sz="11200" dirty="0">
                <a:latin typeface="Arial Narrow" pitchFamily="34" charset="0"/>
              </a:rPr>
              <a:t>, </a:t>
            </a:r>
            <a:r>
              <a:rPr lang="en-US" sz="11200" dirty="0" smtClean="0">
                <a:latin typeface="Arial Narrow" pitchFamily="34" charset="0"/>
              </a:rPr>
              <a:t>it </a:t>
            </a:r>
            <a:r>
              <a:rPr lang="en-US" sz="11200" dirty="0">
                <a:latin typeface="Arial Narrow" pitchFamily="34" charset="0"/>
              </a:rPr>
              <a:t>can </a:t>
            </a:r>
            <a:r>
              <a:rPr lang="en-US" sz="11200" i="1" dirty="0">
                <a:latin typeface="Arial Narrow" pitchFamily="34" charset="0"/>
              </a:rPr>
              <a:t>provide a faster</a:t>
            </a:r>
            <a:r>
              <a:rPr lang="en-US" sz="11200" dirty="0">
                <a:latin typeface="Arial Narrow" pitchFamily="34" charset="0"/>
              </a:rPr>
              <a:t>, more </a:t>
            </a:r>
            <a:r>
              <a:rPr lang="en-US" sz="11200" i="1" dirty="0">
                <a:latin typeface="Arial Narrow" pitchFamily="34" charset="0"/>
              </a:rPr>
              <a:t>efficient </a:t>
            </a:r>
            <a:r>
              <a:rPr lang="en-US" sz="11200" dirty="0" smtClean="0">
                <a:latin typeface="Arial Narrow" pitchFamily="34" charset="0"/>
              </a:rPr>
              <a:t>means for </a:t>
            </a:r>
            <a:r>
              <a:rPr lang="en-US" sz="11200" dirty="0">
                <a:latin typeface="Arial Narrow" pitchFamily="34" charset="0"/>
              </a:rPr>
              <a:t>teaching new </a:t>
            </a:r>
            <a:r>
              <a:rPr lang="en-US" sz="11200" dirty="0" smtClean="0">
                <a:latin typeface="Arial Narrow" pitchFamily="34" charset="0"/>
              </a:rPr>
              <a:t>behavior through the four </a:t>
            </a:r>
            <a:r>
              <a:rPr lang="en-US" sz="11200" dirty="0">
                <a:latin typeface="Arial Narrow" pitchFamily="34" charset="0"/>
              </a:rPr>
              <a:t>essential </a:t>
            </a:r>
            <a:r>
              <a:rPr lang="en-US" sz="11200" dirty="0" smtClean="0">
                <a:latin typeface="Arial Narrow" pitchFamily="34" charset="0"/>
              </a:rPr>
              <a:t>conditions; </a:t>
            </a:r>
            <a:r>
              <a:rPr lang="en-US" sz="11200" dirty="0">
                <a:latin typeface="Arial Narrow" pitchFamily="34" charset="0"/>
              </a:rPr>
              <a:t>attention, retention, motor reproduction, and motivation</a:t>
            </a:r>
            <a:r>
              <a:rPr lang="en-US" sz="11200" dirty="0" smtClean="0">
                <a:latin typeface="Arial Narrow" pitchFamily="34" charset="0"/>
              </a:rPr>
              <a:t>.</a:t>
            </a:r>
          </a:p>
          <a:p>
            <a:pPr>
              <a:buNone/>
            </a:pPr>
            <a:r>
              <a:rPr lang="en-US" sz="11200" dirty="0" smtClean="0">
                <a:latin typeface="Arial Narrow" pitchFamily="34" charset="0"/>
              </a:rPr>
              <a:t>4</a:t>
            </a:r>
            <a:r>
              <a:rPr lang="en-US" sz="11200" dirty="0">
                <a:latin typeface="Arial Narrow" pitchFamily="34" charset="0"/>
              </a:rPr>
              <a:t>. Teachers and parents must </a:t>
            </a:r>
            <a:r>
              <a:rPr lang="en-US" sz="11200" i="1" dirty="0">
                <a:latin typeface="Arial Narrow" pitchFamily="34" charset="0"/>
              </a:rPr>
              <a:t>model appropriate behaviors </a:t>
            </a:r>
            <a:r>
              <a:rPr lang="en-US" sz="11200" dirty="0">
                <a:latin typeface="Arial Narrow" pitchFamily="34" charset="0"/>
              </a:rPr>
              <a:t>and take care that they do </a:t>
            </a:r>
            <a:r>
              <a:rPr lang="en-US" sz="11200" dirty="0" smtClean="0">
                <a:latin typeface="Arial Narrow" pitchFamily="34" charset="0"/>
              </a:rPr>
              <a:t>not model </a:t>
            </a:r>
            <a:r>
              <a:rPr lang="en-US" sz="11200" dirty="0">
                <a:latin typeface="Arial Narrow" pitchFamily="34" charset="0"/>
              </a:rPr>
              <a:t>inappropriate </a:t>
            </a:r>
            <a:r>
              <a:rPr lang="en-US" sz="11200" dirty="0" smtClean="0">
                <a:latin typeface="Arial Narrow" pitchFamily="34" charset="0"/>
              </a:rPr>
              <a:t>behaviors.</a:t>
            </a:r>
          </a:p>
          <a:p>
            <a:pPr>
              <a:buNone/>
            </a:pPr>
            <a:r>
              <a:rPr lang="en-US" sz="11200" dirty="0" smtClean="0">
                <a:latin typeface="Arial Narrow" pitchFamily="34" charset="0"/>
              </a:rPr>
              <a:t>5</a:t>
            </a:r>
            <a:r>
              <a:rPr lang="en-US" sz="11200" dirty="0">
                <a:latin typeface="Arial Narrow" pitchFamily="34" charset="0"/>
              </a:rPr>
              <a:t>. Teachers should </a:t>
            </a:r>
            <a:r>
              <a:rPr lang="en-US" sz="11200" i="1" dirty="0">
                <a:latin typeface="Arial Narrow" pitchFamily="34" charset="0"/>
              </a:rPr>
              <a:t>expose </a:t>
            </a:r>
            <a:r>
              <a:rPr lang="en-US" sz="11200" dirty="0">
                <a:latin typeface="Arial Narrow" pitchFamily="34" charset="0"/>
              </a:rPr>
              <a:t>students to a </a:t>
            </a:r>
            <a:r>
              <a:rPr lang="en-US" sz="11200" i="1" dirty="0">
                <a:latin typeface="Arial Narrow" pitchFamily="34" charset="0"/>
              </a:rPr>
              <a:t>variety </a:t>
            </a:r>
            <a:r>
              <a:rPr lang="en-US" sz="11200" dirty="0">
                <a:latin typeface="Arial Narrow" pitchFamily="34" charset="0"/>
              </a:rPr>
              <a:t>of other </a:t>
            </a:r>
            <a:r>
              <a:rPr lang="en-US" sz="11200" i="1" dirty="0">
                <a:latin typeface="Arial Narrow" pitchFamily="34" charset="0"/>
              </a:rPr>
              <a:t>models</a:t>
            </a:r>
            <a:r>
              <a:rPr lang="en-US" sz="11200" dirty="0" smtClean="0">
                <a:latin typeface="Arial Narrow" pitchFamily="34" charset="0"/>
              </a:rPr>
              <a:t>.</a:t>
            </a:r>
          </a:p>
          <a:p>
            <a:pPr>
              <a:buNone/>
            </a:pPr>
            <a:r>
              <a:rPr lang="en-US" sz="11200" dirty="0" smtClean="0">
                <a:latin typeface="Arial Narrow" pitchFamily="34" charset="0"/>
              </a:rPr>
              <a:t>6</a:t>
            </a:r>
            <a:r>
              <a:rPr lang="en-US" sz="11200" dirty="0">
                <a:latin typeface="Arial Narrow" pitchFamily="34" charset="0"/>
              </a:rPr>
              <a:t>. Students must </a:t>
            </a:r>
            <a:r>
              <a:rPr lang="en-US" sz="11200" dirty="0" smtClean="0">
                <a:latin typeface="Arial Narrow" pitchFamily="34" charset="0"/>
              </a:rPr>
              <a:t>develop </a:t>
            </a:r>
            <a:r>
              <a:rPr lang="en-US" sz="11200" i="1" dirty="0" smtClean="0">
                <a:latin typeface="Arial Narrow" pitchFamily="34" charset="0"/>
              </a:rPr>
              <a:t>self-efficacy to accomplish</a:t>
            </a:r>
            <a:r>
              <a:rPr lang="en-US" sz="11200" dirty="0" smtClean="0">
                <a:latin typeface="Arial Narrow" pitchFamily="34" charset="0"/>
              </a:rPr>
              <a:t> </a:t>
            </a:r>
            <a:r>
              <a:rPr lang="en-US" sz="11200" dirty="0">
                <a:latin typeface="Arial Narrow" pitchFamily="34" charset="0"/>
              </a:rPr>
              <a:t>school </a:t>
            </a:r>
            <a:r>
              <a:rPr lang="en-US" sz="11200" dirty="0" smtClean="0">
                <a:latin typeface="Arial Narrow" pitchFamily="34" charset="0"/>
              </a:rPr>
              <a:t>tasks.</a:t>
            </a:r>
          </a:p>
          <a:p>
            <a:pPr>
              <a:buNone/>
            </a:pPr>
            <a:r>
              <a:rPr lang="en-US" sz="11200" dirty="0" smtClean="0">
                <a:latin typeface="Arial Narrow" pitchFamily="34" charset="0"/>
              </a:rPr>
              <a:t>7.Teachers </a:t>
            </a:r>
            <a:r>
              <a:rPr lang="en-US" sz="11200" dirty="0">
                <a:latin typeface="Arial Narrow" pitchFamily="34" charset="0"/>
              </a:rPr>
              <a:t>should help students set </a:t>
            </a:r>
            <a:r>
              <a:rPr lang="en-US" sz="11200" i="1" dirty="0">
                <a:latin typeface="Arial Narrow" pitchFamily="34" charset="0"/>
              </a:rPr>
              <a:t>realistic expectations </a:t>
            </a:r>
            <a:r>
              <a:rPr lang="en-US" sz="11200" dirty="0">
                <a:latin typeface="Arial Narrow" pitchFamily="34" charset="0"/>
              </a:rPr>
              <a:t>for their </a:t>
            </a:r>
            <a:r>
              <a:rPr lang="en-US" sz="11200" dirty="0" smtClean="0">
                <a:latin typeface="Arial Narrow" pitchFamily="34" charset="0"/>
              </a:rPr>
              <a:t>academic accomplishments</a:t>
            </a:r>
            <a:r>
              <a:rPr lang="en-US" sz="11200" dirty="0">
                <a:latin typeface="Arial Narrow" pitchFamily="34" charset="0"/>
              </a:rPr>
              <a:t>. </a:t>
            </a:r>
            <a:endParaRPr lang="en-US" sz="11200" dirty="0" smtClean="0">
              <a:latin typeface="Arial Narrow" pitchFamily="34" charset="0"/>
            </a:endParaRPr>
          </a:p>
          <a:p>
            <a:pPr>
              <a:buNone/>
            </a:pPr>
            <a:r>
              <a:rPr lang="en-US" sz="11200" dirty="0" smtClean="0">
                <a:latin typeface="Arial Narrow" pitchFamily="34" charset="0"/>
              </a:rPr>
              <a:t>8</a:t>
            </a:r>
            <a:r>
              <a:rPr lang="en-US" sz="11200" dirty="0">
                <a:latin typeface="Arial Narrow" pitchFamily="34" charset="0"/>
              </a:rPr>
              <a:t>. Self-regulation techniques provide an effective method for improving student behavior.</a:t>
            </a:r>
            <a:r>
              <a:rPr lang="en-US" sz="11200" dirty="0" smtClean="0">
                <a:latin typeface="Arial Narrow" pitchFamily="34" charset="0"/>
              </a:rPr>
              <a:t> </a:t>
            </a:r>
            <a:r>
              <a:rPr lang="en-US" sz="7200" dirty="0" smtClean="0"/>
              <a:t/>
            </a:r>
            <a:br>
              <a:rPr lang="en-US" sz="7200" dirty="0" smtClean="0"/>
            </a:b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3. Cognitive </a:t>
            </a:r>
            <a:r>
              <a:rPr lang="en-US" b="1" dirty="0"/>
              <a:t>Learning Theory</a:t>
            </a:r>
            <a:r>
              <a:rPr lang="en-US" dirty="0" smtClean="0"/>
              <a:t> </a:t>
            </a:r>
            <a:endParaRPr lang="en-US" dirty="0"/>
          </a:p>
        </p:txBody>
      </p:sp>
      <p:sp>
        <p:nvSpPr>
          <p:cNvPr id="3" name="Content Placeholder 2"/>
          <p:cNvSpPr>
            <a:spLocks noGrp="1"/>
          </p:cNvSpPr>
          <p:nvPr>
            <p:ph idx="1"/>
          </p:nvPr>
        </p:nvSpPr>
        <p:spPr>
          <a:xfrm>
            <a:off x="228600" y="990600"/>
            <a:ext cx="8686800" cy="5638800"/>
          </a:xfrm>
        </p:spPr>
        <p:txBody>
          <a:bodyPr>
            <a:normAutofit/>
          </a:bodyPr>
          <a:lstStyle/>
          <a:p>
            <a:pPr>
              <a:defRPr/>
            </a:pPr>
            <a:r>
              <a:rPr lang="en-GB" sz="2800" dirty="0" smtClean="0"/>
              <a:t>Cognition refers to all the mental activities related with thinking, and knowing, activities which include perception and memory. </a:t>
            </a:r>
          </a:p>
          <a:p>
            <a:pPr>
              <a:defRPr/>
            </a:pPr>
            <a:r>
              <a:rPr lang="en-GB" sz="2800" dirty="0" smtClean="0"/>
              <a:t>In both CC&amp;OC, the emphasis was on observable responses. However, because the knowledge that is inside people’s head is not observable, it was not seriously considered. </a:t>
            </a:r>
          </a:p>
          <a:p>
            <a:r>
              <a:rPr lang="en-GB" sz="2800" dirty="0" smtClean="0"/>
              <a:t>The emphasis on cognitive approach to learning is on the acquisition of information through interaction; not via R-S or S-R association and the ways of dealing with information.</a:t>
            </a:r>
            <a:endParaRPr lang="en-US" sz="2800" dirty="0" smtClean="0"/>
          </a:p>
          <a:p>
            <a:pPr>
              <a:buNone/>
            </a:pPr>
            <a:endParaRPr lang="en-US" sz="2800" dirty="0">
              <a:latin typeface="Arial Narrow"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228600" y="152400"/>
            <a:ext cx="8686800" cy="762000"/>
          </a:xfrm>
        </p:spPr>
        <p:txBody>
          <a:bodyPr/>
          <a:lstStyle/>
          <a:p>
            <a:r>
              <a:rPr lang="en-US" dirty="0" smtClean="0"/>
              <a:t>.</a:t>
            </a:r>
          </a:p>
        </p:txBody>
      </p:sp>
      <p:sp>
        <p:nvSpPr>
          <p:cNvPr id="3" name="Content Placeholder 2"/>
          <p:cNvSpPr>
            <a:spLocks noGrp="1"/>
          </p:cNvSpPr>
          <p:nvPr>
            <p:ph idx="1"/>
          </p:nvPr>
        </p:nvSpPr>
        <p:spPr>
          <a:xfrm>
            <a:off x="152400" y="990600"/>
            <a:ext cx="8839200" cy="5867400"/>
          </a:xfrm>
        </p:spPr>
        <p:txBody>
          <a:bodyPr>
            <a:normAutofit fontScale="85000" lnSpcReduction="20000"/>
          </a:bodyPr>
          <a:lstStyle/>
          <a:p>
            <a:pPr>
              <a:buNone/>
            </a:pPr>
            <a:r>
              <a:rPr lang="en-US" dirty="0" smtClean="0">
                <a:latin typeface="Arial Narrow" pitchFamily="34" charset="0"/>
              </a:rPr>
              <a:t>Both classical and operant conditionings have traditionally been explained by the principle of contiguity i.e. the close association of events in time and space. </a:t>
            </a:r>
          </a:p>
          <a:p>
            <a:pPr>
              <a:buNone/>
            </a:pPr>
            <a:r>
              <a:rPr lang="en-US" dirty="0" smtClean="0">
                <a:latin typeface="Arial Narrow" pitchFamily="34" charset="0"/>
              </a:rPr>
              <a:t>Contiguity has been used to explain the association of a CS and UCS in classical conditioning and the association of a behavior and its consequences in operant conditioning.</a:t>
            </a:r>
          </a:p>
          <a:p>
            <a:pPr>
              <a:buNone/>
            </a:pPr>
            <a:r>
              <a:rPr lang="en-US" dirty="0" smtClean="0">
                <a:latin typeface="Arial Narrow" pitchFamily="34" charset="0"/>
              </a:rPr>
              <a:t>In cognitive learning, learning occurs in the mind independent of any clearly defined association/consequence. It may take two forms:</a:t>
            </a:r>
            <a:br>
              <a:rPr lang="en-US" dirty="0" smtClean="0">
                <a:latin typeface="Arial Narrow" pitchFamily="34" charset="0"/>
              </a:rPr>
            </a:br>
            <a:r>
              <a:rPr lang="en-US" dirty="0" smtClean="0">
                <a:latin typeface="Arial Narrow" pitchFamily="34" charset="0"/>
              </a:rPr>
              <a:t>1. Latent learning</a:t>
            </a:r>
            <a:br>
              <a:rPr lang="en-US" dirty="0" smtClean="0">
                <a:latin typeface="Arial Narrow" pitchFamily="34" charset="0"/>
              </a:rPr>
            </a:br>
            <a:r>
              <a:rPr lang="en-US" dirty="0" smtClean="0">
                <a:latin typeface="Arial Narrow" pitchFamily="34" charset="0"/>
              </a:rPr>
              <a:t>2. Insight learning (gestalt learning or perceptual learning)</a:t>
            </a:r>
          </a:p>
          <a:p>
            <a:pPr>
              <a:buNone/>
            </a:pPr>
            <a:r>
              <a:rPr lang="en-US" dirty="0" smtClean="0">
                <a:latin typeface="Arial Narrow" pitchFamily="34" charset="0"/>
              </a:rPr>
              <a:t>For half a century, most American learning theories held that learning could be explained by specifying the behavioral ―ABCs – </a:t>
            </a:r>
            <a:r>
              <a:rPr lang="en-US" b="1" dirty="0" smtClean="0">
                <a:latin typeface="Arial Narrow" pitchFamily="34" charset="0"/>
              </a:rPr>
              <a:t>A</a:t>
            </a:r>
            <a:r>
              <a:rPr lang="en-US" dirty="0" smtClean="0">
                <a:latin typeface="Arial Narrow" pitchFamily="34" charset="0"/>
              </a:rPr>
              <a:t>ntecedents (events preceding behavior), </a:t>
            </a:r>
            <a:r>
              <a:rPr lang="en-US" b="1" dirty="0" smtClean="0">
                <a:latin typeface="Arial Narrow" pitchFamily="34" charset="0"/>
              </a:rPr>
              <a:t>B</a:t>
            </a:r>
            <a:r>
              <a:rPr lang="en-US" dirty="0" smtClean="0">
                <a:latin typeface="Arial Narrow" pitchFamily="34" charset="0"/>
              </a:rPr>
              <a:t>ehaviors, and</a:t>
            </a:r>
            <a:br>
              <a:rPr lang="en-US" dirty="0" smtClean="0">
                <a:latin typeface="Arial Narrow" pitchFamily="34" charset="0"/>
              </a:rPr>
            </a:br>
            <a:r>
              <a:rPr lang="en-US" b="1" dirty="0" smtClean="0">
                <a:latin typeface="Arial Narrow" pitchFamily="34" charset="0"/>
              </a:rPr>
              <a:t>C</a:t>
            </a:r>
            <a:r>
              <a:rPr lang="en-US" dirty="0" smtClean="0">
                <a:latin typeface="Arial Narrow" pitchFamily="34" charset="0"/>
              </a:rPr>
              <a:t>onsequences </a:t>
            </a:r>
            <a:br>
              <a:rPr lang="en-US" dirty="0" smtClean="0">
                <a:latin typeface="Arial Narrow" pitchFamily="34" charset="0"/>
              </a:rPr>
            </a:b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152400" y="838200"/>
            <a:ext cx="8763000" cy="5867400"/>
          </a:xfrm>
        </p:spPr>
        <p:txBody>
          <a:bodyPr>
            <a:normAutofit fontScale="25000" lnSpcReduction="20000"/>
          </a:bodyPr>
          <a:lstStyle/>
          <a:p>
            <a:pPr>
              <a:buNone/>
            </a:pPr>
            <a:r>
              <a:rPr lang="en-US" sz="9600" b="1" dirty="0">
                <a:latin typeface="Arial Narrow" pitchFamily="34" charset="0"/>
              </a:rPr>
              <a:t>Latent </a:t>
            </a:r>
            <a:r>
              <a:rPr lang="en-US" sz="9600" b="1" dirty="0" smtClean="0">
                <a:latin typeface="Arial Narrow" pitchFamily="34" charset="0"/>
              </a:rPr>
              <a:t>Learning</a:t>
            </a:r>
          </a:p>
          <a:p>
            <a:r>
              <a:rPr lang="en-US" sz="11200" dirty="0" smtClean="0">
                <a:latin typeface="Arial Narrow" pitchFamily="34" charset="0"/>
              </a:rPr>
              <a:t>Latent learning is defined as learning that occurs in the absence of any obvious reinforcement or noticeable behavioral changes. </a:t>
            </a:r>
          </a:p>
          <a:p>
            <a:r>
              <a:rPr lang="en-US" sz="11200" dirty="0" smtClean="0">
                <a:latin typeface="Arial Narrow" pitchFamily="34" charset="0"/>
              </a:rPr>
              <a:t>Learning is said to be “latent,” or hidden, because it is not exhibited unless a reinforcement/condition of some kind is introduced to reveal it. </a:t>
            </a:r>
            <a:endParaRPr lang="en-US" sz="11200" b="1" dirty="0">
              <a:latin typeface="Arial Narrow" pitchFamily="34" charset="0"/>
            </a:endParaRPr>
          </a:p>
          <a:p>
            <a:r>
              <a:rPr lang="en-US" sz="11200" dirty="0" smtClean="0">
                <a:latin typeface="Arial Narrow" pitchFamily="34" charset="0"/>
              </a:rPr>
              <a:t>In </a:t>
            </a:r>
            <a:r>
              <a:rPr lang="en-US" sz="11200" dirty="0">
                <a:latin typeface="Arial Narrow" pitchFamily="34" charset="0"/>
              </a:rPr>
              <a:t>a classic experiment, </a:t>
            </a:r>
            <a:r>
              <a:rPr lang="en-US" sz="11200" dirty="0" err="1">
                <a:latin typeface="Arial Narrow" pitchFamily="34" charset="0"/>
              </a:rPr>
              <a:t>Tolman</a:t>
            </a:r>
            <a:r>
              <a:rPr lang="en-US" sz="11200" dirty="0">
                <a:latin typeface="Arial Narrow" pitchFamily="34" charset="0"/>
              </a:rPr>
              <a:t> and </a:t>
            </a:r>
            <a:r>
              <a:rPr lang="en-US" sz="11200" dirty="0" err="1">
                <a:latin typeface="Arial Narrow" pitchFamily="34" charset="0"/>
              </a:rPr>
              <a:t>Honzic</a:t>
            </a:r>
            <a:r>
              <a:rPr lang="en-US" sz="11200" dirty="0">
                <a:latin typeface="Arial Narrow" pitchFamily="34" charset="0"/>
              </a:rPr>
              <a:t> (1930) placed </a:t>
            </a:r>
            <a:r>
              <a:rPr lang="en-US" sz="11200" dirty="0" smtClean="0">
                <a:latin typeface="Arial Narrow" pitchFamily="34" charset="0"/>
              </a:rPr>
              <a:t>three  </a:t>
            </a:r>
            <a:r>
              <a:rPr lang="en-US" sz="11200" dirty="0">
                <a:latin typeface="Arial Narrow" pitchFamily="34" charset="0"/>
              </a:rPr>
              <a:t>rats in mazes and observed their behavior each day for more than two weeks</a:t>
            </a:r>
            <a:r>
              <a:rPr lang="en-US" sz="11200" dirty="0" smtClean="0">
                <a:latin typeface="Arial Narrow" pitchFamily="34" charset="0"/>
              </a:rPr>
              <a:t>. </a:t>
            </a:r>
          </a:p>
          <a:p>
            <a:r>
              <a:rPr lang="en-US" sz="11200" dirty="0" smtClean="0">
                <a:latin typeface="Arial Narrow" pitchFamily="34" charset="0"/>
              </a:rPr>
              <a:t>‘Rat-A’ </a:t>
            </a:r>
            <a:r>
              <a:rPr lang="en-US" sz="11200" dirty="0">
                <a:latin typeface="Arial Narrow" pitchFamily="34" charset="0"/>
              </a:rPr>
              <a:t>always found food at the end of the maze. </a:t>
            </a:r>
            <a:r>
              <a:rPr lang="en-US" sz="11200" dirty="0" smtClean="0">
                <a:latin typeface="Arial Narrow" pitchFamily="34" charset="0"/>
              </a:rPr>
              <a:t>‘Rat-B’ </a:t>
            </a:r>
            <a:r>
              <a:rPr lang="en-US" sz="11200" dirty="0">
                <a:latin typeface="Arial Narrow" pitchFamily="34" charset="0"/>
              </a:rPr>
              <a:t>never found food</a:t>
            </a:r>
            <a:r>
              <a:rPr lang="en-US" sz="11200" dirty="0" smtClean="0">
                <a:latin typeface="Arial Narrow" pitchFamily="34" charset="0"/>
              </a:rPr>
              <a:t>. ‘Rat-C’ </a:t>
            </a:r>
            <a:r>
              <a:rPr lang="en-US" sz="11200" dirty="0">
                <a:latin typeface="Arial Narrow" pitchFamily="34" charset="0"/>
              </a:rPr>
              <a:t>found no food for ten days but then received food on the eleventh.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err="1" smtClean="0"/>
              <a:t>Tolman’s</a:t>
            </a:r>
            <a:r>
              <a:rPr lang="en-US" b="1" dirty="0" smtClean="0"/>
              <a:t> Experiment</a:t>
            </a:r>
            <a:endParaRPr lang="en-US" dirty="0"/>
          </a:p>
        </p:txBody>
      </p:sp>
      <p:sp>
        <p:nvSpPr>
          <p:cNvPr id="3" name="Content Placeholder 2"/>
          <p:cNvSpPr>
            <a:spLocks noGrp="1"/>
          </p:cNvSpPr>
          <p:nvPr>
            <p:ph idx="1"/>
          </p:nvPr>
        </p:nvSpPr>
        <p:spPr/>
        <p:txBody>
          <a:bodyPr/>
          <a:lstStyle/>
          <a:p>
            <a:endParaRPr lang="en-US"/>
          </a:p>
        </p:txBody>
      </p:sp>
      <p:pic>
        <p:nvPicPr>
          <p:cNvPr id="52226" name="Picture 2"/>
          <p:cNvPicPr>
            <a:picLocks noChangeAspect="1" noChangeArrowheads="1"/>
          </p:cNvPicPr>
          <p:nvPr/>
        </p:nvPicPr>
        <p:blipFill>
          <a:blip r:embed="rId2"/>
          <a:srcRect/>
          <a:stretch>
            <a:fillRect/>
          </a:stretch>
        </p:blipFill>
        <p:spPr bwMode="auto">
          <a:xfrm>
            <a:off x="304799" y="990600"/>
            <a:ext cx="8610601" cy="577215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228600" y="990600"/>
            <a:ext cx="8686800" cy="5638800"/>
          </a:xfrm>
        </p:spPr>
        <p:txBody>
          <a:bodyPr>
            <a:normAutofit fontScale="92500" lnSpcReduction="10000"/>
          </a:bodyPr>
          <a:lstStyle/>
          <a:p>
            <a:r>
              <a:rPr lang="en-US" dirty="0" smtClean="0">
                <a:latin typeface="Arial Narrow" pitchFamily="34" charset="0"/>
              </a:rPr>
              <a:t>‘Rat-A’ quickly learned to head straight to the end of the maze without going blind alleys, whereas ‘Rat-B’ did not learn to go to the end. </a:t>
            </a:r>
          </a:p>
          <a:p>
            <a:r>
              <a:rPr lang="en-US" dirty="0" smtClean="0">
                <a:latin typeface="Arial Narrow" pitchFamily="34" charset="0"/>
              </a:rPr>
              <a:t>But, Rat-C was different. For ten days it appeared to follow no particular route. Then, on the eleventh day it quickly learned to run to the end of the maze. By the next day, Rat-C did the same, like Rat-A which had been rewarded from the beginning. </a:t>
            </a:r>
          </a:p>
          <a:p>
            <a:r>
              <a:rPr lang="en-US" dirty="0" smtClean="0">
                <a:latin typeface="Arial Narrow" pitchFamily="34" charset="0"/>
              </a:rPr>
              <a:t>Rat-C had demonstrated latent learning, learning that is not immediately expressed. A great deal of human learning also remains latent until circumstances allow or require it to be expressed.</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152400" y="914400"/>
            <a:ext cx="8839200" cy="5715000"/>
          </a:xfrm>
        </p:spPr>
        <p:txBody>
          <a:bodyPr>
            <a:normAutofit fontScale="92500" lnSpcReduction="20000"/>
          </a:bodyPr>
          <a:lstStyle/>
          <a:p>
            <a:r>
              <a:rPr lang="en-US" b="1" dirty="0">
                <a:latin typeface="Arial Narrow" pitchFamily="34" charset="0"/>
              </a:rPr>
              <a:t>Insight Learning</a:t>
            </a:r>
            <a:br>
              <a:rPr lang="en-US" b="1" dirty="0">
                <a:latin typeface="Arial Narrow" pitchFamily="34" charset="0"/>
              </a:rPr>
            </a:br>
            <a:r>
              <a:rPr lang="en-US" dirty="0">
                <a:latin typeface="Arial Narrow" pitchFamily="34" charset="0"/>
              </a:rPr>
              <a:t>It is a cognitive process whereby we reorganize our perception of a problem. It </a:t>
            </a:r>
            <a:r>
              <a:rPr lang="en-US" dirty="0" smtClean="0">
                <a:latin typeface="Arial Narrow" pitchFamily="34" charset="0"/>
              </a:rPr>
              <a:t>doesn’t depend </a:t>
            </a:r>
            <a:r>
              <a:rPr lang="en-US" dirty="0">
                <a:latin typeface="Arial Narrow" pitchFamily="34" charset="0"/>
              </a:rPr>
              <a:t>on conditioning of particular behaviors for its occurrence. Sometimes, for example</a:t>
            </a:r>
            <a:r>
              <a:rPr lang="en-US" dirty="0" smtClean="0">
                <a:latin typeface="Arial Narrow" pitchFamily="34" charset="0"/>
              </a:rPr>
              <a:t>, people </a:t>
            </a:r>
            <a:r>
              <a:rPr lang="en-US" dirty="0">
                <a:latin typeface="Arial Narrow" pitchFamily="34" charset="0"/>
              </a:rPr>
              <a:t>even wake up from sleep with a solution to a problem that they had not been able </a:t>
            </a:r>
            <a:r>
              <a:rPr lang="en-US" dirty="0" smtClean="0">
                <a:latin typeface="Arial Narrow" pitchFamily="34" charset="0"/>
              </a:rPr>
              <a:t>to solve </a:t>
            </a:r>
            <a:r>
              <a:rPr lang="en-US" dirty="0">
                <a:latin typeface="Arial Narrow" pitchFamily="34" charset="0"/>
              </a:rPr>
              <a:t>during the </a:t>
            </a:r>
            <a:r>
              <a:rPr lang="en-US" dirty="0" smtClean="0">
                <a:latin typeface="Arial Narrow" pitchFamily="34" charset="0"/>
              </a:rPr>
              <a:t>day.</a:t>
            </a:r>
          </a:p>
          <a:p>
            <a:r>
              <a:rPr lang="en-US" dirty="0" smtClean="0">
                <a:latin typeface="Arial Narrow" pitchFamily="34" charset="0"/>
              </a:rPr>
              <a:t>In </a:t>
            </a:r>
            <a:r>
              <a:rPr lang="en-US" dirty="0">
                <a:latin typeface="Arial Narrow" pitchFamily="34" charset="0"/>
              </a:rPr>
              <a:t>a typical insight situation where a problem is posed, a period follows during which </a:t>
            </a:r>
            <a:r>
              <a:rPr lang="en-US" dirty="0" smtClean="0">
                <a:latin typeface="Arial Narrow" pitchFamily="34" charset="0"/>
              </a:rPr>
              <a:t>no apparent </a:t>
            </a:r>
            <a:r>
              <a:rPr lang="en-US" dirty="0">
                <a:latin typeface="Arial Narrow" pitchFamily="34" charset="0"/>
              </a:rPr>
              <a:t>progress is made, and then the solution comes suddenly. </a:t>
            </a:r>
            <a:endParaRPr lang="en-US" dirty="0" smtClean="0">
              <a:latin typeface="Arial Narrow" pitchFamily="34" charset="0"/>
            </a:endParaRPr>
          </a:p>
          <a:p>
            <a:r>
              <a:rPr lang="en-US" dirty="0" smtClean="0">
                <a:latin typeface="Arial Narrow" pitchFamily="34" charset="0"/>
              </a:rPr>
              <a:t>What </a:t>
            </a:r>
            <a:r>
              <a:rPr lang="en-US" dirty="0">
                <a:latin typeface="Arial Narrow" pitchFamily="34" charset="0"/>
              </a:rPr>
              <a:t>has been learned </a:t>
            </a:r>
            <a:r>
              <a:rPr lang="en-US" dirty="0" smtClean="0">
                <a:latin typeface="Arial Narrow" pitchFamily="34" charset="0"/>
              </a:rPr>
              <a:t>in insight </a:t>
            </a:r>
            <a:r>
              <a:rPr lang="en-US" dirty="0">
                <a:latin typeface="Arial Narrow" pitchFamily="34" charset="0"/>
              </a:rPr>
              <a:t>learning can also be applied easily to other similar </a:t>
            </a:r>
            <a:r>
              <a:rPr lang="en-US" dirty="0" smtClean="0">
                <a:latin typeface="Arial Narrow" pitchFamily="34" charset="0"/>
              </a:rPr>
              <a:t>situations.</a:t>
            </a:r>
          </a:p>
          <a:p>
            <a:r>
              <a:rPr lang="en-US" dirty="0" smtClean="0">
                <a:latin typeface="Arial Narrow" pitchFamily="34" charset="0"/>
              </a:rPr>
              <a:t>Human </a:t>
            </a:r>
            <a:r>
              <a:rPr lang="en-US" dirty="0">
                <a:latin typeface="Arial Narrow" pitchFamily="34" charset="0"/>
              </a:rPr>
              <a:t>beings who solve a problem insightfully usually experience a good feeling called </a:t>
            </a:r>
            <a:r>
              <a:rPr lang="en-US" dirty="0" smtClean="0">
                <a:latin typeface="Arial Narrow" pitchFamily="34" charset="0"/>
              </a:rPr>
              <a:t>an 'aha</a:t>
            </a:r>
            <a:r>
              <a:rPr lang="en-US" dirty="0">
                <a:latin typeface="Arial Narrow" pitchFamily="34" charset="0"/>
              </a:rPr>
              <a:t>' experience.</a:t>
            </a:r>
            <a:r>
              <a:rPr lang="en-US" dirty="0" smtClean="0">
                <a:latin typeface="Arial Narrow" pitchFamily="34" charset="0"/>
              </a:rPr>
              <a:t> </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Kohler’s insight Experiment on Chimps</a:t>
            </a:r>
            <a:endParaRPr lang="en-US" dirty="0"/>
          </a:p>
        </p:txBody>
      </p:sp>
      <p:pic>
        <p:nvPicPr>
          <p:cNvPr id="53250" name="Picture 2"/>
          <p:cNvPicPr>
            <a:picLocks noGrp="1" noChangeAspect="1" noChangeArrowheads="1"/>
          </p:cNvPicPr>
          <p:nvPr>
            <p:ph idx="1"/>
          </p:nvPr>
        </p:nvPicPr>
        <p:blipFill>
          <a:blip r:embed="rId2"/>
          <a:srcRect/>
          <a:stretch>
            <a:fillRect/>
          </a:stretch>
        </p:blipFill>
        <p:spPr bwMode="auto">
          <a:xfrm>
            <a:off x="4800600" y="1676400"/>
            <a:ext cx="3886200" cy="3657600"/>
          </a:xfrm>
          <a:prstGeom prst="rect">
            <a:avLst/>
          </a:prstGeom>
          <a:noFill/>
          <a:ln w="9525">
            <a:noFill/>
            <a:miter lim="800000"/>
            <a:headEnd/>
            <a:tailEnd/>
          </a:ln>
          <a:effectLst/>
        </p:spPr>
      </p:pic>
      <p:pic>
        <p:nvPicPr>
          <p:cNvPr id="53251" name="Picture 3"/>
          <p:cNvPicPr>
            <a:picLocks noChangeAspect="1" noChangeArrowheads="1"/>
          </p:cNvPicPr>
          <p:nvPr/>
        </p:nvPicPr>
        <p:blipFill>
          <a:blip r:embed="rId3"/>
          <a:srcRect/>
          <a:stretch>
            <a:fillRect/>
          </a:stretch>
        </p:blipFill>
        <p:spPr bwMode="auto">
          <a:xfrm>
            <a:off x="457200" y="1752600"/>
            <a:ext cx="3810000" cy="35052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4003</TotalTime>
  <Words>2328</Words>
  <Application>Microsoft Office PowerPoint</Application>
  <PresentationFormat>On-screen Show (4:3)</PresentationFormat>
  <Paragraphs>183</Paragraphs>
  <Slides>35</Slides>
  <Notes>0</Notes>
  <HiddenSlides>1</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  CHAPTER THREE  </vt:lpstr>
      <vt:lpstr>3.1. Definition, Characteristics and Principles of Learning</vt:lpstr>
      <vt:lpstr>3.1.2. Characteristics of learning</vt:lpstr>
      <vt:lpstr>3.1.3. Principles of learning</vt:lpstr>
      <vt:lpstr>3.2. Factors Influencing Learning</vt:lpstr>
      <vt:lpstr>3.3. Theories of Learning and their Applications</vt:lpstr>
      <vt:lpstr>1 A. Pavlov’s Classical conditioning theory</vt:lpstr>
      <vt:lpstr>Basics of Classical Condition</vt:lpstr>
      <vt:lpstr>Slide 9</vt:lpstr>
      <vt:lpstr>Principles of Classical Condition</vt:lpstr>
      <vt:lpstr>…</vt:lpstr>
      <vt:lpstr> 1 B. Operant/Instrumental conditioning </vt:lpstr>
      <vt:lpstr>…</vt:lpstr>
      <vt:lpstr>.</vt:lpstr>
      <vt:lpstr>Positive and Negative reinforcement </vt:lpstr>
      <vt:lpstr>Negative reinforcement involves escape &amp; avoidance learning.</vt:lpstr>
      <vt:lpstr>There are four types of partial/intermittent schedules. </vt:lpstr>
      <vt:lpstr>..</vt:lpstr>
      <vt:lpstr>Positive and negative punishment</vt:lpstr>
      <vt:lpstr>When punishment fails?</vt:lpstr>
      <vt:lpstr>Shaping</vt:lpstr>
      <vt:lpstr>…</vt:lpstr>
      <vt:lpstr>Application of the behavioral learning theories</vt:lpstr>
      <vt:lpstr>2. Social Learning Theory (Observational learning) </vt:lpstr>
      <vt:lpstr>Bandura’s Bobo Doll Experiment </vt:lpstr>
      <vt:lpstr>Bandura’s Social Cognitive Theory of Learning</vt:lpstr>
      <vt:lpstr>…</vt:lpstr>
      <vt:lpstr>Implications of Social Learning Theory</vt:lpstr>
      <vt:lpstr>3. Cognitive Learning Theory </vt:lpstr>
      <vt:lpstr>.</vt:lpstr>
      <vt:lpstr>…</vt:lpstr>
      <vt:lpstr>Tolman’s Experiment</vt:lpstr>
      <vt:lpstr>…</vt:lpstr>
      <vt:lpstr>…</vt:lpstr>
      <vt:lpstr>Kohler’s insight Experiment on Chimps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Three</dc:title>
  <dc:creator>User</dc:creator>
  <cp:lastModifiedBy>User</cp:lastModifiedBy>
  <cp:revision>83</cp:revision>
  <dcterms:created xsi:type="dcterms:W3CDTF">2019-12-02T02:22:02Z</dcterms:created>
  <dcterms:modified xsi:type="dcterms:W3CDTF">2019-12-26T06:56:49Z</dcterms:modified>
</cp:coreProperties>
</file>