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89" r:id="rId12"/>
    <p:sldId id="267" r:id="rId13"/>
    <p:sldId id="268" r:id="rId14"/>
    <p:sldId id="269" r:id="rId15"/>
    <p:sldId id="287" r:id="rId16"/>
    <p:sldId id="270" r:id="rId17"/>
    <p:sldId id="271" r:id="rId18"/>
    <p:sldId id="272" r:id="rId19"/>
    <p:sldId id="280" r:id="rId20"/>
    <p:sldId id="281" r:id="rId21"/>
    <p:sldId id="282" r:id="rId22"/>
    <p:sldId id="283" r:id="rId23"/>
    <p:sldId id="284" r:id="rId24"/>
    <p:sldId id="285" r:id="rId25"/>
    <p:sldId id="286" r:id="rId26"/>
    <p:sldId id="273" r:id="rId27"/>
    <p:sldId id="274" r:id="rId28"/>
    <p:sldId id="275" r:id="rId29"/>
    <p:sldId id="27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F54C60-62BA-4686-ABA4-232A80841C52}" type="datetimeFigureOut">
              <a:rPr lang="en-US" smtClean="0"/>
              <a:pPr/>
              <a:t>12/25/2019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33EE58-751E-4E8C-9E93-34FCC1105C0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latin typeface="Arial Narrow" pitchFamily="34" charset="0"/>
              </a:rPr>
              <a:t>For example, when a teacher provides tutorial support for students in her extra time because she loves teaching, intrinsic motivation is prompting her; if she provides tutorial support to make a lot of money, extrinsic motivation underlies her efforts. Similarly, if you study a lot because you love the subject matter, you are being guided by intrinsic motivation. On the other hand, if all you care about is the grade to get in the course, it is extrinsic motivation.</a:t>
            </a:r>
            <a:r>
              <a:rPr lang="en-US" sz="1050" dirty="0" smtClean="0">
                <a:latin typeface="Arial Narrow" pitchFamily="34" charset="0"/>
              </a:rPr>
              <a:t> </a:t>
            </a:r>
            <a:endParaRPr lang="en-US" dirty="0"/>
          </a:p>
        </p:txBody>
      </p:sp>
      <p:sp>
        <p:nvSpPr>
          <p:cNvPr id="4" name="Slide Number Placeholder 3"/>
          <p:cNvSpPr>
            <a:spLocks noGrp="1"/>
          </p:cNvSpPr>
          <p:nvPr>
            <p:ph type="sldNum" sz="quarter" idx="10"/>
          </p:nvPr>
        </p:nvSpPr>
        <p:spPr/>
        <p:txBody>
          <a:bodyPr/>
          <a:lstStyle/>
          <a:p>
            <a:fld id="{F833EE58-751E-4E8C-9E93-34FCC1105C02}" type="slidenum">
              <a:rPr lang="en-US" smtClean="0"/>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ln>
            <a:miter lim="800000"/>
            <a:headEnd/>
            <a:tailEnd/>
          </a:ln>
        </p:spPr>
        <p:txBody>
          <a:bodyPr/>
          <a:lstStyle/>
          <a:p>
            <a:fld id="{995056CA-4E82-4622-B24F-DDF38A76EEA8}" type="slidenum">
              <a:rPr lang="en-US"/>
              <a:pPr/>
              <a:t>29</a:t>
            </a:fld>
            <a:endParaRPr lang="en-US"/>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AA2DBB-4BE6-469B-8CAE-BA2D0095611D}" type="datetimeFigureOut">
              <a:rPr lang="en-US" smtClean="0"/>
              <a:pPr/>
              <a:t>12/25/2019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F1DD-6CE6-4108-A12A-EDFEEA08A2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A2DBB-4BE6-469B-8CAE-BA2D0095611D}" type="datetimeFigureOut">
              <a:rPr lang="en-US" smtClean="0"/>
              <a:pPr/>
              <a:t>12/25/2019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19F1DD-6CE6-4108-A12A-EDFEEA08A2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itchFamily="34" charset="0"/>
              </a:rPr>
              <a:t>CHAPTER FIVE</a:t>
            </a:r>
            <a:endParaRPr lang="en-US" b="1" dirty="0">
              <a:latin typeface="Arial Narrow" pitchFamily="34" charset="0"/>
            </a:endParaRPr>
          </a:p>
        </p:txBody>
      </p:sp>
      <p:sp>
        <p:nvSpPr>
          <p:cNvPr id="3" name="Content Placeholder 2"/>
          <p:cNvSpPr>
            <a:spLocks noGrp="1"/>
          </p:cNvSpPr>
          <p:nvPr>
            <p:ph idx="1"/>
          </p:nvPr>
        </p:nvSpPr>
        <p:spPr/>
        <p:txBody>
          <a:bodyPr/>
          <a:lstStyle/>
          <a:p>
            <a:pPr>
              <a:buNone/>
            </a:pPr>
            <a:endParaRPr lang="en-US" b="1" dirty="0" smtClean="0"/>
          </a:p>
          <a:p>
            <a:pPr>
              <a:buNone/>
            </a:pPr>
            <a:endParaRPr lang="en-US" b="1" dirty="0"/>
          </a:p>
          <a:p>
            <a:pPr algn="ctr">
              <a:buNone/>
            </a:pPr>
            <a:r>
              <a:rPr lang="en-US" b="1" dirty="0"/>
              <a:t/>
            </a:r>
            <a:br>
              <a:rPr lang="en-US" b="1" dirty="0"/>
            </a:br>
            <a:r>
              <a:rPr lang="en-US" sz="4000" b="1" dirty="0">
                <a:latin typeface="Bahnschrift Condensed" pitchFamily="34" charset="0"/>
              </a:rPr>
              <a:t>MOTIVATION AND EMOTIONS</a:t>
            </a:r>
            <a:r>
              <a:rPr lang="en-US" sz="4000" b="1" dirty="0" smtClean="0">
                <a:latin typeface="Bahnschrift Condensed" pitchFamily="34" charset="0"/>
              </a:rPr>
              <a:t> </a:t>
            </a:r>
            <a:r>
              <a:rPr lang="en-US" sz="4000" dirty="0" smtClean="0">
                <a:latin typeface="Bahnschrift Condensed" pitchFamily="34" charset="0"/>
              </a:rPr>
              <a:t/>
            </a:r>
            <a:br>
              <a:rPr lang="en-US" sz="4000" dirty="0" smtClean="0">
                <a:latin typeface="Bahnschrift Condensed" pitchFamily="34" charset="0"/>
              </a:rPr>
            </a:br>
            <a:endParaRPr lang="en-US" dirty="0">
              <a:latin typeface="Bahnschrift Condensed"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fontScale="90000"/>
          </a:bodyPr>
          <a:lstStyle/>
          <a:p>
            <a:r>
              <a:rPr lang="en-US" sz="4000" b="1" dirty="0" smtClean="0"/>
              <a:t/>
            </a:r>
            <a:br>
              <a:rPr lang="en-US" sz="4000" b="1" dirty="0" smtClean="0"/>
            </a:br>
            <a:r>
              <a:rPr lang="en-US" sz="4000" b="1" dirty="0" smtClean="0">
                <a:latin typeface="Arial Narrow" pitchFamily="34" charset="0"/>
              </a:rPr>
              <a:t>5.1</a:t>
            </a:r>
            <a:r>
              <a:rPr lang="en-US" sz="4000" b="1" dirty="0">
                <a:latin typeface="Arial Narrow" pitchFamily="34" charset="0"/>
              </a:rPr>
              <a:t>. </a:t>
            </a:r>
            <a:r>
              <a:rPr lang="en-US" sz="4000" b="1" dirty="0" smtClean="0">
                <a:latin typeface="Arial Narrow" pitchFamily="34" charset="0"/>
              </a:rPr>
              <a:t>Motivation</a:t>
            </a:r>
            <a:br>
              <a:rPr lang="en-US" sz="4000" b="1" dirty="0" smtClean="0">
                <a:latin typeface="Arial Narrow" pitchFamily="34" charset="0"/>
              </a:rPr>
            </a:br>
            <a:r>
              <a:rPr lang="en-US" sz="4000" b="1" dirty="0" smtClean="0">
                <a:latin typeface="Arial Narrow" pitchFamily="34" charset="0"/>
              </a:rPr>
              <a:t>5.1.1</a:t>
            </a:r>
            <a:r>
              <a:rPr lang="en-US" sz="4000" b="1" dirty="0">
                <a:latin typeface="Arial Narrow" pitchFamily="34" charset="0"/>
              </a:rPr>
              <a:t>. Definition and types of </a:t>
            </a:r>
            <a:r>
              <a:rPr lang="en-US" sz="4000" b="1" dirty="0" smtClean="0">
                <a:latin typeface="Arial Narrow" pitchFamily="34" charset="0"/>
              </a:rPr>
              <a:t>motivation</a:t>
            </a:r>
            <a:r>
              <a:rPr lang="en-US" dirty="0" smtClean="0"/>
              <a:t/>
            </a:r>
            <a:br>
              <a:rPr lang="en-US" dirty="0" smtClean="0"/>
            </a:br>
            <a:endParaRPr lang="en-US" dirty="0"/>
          </a:p>
        </p:txBody>
      </p:sp>
      <p:sp>
        <p:nvSpPr>
          <p:cNvPr id="3" name="Content Placeholder 2"/>
          <p:cNvSpPr>
            <a:spLocks noGrp="1"/>
          </p:cNvSpPr>
          <p:nvPr>
            <p:ph idx="1"/>
          </p:nvPr>
        </p:nvSpPr>
        <p:spPr>
          <a:xfrm>
            <a:off x="228600" y="1600200"/>
            <a:ext cx="8686800" cy="5029200"/>
          </a:xfrm>
        </p:spPr>
        <p:txBody>
          <a:bodyPr>
            <a:normAutofit lnSpcReduction="10000"/>
          </a:bodyPr>
          <a:lstStyle/>
          <a:p>
            <a:r>
              <a:rPr lang="en-US" dirty="0">
                <a:latin typeface="Arial Narrow" pitchFamily="34" charset="0"/>
              </a:rPr>
              <a:t>Motivation is </a:t>
            </a:r>
            <a:r>
              <a:rPr lang="en-US" dirty="0" smtClean="0">
                <a:latin typeface="Arial Narrow" pitchFamily="34" charset="0"/>
              </a:rPr>
              <a:t>a force/factor that </a:t>
            </a:r>
            <a:r>
              <a:rPr lang="en-US" dirty="0" smtClean="0">
                <a:solidFill>
                  <a:srgbClr val="FF0000"/>
                </a:solidFill>
                <a:latin typeface="Arial Narrow" pitchFamily="34" charset="0"/>
              </a:rPr>
              <a:t>initiate</a:t>
            </a:r>
            <a:r>
              <a:rPr lang="en-US" dirty="0" smtClean="0">
                <a:latin typeface="Arial Narrow" pitchFamily="34" charset="0"/>
              </a:rPr>
              <a:t>, </a:t>
            </a:r>
            <a:r>
              <a:rPr lang="en-US" dirty="0" smtClean="0">
                <a:solidFill>
                  <a:srgbClr val="FF0000"/>
                </a:solidFill>
                <a:latin typeface="Arial Narrow" pitchFamily="34" charset="0"/>
              </a:rPr>
              <a:t>direct </a:t>
            </a:r>
            <a:r>
              <a:rPr lang="en-US" dirty="0" smtClean="0">
                <a:latin typeface="Arial Narrow" pitchFamily="34" charset="0"/>
              </a:rPr>
              <a:t>and </a:t>
            </a:r>
            <a:r>
              <a:rPr lang="en-US" dirty="0" smtClean="0">
                <a:solidFill>
                  <a:srgbClr val="FF0000"/>
                </a:solidFill>
                <a:latin typeface="Arial Narrow" pitchFamily="34" charset="0"/>
              </a:rPr>
              <a:t>persist</a:t>
            </a:r>
            <a:r>
              <a:rPr lang="en-US" dirty="0" smtClean="0">
                <a:latin typeface="Arial Narrow" pitchFamily="34" charset="0"/>
              </a:rPr>
              <a:t> peoples’ behaviour towards purpose. </a:t>
            </a:r>
          </a:p>
          <a:p>
            <a:r>
              <a:rPr lang="en-US" dirty="0" smtClean="0">
                <a:latin typeface="Arial Narrow" pitchFamily="34" charset="0"/>
              </a:rPr>
              <a:t>For </a:t>
            </a:r>
            <a:r>
              <a:rPr lang="en-US" dirty="0">
                <a:latin typeface="Arial Narrow" pitchFamily="34" charset="0"/>
              </a:rPr>
              <a:t>example, </a:t>
            </a:r>
            <a:r>
              <a:rPr lang="en-US" dirty="0" smtClean="0">
                <a:latin typeface="Arial Narrow" pitchFamily="34" charset="0"/>
              </a:rPr>
              <a:t>hunger </a:t>
            </a:r>
            <a:r>
              <a:rPr lang="en-US" dirty="0">
                <a:latin typeface="Arial Narrow" pitchFamily="34" charset="0"/>
              </a:rPr>
              <a:t>cause the person to get up, go into the kitchen, and search </a:t>
            </a:r>
            <a:r>
              <a:rPr lang="en-US" dirty="0" smtClean="0">
                <a:latin typeface="Arial Narrow" pitchFamily="34" charset="0"/>
              </a:rPr>
              <a:t>for something </a:t>
            </a:r>
            <a:r>
              <a:rPr lang="en-US" dirty="0">
                <a:latin typeface="Arial Narrow" pitchFamily="34" charset="0"/>
              </a:rPr>
              <a:t>to eat</a:t>
            </a:r>
            <a:r>
              <a:rPr lang="en-US" dirty="0" smtClean="0">
                <a:latin typeface="Arial Narrow" pitchFamily="34" charset="0"/>
              </a:rPr>
              <a:t>.</a:t>
            </a:r>
          </a:p>
          <a:p>
            <a:r>
              <a:rPr lang="en-US" dirty="0" smtClean="0">
                <a:latin typeface="Arial Narrow" pitchFamily="34" charset="0"/>
              </a:rPr>
              <a:t>The hunger </a:t>
            </a:r>
            <a:r>
              <a:rPr lang="en-US" dirty="0">
                <a:latin typeface="Arial Narrow" pitchFamily="34" charset="0"/>
              </a:rPr>
              <a:t>causes the action (getting up), directs it (going to the kitchen), </a:t>
            </a:r>
            <a:r>
              <a:rPr lang="en-US" dirty="0" smtClean="0">
                <a:latin typeface="Arial Narrow" pitchFamily="34" charset="0"/>
              </a:rPr>
              <a:t>and sustain </a:t>
            </a:r>
            <a:r>
              <a:rPr lang="en-US" dirty="0">
                <a:latin typeface="Arial Narrow" pitchFamily="34" charset="0"/>
              </a:rPr>
              <a:t>the search (finding or preparing something to eat</a:t>
            </a:r>
            <a:r>
              <a:rPr lang="en-US" dirty="0" smtClean="0">
                <a:latin typeface="Arial Narrow" pitchFamily="34" charset="0"/>
              </a:rPr>
              <a:t>).</a:t>
            </a:r>
          </a:p>
          <a:p>
            <a:pPr>
              <a:buNone/>
            </a:pP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b="1" dirty="0">
                <a:latin typeface="Arial Narrow" pitchFamily="34" charset="0"/>
              </a:rPr>
              <a:t>T</a:t>
            </a:r>
            <a:r>
              <a:rPr lang="en-US" b="1" dirty="0" smtClean="0">
                <a:latin typeface="Arial Narrow" pitchFamily="34" charset="0"/>
              </a:rPr>
              <a:t>ypes of motivation</a:t>
            </a:r>
            <a:endParaRPr lang="en-US" b="1" dirty="0">
              <a:latin typeface="Arial Narrow" pitchFamily="34" charset="0"/>
            </a:endParaRPr>
          </a:p>
        </p:txBody>
      </p:sp>
      <p:sp>
        <p:nvSpPr>
          <p:cNvPr id="3" name="Content Placeholder 2"/>
          <p:cNvSpPr>
            <a:spLocks noGrp="1"/>
          </p:cNvSpPr>
          <p:nvPr>
            <p:ph idx="1"/>
          </p:nvPr>
        </p:nvSpPr>
        <p:spPr>
          <a:xfrm>
            <a:off x="228600" y="838200"/>
            <a:ext cx="8686800" cy="5791200"/>
          </a:xfrm>
        </p:spPr>
        <p:txBody>
          <a:bodyPr>
            <a:normAutofit fontScale="25000" lnSpcReduction="20000"/>
          </a:bodyPr>
          <a:lstStyle/>
          <a:p>
            <a:r>
              <a:rPr lang="en-US" sz="12800" dirty="0" smtClean="0">
                <a:latin typeface="Bahnschrift Condensed" pitchFamily="34" charset="0"/>
              </a:rPr>
              <a:t>It </a:t>
            </a:r>
            <a:r>
              <a:rPr lang="en-US" sz="12800" dirty="0">
                <a:latin typeface="Bahnschrift Condensed" pitchFamily="34" charset="0"/>
              </a:rPr>
              <a:t>is possible to categorize </a:t>
            </a:r>
            <a:r>
              <a:rPr lang="en-US" sz="12800" dirty="0" smtClean="0">
                <a:latin typeface="Bahnschrift Condensed" pitchFamily="34" charset="0"/>
              </a:rPr>
              <a:t>motivation into </a:t>
            </a:r>
            <a:r>
              <a:rPr lang="en-US" sz="12800" dirty="0">
                <a:latin typeface="Bahnschrift Condensed" pitchFamily="34" charset="0"/>
              </a:rPr>
              <a:t>two</a:t>
            </a:r>
            <a:r>
              <a:rPr lang="en-US" sz="12800" dirty="0" smtClean="0">
                <a:latin typeface="Bahnschrift Condensed" pitchFamily="34" charset="0"/>
              </a:rPr>
              <a:t>: intrinsic </a:t>
            </a:r>
            <a:r>
              <a:rPr lang="en-US" sz="12800" dirty="0">
                <a:latin typeface="Bahnschrift Condensed" pitchFamily="34" charset="0"/>
              </a:rPr>
              <a:t>and extrinsic motivation. </a:t>
            </a:r>
            <a:endParaRPr lang="en-US" sz="12800" dirty="0" smtClean="0">
              <a:latin typeface="Bahnschrift Condensed" pitchFamily="34" charset="0"/>
            </a:endParaRPr>
          </a:p>
          <a:p>
            <a:pPr lvl="1"/>
            <a:r>
              <a:rPr lang="en-US" sz="12800" b="1" u="sng" dirty="0" smtClean="0">
                <a:solidFill>
                  <a:srgbClr val="FF0000"/>
                </a:solidFill>
                <a:latin typeface="Bahnschrift Condensed" pitchFamily="34" charset="0"/>
              </a:rPr>
              <a:t>Intrinsic </a:t>
            </a:r>
            <a:r>
              <a:rPr lang="en-US" sz="12800" b="1" u="sng" dirty="0">
                <a:solidFill>
                  <a:srgbClr val="FF0000"/>
                </a:solidFill>
                <a:latin typeface="Bahnschrift Condensed" pitchFamily="34" charset="0"/>
              </a:rPr>
              <a:t>motivation </a:t>
            </a:r>
            <a:r>
              <a:rPr lang="en-US" sz="12800" b="1" u="sng" dirty="0" smtClean="0">
                <a:solidFill>
                  <a:srgbClr val="FF0000"/>
                </a:solidFill>
                <a:latin typeface="Bahnschrift Condensed" pitchFamily="34" charset="0"/>
              </a:rPr>
              <a:t> </a:t>
            </a:r>
            <a:r>
              <a:rPr lang="en-US" sz="12800" dirty="0" smtClean="0">
                <a:latin typeface="Bahnschrift Condensed" pitchFamily="34" charset="0"/>
              </a:rPr>
              <a:t>is </a:t>
            </a:r>
            <a:r>
              <a:rPr lang="en-US" sz="12800" dirty="0">
                <a:latin typeface="Bahnschrift Condensed" pitchFamily="34" charset="0"/>
              </a:rPr>
              <a:t>a type of motivation in which </a:t>
            </a:r>
            <a:r>
              <a:rPr lang="en-US" sz="12800" dirty="0" smtClean="0">
                <a:latin typeface="Bahnschrift Condensed" pitchFamily="34" charset="0"/>
              </a:rPr>
              <a:t>a person </a:t>
            </a:r>
            <a:r>
              <a:rPr lang="en-US" sz="12800" dirty="0">
                <a:latin typeface="Bahnschrift Condensed" pitchFamily="34" charset="0"/>
              </a:rPr>
              <a:t>acts because the act itself is rewarding or satisfying in some internal manner. </a:t>
            </a:r>
            <a:endParaRPr lang="en-US" sz="12800" dirty="0" smtClean="0">
              <a:latin typeface="Bahnschrift Condensed" pitchFamily="34" charset="0"/>
            </a:endParaRPr>
          </a:p>
          <a:p>
            <a:pPr lvl="1"/>
            <a:r>
              <a:rPr lang="en-US" sz="12800" b="1" u="sng" dirty="0" smtClean="0">
                <a:solidFill>
                  <a:srgbClr val="FF0000"/>
                </a:solidFill>
                <a:latin typeface="Bahnschrift Condensed" pitchFamily="34" charset="0"/>
              </a:rPr>
              <a:t>Extrinsic motivation  </a:t>
            </a:r>
            <a:r>
              <a:rPr lang="en-US" sz="12800" dirty="0" smtClean="0">
                <a:latin typeface="Bahnschrift Condensed" pitchFamily="34" charset="0"/>
              </a:rPr>
              <a:t>is </a:t>
            </a:r>
            <a:r>
              <a:rPr lang="en-US" sz="12800" dirty="0">
                <a:latin typeface="Bahnschrift Condensed" pitchFamily="34" charset="0"/>
              </a:rPr>
              <a:t>a type of motivation in which individuals act because the action leads to </a:t>
            </a:r>
            <a:r>
              <a:rPr lang="en-US" sz="12800" dirty="0" smtClean="0">
                <a:latin typeface="Bahnschrift Condensed" pitchFamily="34" charset="0"/>
              </a:rPr>
              <a:t>an outcome </a:t>
            </a:r>
            <a:r>
              <a:rPr lang="en-US" sz="12800" dirty="0">
                <a:latin typeface="Bahnschrift Condensed" pitchFamily="34" charset="0"/>
              </a:rPr>
              <a:t>that is external to a person.</a:t>
            </a:r>
            <a:r>
              <a:rPr lang="en-US" sz="12800" dirty="0" smtClean="0">
                <a:latin typeface="Bahnschrift Condensed" pitchFamily="34" charset="0"/>
              </a:rPr>
              <a:t> </a:t>
            </a:r>
          </a:p>
          <a:p>
            <a:r>
              <a:rPr lang="en-US" sz="12800" dirty="0" smtClean="0">
                <a:latin typeface="Bahnschrift Condensed" pitchFamily="34" charset="0"/>
              </a:rPr>
              <a:t>Motives are also </a:t>
            </a:r>
            <a:r>
              <a:rPr lang="en-US" sz="12800" dirty="0">
                <a:latin typeface="Bahnschrift Condensed" pitchFamily="34" charset="0"/>
              </a:rPr>
              <a:t>frequently divided </a:t>
            </a:r>
            <a:r>
              <a:rPr lang="en-US" sz="12800" dirty="0" smtClean="0">
                <a:latin typeface="Bahnschrift Condensed" pitchFamily="34" charset="0"/>
              </a:rPr>
              <a:t>into:</a:t>
            </a:r>
          </a:p>
          <a:p>
            <a:pPr marL="971550" lvl="1" indent="-514350">
              <a:buAutoNum type="alphaLcParenBoth"/>
            </a:pPr>
            <a:r>
              <a:rPr lang="en-US" sz="12800" dirty="0" smtClean="0">
                <a:latin typeface="Bahnschrift Condensed" pitchFamily="34" charset="0"/>
              </a:rPr>
              <a:t>physiological</a:t>
            </a:r>
            <a:r>
              <a:rPr lang="en-US" sz="12800" dirty="0">
                <a:latin typeface="Bahnschrift Condensed" pitchFamily="34" charset="0"/>
              </a:rPr>
              <a:t>, </a:t>
            </a:r>
            <a:r>
              <a:rPr lang="en-US" sz="12800" dirty="0">
                <a:solidFill>
                  <a:srgbClr val="FF0000"/>
                </a:solidFill>
                <a:latin typeface="Bahnschrift Condensed" pitchFamily="34" charset="0"/>
              </a:rPr>
              <a:t>primary</a:t>
            </a:r>
            <a:r>
              <a:rPr lang="en-US" sz="12800" dirty="0">
                <a:latin typeface="Bahnschrift Condensed" pitchFamily="34" charset="0"/>
              </a:rPr>
              <a:t>, or organic motives, such as hunger, thirst, and need for sleep</a:t>
            </a:r>
            <a:r>
              <a:rPr lang="en-US" sz="12800" dirty="0" smtClean="0">
                <a:latin typeface="Bahnschrift Condensed" pitchFamily="34" charset="0"/>
              </a:rPr>
              <a:t>; and </a:t>
            </a:r>
          </a:p>
          <a:p>
            <a:pPr marL="971550" lvl="1" indent="-514350">
              <a:buAutoNum type="alphaLcParenBoth"/>
            </a:pPr>
            <a:r>
              <a:rPr lang="en-US" sz="12800" dirty="0" smtClean="0">
                <a:latin typeface="Bahnschrift Condensed" pitchFamily="34" charset="0"/>
              </a:rPr>
              <a:t>personal</a:t>
            </a:r>
            <a:r>
              <a:rPr lang="en-US" sz="12800" dirty="0">
                <a:latin typeface="Bahnschrift Condensed" pitchFamily="34" charset="0"/>
              </a:rPr>
              <a:t>, social, or </a:t>
            </a:r>
            <a:r>
              <a:rPr lang="en-US" sz="12800" dirty="0">
                <a:solidFill>
                  <a:srgbClr val="FF0000"/>
                </a:solidFill>
                <a:latin typeface="Bahnschrift Condensed" pitchFamily="34" charset="0"/>
              </a:rPr>
              <a:t>secondary </a:t>
            </a:r>
            <a:r>
              <a:rPr lang="en-US" sz="12800" dirty="0">
                <a:latin typeface="Bahnschrift Condensed" pitchFamily="34" charset="0"/>
              </a:rPr>
              <a:t>motives, such as </a:t>
            </a:r>
            <a:r>
              <a:rPr lang="en-US" sz="12800" dirty="0" smtClean="0">
                <a:latin typeface="Bahnschrift Condensed" pitchFamily="34" charset="0"/>
              </a:rPr>
              <a:t>affiliation</a:t>
            </a:r>
            <a:r>
              <a:rPr lang="en-US" sz="12800" dirty="0">
                <a:latin typeface="Bahnschrift Condensed" pitchFamily="34" charset="0"/>
              </a:rPr>
              <a:t>, competition, &amp;</a:t>
            </a:r>
            <a:r>
              <a:rPr lang="en-US" sz="12800" dirty="0" smtClean="0">
                <a:latin typeface="Bahnschrift Condensed" pitchFamily="34" charset="0"/>
              </a:rPr>
              <a:t> </a:t>
            </a:r>
            <a:r>
              <a:rPr lang="en-US" sz="12800" dirty="0">
                <a:latin typeface="Bahnschrift Condensed" pitchFamily="34" charset="0"/>
              </a:rPr>
              <a:t>individual interests &amp;</a:t>
            </a:r>
            <a:r>
              <a:rPr lang="en-US" sz="12800" dirty="0" smtClean="0">
                <a:latin typeface="Bahnschrift Condensed" pitchFamily="34" charset="0"/>
              </a:rPr>
              <a:t> </a:t>
            </a:r>
            <a:r>
              <a:rPr lang="en-US" sz="12800" dirty="0">
                <a:latin typeface="Bahnschrift Condensed" pitchFamily="34" charset="0"/>
              </a:rPr>
              <a:t>goals.</a:t>
            </a:r>
            <a:r>
              <a:rPr lang="en-US" sz="12800" dirty="0" smtClean="0">
                <a:latin typeface="Bahnschrift Condensed" pitchFamily="34" charset="0"/>
              </a:rPr>
              <a:t> </a:t>
            </a:r>
            <a:r>
              <a:rPr lang="en-US" dirty="0" smtClean="0"/>
              <a:t/>
            </a:r>
            <a:br>
              <a:rPr lang="en-US" dirty="0" smtClean="0"/>
            </a:br>
            <a:r>
              <a:rPr lang="en-US" dirty="0" smtClean="0"/>
              <a:t> </a:t>
            </a:r>
            <a:r>
              <a:rPr lang="en-US" dirty="0" smtClean="0">
                <a:latin typeface="Arial Narrow" pitchFamily="34" charset="0"/>
              </a:rPr>
              <a:t/>
            </a:r>
            <a:br>
              <a:rPr lang="en-US" dirty="0" smtClean="0">
                <a:latin typeface="Arial Narrow" pitchFamily="34" charset="0"/>
              </a:rPr>
            </a:br>
            <a:endParaRPr lang="en-US" dirty="0">
              <a:latin typeface="Arial Narrow"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763000" cy="914400"/>
          </a:xfrm>
        </p:spPr>
        <p:txBody>
          <a:bodyPr>
            <a:noAutofit/>
          </a:bodyPr>
          <a:lstStyle/>
          <a:p>
            <a:pPr algn="l"/>
            <a:r>
              <a:rPr lang="en-US" sz="3600" b="1" dirty="0">
                <a:latin typeface="Bahnschrift Condensed" pitchFamily="34" charset="0"/>
              </a:rPr>
              <a:t>5.1.2. Approaches to motivation (theories of motivation)</a:t>
            </a:r>
            <a:r>
              <a:rPr lang="en-US" sz="3600" dirty="0" smtClean="0">
                <a:latin typeface="Bahnschrift Condensed" pitchFamily="34" charset="0"/>
              </a:rPr>
              <a:t> </a:t>
            </a:r>
            <a:endParaRPr lang="en-US" sz="3600" dirty="0">
              <a:latin typeface="Bahnschrift Condensed" pitchFamily="34" charset="0"/>
            </a:endParaRPr>
          </a:p>
        </p:txBody>
      </p:sp>
      <p:sp>
        <p:nvSpPr>
          <p:cNvPr id="3" name="Content Placeholder 2"/>
          <p:cNvSpPr>
            <a:spLocks noGrp="1"/>
          </p:cNvSpPr>
          <p:nvPr>
            <p:ph idx="1"/>
          </p:nvPr>
        </p:nvSpPr>
        <p:spPr>
          <a:xfrm>
            <a:off x="304800" y="1295400"/>
            <a:ext cx="8610600" cy="5334000"/>
          </a:xfrm>
        </p:spPr>
        <p:txBody>
          <a:bodyPr>
            <a:normAutofit fontScale="25000" lnSpcReduction="20000"/>
          </a:bodyPr>
          <a:lstStyle/>
          <a:p>
            <a:pPr>
              <a:buFont typeface="Wingdings" pitchFamily="2" charset="2"/>
              <a:buChar char="Ø"/>
            </a:pPr>
            <a:r>
              <a:rPr lang="en-US" sz="11200" dirty="0" smtClean="0">
                <a:latin typeface="Arial Narrow" pitchFamily="34" charset="0"/>
              </a:rPr>
              <a:t>It explains about the sources of our motivation.</a:t>
            </a:r>
            <a:r>
              <a:rPr lang="en-US" sz="11200" dirty="0">
                <a:latin typeface="Arial Narrow" pitchFamily="34" charset="0"/>
              </a:rPr>
              <a:t> </a:t>
            </a:r>
            <a:r>
              <a:rPr lang="en-US" sz="11200" dirty="0" smtClean="0">
                <a:latin typeface="Arial Narrow" pitchFamily="34" charset="0"/>
              </a:rPr>
              <a:t>Some </a:t>
            </a:r>
            <a:r>
              <a:rPr lang="en-US" sz="11200" dirty="0">
                <a:latin typeface="Arial Narrow" pitchFamily="34" charset="0"/>
              </a:rPr>
              <a:t>of these theories are instinct, drive-reduction, arousal, incentive, cognitive, </a:t>
            </a:r>
            <a:r>
              <a:rPr lang="en-US" sz="11200" dirty="0" smtClean="0">
                <a:latin typeface="Arial Narrow" pitchFamily="34" charset="0"/>
              </a:rPr>
              <a:t>and humanistic</a:t>
            </a:r>
            <a:r>
              <a:rPr lang="en-US" sz="11200" dirty="0">
                <a:latin typeface="Arial Narrow" pitchFamily="34" charset="0"/>
              </a:rPr>
              <a:t>.</a:t>
            </a:r>
            <a:r>
              <a:rPr lang="en-US" sz="11200" dirty="0" smtClean="0">
                <a:latin typeface="Arial Narrow" pitchFamily="34" charset="0"/>
              </a:rPr>
              <a:t> </a:t>
            </a:r>
          </a:p>
          <a:p>
            <a:pPr marL="514350" indent="-514350">
              <a:buAutoNum type="alphaLcParenR"/>
            </a:pPr>
            <a:r>
              <a:rPr lang="en-US" sz="12800" b="1" dirty="0" smtClean="0">
                <a:solidFill>
                  <a:srgbClr val="FF0000"/>
                </a:solidFill>
                <a:latin typeface="Arial Narrow" pitchFamily="34" charset="0"/>
              </a:rPr>
              <a:t>Instinct</a:t>
            </a:r>
            <a:r>
              <a:rPr lang="en-US" sz="12800" b="1" dirty="0" smtClean="0">
                <a:latin typeface="Arial Narrow" pitchFamily="34" charset="0"/>
              </a:rPr>
              <a:t> </a:t>
            </a:r>
            <a:r>
              <a:rPr lang="en-US" sz="12800" b="1" dirty="0">
                <a:latin typeface="Arial Narrow" pitchFamily="34" charset="0"/>
              </a:rPr>
              <a:t>approaches to </a:t>
            </a:r>
            <a:r>
              <a:rPr lang="en-US" sz="12800" b="1" dirty="0" smtClean="0">
                <a:latin typeface="Arial Narrow" pitchFamily="34" charset="0"/>
              </a:rPr>
              <a:t>motivation</a:t>
            </a:r>
          </a:p>
          <a:p>
            <a:pPr marL="514350" indent="-514350">
              <a:buNone/>
            </a:pPr>
            <a:r>
              <a:rPr lang="en-US" sz="11200" dirty="0" smtClean="0">
                <a:latin typeface="Arial Narrow" pitchFamily="34" charset="0"/>
              </a:rPr>
              <a:t>Focused </a:t>
            </a:r>
            <a:r>
              <a:rPr lang="en-US" sz="11200" dirty="0">
                <a:latin typeface="Arial Narrow" pitchFamily="34" charset="0"/>
              </a:rPr>
              <a:t>on the </a:t>
            </a:r>
            <a:r>
              <a:rPr lang="en-US" sz="11200" dirty="0">
                <a:solidFill>
                  <a:srgbClr val="FF0000"/>
                </a:solidFill>
                <a:latin typeface="Arial Narrow" pitchFamily="34" charset="0"/>
              </a:rPr>
              <a:t>biologically determined </a:t>
            </a:r>
            <a:r>
              <a:rPr lang="en-US" sz="11200" dirty="0" smtClean="0">
                <a:latin typeface="Arial Narrow" pitchFamily="34" charset="0"/>
              </a:rPr>
              <a:t>and innate </a:t>
            </a:r>
            <a:r>
              <a:rPr lang="en-US" sz="11200" dirty="0">
                <a:latin typeface="Arial Narrow" pitchFamily="34" charset="0"/>
              </a:rPr>
              <a:t>patterns of both humans and animals </a:t>
            </a:r>
            <a:r>
              <a:rPr lang="en-US" sz="11200" dirty="0" smtClean="0">
                <a:latin typeface="Arial Narrow" pitchFamily="34" charset="0"/>
              </a:rPr>
              <a:t>behavior. It realize that some human behavior is controlled by hereditary factors. </a:t>
            </a:r>
          </a:p>
          <a:p>
            <a:pPr marL="514350" indent="-514350">
              <a:buNone/>
            </a:pPr>
            <a:r>
              <a:rPr lang="en-US" sz="11200" dirty="0" smtClean="0">
                <a:latin typeface="Arial Narrow" pitchFamily="34" charset="0"/>
              </a:rPr>
              <a:t>For example, animals are governed </a:t>
            </a:r>
            <a:r>
              <a:rPr lang="en-US" sz="11200" dirty="0">
                <a:latin typeface="Arial Narrow" pitchFamily="34" charset="0"/>
              </a:rPr>
              <a:t>by their </a:t>
            </a:r>
            <a:r>
              <a:rPr lang="en-US" sz="11200" dirty="0">
                <a:solidFill>
                  <a:srgbClr val="FF0000"/>
                </a:solidFill>
                <a:latin typeface="Arial Narrow" pitchFamily="34" charset="0"/>
              </a:rPr>
              <a:t>instincts</a:t>
            </a:r>
            <a:r>
              <a:rPr lang="en-US" sz="11200" dirty="0">
                <a:latin typeface="Arial Narrow" pitchFamily="34" charset="0"/>
              </a:rPr>
              <a:t> to do things such as </a:t>
            </a:r>
            <a:r>
              <a:rPr lang="en-US" sz="11200" dirty="0" smtClean="0">
                <a:latin typeface="Arial Narrow" pitchFamily="34" charset="0"/>
              </a:rPr>
              <a:t> reproducing, migrating</a:t>
            </a:r>
            <a:r>
              <a:rPr lang="en-US" sz="11200" dirty="0">
                <a:latin typeface="Arial Narrow" pitchFamily="34" charset="0"/>
              </a:rPr>
              <a:t>, nest building, mating </a:t>
            </a:r>
            <a:r>
              <a:rPr lang="en-US" sz="11200" dirty="0" smtClean="0">
                <a:latin typeface="Arial Narrow" pitchFamily="34" charset="0"/>
              </a:rPr>
              <a:t>and protecting </a:t>
            </a:r>
            <a:r>
              <a:rPr lang="en-US" sz="11200" dirty="0">
                <a:latin typeface="Arial Narrow" pitchFamily="34" charset="0"/>
              </a:rPr>
              <a:t>their territory, early researchers proposed that human beings may also be </a:t>
            </a:r>
            <a:r>
              <a:rPr lang="en-US" sz="11200" dirty="0" smtClean="0">
                <a:latin typeface="Arial Narrow" pitchFamily="34" charset="0"/>
              </a:rPr>
              <a:t>governed by </a:t>
            </a:r>
            <a:r>
              <a:rPr lang="en-US" sz="11200" dirty="0">
                <a:latin typeface="Arial Narrow" pitchFamily="34" charset="0"/>
              </a:rPr>
              <a:t>similar instincts. </a:t>
            </a:r>
            <a:endParaRPr lang="en-US" sz="11200" dirty="0" smtClean="0">
              <a:latin typeface="Arial Narrow" pitchFamily="34" charset="0"/>
            </a:endParaRPr>
          </a:p>
          <a:p>
            <a:pPr marL="514350" indent="-514350">
              <a:buNone/>
            </a:pPr>
            <a:r>
              <a:rPr lang="en-US" sz="11200" dirty="0">
                <a:latin typeface="Arial Narrow" pitchFamily="34" charset="0"/>
              </a:rPr>
              <a:t>The early theorists and psychologists listed thousands of instincts in humans </a:t>
            </a:r>
            <a:r>
              <a:rPr lang="en-US" sz="11200" dirty="0" smtClean="0">
                <a:latin typeface="Arial Narrow" pitchFamily="34" charset="0"/>
              </a:rPr>
              <a:t>including curiosity</a:t>
            </a:r>
            <a:r>
              <a:rPr lang="en-US" sz="11200" dirty="0">
                <a:latin typeface="Arial Narrow" pitchFamily="34" charset="0"/>
              </a:rPr>
              <a:t>, flight (running away), pugnacity (aggressiveness), and acquisition (</a:t>
            </a:r>
            <a:r>
              <a:rPr lang="en-US" sz="11200" dirty="0" smtClean="0">
                <a:latin typeface="Arial Narrow" pitchFamily="34" charset="0"/>
              </a:rPr>
              <a:t>gathering possessions</a:t>
            </a:r>
            <a:r>
              <a:rPr lang="en-US" sz="11200" dirty="0">
                <a:latin typeface="Arial Narrow" pitchFamily="34" charset="0"/>
              </a:rPr>
              <a:t>).</a:t>
            </a:r>
            <a:r>
              <a:rPr lang="en-US" sz="11200" dirty="0" smtClean="0">
                <a:latin typeface="Arial Narrow" pitchFamily="34" charset="0"/>
              </a:rPr>
              <a:t> </a:t>
            </a:r>
            <a:br>
              <a:rPr lang="en-US" sz="11200" dirty="0" smtClean="0">
                <a:latin typeface="Arial Narrow" pitchFamily="34" charset="0"/>
              </a:rPr>
            </a:br>
            <a:r>
              <a:rPr lang="en-US" sz="11200" dirty="0" smtClean="0">
                <a:latin typeface="Arial Narrow" pitchFamily="34" charset="0"/>
              </a:rPr>
              <a:t> </a:t>
            </a:r>
            <a:r>
              <a:rPr lang="en-US" dirty="0" smtClean="0"/>
              <a:t/>
            </a:r>
            <a:br>
              <a:rPr lang="en-US" dirty="0" smtClean="0"/>
            </a:br>
            <a:r>
              <a:rPr lang="en-US" dirty="0" smtClean="0"/>
              <a:t> </a:t>
            </a:r>
            <a:br>
              <a:rPr lang="en-US" dirty="0" smtClean="0"/>
            </a:br>
            <a:endParaRPr lang="en-US" dirty="0" smtClean="0">
              <a:latin typeface="Arial Narrow" pitchFamily="34" charset="0"/>
            </a:endParaRPr>
          </a:p>
          <a:p>
            <a:pPr>
              <a:buFont typeface="Wingdings" pitchFamily="2" charset="2"/>
              <a:buChar char="Ø"/>
            </a:pPr>
            <a:endParaRPr lang="en-US" dirty="0">
              <a:latin typeface="Arial Narrow" pitchFamily="34" charset="0"/>
            </a:endParaRPr>
          </a:p>
          <a:p>
            <a:pPr>
              <a:buFont typeface="Wingdings" pitchFamily="2" charset="2"/>
              <a:buChar char="Ø"/>
            </a:pPr>
            <a:endParaRPr lang="en-US" dirty="0">
              <a:latin typeface="Arial Narrow"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b="1" dirty="0"/>
              <a:t/>
            </a:r>
            <a:br>
              <a:rPr lang="en-US" b="1" dirty="0"/>
            </a:br>
            <a:r>
              <a:rPr lang="en-US" sz="4000" b="1" dirty="0" smtClean="0">
                <a:latin typeface="Arial Narrow" pitchFamily="34" charset="0"/>
              </a:rPr>
              <a:t>b</a:t>
            </a:r>
            <a:r>
              <a:rPr lang="en-US" sz="4000" b="1" dirty="0">
                <a:latin typeface="Arial Narrow" pitchFamily="34" charset="0"/>
              </a:rPr>
              <a:t>) Drive-reduction approaches to motivation</a:t>
            </a:r>
            <a:r>
              <a:rPr lang="en-US" sz="4000" dirty="0" smtClean="0">
                <a:latin typeface="Arial Narrow" pitchFamily="34" charset="0"/>
              </a:rPr>
              <a:t> </a:t>
            </a:r>
            <a:br>
              <a:rPr lang="en-US" sz="4000" dirty="0" smtClean="0">
                <a:latin typeface="Arial Narrow" pitchFamily="34" charset="0"/>
              </a:rPr>
            </a:br>
            <a:endParaRPr lang="en-US" sz="4000" dirty="0">
              <a:latin typeface="Arial Narrow" pitchFamily="34" charset="0"/>
            </a:endParaRPr>
          </a:p>
        </p:txBody>
      </p:sp>
      <p:sp>
        <p:nvSpPr>
          <p:cNvPr id="3" name="Content Placeholder 2"/>
          <p:cNvSpPr>
            <a:spLocks noGrp="1"/>
          </p:cNvSpPr>
          <p:nvPr>
            <p:ph idx="1"/>
          </p:nvPr>
        </p:nvSpPr>
        <p:spPr>
          <a:xfrm>
            <a:off x="228600" y="914400"/>
            <a:ext cx="8686800" cy="5715000"/>
          </a:xfrm>
        </p:spPr>
        <p:txBody>
          <a:bodyPr>
            <a:normAutofit fontScale="25000" lnSpcReduction="20000"/>
          </a:bodyPr>
          <a:lstStyle/>
          <a:p>
            <a:r>
              <a:rPr lang="en-US" sz="11200" dirty="0">
                <a:latin typeface="Arial Narrow" pitchFamily="34" charset="0"/>
              </a:rPr>
              <a:t>A </a:t>
            </a:r>
            <a:r>
              <a:rPr lang="en-US" sz="11200" i="1" dirty="0">
                <a:latin typeface="Arial Narrow" pitchFamily="34" charset="0"/>
              </a:rPr>
              <a:t>need </a:t>
            </a:r>
            <a:r>
              <a:rPr lang="en-US" sz="11200" dirty="0">
                <a:latin typeface="Arial Narrow" pitchFamily="34" charset="0"/>
              </a:rPr>
              <a:t>is a requirement of some material (such as food or water) that is essential for </a:t>
            </a:r>
            <a:r>
              <a:rPr lang="en-US" sz="11200" dirty="0" smtClean="0">
                <a:latin typeface="Arial Narrow" pitchFamily="34" charset="0"/>
              </a:rPr>
              <a:t>the survival </a:t>
            </a:r>
            <a:r>
              <a:rPr lang="en-US" sz="11200" dirty="0">
                <a:latin typeface="Arial Narrow" pitchFamily="34" charset="0"/>
              </a:rPr>
              <a:t>of the organism. </a:t>
            </a:r>
            <a:endParaRPr lang="en-US" sz="11200" dirty="0" smtClean="0">
              <a:latin typeface="Arial Narrow" pitchFamily="34" charset="0"/>
            </a:endParaRPr>
          </a:p>
          <a:p>
            <a:r>
              <a:rPr lang="en-US" sz="11200" dirty="0" smtClean="0">
                <a:latin typeface="Arial Narrow" pitchFamily="34" charset="0"/>
              </a:rPr>
              <a:t>When </a:t>
            </a:r>
            <a:r>
              <a:rPr lang="en-US" sz="11200" dirty="0">
                <a:latin typeface="Arial Narrow" pitchFamily="34" charset="0"/>
              </a:rPr>
              <a:t>an organism has a need, it leads to a </a:t>
            </a:r>
            <a:r>
              <a:rPr lang="en-US" sz="11200" dirty="0">
                <a:solidFill>
                  <a:srgbClr val="FF0000"/>
                </a:solidFill>
                <a:latin typeface="Arial Narrow" pitchFamily="34" charset="0"/>
              </a:rPr>
              <a:t>psychological tension</a:t>
            </a:r>
            <a:r>
              <a:rPr lang="en-US" sz="11200" dirty="0">
                <a:latin typeface="Arial Narrow" pitchFamily="34" charset="0"/>
              </a:rPr>
              <a:t> </a:t>
            </a:r>
            <a:r>
              <a:rPr lang="en-US" sz="11200" dirty="0" smtClean="0">
                <a:latin typeface="Arial Narrow" pitchFamily="34" charset="0"/>
              </a:rPr>
              <a:t>as well </a:t>
            </a:r>
            <a:r>
              <a:rPr lang="en-US" sz="11200" dirty="0">
                <a:latin typeface="Arial Narrow" pitchFamily="34" charset="0"/>
              </a:rPr>
              <a:t>as physical arousal to fulfill the need and reduce the tension. This tension is called </a:t>
            </a:r>
            <a:r>
              <a:rPr lang="en-US" sz="11200" i="1" dirty="0">
                <a:latin typeface="Arial Narrow" pitchFamily="34" charset="0"/>
              </a:rPr>
              <a:t>drive</a:t>
            </a:r>
            <a:r>
              <a:rPr lang="en-US" sz="11200" i="1" dirty="0" smtClean="0">
                <a:latin typeface="Arial Narrow" pitchFamily="34" charset="0"/>
              </a:rPr>
              <a:t>.</a:t>
            </a:r>
          </a:p>
          <a:p>
            <a:r>
              <a:rPr lang="en-US" sz="11200" dirty="0">
                <a:latin typeface="Arial Narrow" pitchFamily="34" charset="0"/>
              </a:rPr>
              <a:t>Drive-reduction theory proposes just this connection between internal psychological </a:t>
            </a:r>
            <a:r>
              <a:rPr lang="en-US" sz="11200" dirty="0" smtClean="0">
                <a:latin typeface="Arial Narrow" pitchFamily="34" charset="0"/>
              </a:rPr>
              <a:t>states and </a:t>
            </a:r>
            <a:r>
              <a:rPr lang="en-US" sz="11200" dirty="0">
                <a:latin typeface="Arial Narrow" pitchFamily="34" charset="0"/>
              </a:rPr>
              <a:t>outward behavior. In this theory, there are two kinds of </a:t>
            </a:r>
            <a:r>
              <a:rPr lang="en-US" sz="11200" dirty="0" smtClean="0">
                <a:latin typeface="Arial Narrow" pitchFamily="34" charset="0"/>
              </a:rPr>
              <a:t>drives.</a:t>
            </a:r>
          </a:p>
          <a:p>
            <a:pPr lvl="1"/>
            <a:r>
              <a:rPr lang="en-US" sz="11200" i="1" dirty="0" smtClean="0">
                <a:latin typeface="Arial Narrow" pitchFamily="34" charset="0"/>
              </a:rPr>
              <a:t>Primary </a:t>
            </a:r>
            <a:r>
              <a:rPr lang="en-US" sz="11200" i="1" dirty="0">
                <a:latin typeface="Arial Narrow" pitchFamily="34" charset="0"/>
              </a:rPr>
              <a:t>drives </a:t>
            </a:r>
            <a:r>
              <a:rPr lang="en-US" sz="11200" dirty="0">
                <a:latin typeface="Arial Narrow" pitchFamily="34" charset="0"/>
              </a:rPr>
              <a:t>are those that involve survival needs of the body such as hunger and </a:t>
            </a:r>
            <a:r>
              <a:rPr lang="en-US" sz="11200" dirty="0" smtClean="0">
                <a:latin typeface="Arial Narrow" pitchFamily="34" charset="0"/>
              </a:rPr>
              <a:t>thirst </a:t>
            </a:r>
          </a:p>
          <a:p>
            <a:pPr lvl="1"/>
            <a:r>
              <a:rPr lang="en-US" sz="11200" dirty="0" smtClean="0">
                <a:latin typeface="Arial Narrow" pitchFamily="34" charset="0"/>
              </a:rPr>
              <a:t>Secondary (acquired) </a:t>
            </a:r>
            <a:r>
              <a:rPr lang="en-US" sz="11200" dirty="0">
                <a:latin typeface="Arial Narrow" pitchFamily="34" charset="0"/>
              </a:rPr>
              <a:t>drives are those that are learned through experience </a:t>
            </a:r>
            <a:r>
              <a:rPr lang="en-US" sz="11200" dirty="0" smtClean="0">
                <a:latin typeface="Arial Narrow" pitchFamily="34" charset="0"/>
              </a:rPr>
              <a:t>or conditioning</a:t>
            </a:r>
            <a:r>
              <a:rPr lang="en-US" sz="11200" dirty="0">
                <a:latin typeface="Arial Narrow" pitchFamily="34" charset="0"/>
              </a:rPr>
              <a:t>, such as the need for money, social approval</a:t>
            </a:r>
            <a:r>
              <a:rPr lang="en-US" sz="11200" dirty="0" smtClean="0">
                <a:latin typeface="Arial Narrow" pitchFamily="34" charset="0"/>
              </a:rPr>
              <a:t>.</a:t>
            </a:r>
            <a:endParaRPr lang="en-US" sz="11200" dirty="0">
              <a:latin typeface="Arial Narrow" pitchFamily="34" charset="0"/>
            </a:endParaRPr>
          </a:p>
          <a:p>
            <a:r>
              <a:rPr lang="en-US" sz="11200" dirty="0" smtClean="0">
                <a:latin typeface="Arial Narrow" pitchFamily="34" charset="0"/>
              </a:rPr>
              <a:t>This </a:t>
            </a:r>
            <a:r>
              <a:rPr lang="en-US" sz="11200" dirty="0">
                <a:latin typeface="Arial Narrow" pitchFamily="34" charset="0"/>
              </a:rPr>
              <a:t>theory also includes the concept of homeostasis, or the tendency of the body to </a:t>
            </a:r>
            <a:r>
              <a:rPr lang="en-US" sz="11200" dirty="0" smtClean="0">
                <a:latin typeface="Arial Narrow" pitchFamily="34" charset="0"/>
              </a:rPr>
              <a:t>maintain a </a:t>
            </a:r>
            <a:r>
              <a:rPr lang="en-US" sz="11200" dirty="0">
                <a:latin typeface="Arial Narrow" pitchFamily="34" charset="0"/>
              </a:rPr>
              <a:t>steady-state.</a:t>
            </a:r>
            <a:r>
              <a:rPr lang="en-US" sz="9600" dirty="0" smtClean="0">
                <a:latin typeface="Arial Narrow" pitchFamily="34" charset="0"/>
              </a:rPr>
              <a:t> </a:t>
            </a: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563562"/>
          </a:xfrm>
        </p:spPr>
        <p:txBody>
          <a:bodyPr>
            <a:noAutofit/>
          </a:bodyPr>
          <a:lstStyle/>
          <a:p>
            <a:r>
              <a:rPr lang="en-US" sz="3200" b="1" dirty="0" smtClean="0">
                <a:latin typeface="Arial Narrow" pitchFamily="34" charset="0"/>
              </a:rPr>
              <a:t>c) Arousal approaches: beyond drive reduction</a:t>
            </a:r>
            <a:endParaRPr lang="en-US" sz="3200" dirty="0"/>
          </a:p>
        </p:txBody>
      </p:sp>
      <p:sp>
        <p:nvSpPr>
          <p:cNvPr id="3" name="Content Placeholder 2"/>
          <p:cNvSpPr>
            <a:spLocks noGrp="1"/>
          </p:cNvSpPr>
          <p:nvPr>
            <p:ph idx="1"/>
          </p:nvPr>
        </p:nvSpPr>
        <p:spPr>
          <a:xfrm>
            <a:off x="228600" y="1143000"/>
            <a:ext cx="8686800" cy="5486400"/>
          </a:xfrm>
        </p:spPr>
        <p:txBody>
          <a:bodyPr>
            <a:normAutofit fontScale="92500" lnSpcReduction="10000"/>
          </a:bodyPr>
          <a:lstStyle/>
          <a:p>
            <a:pPr>
              <a:buNone/>
            </a:pPr>
            <a:r>
              <a:rPr lang="en-US" dirty="0" smtClean="0">
                <a:latin typeface="Arial Narrow" pitchFamily="34" charset="0"/>
              </a:rPr>
              <a:t>Arousal </a:t>
            </a:r>
            <a:r>
              <a:rPr lang="en-US" dirty="0">
                <a:latin typeface="Arial Narrow" pitchFamily="34" charset="0"/>
              </a:rPr>
              <a:t>approaches seek to explain behavior in which the </a:t>
            </a:r>
            <a:r>
              <a:rPr lang="en-US" dirty="0">
                <a:solidFill>
                  <a:srgbClr val="FF0000"/>
                </a:solidFill>
                <a:latin typeface="Arial Narrow" pitchFamily="34" charset="0"/>
              </a:rPr>
              <a:t>goal is to maintain or </a:t>
            </a:r>
            <a:r>
              <a:rPr lang="en-US" dirty="0" smtClean="0">
                <a:solidFill>
                  <a:srgbClr val="FF0000"/>
                </a:solidFill>
                <a:latin typeface="Arial Narrow" pitchFamily="34" charset="0"/>
              </a:rPr>
              <a:t>increase excitement</a:t>
            </a:r>
            <a:r>
              <a:rPr lang="en-US" dirty="0">
                <a:latin typeface="Arial Narrow" pitchFamily="34" charset="0"/>
              </a:rPr>
              <a:t>. </a:t>
            </a:r>
            <a:endParaRPr lang="en-US" dirty="0" smtClean="0">
              <a:latin typeface="Arial Narrow" pitchFamily="34" charset="0"/>
            </a:endParaRPr>
          </a:p>
          <a:p>
            <a:r>
              <a:rPr lang="en-US" dirty="0" smtClean="0">
                <a:latin typeface="Arial Narrow" pitchFamily="34" charset="0"/>
              </a:rPr>
              <a:t>According </a:t>
            </a:r>
            <a:r>
              <a:rPr lang="en-US" dirty="0">
                <a:latin typeface="Arial Narrow" pitchFamily="34" charset="0"/>
              </a:rPr>
              <a:t>to </a:t>
            </a:r>
            <a:r>
              <a:rPr lang="en-US" b="1" dirty="0">
                <a:latin typeface="Arial Narrow" pitchFamily="34" charset="0"/>
              </a:rPr>
              <a:t>arousal </a:t>
            </a:r>
            <a:r>
              <a:rPr lang="en-US" b="1" dirty="0" smtClean="0">
                <a:latin typeface="Arial Narrow" pitchFamily="34" charset="0"/>
              </a:rPr>
              <a:t>approaches, </a:t>
            </a:r>
            <a:r>
              <a:rPr lang="en-US" dirty="0">
                <a:latin typeface="Arial Narrow" pitchFamily="34" charset="0"/>
              </a:rPr>
              <a:t>each person tries to </a:t>
            </a:r>
            <a:r>
              <a:rPr lang="en-US" dirty="0">
                <a:solidFill>
                  <a:srgbClr val="FF0000"/>
                </a:solidFill>
                <a:latin typeface="Arial Narrow" pitchFamily="34" charset="0"/>
              </a:rPr>
              <a:t>maintain </a:t>
            </a:r>
            <a:r>
              <a:rPr lang="en-US" dirty="0" smtClean="0">
                <a:solidFill>
                  <a:srgbClr val="FF0000"/>
                </a:solidFill>
                <a:latin typeface="Arial Narrow" pitchFamily="34" charset="0"/>
              </a:rPr>
              <a:t>a certain </a:t>
            </a:r>
            <a:r>
              <a:rPr lang="en-US" dirty="0">
                <a:solidFill>
                  <a:srgbClr val="FF0000"/>
                </a:solidFill>
                <a:latin typeface="Arial Narrow" pitchFamily="34" charset="0"/>
              </a:rPr>
              <a:t>level </a:t>
            </a:r>
            <a:r>
              <a:rPr lang="en-US" dirty="0">
                <a:latin typeface="Arial Narrow" pitchFamily="34" charset="0"/>
              </a:rPr>
              <a:t>of stimulation and activity. </a:t>
            </a:r>
            <a:endParaRPr lang="en-US" dirty="0" smtClean="0">
              <a:latin typeface="Arial Narrow" pitchFamily="34" charset="0"/>
            </a:endParaRPr>
          </a:p>
          <a:p>
            <a:r>
              <a:rPr lang="en-US" dirty="0" smtClean="0">
                <a:latin typeface="Arial Narrow" pitchFamily="34" charset="0"/>
              </a:rPr>
              <a:t>As </a:t>
            </a:r>
            <a:r>
              <a:rPr lang="en-US" dirty="0">
                <a:latin typeface="Arial Narrow" pitchFamily="34" charset="0"/>
              </a:rPr>
              <a:t>with the drive-reduction model, this </a:t>
            </a:r>
            <a:r>
              <a:rPr lang="en-US" dirty="0" smtClean="0">
                <a:latin typeface="Arial Narrow" pitchFamily="34" charset="0"/>
              </a:rPr>
              <a:t>approach suggests </a:t>
            </a:r>
            <a:r>
              <a:rPr lang="en-US" dirty="0">
                <a:latin typeface="Arial Narrow" pitchFamily="34" charset="0"/>
              </a:rPr>
              <a:t>that if our stimulation and activity levels become </a:t>
            </a:r>
            <a:r>
              <a:rPr lang="en-US" dirty="0">
                <a:solidFill>
                  <a:srgbClr val="FF0000"/>
                </a:solidFill>
                <a:latin typeface="Arial Narrow" pitchFamily="34" charset="0"/>
              </a:rPr>
              <a:t>too high</a:t>
            </a:r>
            <a:r>
              <a:rPr lang="en-US" dirty="0">
                <a:latin typeface="Arial Narrow" pitchFamily="34" charset="0"/>
              </a:rPr>
              <a:t>, we try to reduce </a:t>
            </a:r>
            <a:r>
              <a:rPr lang="en-US" dirty="0" smtClean="0">
                <a:latin typeface="Arial Narrow" pitchFamily="34" charset="0"/>
              </a:rPr>
              <a:t>them.</a:t>
            </a:r>
          </a:p>
          <a:p>
            <a:r>
              <a:rPr lang="en-US" dirty="0" smtClean="0">
                <a:latin typeface="Arial Narrow" pitchFamily="34" charset="0"/>
              </a:rPr>
              <a:t>But</a:t>
            </a:r>
            <a:r>
              <a:rPr lang="en-US" dirty="0">
                <a:latin typeface="Arial Narrow" pitchFamily="34" charset="0"/>
              </a:rPr>
              <a:t>, in contrast to the drive-reduction perspective, the arousal approach also suggests that </a:t>
            </a:r>
            <a:r>
              <a:rPr lang="en-US" dirty="0" smtClean="0">
                <a:latin typeface="Arial Narrow" pitchFamily="34" charset="0"/>
              </a:rPr>
              <a:t>if levels </a:t>
            </a:r>
            <a:r>
              <a:rPr lang="en-US" dirty="0">
                <a:latin typeface="Arial Narrow" pitchFamily="34" charset="0"/>
              </a:rPr>
              <a:t>of stimulation and activity are </a:t>
            </a:r>
            <a:r>
              <a:rPr lang="en-US" dirty="0">
                <a:solidFill>
                  <a:srgbClr val="FF0000"/>
                </a:solidFill>
                <a:latin typeface="Arial Narrow" pitchFamily="34" charset="0"/>
              </a:rPr>
              <a:t>too low</a:t>
            </a:r>
            <a:r>
              <a:rPr lang="en-US" dirty="0">
                <a:latin typeface="Arial Narrow" pitchFamily="34" charset="0"/>
              </a:rPr>
              <a:t>, we will try to increase them by </a:t>
            </a:r>
            <a:r>
              <a:rPr lang="en-US" dirty="0" smtClean="0">
                <a:latin typeface="Arial Narrow" pitchFamily="34" charset="0"/>
              </a:rPr>
              <a:t>seeking stimulation</a:t>
            </a:r>
            <a:r>
              <a:rPr lang="en-US" dirty="0">
                <a:latin typeface="Arial Narrow" pitchFamily="34" charset="0"/>
              </a:rPr>
              <a:t>.</a:t>
            </a:r>
            <a:r>
              <a:rPr lang="en-US" dirty="0" smtClean="0"/>
              <a:t> </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Autofit/>
          </a:bodyPr>
          <a:lstStyle/>
          <a:p>
            <a:r>
              <a:rPr lang="en-US" sz="3200" b="1" dirty="0" smtClean="0">
                <a:latin typeface="Arial Narrow" pitchFamily="34" charset="0"/>
              </a:rPr>
              <a:t>d) Incentive approaches: motivation’s pull</a:t>
            </a:r>
            <a:endParaRPr lang="en-US" sz="3200" dirty="0"/>
          </a:p>
        </p:txBody>
      </p:sp>
      <p:sp>
        <p:nvSpPr>
          <p:cNvPr id="3" name="Content Placeholder 2"/>
          <p:cNvSpPr>
            <a:spLocks noGrp="1"/>
          </p:cNvSpPr>
          <p:nvPr>
            <p:ph idx="1"/>
          </p:nvPr>
        </p:nvSpPr>
        <p:spPr>
          <a:xfrm>
            <a:off x="228600" y="1066800"/>
            <a:ext cx="8686800" cy="5562600"/>
          </a:xfrm>
        </p:spPr>
        <p:txBody>
          <a:bodyPr>
            <a:normAutofit fontScale="25000" lnSpcReduction="20000"/>
          </a:bodyPr>
          <a:lstStyle/>
          <a:p>
            <a:pPr>
              <a:lnSpc>
                <a:spcPct val="120000"/>
              </a:lnSpc>
              <a:spcBef>
                <a:spcPts val="600"/>
              </a:spcBef>
              <a:buNone/>
            </a:pPr>
            <a:r>
              <a:rPr lang="en-US" sz="11200" dirty="0" smtClean="0">
                <a:latin typeface="Arial Narrow" pitchFamily="34" charset="0"/>
              </a:rPr>
              <a:t>Incentive approaches </a:t>
            </a:r>
            <a:r>
              <a:rPr lang="en-US" sz="11200" dirty="0">
                <a:latin typeface="Arial Narrow" pitchFamily="34" charset="0"/>
              </a:rPr>
              <a:t>suggest that motivation stems from the desire to </a:t>
            </a:r>
            <a:r>
              <a:rPr lang="en-US" sz="11200" dirty="0" smtClean="0">
                <a:latin typeface="Arial Narrow" pitchFamily="34" charset="0"/>
              </a:rPr>
              <a:t>attain </a:t>
            </a:r>
            <a:r>
              <a:rPr lang="en-US" sz="11200" dirty="0" smtClean="0">
                <a:solidFill>
                  <a:srgbClr val="FF0000"/>
                </a:solidFill>
                <a:latin typeface="Arial Narrow" pitchFamily="34" charset="0"/>
              </a:rPr>
              <a:t>external </a:t>
            </a:r>
            <a:r>
              <a:rPr lang="en-US" sz="11200" dirty="0">
                <a:solidFill>
                  <a:srgbClr val="FF0000"/>
                </a:solidFill>
                <a:latin typeface="Arial Narrow" pitchFamily="34" charset="0"/>
              </a:rPr>
              <a:t>rewards</a:t>
            </a:r>
            <a:r>
              <a:rPr lang="en-US" sz="11200" dirty="0">
                <a:latin typeface="Arial Narrow" pitchFamily="34" charset="0"/>
              </a:rPr>
              <a:t>, known as incentives</a:t>
            </a:r>
            <a:r>
              <a:rPr lang="en-US" sz="11200" dirty="0" smtClean="0">
                <a:latin typeface="Arial Narrow" pitchFamily="34" charset="0"/>
              </a:rPr>
              <a:t>.</a:t>
            </a:r>
          </a:p>
          <a:p>
            <a:pPr>
              <a:lnSpc>
                <a:spcPct val="120000"/>
              </a:lnSpc>
              <a:spcBef>
                <a:spcPts val="600"/>
              </a:spcBef>
            </a:pPr>
            <a:r>
              <a:rPr lang="en-US" sz="11200" dirty="0" smtClean="0">
                <a:latin typeface="Arial Narrow" pitchFamily="34" charset="0"/>
              </a:rPr>
              <a:t>In </a:t>
            </a:r>
            <a:r>
              <a:rPr lang="en-US" sz="11200" dirty="0">
                <a:latin typeface="Arial Narrow" pitchFamily="34" charset="0"/>
              </a:rPr>
              <a:t>this view</a:t>
            </a:r>
            <a:r>
              <a:rPr lang="en-US" sz="11200" dirty="0" smtClean="0">
                <a:latin typeface="Arial Narrow" pitchFamily="34" charset="0"/>
              </a:rPr>
              <a:t>, external stimuli such as </a:t>
            </a:r>
            <a:r>
              <a:rPr lang="en-US" sz="11200" dirty="0">
                <a:latin typeface="Arial Narrow" pitchFamily="34" charset="0"/>
              </a:rPr>
              <a:t>grades, money, affection, food, or </a:t>
            </a:r>
            <a:r>
              <a:rPr lang="en-US" sz="11200" dirty="0" smtClean="0">
                <a:latin typeface="Arial Narrow" pitchFamily="34" charset="0"/>
              </a:rPr>
              <a:t>sex - account </a:t>
            </a:r>
            <a:r>
              <a:rPr lang="en-US" sz="11200" dirty="0">
                <a:latin typeface="Arial Narrow" pitchFamily="34" charset="0"/>
              </a:rPr>
              <a:t>for a </a:t>
            </a:r>
            <a:r>
              <a:rPr lang="en-US" sz="11200" dirty="0" smtClean="0">
                <a:latin typeface="Arial Narrow" pitchFamily="34" charset="0"/>
              </a:rPr>
              <a:t>person‘s motivation</a:t>
            </a:r>
            <a:r>
              <a:rPr lang="en-US" sz="11200" dirty="0">
                <a:latin typeface="Arial Narrow" pitchFamily="34" charset="0"/>
              </a:rPr>
              <a:t>. </a:t>
            </a:r>
            <a:endParaRPr lang="en-US" sz="11200" dirty="0" smtClean="0">
              <a:latin typeface="Arial Narrow" pitchFamily="34" charset="0"/>
            </a:endParaRPr>
          </a:p>
          <a:p>
            <a:pPr>
              <a:lnSpc>
                <a:spcPct val="120000"/>
              </a:lnSpc>
              <a:spcBef>
                <a:spcPts val="600"/>
              </a:spcBef>
            </a:pPr>
            <a:r>
              <a:rPr lang="en-US" sz="11200" dirty="0" smtClean="0">
                <a:latin typeface="Arial Narrow" pitchFamily="34" charset="0"/>
              </a:rPr>
              <a:t>Many </a:t>
            </a:r>
            <a:r>
              <a:rPr lang="en-US" sz="11200" dirty="0">
                <a:latin typeface="Arial Narrow" pitchFamily="34" charset="0"/>
              </a:rPr>
              <a:t>psychologists believe that the </a:t>
            </a:r>
            <a:r>
              <a:rPr lang="en-US" sz="11200" dirty="0">
                <a:solidFill>
                  <a:srgbClr val="FF0000"/>
                </a:solidFill>
                <a:latin typeface="Arial Narrow" pitchFamily="34" charset="0"/>
              </a:rPr>
              <a:t>internal drives </a:t>
            </a:r>
            <a:r>
              <a:rPr lang="en-US" sz="11200" dirty="0" smtClean="0">
                <a:solidFill>
                  <a:srgbClr val="FF0000"/>
                </a:solidFill>
                <a:latin typeface="Arial Narrow" pitchFamily="34" charset="0"/>
              </a:rPr>
              <a:t>“push” </a:t>
            </a:r>
            <a:r>
              <a:rPr lang="en-US" sz="11200" dirty="0" smtClean="0">
                <a:latin typeface="Arial Narrow" pitchFamily="34" charset="0"/>
              </a:rPr>
              <a:t>proposed </a:t>
            </a:r>
            <a:r>
              <a:rPr lang="en-US" sz="11200" dirty="0">
                <a:latin typeface="Arial Narrow" pitchFamily="34" charset="0"/>
              </a:rPr>
              <a:t>by </a:t>
            </a:r>
            <a:r>
              <a:rPr lang="en-US" sz="11200" dirty="0" smtClean="0">
                <a:latin typeface="Arial Narrow" pitchFamily="34" charset="0"/>
              </a:rPr>
              <a:t>drive-reduction theory </a:t>
            </a:r>
            <a:r>
              <a:rPr lang="en-US" sz="11200" dirty="0">
                <a:latin typeface="Arial Narrow" pitchFamily="34" charset="0"/>
              </a:rPr>
              <a:t>work in a cycle with the external incentives of </a:t>
            </a:r>
            <a:r>
              <a:rPr lang="en-US" sz="11200" dirty="0">
                <a:solidFill>
                  <a:srgbClr val="FF0000"/>
                </a:solidFill>
                <a:latin typeface="Arial Narrow" pitchFamily="34" charset="0"/>
              </a:rPr>
              <a:t>incentive </a:t>
            </a:r>
            <a:r>
              <a:rPr lang="en-US" sz="11200" dirty="0" smtClean="0">
                <a:solidFill>
                  <a:srgbClr val="FF0000"/>
                </a:solidFill>
                <a:latin typeface="Arial Narrow" pitchFamily="34" charset="0"/>
              </a:rPr>
              <a:t>“pull” </a:t>
            </a:r>
            <a:r>
              <a:rPr lang="en-US" sz="11200" dirty="0" smtClean="0">
                <a:latin typeface="Arial Narrow" pitchFamily="34" charset="0"/>
              </a:rPr>
              <a:t>theory.</a:t>
            </a:r>
          </a:p>
          <a:p>
            <a:pPr>
              <a:lnSpc>
                <a:spcPct val="120000"/>
              </a:lnSpc>
              <a:spcBef>
                <a:spcPts val="600"/>
              </a:spcBef>
            </a:pPr>
            <a:r>
              <a:rPr lang="en-US" sz="11200" dirty="0" smtClean="0">
                <a:latin typeface="Arial Narrow" pitchFamily="34" charset="0"/>
              </a:rPr>
              <a:t>Hence</a:t>
            </a:r>
            <a:r>
              <a:rPr lang="en-US" sz="11200" dirty="0">
                <a:latin typeface="Arial Narrow" pitchFamily="34" charset="0"/>
              </a:rPr>
              <a:t>, at the same time that we seek to satisfy our underlying </a:t>
            </a:r>
            <a:r>
              <a:rPr lang="en-US" sz="11200" dirty="0" smtClean="0">
                <a:latin typeface="Arial Narrow" pitchFamily="34" charset="0"/>
              </a:rPr>
              <a:t>hunger needs </a:t>
            </a:r>
            <a:r>
              <a:rPr lang="en-US" sz="11200" dirty="0">
                <a:latin typeface="Arial Narrow" pitchFamily="34" charset="0"/>
              </a:rPr>
              <a:t>(the push of drive-reduction theory), we are drawn to food </a:t>
            </a:r>
            <a:r>
              <a:rPr lang="en-US" sz="11200" dirty="0" smtClean="0">
                <a:latin typeface="Arial Narrow" pitchFamily="34" charset="0"/>
              </a:rPr>
              <a:t>(</a:t>
            </a:r>
            <a:r>
              <a:rPr lang="en-US" sz="11200" dirty="0">
                <a:latin typeface="Arial Narrow" pitchFamily="34" charset="0"/>
              </a:rPr>
              <a:t>the pull of incentive theory). </a:t>
            </a:r>
            <a:endParaRPr lang="en-US" sz="11200" dirty="0" smtClean="0">
              <a:latin typeface="Arial Narrow" pitchFamily="34" charset="0"/>
            </a:endParaRPr>
          </a:p>
          <a:p>
            <a:pPr>
              <a:lnSpc>
                <a:spcPct val="120000"/>
              </a:lnSpc>
              <a:spcBef>
                <a:spcPts val="600"/>
              </a:spcBef>
            </a:pPr>
            <a:r>
              <a:rPr lang="en-US" sz="11200" dirty="0" smtClean="0">
                <a:latin typeface="Arial Narrow" pitchFamily="34" charset="0"/>
              </a:rPr>
              <a:t>Rather </a:t>
            </a:r>
            <a:r>
              <a:rPr lang="en-US" sz="11200" dirty="0">
                <a:latin typeface="Arial Narrow" pitchFamily="34" charset="0"/>
              </a:rPr>
              <a:t>than contradicting each other, then, drives </a:t>
            </a:r>
            <a:r>
              <a:rPr lang="en-US" sz="11200" dirty="0" smtClean="0">
                <a:latin typeface="Arial Narrow" pitchFamily="34" charset="0"/>
              </a:rPr>
              <a:t>and incentives </a:t>
            </a:r>
            <a:r>
              <a:rPr lang="en-US" sz="11200" dirty="0">
                <a:latin typeface="Arial Narrow" pitchFamily="34" charset="0"/>
              </a:rPr>
              <a:t>may work together in motivating behavior.</a:t>
            </a:r>
            <a:r>
              <a:rPr lang="en-US" sz="112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762000"/>
          </a:xfrm>
        </p:spPr>
        <p:txBody>
          <a:bodyPr>
            <a:noAutofit/>
          </a:bodyPr>
          <a:lstStyle/>
          <a:p>
            <a:r>
              <a:rPr lang="en-US" sz="2800" b="1" dirty="0" smtClean="0">
                <a:latin typeface="Arial Narrow" pitchFamily="34" charset="0"/>
              </a:rPr>
              <a:t>e) Cognitive Approaches: the thoughts behind motivation</a:t>
            </a:r>
            <a:endParaRPr lang="en-US" sz="2800" dirty="0"/>
          </a:p>
        </p:txBody>
      </p:sp>
      <p:sp>
        <p:nvSpPr>
          <p:cNvPr id="3" name="Content Placeholder 2"/>
          <p:cNvSpPr>
            <a:spLocks noGrp="1"/>
          </p:cNvSpPr>
          <p:nvPr>
            <p:ph idx="1"/>
          </p:nvPr>
        </p:nvSpPr>
        <p:spPr>
          <a:xfrm>
            <a:off x="228600" y="990600"/>
            <a:ext cx="8686800" cy="5638800"/>
          </a:xfrm>
        </p:spPr>
        <p:txBody>
          <a:bodyPr>
            <a:normAutofit fontScale="25000" lnSpcReduction="20000"/>
          </a:bodyPr>
          <a:lstStyle/>
          <a:p>
            <a:r>
              <a:rPr lang="en-US" sz="11200" dirty="0" smtClean="0">
                <a:latin typeface="Arial Narrow" pitchFamily="34" charset="0"/>
              </a:rPr>
              <a:t>Cognitive </a:t>
            </a:r>
            <a:r>
              <a:rPr lang="en-US" sz="11200" dirty="0">
                <a:latin typeface="Arial Narrow" pitchFamily="34" charset="0"/>
              </a:rPr>
              <a:t>approaches to motivation suggest that motivation is a </a:t>
            </a:r>
            <a:r>
              <a:rPr lang="en-US" sz="11200" dirty="0">
                <a:solidFill>
                  <a:srgbClr val="FF0000"/>
                </a:solidFill>
                <a:latin typeface="Arial Narrow" pitchFamily="34" charset="0"/>
              </a:rPr>
              <a:t>result of </a:t>
            </a:r>
            <a:r>
              <a:rPr lang="en-US" sz="11200" dirty="0" smtClean="0">
                <a:solidFill>
                  <a:srgbClr val="FF0000"/>
                </a:solidFill>
                <a:latin typeface="Arial Narrow" pitchFamily="34" charset="0"/>
              </a:rPr>
              <a:t>people’s </a:t>
            </a:r>
            <a:r>
              <a:rPr lang="en-US" sz="11200" dirty="0">
                <a:solidFill>
                  <a:srgbClr val="FF0000"/>
                </a:solidFill>
                <a:latin typeface="Arial Narrow" pitchFamily="34" charset="0"/>
              </a:rPr>
              <a:t>thoughts</a:t>
            </a:r>
            <a:r>
              <a:rPr lang="en-US" sz="11200" dirty="0" smtClean="0">
                <a:solidFill>
                  <a:srgbClr val="FF0000"/>
                </a:solidFill>
                <a:latin typeface="Arial Narrow" pitchFamily="34" charset="0"/>
              </a:rPr>
              <a:t>, beliefs</a:t>
            </a:r>
            <a:r>
              <a:rPr lang="en-US" sz="11200" dirty="0">
                <a:solidFill>
                  <a:srgbClr val="FF0000"/>
                </a:solidFill>
                <a:latin typeface="Arial Narrow" pitchFamily="34" charset="0"/>
              </a:rPr>
              <a:t>, expectations, and goals</a:t>
            </a:r>
            <a:r>
              <a:rPr lang="en-US" sz="11200" dirty="0" smtClean="0">
                <a:latin typeface="Arial Narrow" pitchFamily="34" charset="0"/>
              </a:rPr>
              <a:t>.</a:t>
            </a:r>
          </a:p>
          <a:p>
            <a:pPr lvl="1">
              <a:buFont typeface="Wingdings" pitchFamily="2" charset="2"/>
              <a:buChar char="Ø"/>
            </a:pPr>
            <a:r>
              <a:rPr lang="en-US" sz="11200" dirty="0" smtClean="0">
                <a:latin typeface="Arial Narrow" pitchFamily="34" charset="0"/>
              </a:rPr>
              <a:t>For </a:t>
            </a:r>
            <a:r>
              <a:rPr lang="en-US" sz="11200" dirty="0">
                <a:latin typeface="Arial Narrow" pitchFamily="34" charset="0"/>
              </a:rPr>
              <a:t>instance, the degree to which people are motivated </a:t>
            </a:r>
            <a:r>
              <a:rPr lang="en-US" sz="11200" dirty="0" smtClean="0">
                <a:latin typeface="Arial Narrow" pitchFamily="34" charset="0"/>
              </a:rPr>
              <a:t>to study </a:t>
            </a:r>
            <a:r>
              <a:rPr lang="en-US" sz="11200" dirty="0">
                <a:latin typeface="Arial Narrow" pitchFamily="34" charset="0"/>
              </a:rPr>
              <a:t>for a test is based on their expectation of how well studying will pay off in terms of </a:t>
            </a:r>
            <a:r>
              <a:rPr lang="en-US" sz="11200" dirty="0" smtClean="0">
                <a:latin typeface="Arial Narrow" pitchFamily="34" charset="0"/>
              </a:rPr>
              <a:t>a good </a:t>
            </a:r>
            <a:r>
              <a:rPr lang="en-US" sz="11200" dirty="0">
                <a:latin typeface="Arial Narrow" pitchFamily="34" charset="0"/>
              </a:rPr>
              <a:t>grade</a:t>
            </a:r>
            <a:r>
              <a:rPr lang="en-US" sz="11200" dirty="0" smtClean="0">
                <a:latin typeface="Arial Narrow" pitchFamily="34" charset="0"/>
              </a:rPr>
              <a:t>.</a:t>
            </a:r>
          </a:p>
          <a:p>
            <a:r>
              <a:rPr lang="en-US" sz="11200" dirty="0" smtClean="0">
                <a:latin typeface="Arial Narrow" pitchFamily="34" charset="0"/>
              </a:rPr>
              <a:t>Cognitive </a:t>
            </a:r>
            <a:r>
              <a:rPr lang="en-US" sz="11200" dirty="0">
                <a:latin typeface="Arial Narrow" pitchFamily="34" charset="0"/>
              </a:rPr>
              <a:t>theories of motivation draw a key difference between intrinsic and </a:t>
            </a:r>
            <a:r>
              <a:rPr lang="en-US" sz="11200" dirty="0" smtClean="0">
                <a:latin typeface="Arial Narrow" pitchFamily="34" charset="0"/>
              </a:rPr>
              <a:t>extrinsic motivation</a:t>
            </a:r>
            <a:r>
              <a:rPr lang="en-US" sz="11200" dirty="0">
                <a:latin typeface="Arial Narrow" pitchFamily="34" charset="0"/>
              </a:rPr>
              <a:t>. </a:t>
            </a:r>
            <a:endParaRPr lang="en-US" sz="11200" dirty="0" smtClean="0">
              <a:latin typeface="Arial Narrow" pitchFamily="34" charset="0"/>
            </a:endParaRPr>
          </a:p>
          <a:p>
            <a:pPr lvl="1">
              <a:buFont typeface="Wingdings" pitchFamily="2" charset="2"/>
              <a:buChar char="Ø"/>
            </a:pPr>
            <a:r>
              <a:rPr lang="en-US" sz="11200" i="1" dirty="0" smtClean="0">
                <a:solidFill>
                  <a:srgbClr val="FF0000"/>
                </a:solidFill>
                <a:latin typeface="Arial Narrow" pitchFamily="34" charset="0"/>
              </a:rPr>
              <a:t>Intrinsic </a:t>
            </a:r>
            <a:r>
              <a:rPr lang="en-US" sz="11200" i="1" dirty="0">
                <a:solidFill>
                  <a:srgbClr val="FF0000"/>
                </a:solidFill>
                <a:latin typeface="Arial Narrow" pitchFamily="34" charset="0"/>
              </a:rPr>
              <a:t>motivation </a:t>
            </a:r>
            <a:r>
              <a:rPr lang="en-US" sz="11200" dirty="0">
                <a:latin typeface="Arial Narrow" pitchFamily="34" charset="0"/>
              </a:rPr>
              <a:t>causes us to participate in an activity for our </a:t>
            </a:r>
            <a:r>
              <a:rPr lang="en-US" sz="11200" dirty="0" smtClean="0">
                <a:latin typeface="Arial Narrow" pitchFamily="34" charset="0"/>
              </a:rPr>
              <a:t>enjoyment rather </a:t>
            </a:r>
            <a:r>
              <a:rPr lang="en-US" sz="11200" dirty="0">
                <a:latin typeface="Arial Narrow" pitchFamily="34" charset="0"/>
              </a:rPr>
              <a:t>than for any actual or concrete reward that it will bring us. </a:t>
            </a:r>
            <a:endParaRPr lang="en-US" sz="11200" dirty="0" smtClean="0">
              <a:latin typeface="Arial Narrow" pitchFamily="34" charset="0"/>
            </a:endParaRPr>
          </a:p>
          <a:p>
            <a:pPr lvl="1">
              <a:buFont typeface="Wingdings" pitchFamily="2" charset="2"/>
              <a:buChar char="Ø"/>
            </a:pPr>
            <a:r>
              <a:rPr lang="en-US" sz="11200" dirty="0" smtClean="0">
                <a:latin typeface="Arial Narrow" pitchFamily="34" charset="0"/>
              </a:rPr>
              <a:t>In </a:t>
            </a:r>
            <a:r>
              <a:rPr lang="en-US" sz="11200" dirty="0">
                <a:latin typeface="Arial Narrow" pitchFamily="34" charset="0"/>
              </a:rPr>
              <a:t>contrast, </a:t>
            </a:r>
            <a:r>
              <a:rPr lang="en-US" sz="11200" i="1" dirty="0" smtClean="0">
                <a:latin typeface="Arial Narrow" pitchFamily="34" charset="0"/>
              </a:rPr>
              <a:t>extrinsic motivation </a:t>
            </a:r>
            <a:r>
              <a:rPr lang="en-US" sz="11200" dirty="0">
                <a:latin typeface="Arial Narrow" pitchFamily="34" charset="0"/>
              </a:rPr>
              <a:t>causes us to do something for money, a grade, or some other actual, </a:t>
            </a:r>
            <a:r>
              <a:rPr lang="en-US" sz="11200" dirty="0" smtClean="0">
                <a:latin typeface="Arial Narrow" pitchFamily="34" charset="0"/>
              </a:rPr>
              <a:t>concrete reward.</a:t>
            </a:r>
            <a:endParaRPr lang="en-US" sz="11200" dirty="0">
              <a:latin typeface="Arial Narrow" pitchFamily="34" charset="0"/>
            </a:endParaRPr>
          </a:p>
          <a:p>
            <a:pPr>
              <a:buFont typeface="Wingdings" pitchFamily="2" charset="2"/>
              <a:buChar char="v"/>
            </a:pPr>
            <a:r>
              <a:rPr lang="en-US" sz="11200" dirty="0" smtClean="0">
                <a:latin typeface="Arial Narrow" pitchFamily="34" charset="0"/>
              </a:rPr>
              <a:t> Compare students studying for grade and for knowledge</a:t>
            </a:r>
          </a:p>
          <a:p>
            <a:pPr>
              <a:buNone/>
            </a:pPr>
            <a:r>
              <a:rPr lang="en-US" sz="9600" dirty="0">
                <a:latin typeface="Arial Narrow" pitchFamily="34" charset="0"/>
              </a:rPr>
              <a:t/>
            </a:r>
            <a:br>
              <a:rPr lang="en-US" sz="9600" dirty="0">
                <a:latin typeface="Arial Narrow" pitchFamily="34" charset="0"/>
              </a:rPr>
            </a:br>
            <a:r>
              <a:rPr lang="en-US" sz="8000" dirty="0" smtClean="0">
                <a:latin typeface="Arial Narrow" pitchFamily="34" charset="0"/>
              </a:rPr>
              <a:t/>
            </a:r>
            <a:br>
              <a:rPr lang="en-US" sz="80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563562"/>
          </a:xfrm>
        </p:spPr>
        <p:txBody>
          <a:bodyPr>
            <a:normAutofit fontScale="90000"/>
          </a:bodyPr>
          <a:lstStyle/>
          <a:p>
            <a:r>
              <a:rPr lang="en-US" b="1" dirty="0" smtClean="0">
                <a:latin typeface="Arial Narrow" pitchFamily="34" charset="0"/>
              </a:rPr>
              <a:t>f) Humanistic approaches to motivation</a:t>
            </a:r>
            <a:endParaRPr lang="en-US" dirty="0">
              <a:latin typeface="Arial Narrow" pitchFamily="34" charset="0"/>
            </a:endParaRPr>
          </a:p>
        </p:txBody>
      </p:sp>
      <p:sp>
        <p:nvSpPr>
          <p:cNvPr id="3" name="Content Placeholder 2"/>
          <p:cNvSpPr>
            <a:spLocks noGrp="1"/>
          </p:cNvSpPr>
          <p:nvPr>
            <p:ph idx="1"/>
          </p:nvPr>
        </p:nvSpPr>
        <p:spPr>
          <a:xfrm>
            <a:off x="228600" y="990600"/>
            <a:ext cx="8686800" cy="5638800"/>
          </a:xfrm>
        </p:spPr>
        <p:txBody>
          <a:bodyPr>
            <a:noAutofit/>
          </a:bodyPr>
          <a:lstStyle/>
          <a:p>
            <a:pPr>
              <a:buNone/>
            </a:pPr>
            <a:r>
              <a:rPr lang="en-US" sz="2800" dirty="0" smtClean="0">
                <a:latin typeface="Arial Narrow" pitchFamily="34" charset="0"/>
              </a:rPr>
              <a:t>Maslow rejected </a:t>
            </a:r>
            <a:r>
              <a:rPr lang="en-US" sz="2800" dirty="0">
                <a:latin typeface="Arial Narrow" pitchFamily="34" charset="0"/>
              </a:rPr>
              <a:t>the dominant theories of psychoanalysis and behaviorism in favor </a:t>
            </a:r>
            <a:r>
              <a:rPr lang="en-US" sz="2800" dirty="0" smtClean="0">
                <a:latin typeface="Arial Narrow" pitchFamily="34" charset="0"/>
              </a:rPr>
              <a:t>humanistic view.</a:t>
            </a:r>
          </a:p>
          <a:p>
            <a:pPr>
              <a:buNone/>
            </a:pPr>
            <a:r>
              <a:rPr lang="en-US" sz="2800" dirty="0" smtClean="0">
                <a:latin typeface="Arial Narrow" pitchFamily="34" charset="0"/>
              </a:rPr>
              <a:t>Maslow </a:t>
            </a:r>
            <a:r>
              <a:rPr lang="en-US" sz="2800" dirty="0">
                <a:latin typeface="Arial Narrow" pitchFamily="34" charset="0"/>
              </a:rPr>
              <a:t>suggested that human behavior is influenced by a </a:t>
            </a:r>
            <a:r>
              <a:rPr lang="en-US" sz="2800" dirty="0">
                <a:solidFill>
                  <a:srgbClr val="FF0000"/>
                </a:solidFill>
                <a:latin typeface="Arial Narrow" pitchFamily="34" charset="0"/>
              </a:rPr>
              <a:t>hierarchy, or ranking, of </a:t>
            </a:r>
            <a:r>
              <a:rPr lang="en-US" sz="2800" dirty="0" smtClean="0">
                <a:solidFill>
                  <a:srgbClr val="FF0000"/>
                </a:solidFill>
                <a:latin typeface="Arial Narrow" pitchFamily="34" charset="0"/>
              </a:rPr>
              <a:t>five classes </a:t>
            </a:r>
            <a:r>
              <a:rPr lang="en-US" sz="2800" dirty="0">
                <a:solidFill>
                  <a:srgbClr val="FF0000"/>
                </a:solidFill>
                <a:latin typeface="Arial Narrow" pitchFamily="34" charset="0"/>
              </a:rPr>
              <a:t>of needs</a:t>
            </a:r>
            <a:r>
              <a:rPr lang="en-US" sz="2800" dirty="0">
                <a:latin typeface="Arial Narrow" pitchFamily="34" charset="0"/>
              </a:rPr>
              <a:t>, or motives. He said that needs at the lowest level of the hierarchy must </a:t>
            </a:r>
            <a:r>
              <a:rPr lang="en-US" sz="2800" dirty="0" smtClean="0">
                <a:latin typeface="Arial Narrow" pitchFamily="34" charset="0"/>
              </a:rPr>
              <a:t>be </a:t>
            </a:r>
            <a:r>
              <a:rPr lang="en-US" sz="2800" dirty="0">
                <a:latin typeface="Arial Narrow" pitchFamily="34" charset="0"/>
              </a:rPr>
              <a:t>satisfied before people can be motivated by the </a:t>
            </a:r>
            <a:r>
              <a:rPr lang="en-US" sz="2800" dirty="0" smtClean="0">
                <a:latin typeface="Arial Narrow" pitchFamily="34" charset="0"/>
              </a:rPr>
              <a:t>higher </a:t>
            </a:r>
            <a:r>
              <a:rPr lang="en-US" sz="2800" dirty="0">
                <a:latin typeface="Arial Narrow" pitchFamily="34" charset="0"/>
              </a:rPr>
              <a:t>levels. </a:t>
            </a:r>
            <a:endParaRPr lang="en-US" sz="2800" dirty="0" smtClean="0">
              <a:latin typeface="Arial Narrow" pitchFamily="34" charset="0"/>
            </a:endParaRPr>
          </a:p>
          <a:p>
            <a:pPr>
              <a:buNone/>
            </a:pPr>
            <a:r>
              <a:rPr lang="en-US" sz="2800" dirty="0" smtClean="0">
                <a:latin typeface="Arial Narrow" pitchFamily="34" charset="0"/>
              </a:rPr>
              <a:t>Maslow’s five </a:t>
            </a:r>
            <a:r>
              <a:rPr lang="en-US" sz="2800" dirty="0">
                <a:latin typeface="Arial Narrow" pitchFamily="34" charset="0"/>
              </a:rPr>
              <a:t>Hierarchies of needs for motives from the bottom to the top are as follows</a:t>
            </a:r>
            <a:r>
              <a:rPr lang="en-US" sz="2800" dirty="0" smtClean="0">
                <a:latin typeface="Arial Narrow" pitchFamily="34" charset="0"/>
              </a:rPr>
              <a:t>: </a:t>
            </a:r>
          </a:p>
          <a:p>
            <a:pPr marL="514350" indent="-514350">
              <a:buAutoNum type="arabicPeriod"/>
            </a:pPr>
            <a:r>
              <a:rPr lang="en-US" sz="2800" i="1" dirty="0" smtClean="0">
                <a:solidFill>
                  <a:srgbClr val="FF0000"/>
                </a:solidFill>
                <a:latin typeface="Arial Narrow" pitchFamily="34" charset="0"/>
              </a:rPr>
              <a:t>Physiological needs</a:t>
            </a:r>
            <a:r>
              <a:rPr lang="en-US" sz="2800" i="1" dirty="0" smtClean="0">
                <a:latin typeface="Arial Narrow" pitchFamily="34" charset="0"/>
              </a:rPr>
              <a:t> </a:t>
            </a:r>
            <a:r>
              <a:rPr lang="en-US" sz="2800" dirty="0" smtClean="0">
                <a:latin typeface="Arial Narrow" pitchFamily="34" charset="0"/>
              </a:rPr>
              <a:t>- are </a:t>
            </a:r>
            <a:r>
              <a:rPr lang="en-US" sz="2800" dirty="0">
                <a:latin typeface="Arial Narrow" pitchFamily="34" charset="0"/>
              </a:rPr>
              <a:t>biological requirements for </a:t>
            </a:r>
            <a:r>
              <a:rPr lang="en-US" sz="2800" dirty="0" smtClean="0">
                <a:latin typeface="Arial Narrow" pitchFamily="34" charset="0"/>
              </a:rPr>
              <a:t>human   survival</a:t>
            </a:r>
            <a:r>
              <a:rPr lang="en-US" sz="2800" dirty="0">
                <a:latin typeface="Arial Narrow" pitchFamily="34" charset="0"/>
              </a:rPr>
              <a:t>, e.g. air, food</a:t>
            </a:r>
            <a:r>
              <a:rPr lang="en-US" sz="2800" dirty="0" smtClean="0">
                <a:latin typeface="Arial Narrow" pitchFamily="34" charset="0"/>
              </a:rPr>
              <a:t>, drink</a:t>
            </a:r>
            <a:r>
              <a:rPr lang="en-US" sz="2800" dirty="0">
                <a:latin typeface="Arial Narrow" pitchFamily="34" charset="0"/>
              </a:rPr>
              <a:t>, shelter, </a:t>
            </a:r>
            <a:r>
              <a:rPr lang="en-US" sz="2800" dirty="0" smtClean="0">
                <a:latin typeface="Arial Narrow" pitchFamily="34" charset="0"/>
              </a:rPr>
              <a:t>warmth</a:t>
            </a:r>
            <a:r>
              <a:rPr lang="en-US" sz="2800" dirty="0">
                <a:latin typeface="Arial Narrow" pitchFamily="34" charset="0"/>
              </a:rPr>
              <a:t>, sex, sleep</a:t>
            </a:r>
            <a:r>
              <a:rPr lang="en-US" sz="2800" dirty="0" smtClean="0">
                <a:latin typeface="Arial Narrow" pitchFamily="34" charset="0"/>
              </a:rPr>
              <a:t>.</a:t>
            </a:r>
          </a:p>
          <a:p>
            <a:pPr marL="514350" indent="-514350">
              <a:buAutoNum type="arabicPeriod"/>
            </a:pPr>
            <a:r>
              <a:rPr lang="en-US" sz="2800" i="1" dirty="0" smtClean="0">
                <a:solidFill>
                  <a:srgbClr val="FF0000"/>
                </a:solidFill>
                <a:latin typeface="Arial Narrow" pitchFamily="34" charset="0"/>
              </a:rPr>
              <a:t>Safety needs </a:t>
            </a:r>
            <a:r>
              <a:rPr lang="en-US" sz="2800" dirty="0" smtClean="0">
                <a:latin typeface="Arial Narrow" pitchFamily="34" charset="0"/>
              </a:rPr>
              <a:t>- </a:t>
            </a:r>
            <a:r>
              <a:rPr lang="en-US" sz="2800" dirty="0">
                <a:latin typeface="Arial Narrow" pitchFamily="34" charset="0"/>
              </a:rPr>
              <a:t>protection from elements, security, order, law, stability, freedom from fear</a:t>
            </a:r>
            <a:r>
              <a:rPr lang="en-US" sz="2800" dirty="0" smtClean="0">
                <a:latin typeface="Arial Narrow" pitchFamily="34" charset="0"/>
              </a:rPr>
              <a:t>.</a:t>
            </a:r>
            <a:endParaRPr lang="en-US" sz="2800" dirty="0">
              <a:latin typeface="Arial Narrow"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52400" y="990600"/>
            <a:ext cx="8839200" cy="5715000"/>
          </a:xfrm>
        </p:spPr>
        <p:txBody>
          <a:bodyPr>
            <a:normAutofit fontScale="25000" lnSpcReduction="20000"/>
          </a:bodyPr>
          <a:lstStyle/>
          <a:p>
            <a:pPr>
              <a:buNone/>
            </a:pPr>
            <a:r>
              <a:rPr lang="en-US" sz="11200" dirty="0" smtClean="0">
                <a:latin typeface="Arial Narrow" pitchFamily="34" charset="0"/>
              </a:rPr>
              <a:t>3. </a:t>
            </a:r>
            <a:r>
              <a:rPr lang="en-US" sz="11200" i="1" dirty="0" smtClean="0">
                <a:solidFill>
                  <a:srgbClr val="FF0000"/>
                </a:solidFill>
                <a:latin typeface="Arial Narrow" pitchFamily="34" charset="0"/>
              </a:rPr>
              <a:t>Love and belongingness needs </a:t>
            </a:r>
            <a:r>
              <a:rPr lang="en-US" sz="11200" dirty="0" smtClean="0">
                <a:latin typeface="Arial Narrow" pitchFamily="34" charset="0"/>
              </a:rPr>
              <a:t>- the third level of human needs is social and involves feelings of belongingness. Examples include friendship, intimacy, trust, and acceptance in a group, receiving and giving affection and love. </a:t>
            </a:r>
            <a:endParaRPr lang="en-US" sz="11200" dirty="0">
              <a:latin typeface="Arial Narrow" pitchFamily="34" charset="0"/>
            </a:endParaRPr>
          </a:p>
          <a:p>
            <a:pPr>
              <a:buNone/>
            </a:pPr>
            <a:r>
              <a:rPr lang="en-US" sz="11200" dirty="0" smtClean="0">
                <a:latin typeface="Arial Narrow" pitchFamily="34" charset="0"/>
              </a:rPr>
              <a:t>4. </a:t>
            </a:r>
            <a:r>
              <a:rPr lang="en-US" sz="11200" i="1" dirty="0" smtClean="0">
                <a:solidFill>
                  <a:srgbClr val="FF0000"/>
                </a:solidFill>
                <a:latin typeface="Arial Narrow" pitchFamily="34" charset="0"/>
              </a:rPr>
              <a:t>Esteem needs </a:t>
            </a:r>
            <a:r>
              <a:rPr lang="en-US" sz="11200" dirty="0" smtClean="0">
                <a:latin typeface="Arial Narrow" pitchFamily="34" charset="0"/>
              </a:rPr>
              <a:t>- the need to be respected as a useful, honorable individual; which Maslow classified into two categories:             (</a:t>
            </a:r>
            <a:r>
              <a:rPr lang="en-US" sz="11200" dirty="0" err="1" smtClean="0">
                <a:latin typeface="Arial Narrow" pitchFamily="34" charset="0"/>
              </a:rPr>
              <a:t>i</a:t>
            </a:r>
            <a:r>
              <a:rPr lang="en-US" sz="11200" dirty="0" smtClean="0">
                <a:latin typeface="Arial Narrow" pitchFamily="34" charset="0"/>
              </a:rPr>
              <a:t>) esteem for oneself (dignity, achievement, mastery, independence) and (ii) the desire for reputation or respect from others (e.g., status, prestige).</a:t>
            </a:r>
          </a:p>
          <a:p>
            <a:pPr>
              <a:buNone/>
            </a:pPr>
            <a:r>
              <a:rPr lang="en-US" sz="11200" dirty="0" smtClean="0">
                <a:latin typeface="Arial Narrow" pitchFamily="34" charset="0"/>
              </a:rPr>
              <a:t>5. </a:t>
            </a:r>
            <a:r>
              <a:rPr lang="en-US" sz="11200" i="1" dirty="0" smtClean="0">
                <a:solidFill>
                  <a:srgbClr val="FF0000"/>
                </a:solidFill>
                <a:latin typeface="Arial Narrow" pitchFamily="34" charset="0"/>
              </a:rPr>
              <a:t>Self-actualization needs </a:t>
            </a:r>
            <a:r>
              <a:rPr lang="en-US" sz="11200" dirty="0" smtClean="0">
                <a:latin typeface="Arial Narrow" pitchFamily="34" charset="0"/>
              </a:rPr>
              <a:t>- realizing personal potential, self-fulfillment, seeking personal growth and peak experiences. A desire ―to become everything one is capable of becoming‖.</a:t>
            </a:r>
          </a:p>
          <a:p>
            <a:pPr>
              <a:buNone/>
            </a:pPr>
            <a:r>
              <a:rPr lang="en-US" sz="11200" dirty="0" smtClean="0">
                <a:latin typeface="Arial Narrow" pitchFamily="34" charset="0"/>
              </a:rPr>
              <a:t>The following figure shows how our motivation progresses up the pyramid from broadest(most fundamental) to higher-order ones. </a:t>
            </a:r>
            <a:br>
              <a:rPr lang="en-US" sz="11200" dirty="0" smtClean="0">
                <a:latin typeface="Arial Narrow" pitchFamily="34" charset="0"/>
              </a:rPr>
            </a:br>
            <a:endParaRPr lang="en-US" sz="11200" dirty="0">
              <a:latin typeface="Arial Narrow"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pPr algn="ctr"/>
            <a:r>
              <a:rPr lang="en-US" dirty="0"/>
              <a:t>Maslow’s </a:t>
            </a:r>
            <a:r>
              <a:rPr lang="en-US" dirty="0" smtClean="0"/>
              <a:t>Hierarchy </a:t>
            </a:r>
            <a:r>
              <a:rPr lang="en-US" dirty="0"/>
              <a:t>of </a:t>
            </a:r>
            <a:r>
              <a:rPr lang="en-US" dirty="0" smtClean="0"/>
              <a:t>Needs </a:t>
            </a:r>
            <a:endParaRPr lang="en-US" dirty="0"/>
          </a:p>
        </p:txBody>
      </p:sp>
      <p:pic>
        <p:nvPicPr>
          <p:cNvPr id="7" name="Picture 5" descr="maslow%20small"/>
          <p:cNvPicPr>
            <a:picLocks noGrp="1" noChangeAspect="1" noChangeArrowheads="1"/>
          </p:cNvPicPr>
          <p:nvPr>
            <p:ph idx="1"/>
          </p:nvPr>
        </p:nvPicPr>
        <p:blipFill>
          <a:blip r:embed="rId2"/>
          <a:srcRect/>
          <a:stretch>
            <a:fillRect/>
          </a:stretch>
        </p:blipFill>
        <p:spPr bwMode="auto">
          <a:xfrm>
            <a:off x="838200" y="1295400"/>
            <a:ext cx="73152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15962"/>
          </a:xfrm>
        </p:spPr>
        <p:txBody>
          <a:bodyPr>
            <a:normAutofit fontScale="90000"/>
          </a:bodyPr>
          <a:lstStyle/>
          <a:p>
            <a:r>
              <a:rPr lang="en-US" b="1" dirty="0">
                <a:latin typeface="Arial Narrow" pitchFamily="34" charset="0"/>
              </a:rPr>
              <a:t>5.1.3. Conflict of motives and </a:t>
            </a:r>
            <a:r>
              <a:rPr lang="en-US" b="1" dirty="0" smtClean="0">
                <a:latin typeface="Arial Narrow" pitchFamily="34" charset="0"/>
              </a:rPr>
              <a:t>frustration</a:t>
            </a:r>
            <a:endParaRPr lang="en-US" dirty="0"/>
          </a:p>
        </p:txBody>
      </p:sp>
      <p:sp>
        <p:nvSpPr>
          <p:cNvPr id="3" name="Content Placeholder 2"/>
          <p:cNvSpPr>
            <a:spLocks noGrp="1"/>
          </p:cNvSpPr>
          <p:nvPr>
            <p:ph idx="1"/>
          </p:nvPr>
        </p:nvSpPr>
        <p:spPr>
          <a:xfrm>
            <a:off x="228600" y="1066800"/>
            <a:ext cx="8686800" cy="5486400"/>
          </a:xfrm>
        </p:spPr>
        <p:txBody>
          <a:bodyPr>
            <a:normAutofit fontScale="25000" lnSpcReduction="20000"/>
          </a:bodyPr>
          <a:lstStyle/>
          <a:p>
            <a:pPr>
              <a:lnSpc>
                <a:spcPct val="120000"/>
              </a:lnSpc>
              <a:spcBef>
                <a:spcPts val="600"/>
              </a:spcBef>
            </a:pPr>
            <a:r>
              <a:rPr lang="en-US" sz="11200" dirty="0">
                <a:latin typeface="Arial Narrow" pitchFamily="34" charset="0"/>
              </a:rPr>
              <a:t>Based on the sources of motivation and the importance of the decision, </a:t>
            </a:r>
            <a:r>
              <a:rPr lang="en-US" sz="11200" dirty="0" smtClean="0">
                <a:latin typeface="Arial Narrow" pitchFamily="34" charset="0"/>
              </a:rPr>
              <a:t>we </a:t>
            </a:r>
            <a:r>
              <a:rPr lang="en-US" sz="11200" dirty="0">
                <a:latin typeface="Arial Narrow" pitchFamily="34" charset="0"/>
              </a:rPr>
              <a:t>usually </a:t>
            </a:r>
            <a:r>
              <a:rPr lang="en-US" sz="11200" dirty="0" smtClean="0">
                <a:latin typeface="Arial Narrow" pitchFamily="34" charset="0"/>
              </a:rPr>
              <a:t>face </a:t>
            </a:r>
            <a:r>
              <a:rPr lang="en-US" sz="11200" dirty="0" smtClean="0">
                <a:solidFill>
                  <a:srgbClr val="FF0000"/>
                </a:solidFill>
                <a:latin typeface="Arial Narrow" pitchFamily="34" charset="0"/>
              </a:rPr>
              <a:t>difficulty in choosing </a:t>
            </a:r>
            <a:r>
              <a:rPr lang="en-US" sz="11200" dirty="0">
                <a:solidFill>
                  <a:srgbClr val="FF0000"/>
                </a:solidFill>
                <a:latin typeface="Arial Narrow" pitchFamily="34" charset="0"/>
              </a:rPr>
              <a:t>among </a:t>
            </a:r>
            <a:r>
              <a:rPr lang="en-US" sz="11200" dirty="0" smtClean="0">
                <a:solidFill>
                  <a:srgbClr val="FF0000"/>
                </a:solidFill>
                <a:latin typeface="Arial Narrow" pitchFamily="34" charset="0"/>
              </a:rPr>
              <a:t> </a:t>
            </a:r>
            <a:r>
              <a:rPr lang="en-US" sz="11200" dirty="0">
                <a:solidFill>
                  <a:srgbClr val="FF0000"/>
                </a:solidFill>
                <a:latin typeface="Arial Narrow" pitchFamily="34" charset="0"/>
              </a:rPr>
              <a:t>motives</a:t>
            </a:r>
            <a:r>
              <a:rPr lang="en-US" sz="11200" dirty="0" smtClean="0">
                <a:latin typeface="Arial Narrow" pitchFamily="34" charset="0"/>
              </a:rPr>
              <a:t>.</a:t>
            </a:r>
          </a:p>
          <a:p>
            <a:pPr>
              <a:lnSpc>
                <a:spcPct val="120000"/>
              </a:lnSpc>
              <a:spcBef>
                <a:spcPts val="600"/>
              </a:spcBef>
            </a:pPr>
            <a:r>
              <a:rPr lang="en-US" sz="11200" dirty="0" smtClean="0">
                <a:latin typeface="Arial Narrow" pitchFamily="34" charset="0"/>
              </a:rPr>
              <a:t>When </a:t>
            </a:r>
            <a:r>
              <a:rPr lang="en-US" sz="11200" dirty="0">
                <a:latin typeface="Arial Narrow" pitchFamily="34" charset="0"/>
              </a:rPr>
              <a:t>the decision is more important, the number and strength </a:t>
            </a:r>
            <a:r>
              <a:rPr lang="en-US" sz="11200" dirty="0" smtClean="0">
                <a:latin typeface="Arial Narrow" pitchFamily="34" charset="0"/>
              </a:rPr>
              <a:t>of motivational </a:t>
            </a:r>
            <a:r>
              <a:rPr lang="en-US" sz="11200" dirty="0">
                <a:latin typeface="Arial Narrow" pitchFamily="34" charset="0"/>
              </a:rPr>
              <a:t>pushes and pulls are often greater, creating far more internal conflict </a:t>
            </a:r>
            <a:r>
              <a:rPr lang="en-US" sz="11200" dirty="0" smtClean="0">
                <a:latin typeface="Arial Narrow" pitchFamily="34" charset="0"/>
              </a:rPr>
              <a:t>and indecision</a:t>
            </a:r>
            <a:r>
              <a:rPr lang="en-US" sz="11200" dirty="0">
                <a:latin typeface="Arial Narrow" pitchFamily="34" charset="0"/>
              </a:rPr>
              <a:t>. </a:t>
            </a:r>
            <a:endParaRPr lang="en-US" sz="11200" dirty="0" smtClean="0">
              <a:latin typeface="Arial Narrow" pitchFamily="34" charset="0"/>
            </a:endParaRPr>
          </a:p>
          <a:p>
            <a:pPr>
              <a:lnSpc>
                <a:spcPct val="120000"/>
              </a:lnSpc>
              <a:spcBef>
                <a:spcPts val="600"/>
              </a:spcBef>
            </a:pPr>
            <a:r>
              <a:rPr lang="en-US" sz="11200" dirty="0" smtClean="0">
                <a:latin typeface="Arial Narrow" pitchFamily="34" charset="0"/>
              </a:rPr>
              <a:t>There </a:t>
            </a:r>
            <a:r>
              <a:rPr lang="en-US" sz="11200" dirty="0">
                <a:latin typeface="Arial Narrow" pitchFamily="34" charset="0"/>
              </a:rPr>
              <a:t>are four basic types of motivational conflicts.</a:t>
            </a:r>
            <a:br>
              <a:rPr lang="en-US" sz="11200" dirty="0">
                <a:latin typeface="Arial Narrow" pitchFamily="34" charset="0"/>
              </a:rPr>
            </a:br>
            <a:r>
              <a:rPr lang="en-US" sz="11200" b="1" dirty="0">
                <a:latin typeface="Arial Narrow" pitchFamily="34" charset="0"/>
              </a:rPr>
              <a:t>Approach-approach conflicts </a:t>
            </a:r>
            <a:r>
              <a:rPr lang="en-US" sz="11200" dirty="0">
                <a:latin typeface="Arial Narrow" pitchFamily="34" charset="0"/>
              </a:rPr>
              <a:t>- exist when we must choose only one of the </a:t>
            </a:r>
            <a:r>
              <a:rPr lang="en-US" sz="11200" dirty="0">
                <a:solidFill>
                  <a:srgbClr val="FF0000"/>
                </a:solidFill>
                <a:latin typeface="Arial Narrow" pitchFamily="34" charset="0"/>
              </a:rPr>
              <a:t>two </a:t>
            </a:r>
            <a:r>
              <a:rPr lang="en-US" sz="11200" dirty="0" smtClean="0">
                <a:solidFill>
                  <a:srgbClr val="FF0000"/>
                </a:solidFill>
                <a:latin typeface="Arial Narrow" pitchFamily="34" charset="0"/>
              </a:rPr>
              <a:t>desirable </a:t>
            </a:r>
            <a:r>
              <a:rPr lang="en-US" sz="11200" dirty="0" smtClean="0">
                <a:latin typeface="Arial Narrow" pitchFamily="34" charset="0"/>
              </a:rPr>
              <a:t>activities</a:t>
            </a:r>
            <a:r>
              <a:rPr lang="en-US" sz="11200" dirty="0">
                <a:latin typeface="Arial Narrow" pitchFamily="34" charset="0"/>
              </a:rPr>
              <a:t>. Example, going to a movie or a concert.</a:t>
            </a:r>
            <a:br>
              <a:rPr lang="en-US" sz="11200" dirty="0">
                <a:latin typeface="Arial Narrow" pitchFamily="34" charset="0"/>
              </a:rPr>
            </a:br>
            <a:r>
              <a:rPr lang="en-US" sz="11200" b="1" dirty="0">
                <a:latin typeface="Arial Narrow" pitchFamily="34" charset="0"/>
              </a:rPr>
              <a:t>Avoidance-avoidance conflicts - </a:t>
            </a:r>
            <a:r>
              <a:rPr lang="en-US" sz="11200" dirty="0">
                <a:latin typeface="Arial Narrow" pitchFamily="34" charset="0"/>
              </a:rPr>
              <a:t>arise when we must select one of </a:t>
            </a:r>
            <a:r>
              <a:rPr lang="en-US" sz="11200" dirty="0">
                <a:solidFill>
                  <a:srgbClr val="FF0000"/>
                </a:solidFill>
                <a:latin typeface="Arial Narrow" pitchFamily="34" charset="0"/>
              </a:rPr>
              <a:t>two </a:t>
            </a:r>
            <a:r>
              <a:rPr lang="en-US" sz="11200" dirty="0" smtClean="0">
                <a:solidFill>
                  <a:srgbClr val="FF0000"/>
                </a:solidFill>
                <a:latin typeface="Arial Narrow" pitchFamily="34" charset="0"/>
              </a:rPr>
              <a:t>undesirable </a:t>
            </a:r>
            <a:r>
              <a:rPr lang="en-US" sz="11200" dirty="0" smtClean="0">
                <a:latin typeface="Arial Narrow" pitchFamily="34" charset="0"/>
              </a:rPr>
              <a:t>alternatives</a:t>
            </a:r>
            <a:r>
              <a:rPr lang="en-US" sz="11200" dirty="0">
                <a:latin typeface="Arial Narrow" pitchFamily="34" charset="0"/>
              </a:rPr>
              <a:t>. Someone forced either to sell the family home or to declare bankruptcy.</a:t>
            </a:r>
            <a:r>
              <a:rPr lang="en-US" sz="4000" dirty="0" smtClean="0">
                <a:latin typeface="Bahnschrift Condensed" pitchFamily="34" charset="0"/>
              </a:rPr>
              <a:t> </a:t>
            </a:r>
            <a:r>
              <a:rPr lang="en-US" dirty="0" smtClean="0"/>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1066800"/>
            <a:ext cx="8686800" cy="5562600"/>
          </a:xfrm>
        </p:spPr>
        <p:txBody>
          <a:bodyPr>
            <a:normAutofit fontScale="25000" lnSpcReduction="20000"/>
          </a:bodyPr>
          <a:lstStyle/>
          <a:p>
            <a:pPr>
              <a:lnSpc>
                <a:spcPct val="120000"/>
              </a:lnSpc>
              <a:spcBef>
                <a:spcPts val="600"/>
              </a:spcBef>
            </a:pPr>
            <a:r>
              <a:rPr lang="en-US" sz="11200" b="1" dirty="0">
                <a:latin typeface="Arial Narrow" pitchFamily="34" charset="0"/>
              </a:rPr>
              <a:t>Approach-avoidance conflicts - </a:t>
            </a:r>
            <a:r>
              <a:rPr lang="en-US" sz="11200" dirty="0">
                <a:latin typeface="Arial Narrow" pitchFamily="34" charset="0"/>
              </a:rPr>
              <a:t>happen when a particular event or activity </a:t>
            </a:r>
            <a:r>
              <a:rPr lang="en-US" sz="11200" dirty="0">
                <a:solidFill>
                  <a:srgbClr val="FF0000"/>
                </a:solidFill>
                <a:latin typeface="Arial Narrow" pitchFamily="34" charset="0"/>
              </a:rPr>
              <a:t>has </a:t>
            </a:r>
            <a:r>
              <a:rPr lang="en-US" sz="11200" dirty="0" smtClean="0">
                <a:solidFill>
                  <a:srgbClr val="FF0000"/>
                </a:solidFill>
                <a:latin typeface="Arial Narrow" pitchFamily="34" charset="0"/>
              </a:rPr>
              <a:t>both attractive </a:t>
            </a:r>
            <a:r>
              <a:rPr lang="en-US" sz="11200" dirty="0">
                <a:solidFill>
                  <a:srgbClr val="FF0000"/>
                </a:solidFill>
                <a:latin typeface="Arial Narrow" pitchFamily="34" charset="0"/>
              </a:rPr>
              <a:t>and unattractive features</a:t>
            </a:r>
            <a:r>
              <a:rPr lang="en-US" sz="11200" dirty="0">
                <a:latin typeface="Arial Narrow" pitchFamily="34" charset="0"/>
              </a:rPr>
              <a:t>, </a:t>
            </a:r>
            <a:r>
              <a:rPr lang="en-US" sz="11200" dirty="0" smtClean="0">
                <a:latin typeface="Arial Narrow" pitchFamily="34" charset="0"/>
              </a:rPr>
              <a:t>e.g., </a:t>
            </a:r>
            <a:r>
              <a:rPr lang="en-US" sz="11200" dirty="0">
                <a:latin typeface="Arial Narrow" pitchFamily="34" charset="0"/>
              </a:rPr>
              <a:t>a freshman student wants to start dating </a:t>
            </a:r>
            <a:r>
              <a:rPr lang="en-US" sz="11200" dirty="0" smtClean="0">
                <a:latin typeface="Arial Narrow" pitchFamily="34" charset="0"/>
              </a:rPr>
              <a:t>but she</a:t>
            </a:r>
            <a:r>
              <a:rPr lang="en-US" sz="11200" dirty="0">
                <a:latin typeface="Arial Narrow" pitchFamily="34" charset="0"/>
              </a:rPr>
              <a:t>, at the same time, is worried that this may </a:t>
            </a:r>
            <a:r>
              <a:rPr lang="en-US" sz="11200" dirty="0" smtClean="0">
                <a:latin typeface="Arial Narrow" pitchFamily="34" charset="0"/>
              </a:rPr>
              <a:t>consume </a:t>
            </a:r>
            <a:r>
              <a:rPr lang="en-US" sz="11200" dirty="0">
                <a:latin typeface="Arial Narrow" pitchFamily="34" charset="0"/>
              </a:rPr>
              <a:t>her study time</a:t>
            </a:r>
            <a:r>
              <a:rPr lang="en-US" sz="11200" dirty="0" smtClean="0">
                <a:latin typeface="Arial Narrow" pitchFamily="34" charset="0"/>
              </a:rPr>
              <a:t>.</a:t>
            </a:r>
          </a:p>
          <a:p>
            <a:pPr>
              <a:lnSpc>
                <a:spcPct val="120000"/>
              </a:lnSpc>
              <a:spcBef>
                <a:spcPts val="600"/>
              </a:spcBef>
            </a:pPr>
            <a:r>
              <a:rPr lang="en-US" sz="11200" b="1" dirty="0" smtClean="0">
                <a:latin typeface="Arial Narrow" pitchFamily="34" charset="0"/>
              </a:rPr>
              <a:t>Multiple </a:t>
            </a:r>
            <a:r>
              <a:rPr lang="en-US" sz="11200" b="1" dirty="0">
                <a:latin typeface="Arial Narrow" pitchFamily="34" charset="0"/>
              </a:rPr>
              <a:t>approach-avoidance conflicts - </a:t>
            </a:r>
            <a:r>
              <a:rPr lang="en-US" sz="11200" dirty="0">
                <a:latin typeface="Arial Narrow" pitchFamily="34" charset="0"/>
              </a:rPr>
              <a:t>exist when </a:t>
            </a:r>
            <a:r>
              <a:rPr lang="en-US" sz="11200" dirty="0">
                <a:solidFill>
                  <a:srgbClr val="FF0000"/>
                </a:solidFill>
                <a:latin typeface="Arial Narrow" pitchFamily="34" charset="0"/>
              </a:rPr>
              <a:t>two or more alternatives</a:t>
            </a:r>
            <a:r>
              <a:rPr lang="en-US" sz="11200" dirty="0">
                <a:latin typeface="Arial Narrow" pitchFamily="34" charset="0"/>
              </a:rPr>
              <a:t> </a:t>
            </a:r>
            <a:r>
              <a:rPr lang="en-US" sz="11200" u="sng" dirty="0">
                <a:latin typeface="Arial Narrow" pitchFamily="34" charset="0"/>
              </a:rPr>
              <a:t>each </a:t>
            </a:r>
            <a:r>
              <a:rPr lang="en-US" sz="11200" u="sng" dirty="0" smtClean="0">
                <a:latin typeface="Arial Narrow" pitchFamily="34" charset="0"/>
              </a:rPr>
              <a:t>have both </a:t>
            </a:r>
            <a:r>
              <a:rPr lang="en-US" sz="11200" u="sng" dirty="0">
                <a:latin typeface="Arial Narrow" pitchFamily="34" charset="0"/>
              </a:rPr>
              <a:t>positive </a:t>
            </a:r>
            <a:r>
              <a:rPr lang="en-US" sz="11200" u="sng" dirty="0" smtClean="0">
                <a:latin typeface="Arial Narrow" pitchFamily="34" charset="0"/>
              </a:rPr>
              <a:t>&amp; </a:t>
            </a:r>
            <a:r>
              <a:rPr lang="en-US" sz="11200" u="sng" dirty="0">
                <a:latin typeface="Arial Narrow" pitchFamily="34" charset="0"/>
              </a:rPr>
              <a:t>negative </a:t>
            </a:r>
            <a:r>
              <a:rPr lang="en-US" sz="11200" dirty="0">
                <a:latin typeface="Arial Narrow" pitchFamily="34" charset="0"/>
              </a:rPr>
              <a:t>features. </a:t>
            </a:r>
            <a:endParaRPr lang="en-US" sz="11200" dirty="0" smtClean="0">
              <a:latin typeface="Arial Narrow" pitchFamily="34" charset="0"/>
            </a:endParaRPr>
          </a:p>
          <a:p>
            <a:pPr>
              <a:lnSpc>
                <a:spcPct val="120000"/>
              </a:lnSpc>
              <a:spcBef>
                <a:spcPts val="600"/>
              </a:spcBef>
            </a:pPr>
            <a:r>
              <a:rPr lang="en-US" sz="11200" dirty="0" smtClean="0">
                <a:latin typeface="Arial Narrow" pitchFamily="34" charset="0"/>
              </a:rPr>
              <a:t>E.g., you </a:t>
            </a:r>
            <a:r>
              <a:rPr lang="en-US" sz="11200" dirty="0">
                <a:latin typeface="Arial Narrow" pitchFamily="34" charset="0"/>
              </a:rPr>
              <a:t>must choose between two jobs. One offers </a:t>
            </a:r>
            <a:r>
              <a:rPr lang="en-US" sz="11200" dirty="0" smtClean="0">
                <a:latin typeface="Arial Narrow" pitchFamily="34" charset="0"/>
              </a:rPr>
              <a:t>a high </a:t>
            </a:r>
            <a:r>
              <a:rPr lang="en-US" sz="11200" dirty="0">
                <a:latin typeface="Arial Narrow" pitchFamily="34" charset="0"/>
              </a:rPr>
              <a:t>salary with a well-known company but requires long working hours and relocation to </a:t>
            </a:r>
            <a:r>
              <a:rPr lang="en-US" sz="11200" dirty="0" smtClean="0">
                <a:latin typeface="Arial Narrow" pitchFamily="34" charset="0"/>
              </a:rPr>
              <a:t>a miserable </a:t>
            </a:r>
            <a:r>
              <a:rPr lang="en-US" sz="11200" dirty="0">
                <a:latin typeface="Arial Narrow" pitchFamily="34" charset="0"/>
              </a:rPr>
              <a:t>climate. The other boasts advancement opportunities, fringe benefits, and a </a:t>
            </a:r>
            <a:r>
              <a:rPr lang="en-US" sz="11200" dirty="0" smtClean="0">
                <a:latin typeface="Arial Narrow" pitchFamily="34" charset="0"/>
              </a:rPr>
              <a:t>better climate</a:t>
            </a:r>
            <a:r>
              <a:rPr lang="en-US" sz="11200" dirty="0">
                <a:latin typeface="Arial Narrow" pitchFamily="34" charset="0"/>
              </a:rPr>
              <a:t>, but it doesn‘t pay as much and involves an unpredictable work schedule</a:t>
            </a:r>
            <a:r>
              <a:rPr lang="en-US" sz="3300" dirty="0">
                <a:latin typeface="Arial Narrow" pitchFamily="34" charset="0"/>
              </a:rPr>
              <a:t>.</a:t>
            </a:r>
            <a:r>
              <a:rPr lang="en-US" sz="33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5.2. Emotions</a:t>
            </a:r>
            <a:br>
              <a:rPr lang="en-US" b="1" dirty="0"/>
            </a:br>
            <a:r>
              <a:rPr lang="en-US" b="1" dirty="0"/>
              <a:t>5.2.1. Definition of </a:t>
            </a:r>
            <a:r>
              <a:rPr lang="en-US" b="1" dirty="0" smtClean="0"/>
              <a:t>emotion</a:t>
            </a:r>
            <a:endParaRPr lang="en-US" dirty="0"/>
          </a:p>
        </p:txBody>
      </p:sp>
      <p:sp>
        <p:nvSpPr>
          <p:cNvPr id="3" name="Content Placeholder 2"/>
          <p:cNvSpPr>
            <a:spLocks noGrp="1"/>
          </p:cNvSpPr>
          <p:nvPr>
            <p:ph idx="1"/>
          </p:nvPr>
        </p:nvSpPr>
        <p:spPr>
          <a:xfrm>
            <a:off x="228600" y="1600200"/>
            <a:ext cx="8686800" cy="5029200"/>
          </a:xfrm>
        </p:spPr>
        <p:txBody>
          <a:bodyPr>
            <a:normAutofit/>
          </a:bodyPr>
          <a:lstStyle/>
          <a:p>
            <a:r>
              <a:rPr lang="en-US" dirty="0" smtClean="0">
                <a:latin typeface="Arial Narrow" pitchFamily="34" charset="0"/>
                <a:cs typeface="Times New Roman" pitchFamily="18" charset="0"/>
              </a:rPr>
              <a:t>Emotion is </a:t>
            </a:r>
            <a:r>
              <a:rPr lang="en-US" dirty="0" smtClean="0">
                <a:solidFill>
                  <a:srgbClr val="FF0000"/>
                </a:solidFill>
                <a:latin typeface="Arial Narrow" pitchFamily="34" charset="0"/>
                <a:cs typeface="Times New Roman" pitchFamily="18" charset="0"/>
              </a:rPr>
              <a:t>a negative or positive feeling </a:t>
            </a:r>
            <a:r>
              <a:rPr lang="en-US" dirty="0" smtClean="0">
                <a:latin typeface="Arial Narrow" pitchFamily="34" charset="0"/>
                <a:cs typeface="Times New Roman" pitchFamily="18" charset="0"/>
              </a:rPr>
              <a:t>generally </a:t>
            </a:r>
            <a:r>
              <a:rPr lang="en-US" u="sng" dirty="0" smtClean="0">
                <a:latin typeface="Arial Narrow" pitchFamily="34" charset="0"/>
                <a:cs typeface="Times New Roman" pitchFamily="18" charset="0"/>
              </a:rPr>
              <a:t>in reaction to stimuli</a:t>
            </a:r>
            <a:r>
              <a:rPr lang="en-US" dirty="0" smtClean="0">
                <a:latin typeface="Arial Narrow" pitchFamily="34" charset="0"/>
                <a:cs typeface="Times New Roman" pitchFamily="18" charset="0"/>
              </a:rPr>
              <a:t> that are accompanied by physiological arousal and related behavior</a:t>
            </a:r>
          </a:p>
          <a:p>
            <a:r>
              <a:rPr lang="en-US" dirty="0" smtClean="0">
                <a:latin typeface="Arial Narrow" pitchFamily="34" charset="0"/>
              </a:rPr>
              <a:t>Emotion is </a:t>
            </a:r>
            <a:r>
              <a:rPr lang="en-US" dirty="0">
                <a:latin typeface="Arial Narrow" pitchFamily="34" charset="0"/>
              </a:rPr>
              <a:t>a complex reaction pattern, involving </a:t>
            </a:r>
            <a:r>
              <a:rPr lang="en-US" dirty="0" smtClean="0">
                <a:latin typeface="Arial Narrow" pitchFamily="34" charset="0"/>
              </a:rPr>
              <a:t>experiential, </a:t>
            </a:r>
            <a:r>
              <a:rPr lang="en-US" dirty="0">
                <a:latin typeface="Arial Narrow" pitchFamily="34" charset="0"/>
              </a:rPr>
              <a:t>behavioral, and physiological elements, by which </a:t>
            </a:r>
            <a:r>
              <a:rPr lang="en-US" dirty="0" smtClean="0">
                <a:latin typeface="Arial Narrow" pitchFamily="34" charset="0"/>
              </a:rPr>
              <a:t>an individual </a:t>
            </a:r>
            <a:r>
              <a:rPr lang="en-US" dirty="0">
                <a:latin typeface="Arial Narrow" pitchFamily="34" charset="0"/>
              </a:rPr>
              <a:t>attempts to deal with a personally </a:t>
            </a:r>
            <a:r>
              <a:rPr lang="en-US" dirty="0" smtClean="0">
                <a:latin typeface="Arial Narrow" pitchFamily="34" charset="0"/>
              </a:rPr>
              <a:t>significant matter </a:t>
            </a:r>
            <a:r>
              <a:rPr lang="en-US" dirty="0">
                <a:latin typeface="Arial Narrow" pitchFamily="34" charset="0"/>
              </a:rPr>
              <a:t>or event. </a:t>
            </a:r>
          </a:p>
          <a:p>
            <a:r>
              <a:rPr lang="en-US" dirty="0" smtClean="0">
                <a:latin typeface="Arial Narrow" pitchFamily="34" charset="0"/>
              </a:rPr>
              <a:t>It is the feeling aspect of our consciousness.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dirty="0" smtClean="0">
                <a:solidFill>
                  <a:srgbClr val="FF0000"/>
                </a:solidFill>
                <a:latin typeface="Times New Roman" pitchFamily="18" charset="0"/>
                <a:cs typeface="Times New Roman" pitchFamily="18" charset="0"/>
              </a:rPr>
              <a:t>Emotion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066800"/>
            <a:ext cx="8839200" cy="5638800"/>
          </a:xfrm>
        </p:spPr>
        <p:txBody>
          <a:bodyPr>
            <a:normAutofit/>
          </a:bodyPr>
          <a:lstStyle/>
          <a:p>
            <a:pPr>
              <a:buNone/>
            </a:pPr>
            <a:r>
              <a:rPr lang="en-US" dirty="0" smtClean="0">
                <a:solidFill>
                  <a:srgbClr val="FF0000"/>
                </a:solidFill>
                <a:latin typeface="Times New Roman" pitchFamily="18" charset="0"/>
                <a:cs typeface="Times New Roman" pitchFamily="18" charset="0"/>
              </a:rPr>
              <a:t>Components of emotion </a:t>
            </a:r>
          </a:p>
          <a:p>
            <a:r>
              <a:rPr lang="en-US" dirty="0" smtClean="0">
                <a:solidFill>
                  <a:srgbClr val="FF0000"/>
                </a:solidFill>
                <a:latin typeface="Times New Roman" pitchFamily="18" charset="0"/>
                <a:cs typeface="Times New Roman" pitchFamily="18" charset="0"/>
              </a:rPr>
              <a:t>Physical component </a:t>
            </a:r>
            <a:r>
              <a:rPr lang="en-US" dirty="0" smtClean="0">
                <a:latin typeface="Times New Roman" pitchFamily="18" charset="0"/>
                <a:cs typeface="Times New Roman" pitchFamily="18" charset="0"/>
              </a:rPr>
              <a:t>– physiological arousal (internal body state accompanying the emotion) </a:t>
            </a:r>
          </a:p>
          <a:p>
            <a:r>
              <a:rPr lang="en-US" dirty="0" smtClean="0">
                <a:solidFill>
                  <a:srgbClr val="FF0000"/>
                </a:solidFill>
                <a:latin typeface="Times New Roman" pitchFamily="18" charset="0"/>
                <a:cs typeface="Times New Roman" pitchFamily="18" charset="0"/>
              </a:rPr>
              <a:t>Cognitive component </a:t>
            </a:r>
            <a:r>
              <a:rPr lang="en-US" dirty="0" smtClean="0">
                <a:latin typeface="Times New Roman" pitchFamily="18" charset="0"/>
                <a:cs typeface="Times New Roman" pitchFamily="18" charset="0"/>
              </a:rPr>
              <a:t>– the way we interpret a stimulus or a situation </a:t>
            </a:r>
          </a:p>
          <a:p>
            <a:r>
              <a:rPr lang="en-US" dirty="0" smtClean="0">
                <a:solidFill>
                  <a:srgbClr val="FF0000"/>
                </a:solidFill>
                <a:latin typeface="Times New Roman" pitchFamily="18" charset="0"/>
                <a:cs typeface="Times New Roman" pitchFamily="18" charset="0"/>
              </a:rPr>
              <a:t>Behavioral component </a:t>
            </a:r>
            <a:r>
              <a:rPr lang="en-US" dirty="0" smtClean="0">
                <a:latin typeface="Times New Roman" pitchFamily="18" charset="0"/>
                <a:cs typeface="Times New Roman" pitchFamily="18" charset="0"/>
              </a:rPr>
              <a:t>– outward expression of the emotion (facial expressions gesture, body posture, tone of voice)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14400"/>
            <a:ext cx="8686800" cy="5638800"/>
          </a:xfrm>
        </p:spPr>
        <p:txBody>
          <a:bodyPr>
            <a:normAutofit lnSpcReduction="10000"/>
          </a:bodyPr>
          <a:lstStyle/>
          <a:p>
            <a:r>
              <a:rPr lang="en-US" b="1" dirty="0">
                <a:latin typeface="Arial Narrow" pitchFamily="34" charset="0"/>
              </a:rPr>
              <a:t>The p</a:t>
            </a:r>
            <a:r>
              <a:rPr lang="en-US" b="1" dirty="0" smtClean="0">
                <a:latin typeface="Arial Narrow" pitchFamily="34" charset="0"/>
              </a:rPr>
              <a:t>hysiology </a:t>
            </a:r>
            <a:r>
              <a:rPr lang="en-US" b="1" dirty="0">
                <a:latin typeface="Arial Narrow" pitchFamily="34" charset="0"/>
              </a:rPr>
              <a:t>of emotion - </a:t>
            </a:r>
            <a:r>
              <a:rPr lang="en-US" dirty="0">
                <a:latin typeface="Arial Narrow" pitchFamily="34" charset="0"/>
              </a:rPr>
              <a:t>when a person experiences an emotion, there is </a:t>
            </a:r>
            <a:r>
              <a:rPr lang="en-US" dirty="0" smtClean="0">
                <a:latin typeface="Arial Narrow" pitchFamily="34" charset="0"/>
              </a:rPr>
              <a:t>physical arousal </a:t>
            </a:r>
            <a:r>
              <a:rPr lang="en-US" dirty="0">
                <a:latin typeface="Arial Narrow" pitchFamily="34" charset="0"/>
              </a:rPr>
              <a:t>created by the sympathetic nervous system. The heart rate increases, </a:t>
            </a:r>
            <a:r>
              <a:rPr lang="en-US" dirty="0" smtClean="0">
                <a:latin typeface="Arial Narrow" pitchFamily="34" charset="0"/>
              </a:rPr>
              <a:t>breathing becomes </a:t>
            </a:r>
            <a:r>
              <a:rPr lang="en-US" dirty="0">
                <a:latin typeface="Arial Narrow" pitchFamily="34" charset="0"/>
              </a:rPr>
              <a:t>more rapid, the pupils of the eye dilate, and the moth may become dry. </a:t>
            </a:r>
            <a:endParaRPr lang="en-US" dirty="0" smtClean="0">
              <a:latin typeface="Arial Narrow" pitchFamily="34" charset="0"/>
            </a:endParaRPr>
          </a:p>
          <a:p>
            <a:r>
              <a:rPr lang="en-US" dirty="0" smtClean="0">
                <a:latin typeface="Arial Narrow" pitchFamily="34" charset="0"/>
              </a:rPr>
              <a:t>Although </a:t>
            </a:r>
            <a:r>
              <a:rPr lang="en-US" dirty="0">
                <a:latin typeface="Arial Narrow" pitchFamily="34" charset="0"/>
              </a:rPr>
              <a:t>facial expressions do differ between </a:t>
            </a:r>
            <a:r>
              <a:rPr lang="en-US" dirty="0" smtClean="0">
                <a:latin typeface="Arial Narrow" pitchFamily="34" charset="0"/>
              </a:rPr>
              <a:t>various emotional </a:t>
            </a:r>
            <a:r>
              <a:rPr lang="en-US" dirty="0">
                <a:latin typeface="Arial Narrow" pitchFamily="34" charset="0"/>
              </a:rPr>
              <a:t>responses, emotions are difficult to distinguish from one another based on </a:t>
            </a:r>
            <a:r>
              <a:rPr lang="en-US" dirty="0" smtClean="0">
                <a:latin typeface="Arial Narrow" pitchFamily="34" charset="0"/>
              </a:rPr>
              <a:t>outward bodily </a:t>
            </a:r>
            <a:r>
              <a:rPr lang="en-US" dirty="0">
                <a:latin typeface="Arial Narrow" pitchFamily="34" charset="0"/>
              </a:rPr>
              <a:t>reactions alone. </a:t>
            </a:r>
            <a:endParaRPr lang="en-US" dirty="0" smtClean="0">
              <a:latin typeface="Arial Narrow" pitchFamily="34" charset="0"/>
            </a:endParaRPr>
          </a:p>
          <a:p>
            <a:pPr>
              <a:buNone/>
            </a:pPr>
            <a:r>
              <a:rPr lang="en-US" dirty="0" smtClean="0"/>
              <a:t/>
            </a:r>
            <a:br>
              <a:rPr lang="en-US" dirty="0" smtClean="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639762"/>
          </a:xfrm>
        </p:spPr>
        <p:txBody>
          <a:bodyPr>
            <a:normAutofit fontScale="90000"/>
          </a:bodyPr>
          <a:lstStyle/>
          <a:p>
            <a:endParaRPr lang="en-US" dirty="0"/>
          </a:p>
        </p:txBody>
      </p:sp>
      <p:sp>
        <p:nvSpPr>
          <p:cNvPr id="3" name="Content Placeholder 2"/>
          <p:cNvSpPr>
            <a:spLocks noGrp="1"/>
          </p:cNvSpPr>
          <p:nvPr>
            <p:ph idx="1"/>
          </p:nvPr>
        </p:nvSpPr>
        <p:spPr>
          <a:xfrm>
            <a:off x="304800" y="1066800"/>
            <a:ext cx="8610600" cy="5486400"/>
          </a:xfrm>
        </p:spPr>
        <p:txBody>
          <a:bodyPr>
            <a:normAutofit fontScale="92500" lnSpcReduction="10000"/>
          </a:bodyPr>
          <a:lstStyle/>
          <a:p>
            <a:r>
              <a:rPr lang="en-US" b="1" dirty="0">
                <a:latin typeface="Arial Narrow" pitchFamily="34" charset="0"/>
              </a:rPr>
              <a:t>The behavior of </a:t>
            </a:r>
            <a:r>
              <a:rPr lang="en-US" b="1" dirty="0" smtClean="0">
                <a:latin typeface="Arial Narrow" pitchFamily="34" charset="0"/>
              </a:rPr>
              <a:t>emotion - </a:t>
            </a:r>
            <a:r>
              <a:rPr lang="en-US" dirty="0">
                <a:latin typeface="Arial Narrow" pitchFamily="34" charset="0"/>
              </a:rPr>
              <a:t>tells us how people behave in the grip of an emotion. There </a:t>
            </a:r>
            <a:r>
              <a:rPr lang="en-US" dirty="0" smtClean="0">
                <a:latin typeface="Arial Narrow" pitchFamily="34" charset="0"/>
              </a:rPr>
              <a:t>are facial </a:t>
            </a:r>
            <a:r>
              <a:rPr lang="en-US" dirty="0">
                <a:latin typeface="Arial Narrow" pitchFamily="34" charset="0"/>
              </a:rPr>
              <a:t>expressions, body movements, and actions that indicate to others how a person feels</a:t>
            </a:r>
            <a:r>
              <a:rPr lang="en-US" dirty="0" smtClean="0">
                <a:latin typeface="Arial Narrow" pitchFamily="34" charset="0"/>
              </a:rPr>
              <a:t>. </a:t>
            </a:r>
          </a:p>
          <a:p>
            <a:r>
              <a:rPr lang="en-US" dirty="0" smtClean="0">
                <a:latin typeface="Arial Narrow" pitchFamily="34" charset="0"/>
              </a:rPr>
              <a:t>Frowns</a:t>
            </a:r>
            <a:r>
              <a:rPr lang="en-US" dirty="0">
                <a:latin typeface="Arial Narrow" pitchFamily="34" charset="0"/>
              </a:rPr>
              <a:t>, smiles, and sad expressions combine with hand gestures, the turning of one‘s body</a:t>
            </a:r>
            <a:r>
              <a:rPr lang="en-US" dirty="0" smtClean="0">
                <a:latin typeface="Arial Narrow" pitchFamily="34" charset="0"/>
              </a:rPr>
              <a:t>, and </a:t>
            </a:r>
            <a:r>
              <a:rPr lang="en-US" dirty="0">
                <a:latin typeface="Arial Narrow" pitchFamily="34" charset="0"/>
              </a:rPr>
              <a:t>spoken words to produce an understanding of emotion. </a:t>
            </a:r>
            <a:endParaRPr lang="en-US" dirty="0" smtClean="0">
              <a:latin typeface="Arial Narrow" pitchFamily="34" charset="0"/>
            </a:endParaRPr>
          </a:p>
          <a:p>
            <a:r>
              <a:rPr lang="en-US" dirty="0" smtClean="0">
                <a:latin typeface="Arial Narrow" pitchFamily="34" charset="0"/>
              </a:rPr>
              <a:t>People </a:t>
            </a:r>
            <a:r>
              <a:rPr lang="en-US" dirty="0">
                <a:latin typeface="Arial Narrow" pitchFamily="34" charset="0"/>
              </a:rPr>
              <a:t>fight, run, kiss, and yell</a:t>
            </a:r>
            <a:r>
              <a:rPr lang="en-US" dirty="0" smtClean="0">
                <a:latin typeface="Arial Narrow" pitchFamily="34" charset="0"/>
              </a:rPr>
              <a:t>, along </a:t>
            </a:r>
            <a:r>
              <a:rPr lang="en-US" dirty="0">
                <a:latin typeface="Arial Narrow" pitchFamily="34" charset="0"/>
              </a:rPr>
              <a:t>with countless other actions stemming from the emotions they feel. Facial </a:t>
            </a:r>
            <a:r>
              <a:rPr lang="en-US" dirty="0" smtClean="0">
                <a:latin typeface="Arial Narrow" pitchFamily="34" charset="0"/>
              </a:rPr>
              <a:t>expressions can </a:t>
            </a:r>
            <a:r>
              <a:rPr lang="en-US" dirty="0">
                <a:latin typeface="Arial Narrow" pitchFamily="34" charset="0"/>
              </a:rPr>
              <a:t>vary across different cultures, although some aspects of facial expression seem to </a:t>
            </a:r>
            <a:r>
              <a:rPr lang="en-US" dirty="0" smtClean="0">
                <a:latin typeface="Arial Narrow" pitchFamily="34" charset="0"/>
              </a:rPr>
              <a:t>be universal</a:t>
            </a:r>
            <a:r>
              <a:rPr lang="en-US" dirty="0">
                <a:latin typeface="Arial Narrow" pitchFamily="34" charset="0"/>
              </a:rPr>
              <a:t>.</a:t>
            </a:r>
            <a:r>
              <a:rPr lang="en-US" dirty="0" smtClean="0">
                <a:latin typeface="Arial Narrow" pitchFamily="34" charset="0"/>
              </a:rPr>
              <a:t> </a:t>
            </a:r>
            <a:br>
              <a:rPr lang="en-US" dirty="0" smtClean="0">
                <a:latin typeface="Arial Narrow" pitchFamily="34" charset="0"/>
              </a:rPr>
            </a:br>
            <a:endParaRPr lang="en-US" dirty="0">
              <a:latin typeface="Arial Narrow"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228600" y="990600"/>
            <a:ext cx="8686800" cy="5562600"/>
          </a:xfrm>
        </p:spPr>
        <p:txBody>
          <a:bodyPr>
            <a:normAutofit fontScale="92500" lnSpcReduction="10000"/>
          </a:bodyPr>
          <a:lstStyle/>
          <a:p>
            <a:r>
              <a:rPr lang="en-US" sz="3000" b="1" dirty="0">
                <a:latin typeface="Arial Narrow" pitchFamily="34" charset="0"/>
              </a:rPr>
              <a:t>Subjective experience or </a:t>
            </a:r>
            <a:r>
              <a:rPr lang="en-US" sz="3000" dirty="0">
                <a:latin typeface="Arial Narrow" pitchFamily="34" charset="0"/>
              </a:rPr>
              <a:t>labeling emotion is the third component of emotion and it </a:t>
            </a:r>
            <a:r>
              <a:rPr lang="en-US" sz="3000" dirty="0" smtClean="0">
                <a:latin typeface="Arial Narrow" pitchFamily="34" charset="0"/>
              </a:rPr>
              <a:t>involves interpreting </a:t>
            </a:r>
            <a:r>
              <a:rPr lang="en-US" sz="3000" dirty="0">
                <a:latin typeface="Arial Narrow" pitchFamily="34" charset="0"/>
              </a:rPr>
              <a:t>the subjective feeling by giving it a label: anger, fear, disgust, happiness, sadness</a:t>
            </a:r>
            <a:r>
              <a:rPr lang="en-US" sz="3000" dirty="0" smtClean="0">
                <a:latin typeface="Arial Narrow" pitchFamily="34" charset="0"/>
              </a:rPr>
              <a:t>, shame</a:t>
            </a:r>
            <a:r>
              <a:rPr lang="en-US" sz="3000" dirty="0">
                <a:latin typeface="Arial Narrow" pitchFamily="34" charset="0"/>
              </a:rPr>
              <a:t>, interest, surprise and so on. </a:t>
            </a:r>
            <a:endParaRPr lang="en-US" sz="3000" dirty="0" smtClean="0">
              <a:latin typeface="Arial Narrow" pitchFamily="34" charset="0"/>
            </a:endParaRPr>
          </a:p>
          <a:p>
            <a:r>
              <a:rPr lang="en-US" sz="3000" dirty="0">
                <a:latin typeface="Arial Narrow" pitchFamily="34" charset="0"/>
              </a:rPr>
              <a:t>T</a:t>
            </a:r>
            <a:r>
              <a:rPr lang="en-US" sz="3000" dirty="0" smtClean="0">
                <a:latin typeface="Arial Narrow" pitchFamily="34" charset="0"/>
              </a:rPr>
              <a:t>his </a:t>
            </a:r>
            <a:r>
              <a:rPr lang="en-US" sz="3000" dirty="0">
                <a:latin typeface="Arial Narrow" pitchFamily="34" charset="0"/>
              </a:rPr>
              <a:t>component is </a:t>
            </a:r>
            <a:r>
              <a:rPr lang="en-US" sz="3000" dirty="0" smtClean="0">
                <a:latin typeface="Arial Narrow" pitchFamily="34" charset="0"/>
              </a:rPr>
              <a:t>also called “cognitive component” because </a:t>
            </a:r>
            <a:r>
              <a:rPr lang="en-US" sz="3000" dirty="0">
                <a:latin typeface="Arial Narrow" pitchFamily="34" charset="0"/>
              </a:rPr>
              <a:t>the labeling process is a matter of retrieving memories </a:t>
            </a:r>
            <a:r>
              <a:rPr lang="en-US" sz="3000" dirty="0" smtClean="0">
                <a:latin typeface="Arial Narrow" pitchFamily="34" charset="0"/>
              </a:rPr>
              <a:t>of previous </a:t>
            </a:r>
            <a:r>
              <a:rPr lang="en-US" sz="3000" dirty="0">
                <a:latin typeface="Arial Narrow" pitchFamily="34" charset="0"/>
              </a:rPr>
              <a:t>similar experiences, perceiving the context of the emotion, and coming up with </a:t>
            </a:r>
            <a:r>
              <a:rPr lang="en-US" sz="3000" dirty="0" smtClean="0">
                <a:latin typeface="Arial Narrow" pitchFamily="34" charset="0"/>
              </a:rPr>
              <a:t>a solution- </a:t>
            </a:r>
            <a:r>
              <a:rPr lang="en-US" sz="3000" dirty="0">
                <a:latin typeface="Arial Narrow" pitchFamily="34" charset="0"/>
              </a:rPr>
              <a:t>a label</a:t>
            </a:r>
            <a:r>
              <a:rPr lang="en-US" sz="3000" dirty="0" smtClean="0">
                <a:latin typeface="Arial Narrow" pitchFamily="34" charset="0"/>
              </a:rPr>
              <a:t>.</a:t>
            </a:r>
          </a:p>
          <a:p>
            <a:r>
              <a:rPr lang="en-US" sz="3000" dirty="0" smtClean="0">
                <a:latin typeface="Arial Narrow" pitchFamily="34" charset="0"/>
              </a:rPr>
              <a:t>The </a:t>
            </a:r>
            <a:r>
              <a:rPr lang="en-US" sz="3000" dirty="0">
                <a:latin typeface="Arial Narrow" pitchFamily="34" charset="0"/>
              </a:rPr>
              <a:t>label a person applies to a subjective feeling is at least in part a </a:t>
            </a:r>
            <a:r>
              <a:rPr lang="en-US" sz="3000" dirty="0" smtClean="0">
                <a:latin typeface="Arial Narrow" pitchFamily="34" charset="0"/>
              </a:rPr>
              <a:t>learned response </a:t>
            </a:r>
            <a:r>
              <a:rPr lang="en-US" sz="3000" dirty="0">
                <a:latin typeface="Arial Narrow" pitchFamily="34" charset="0"/>
              </a:rPr>
              <a:t>influenced by that person‘s language and culture. Such labels may differ in </a:t>
            </a:r>
            <a:r>
              <a:rPr lang="en-US" sz="3000" dirty="0" smtClean="0">
                <a:latin typeface="Arial Narrow" pitchFamily="34" charset="0"/>
              </a:rPr>
              <a:t>people of </a:t>
            </a:r>
            <a:r>
              <a:rPr lang="en-US" sz="3000" dirty="0">
                <a:latin typeface="Arial Narrow" pitchFamily="34" charset="0"/>
              </a:rPr>
              <a:t>different cultural backgrounds.</a:t>
            </a:r>
            <a:r>
              <a:rPr lang="en-US" dirty="0" smtClean="0"/>
              <a:t> </a:t>
            </a:r>
            <a:br>
              <a:rPr lang="en-US"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en-US" dirty="0" smtClean="0">
                <a:solidFill>
                  <a:srgbClr val="FF0000"/>
                </a:solidFill>
                <a:latin typeface="Times New Roman" pitchFamily="18" charset="0"/>
                <a:cs typeface="Times New Roman" pitchFamily="18" charset="0"/>
              </a:rPr>
              <a:t>Basic Emotions</a:t>
            </a:r>
          </a:p>
        </p:txBody>
      </p:sp>
      <p:sp>
        <p:nvSpPr>
          <p:cNvPr id="30723" name="Rectangle 3"/>
          <p:cNvSpPr>
            <a:spLocks noGrp="1" noChangeArrowheads="1"/>
          </p:cNvSpPr>
          <p:nvPr>
            <p:ph type="body" idx="1"/>
          </p:nvPr>
        </p:nvSpPr>
        <p:spPr/>
        <p:txBody>
          <a:bodyPr/>
          <a:lstStyle/>
          <a:p>
            <a:pPr eaLnBrk="1" hangingPunct="1">
              <a:defRPr/>
            </a:pPr>
            <a:r>
              <a:rPr lang="en-US" dirty="0" smtClean="0">
                <a:latin typeface="Times New Roman" pitchFamily="18" charset="0"/>
                <a:cs typeface="Times New Roman" pitchFamily="18" charset="0"/>
              </a:rPr>
              <a:t>The revised model of basic emotions includes:</a:t>
            </a:r>
          </a:p>
          <a:p>
            <a:pPr lvl="1" eaLnBrk="1" hangingPunct="1">
              <a:defRPr/>
            </a:pPr>
            <a:r>
              <a:rPr lang="en-US" dirty="0" smtClean="0">
                <a:latin typeface="Times New Roman" pitchFamily="18" charset="0"/>
                <a:cs typeface="Times New Roman" pitchFamily="18" charset="0"/>
              </a:rPr>
              <a:t>Happiness</a:t>
            </a:r>
          </a:p>
          <a:p>
            <a:pPr lvl="1" eaLnBrk="1" hangingPunct="1">
              <a:defRPr/>
            </a:pPr>
            <a:r>
              <a:rPr lang="en-US" dirty="0" smtClean="0">
                <a:latin typeface="Times New Roman" pitchFamily="18" charset="0"/>
                <a:cs typeface="Times New Roman" pitchFamily="18" charset="0"/>
              </a:rPr>
              <a:t>Surprise</a:t>
            </a:r>
          </a:p>
          <a:p>
            <a:pPr lvl="1" eaLnBrk="1" hangingPunct="1">
              <a:defRPr/>
            </a:pPr>
            <a:r>
              <a:rPr lang="en-US" dirty="0" smtClean="0">
                <a:latin typeface="Times New Roman" pitchFamily="18" charset="0"/>
                <a:cs typeface="Times New Roman" pitchFamily="18" charset="0"/>
              </a:rPr>
              <a:t>Sadness</a:t>
            </a:r>
          </a:p>
          <a:p>
            <a:pPr lvl="1" eaLnBrk="1" hangingPunct="1">
              <a:defRPr/>
            </a:pPr>
            <a:r>
              <a:rPr lang="en-US" dirty="0" smtClean="0">
                <a:latin typeface="Times New Roman" pitchFamily="18" charset="0"/>
                <a:cs typeface="Times New Roman" pitchFamily="18" charset="0"/>
              </a:rPr>
              <a:t>Fear</a:t>
            </a:r>
          </a:p>
          <a:p>
            <a:pPr lvl="1" eaLnBrk="1" hangingPunct="1">
              <a:defRPr/>
            </a:pPr>
            <a:r>
              <a:rPr lang="en-US" dirty="0" smtClean="0">
                <a:latin typeface="Times New Roman" pitchFamily="18" charset="0"/>
                <a:cs typeface="Times New Roman" pitchFamily="18" charset="0"/>
              </a:rPr>
              <a:t>Disgust</a:t>
            </a:r>
          </a:p>
          <a:p>
            <a:pPr lvl="1" eaLnBrk="1" hangingPunct="1">
              <a:defRPr/>
            </a:pPr>
            <a:r>
              <a:rPr lang="en-US" dirty="0" smtClean="0">
                <a:latin typeface="Times New Roman" pitchFamily="18" charset="0"/>
                <a:cs typeface="Times New Roman" pitchFamily="18" charset="0"/>
              </a:rPr>
              <a:t>Anger</a:t>
            </a:r>
          </a:p>
          <a:p>
            <a:pPr eaLnBrk="1" hangingPunct="1">
              <a:buFont typeface="Wingdings" pitchFamily="2" charset="2"/>
              <a:buNone/>
              <a:defRPr/>
            </a:pPr>
            <a:endParaRPr lang="en-US" dirty="0" smtClean="0">
              <a:latin typeface="Abyssinica SIL" pitchFamily="2"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ea typeface="ＭＳ Ｐゴシック" pitchFamily="-112" charset="-128"/>
              </a:rPr>
              <a:t>Anger</a:t>
            </a:r>
          </a:p>
        </p:txBody>
      </p:sp>
      <p:sp>
        <p:nvSpPr>
          <p:cNvPr id="22531" name="Content Placeholder 2"/>
          <p:cNvSpPr>
            <a:spLocks noGrp="1"/>
          </p:cNvSpPr>
          <p:nvPr>
            <p:ph idx="1"/>
          </p:nvPr>
        </p:nvSpPr>
        <p:spPr/>
        <p:txBody>
          <a:bodyPr/>
          <a:lstStyle/>
          <a:p>
            <a:endParaRPr lang="en-US" dirty="0" smtClean="0">
              <a:ea typeface="ＭＳ Ｐゴシック" pitchFamily="-112" charset="-128"/>
            </a:endParaRPr>
          </a:p>
        </p:txBody>
      </p:sp>
      <p:pic>
        <p:nvPicPr>
          <p:cNvPr id="22532" name="Picture 3"/>
          <p:cNvPicPr>
            <a:picLocks noChangeAspect="1"/>
          </p:cNvPicPr>
          <p:nvPr/>
        </p:nvPicPr>
        <p:blipFill>
          <a:blip r:embed="rId2" cstate="print"/>
          <a:srcRect/>
          <a:stretch>
            <a:fillRect/>
          </a:stretch>
        </p:blipFill>
        <p:spPr bwMode="auto">
          <a:xfrm>
            <a:off x="381000" y="1487354"/>
            <a:ext cx="7543800" cy="48372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mtClean="0">
                <a:ea typeface="ＭＳ Ｐゴシック" pitchFamily="-112" charset="-128"/>
              </a:rPr>
              <a:t>Disgust</a:t>
            </a:r>
          </a:p>
        </p:txBody>
      </p:sp>
      <p:sp>
        <p:nvSpPr>
          <p:cNvPr id="24579" name="Content Placeholder 2"/>
          <p:cNvSpPr>
            <a:spLocks noGrp="1"/>
          </p:cNvSpPr>
          <p:nvPr>
            <p:ph idx="1"/>
          </p:nvPr>
        </p:nvSpPr>
        <p:spPr/>
        <p:txBody>
          <a:bodyPr/>
          <a:lstStyle/>
          <a:p>
            <a:endParaRPr lang="en-US" smtClean="0">
              <a:ea typeface="ＭＳ Ｐゴシック" pitchFamily="-112" charset="-128"/>
            </a:endParaRPr>
          </a:p>
        </p:txBody>
      </p:sp>
      <p:pic>
        <p:nvPicPr>
          <p:cNvPr id="24580" name="Picture 3"/>
          <p:cNvPicPr>
            <a:picLocks noChangeAspect="1"/>
          </p:cNvPicPr>
          <p:nvPr/>
        </p:nvPicPr>
        <p:blipFill>
          <a:blip r:embed="rId2" cstate="print"/>
          <a:srcRect/>
          <a:stretch>
            <a:fillRect/>
          </a:stretch>
        </p:blipFill>
        <p:spPr bwMode="auto">
          <a:xfrm>
            <a:off x="381000" y="1295400"/>
            <a:ext cx="8305800"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ea typeface="ＭＳ Ｐゴシック" pitchFamily="-112" charset="-128"/>
              </a:rPr>
              <a:t>Fear</a:t>
            </a:r>
          </a:p>
        </p:txBody>
      </p:sp>
      <p:sp>
        <p:nvSpPr>
          <p:cNvPr id="25603" name="Content Placeholder 2"/>
          <p:cNvSpPr>
            <a:spLocks noGrp="1"/>
          </p:cNvSpPr>
          <p:nvPr>
            <p:ph idx="1"/>
          </p:nvPr>
        </p:nvSpPr>
        <p:spPr/>
        <p:txBody>
          <a:bodyPr/>
          <a:lstStyle/>
          <a:p>
            <a:endParaRPr lang="en-US" smtClean="0">
              <a:ea typeface="ＭＳ Ｐゴシック" pitchFamily="-112" charset="-128"/>
            </a:endParaRPr>
          </a:p>
        </p:txBody>
      </p:sp>
      <p:pic>
        <p:nvPicPr>
          <p:cNvPr id="25604" name="Picture 3"/>
          <p:cNvPicPr>
            <a:picLocks noChangeAspect="1"/>
          </p:cNvPicPr>
          <p:nvPr/>
        </p:nvPicPr>
        <p:blipFill>
          <a:blip r:embed="rId2" cstate="print"/>
          <a:srcRect/>
          <a:stretch>
            <a:fillRect/>
          </a:stretch>
        </p:blipFill>
        <p:spPr bwMode="auto">
          <a:xfrm>
            <a:off x="381000" y="1371601"/>
            <a:ext cx="8382000"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ＭＳ Ｐゴシック" pitchFamily="-112" charset="-128"/>
              </a:rPr>
              <a:t>Happiness</a:t>
            </a:r>
          </a:p>
        </p:txBody>
      </p:sp>
      <p:sp>
        <p:nvSpPr>
          <p:cNvPr id="26627" name="Content Placeholder 2"/>
          <p:cNvSpPr>
            <a:spLocks noGrp="1"/>
          </p:cNvSpPr>
          <p:nvPr>
            <p:ph idx="1"/>
          </p:nvPr>
        </p:nvSpPr>
        <p:spPr/>
        <p:txBody>
          <a:bodyPr/>
          <a:lstStyle/>
          <a:p>
            <a:endParaRPr lang="en-US" smtClean="0">
              <a:ea typeface="ＭＳ Ｐゴシック" pitchFamily="-112" charset="-128"/>
            </a:endParaRPr>
          </a:p>
        </p:txBody>
      </p:sp>
      <p:pic>
        <p:nvPicPr>
          <p:cNvPr id="26628" name="Picture 3"/>
          <p:cNvPicPr>
            <a:picLocks noChangeAspect="1"/>
          </p:cNvPicPr>
          <p:nvPr/>
        </p:nvPicPr>
        <p:blipFill>
          <a:blip r:embed="rId2" cstate="print"/>
          <a:srcRect/>
          <a:stretch>
            <a:fillRect/>
          </a:stretch>
        </p:blipFill>
        <p:spPr bwMode="auto">
          <a:xfrm>
            <a:off x="457200" y="1143000"/>
            <a:ext cx="83058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mtClean="0">
                <a:ea typeface="ＭＳ Ｐゴシック" pitchFamily="-112" charset="-128"/>
              </a:rPr>
              <a:t>Sadness </a:t>
            </a:r>
          </a:p>
        </p:txBody>
      </p:sp>
      <p:sp>
        <p:nvSpPr>
          <p:cNvPr id="27651" name="Content Placeholder 2"/>
          <p:cNvSpPr>
            <a:spLocks noGrp="1"/>
          </p:cNvSpPr>
          <p:nvPr>
            <p:ph idx="1"/>
          </p:nvPr>
        </p:nvSpPr>
        <p:spPr/>
        <p:txBody>
          <a:bodyPr/>
          <a:lstStyle/>
          <a:p>
            <a:endParaRPr lang="en-US" smtClean="0">
              <a:ea typeface="ＭＳ Ｐゴシック" pitchFamily="-112" charset="-128"/>
            </a:endParaRPr>
          </a:p>
        </p:txBody>
      </p:sp>
      <p:pic>
        <p:nvPicPr>
          <p:cNvPr id="27652" name="Picture 3"/>
          <p:cNvPicPr>
            <a:picLocks noChangeAspect="1"/>
          </p:cNvPicPr>
          <p:nvPr/>
        </p:nvPicPr>
        <p:blipFill>
          <a:blip r:embed="rId2" cstate="print"/>
          <a:srcRect/>
          <a:stretch>
            <a:fillRect/>
          </a:stretch>
        </p:blipFill>
        <p:spPr bwMode="auto">
          <a:xfrm>
            <a:off x="304800" y="1371600"/>
            <a:ext cx="8458200"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mtClean="0">
                <a:ea typeface="ＭＳ Ｐゴシック" pitchFamily="-112" charset="-128"/>
              </a:rPr>
              <a:t>Surprise</a:t>
            </a:r>
          </a:p>
        </p:txBody>
      </p:sp>
      <p:sp>
        <p:nvSpPr>
          <p:cNvPr id="28675" name="Content Placeholder 2"/>
          <p:cNvSpPr>
            <a:spLocks noGrp="1"/>
          </p:cNvSpPr>
          <p:nvPr>
            <p:ph idx="1"/>
          </p:nvPr>
        </p:nvSpPr>
        <p:spPr/>
        <p:txBody>
          <a:bodyPr/>
          <a:lstStyle/>
          <a:p>
            <a:endParaRPr lang="en-US" smtClean="0">
              <a:ea typeface="ＭＳ Ｐゴシック" pitchFamily="-112" charset="-128"/>
            </a:endParaRPr>
          </a:p>
        </p:txBody>
      </p:sp>
      <p:pic>
        <p:nvPicPr>
          <p:cNvPr id="28676" name="Picture 3"/>
          <p:cNvPicPr>
            <a:picLocks noChangeAspect="1"/>
          </p:cNvPicPr>
          <p:nvPr/>
        </p:nvPicPr>
        <p:blipFill>
          <a:blip r:embed="rId2" cstate="print"/>
          <a:srcRect/>
          <a:stretch>
            <a:fillRect/>
          </a:stretch>
        </p:blipFill>
        <p:spPr bwMode="auto">
          <a:xfrm>
            <a:off x="381000" y="1447800"/>
            <a:ext cx="83820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Theories of emotion</a:t>
            </a:r>
            <a:endParaRPr lang="en-US" dirty="0"/>
          </a:p>
        </p:txBody>
      </p:sp>
      <p:sp>
        <p:nvSpPr>
          <p:cNvPr id="3" name="Content Placeholder 2"/>
          <p:cNvSpPr>
            <a:spLocks noGrp="1"/>
          </p:cNvSpPr>
          <p:nvPr>
            <p:ph idx="1"/>
          </p:nvPr>
        </p:nvSpPr>
        <p:spPr>
          <a:xfrm>
            <a:off x="228600" y="914400"/>
            <a:ext cx="8686800" cy="5715000"/>
          </a:xfrm>
        </p:spPr>
        <p:txBody>
          <a:bodyPr>
            <a:normAutofit fontScale="92500" lnSpcReduction="20000"/>
          </a:bodyPr>
          <a:lstStyle/>
          <a:p>
            <a:pPr marL="571500" indent="-571500">
              <a:buAutoNum type="romanUcPeriod"/>
            </a:pPr>
            <a:r>
              <a:rPr lang="en-US" b="1" dirty="0" smtClean="0">
                <a:latin typeface="Arial Narrow" pitchFamily="34" charset="0"/>
              </a:rPr>
              <a:t>James-Lang </a:t>
            </a:r>
            <a:r>
              <a:rPr lang="en-US" b="1" dirty="0">
                <a:latin typeface="Arial Narrow" pitchFamily="34" charset="0"/>
              </a:rPr>
              <a:t>Theory of </a:t>
            </a:r>
            <a:r>
              <a:rPr lang="en-US" b="1" dirty="0" smtClean="0">
                <a:latin typeface="Arial Narrow" pitchFamily="34" charset="0"/>
              </a:rPr>
              <a:t>Emotion</a:t>
            </a:r>
          </a:p>
          <a:p>
            <a:pPr marL="571500" indent="-571500"/>
            <a:r>
              <a:rPr lang="en-US" dirty="0" smtClean="0">
                <a:latin typeface="Arial Narrow" pitchFamily="34" charset="0"/>
              </a:rPr>
              <a:t>In </a:t>
            </a:r>
            <a:r>
              <a:rPr lang="en-US" dirty="0">
                <a:latin typeface="Arial Narrow" pitchFamily="34" charset="0"/>
              </a:rPr>
              <a:t>this theory, a stimulus of some sort (for example, the large snarling dog) produces </a:t>
            </a:r>
            <a:r>
              <a:rPr lang="en-US" dirty="0" smtClean="0">
                <a:latin typeface="Arial Narrow" pitchFamily="34" charset="0"/>
              </a:rPr>
              <a:t>a physiological </a:t>
            </a:r>
            <a:r>
              <a:rPr lang="en-US" dirty="0">
                <a:latin typeface="Arial Narrow" pitchFamily="34" charset="0"/>
              </a:rPr>
              <a:t>reaction. This reaction, which is the arousal of the </a:t>
            </a:r>
            <a:r>
              <a:rPr lang="en-US" dirty="0" smtClean="0">
                <a:solidFill>
                  <a:srgbClr val="FF0000"/>
                </a:solidFill>
                <a:latin typeface="Arial Narrow" pitchFamily="34" charset="0"/>
              </a:rPr>
              <a:t>“fight-or-flight”</a:t>
            </a:r>
            <a:r>
              <a:rPr lang="en-US" dirty="0" smtClean="0">
                <a:latin typeface="Arial Narrow" pitchFamily="34" charset="0"/>
              </a:rPr>
              <a:t>  sympathetic nervous </a:t>
            </a:r>
            <a:r>
              <a:rPr lang="en-US" dirty="0">
                <a:latin typeface="Arial Narrow" pitchFamily="34" charset="0"/>
              </a:rPr>
              <a:t>system (wanting to run), produces </a:t>
            </a:r>
            <a:r>
              <a:rPr lang="en-US" dirty="0">
                <a:solidFill>
                  <a:srgbClr val="FF0000"/>
                </a:solidFill>
                <a:latin typeface="Arial Narrow" pitchFamily="34" charset="0"/>
              </a:rPr>
              <a:t>bodily sensations </a:t>
            </a:r>
            <a:r>
              <a:rPr lang="en-US" dirty="0">
                <a:latin typeface="Arial Narrow" pitchFamily="34" charset="0"/>
              </a:rPr>
              <a:t>such as increased heart rate, </a:t>
            </a:r>
            <a:r>
              <a:rPr lang="en-US" dirty="0" smtClean="0">
                <a:latin typeface="Arial Narrow" pitchFamily="34" charset="0"/>
              </a:rPr>
              <a:t>dry mouth</a:t>
            </a:r>
            <a:r>
              <a:rPr lang="en-US" dirty="0">
                <a:latin typeface="Arial Narrow" pitchFamily="34" charset="0"/>
              </a:rPr>
              <a:t>, and rapid breathing. </a:t>
            </a:r>
            <a:endParaRPr lang="en-US" dirty="0" smtClean="0">
              <a:latin typeface="Arial Narrow" pitchFamily="34" charset="0"/>
            </a:endParaRPr>
          </a:p>
          <a:p>
            <a:pPr marL="571500" indent="-571500"/>
            <a:r>
              <a:rPr lang="en-US" dirty="0" smtClean="0">
                <a:latin typeface="Arial Narrow" pitchFamily="34" charset="0"/>
              </a:rPr>
              <a:t>James </a:t>
            </a:r>
            <a:r>
              <a:rPr lang="en-US" dirty="0">
                <a:latin typeface="Arial Narrow" pitchFamily="34" charset="0"/>
              </a:rPr>
              <a:t>and Lang believed that </a:t>
            </a:r>
            <a:r>
              <a:rPr lang="en-US" dirty="0">
                <a:solidFill>
                  <a:srgbClr val="FF0000"/>
                </a:solidFill>
                <a:latin typeface="Arial Narrow" pitchFamily="34" charset="0"/>
              </a:rPr>
              <a:t>physical arousal led to the </a:t>
            </a:r>
            <a:r>
              <a:rPr lang="en-US" dirty="0" smtClean="0">
                <a:solidFill>
                  <a:srgbClr val="FF0000"/>
                </a:solidFill>
                <a:latin typeface="Arial Narrow" pitchFamily="34" charset="0"/>
              </a:rPr>
              <a:t>labeling of </a:t>
            </a:r>
            <a:r>
              <a:rPr lang="en-US" dirty="0">
                <a:solidFill>
                  <a:srgbClr val="FF0000"/>
                </a:solidFill>
                <a:latin typeface="Arial Narrow" pitchFamily="34" charset="0"/>
              </a:rPr>
              <a:t>the emotion (fear</a:t>
            </a:r>
            <a:r>
              <a:rPr lang="en-US" dirty="0">
                <a:latin typeface="Arial Narrow" pitchFamily="34" charset="0"/>
              </a:rPr>
              <a:t>). </a:t>
            </a:r>
            <a:endParaRPr lang="en-US" dirty="0" smtClean="0">
              <a:latin typeface="Arial Narrow" pitchFamily="34" charset="0"/>
            </a:endParaRPr>
          </a:p>
          <a:p>
            <a:pPr marL="571500" indent="-571500">
              <a:buNone/>
            </a:pPr>
            <a:r>
              <a:rPr lang="en-US" dirty="0" smtClean="0">
                <a:latin typeface="Arial Narrow" pitchFamily="34" charset="0"/>
              </a:rPr>
              <a:t>Simply put, “I </a:t>
            </a:r>
            <a:r>
              <a:rPr lang="en-US" dirty="0">
                <a:latin typeface="Arial Narrow" pitchFamily="34" charset="0"/>
              </a:rPr>
              <a:t>am afraid because I am aroused</a:t>
            </a:r>
            <a:r>
              <a:rPr lang="en-US" dirty="0" smtClean="0">
                <a:latin typeface="Arial Narrow" pitchFamily="34" charset="0"/>
              </a:rPr>
              <a:t>,” </a:t>
            </a:r>
          </a:p>
          <a:p>
            <a:pPr marL="571500" indent="-571500">
              <a:buNone/>
            </a:pPr>
            <a:r>
              <a:rPr lang="en-US" dirty="0" smtClean="0">
                <a:latin typeface="Arial Narrow" pitchFamily="34" charset="0"/>
              </a:rPr>
              <a:t>	“I </a:t>
            </a:r>
            <a:r>
              <a:rPr lang="en-US" dirty="0">
                <a:latin typeface="Arial Narrow" pitchFamily="34" charset="0"/>
              </a:rPr>
              <a:t>am </a:t>
            </a:r>
            <a:r>
              <a:rPr lang="en-US" dirty="0" smtClean="0">
                <a:latin typeface="Arial Narrow" pitchFamily="34" charset="0"/>
              </a:rPr>
              <a:t>embarrassed because </a:t>
            </a:r>
            <a:r>
              <a:rPr lang="en-US" dirty="0">
                <a:latin typeface="Arial Narrow" pitchFamily="34" charset="0"/>
              </a:rPr>
              <a:t>my face is red</a:t>
            </a:r>
            <a:r>
              <a:rPr lang="en-US" dirty="0" smtClean="0">
                <a:latin typeface="Arial Narrow" pitchFamily="34" charset="0"/>
              </a:rPr>
              <a:t>,” and </a:t>
            </a:r>
          </a:p>
          <a:p>
            <a:pPr marL="571500" indent="-571500">
              <a:buNone/>
            </a:pPr>
            <a:r>
              <a:rPr lang="en-US" dirty="0" smtClean="0">
                <a:latin typeface="Arial Narrow" pitchFamily="34" charset="0"/>
              </a:rPr>
              <a:t>	“I </a:t>
            </a:r>
            <a:r>
              <a:rPr lang="en-US" dirty="0">
                <a:latin typeface="Arial Narrow" pitchFamily="34" charset="0"/>
              </a:rPr>
              <a:t>am in </a:t>
            </a:r>
            <a:r>
              <a:rPr lang="en-US" dirty="0" smtClean="0">
                <a:latin typeface="Arial Narrow" pitchFamily="34" charset="0"/>
              </a:rPr>
              <a:t>love because </a:t>
            </a:r>
            <a:r>
              <a:rPr lang="en-US" dirty="0">
                <a:latin typeface="Arial Narrow" pitchFamily="34" charset="0"/>
              </a:rPr>
              <a:t>of my heart rate increases when I look at her or him</a:t>
            </a:r>
            <a:r>
              <a:rPr lang="en-US"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14400"/>
            <a:ext cx="8686800" cy="5715000"/>
          </a:xfrm>
        </p:spPr>
        <p:txBody>
          <a:bodyPr>
            <a:normAutofit/>
          </a:bodyPr>
          <a:lstStyle/>
          <a:p>
            <a:pPr>
              <a:buNone/>
            </a:pPr>
            <a:r>
              <a:rPr lang="en-US" sz="2800" b="1" dirty="0">
                <a:latin typeface="Arial Narrow" pitchFamily="34" charset="0"/>
              </a:rPr>
              <a:t>II</a:t>
            </a:r>
            <a:r>
              <a:rPr lang="en-US" sz="2800" b="1" i="1" dirty="0">
                <a:latin typeface="Arial Narrow" pitchFamily="34" charset="0"/>
              </a:rPr>
              <a:t>. </a:t>
            </a:r>
            <a:r>
              <a:rPr lang="en-US" sz="2800" b="1" dirty="0">
                <a:latin typeface="Arial Narrow" pitchFamily="34" charset="0"/>
              </a:rPr>
              <a:t>Cannon-Bard theory of </a:t>
            </a:r>
            <a:r>
              <a:rPr lang="en-US" sz="2800" b="1" dirty="0" smtClean="0">
                <a:latin typeface="Arial Narrow" pitchFamily="34" charset="0"/>
              </a:rPr>
              <a:t>emotion</a:t>
            </a:r>
          </a:p>
          <a:p>
            <a:r>
              <a:rPr lang="en-US" sz="2800" dirty="0" smtClean="0">
                <a:latin typeface="Arial Narrow" pitchFamily="34" charset="0"/>
              </a:rPr>
              <a:t>Physiologists Cannon </a:t>
            </a:r>
            <a:r>
              <a:rPr lang="en-US" sz="2800" dirty="0">
                <a:latin typeface="Arial Narrow" pitchFamily="34" charset="0"/>
              </a:rPr>
              <a:t>and (1927) and </a:t>
            </a:r>
            <a:r>
              <a:rPr lang="en-US" sz="2800" dirty="0" smtClean="0">
                <a:latin typeface="Arial Narrow" pitchFamily="34" charset="0"/>
              </a:rPr>
              <a:t>Bard </a:t>
            </a:r>
            <a:r>
              <a:rPr lang="en-US" sz="2800" dirty="0">
                <a:latin typeface="Arial Narrow" pitchFamily="34" charset="0"/>
              </a:rPr>
              <a:t>(1934) theorized that the </a:t>
            </a:r>
            <a:r>
              <a:rPr lang="en-US" sz="2800" dirty="0">
                <a:solidFill>
                  <a:srgbClr val="FF0000"/>
                </a:solidFill>
                <a:latin typeface="Arial Narrow" pitchFamily="34" charset="0"/>
              </a:rPr>
              <a:t>emotion and </a:t>
            </a:r>
            <a:r>
              <a:rPr lang="en-US" sz="2800" dirty="0" smtClean="0">
                <a:solidFill>
                  <a:srgbClr val="FF0000"/>
                </a:solidFill>
                <a:latin typeface="Arial Narrow" pitchFamily="34" charset="0"/>
              </a:rPr>
              <a:t>the physiological </a:t>
            </a:r>
            <a:r>
              <a:rPr lang="en-US" sz="2800" dirty="0">
                <a:solidFill>
                  <a:srgbClr val="FF0000"/>
                </a:solidFill>
                <a:latin typeface="Arial Narrow" pitchFamily="34" charset="0"/>
              </a:rPr>
              <a:t>arousal occur more or less at the same time</a:t>
            </a:r>
            <a:r>
              <a:rPr lang="en-US" sz="2800" dirty="0">
                <a:latin typeface="Arial Narrow" pitchFamily="34" charset="0"/>
              </a:rPr>
              <a:t>. </a:t>
            </a:r>
            <a:endParaRPr lang="en-US" sz="2800" dirty="0" smtClean="0">
              <a:latin typeface="Arial Narrow" pitchFamily="34" charset="0"/>
            </a:endParaRPr>
          </a:p>
          <a:p>
            <a:r>
              <a:rPr lang="en-US" sz="2800" dirty="0" smtClean="0">
                <a:latin typeface="Arial Narrow" pitchFamily="34" charset="0"/>
              </a:rPr>
              <a:t>For example, the </a:t>
            </a:r>
            <a:r>
              <a:rPr lang="en-US" sz="2800" dirty="0">
                <a:latin typeface="Arial Narrow" pitchFamily="34" charset="0"/>
              </a:rPr>
              <a:t>fear and the bodily reactions are</a:t>
            </a:r>
            <a:r>
              <a:rPr lang="en-US" sz="2800" dirty="0" smtClean="0">
                <a:latin typeface="Arial Narrow" pitchFamily="34" charset="0"/>
              </a:rPr>
              <a:t>, therefore</a:t>
            </a:r>
            <a:r>
              <a:rPr lang="en-US" sz="2800" dirty="0">
                <a:latin typeface="Arial Narrow" pitchFamily="34" charset="0"/>
              </a:rPr>
              <a:t>, experienced at the same time-not one after the other. </a:t>
            </a:r>
            <a:endParaRPr lang="en-US" sz="2800" dirty="0" smtClean="0">
              <a:latin typeface="Arial Narrow" pitchFamily="34" charset="0"/>
            </a:endParaRPr>
          </a:p>
          <a:p>
            <a:pPr>
              <a:buNone/>
            </a:pPr>
            <a:r>
              <a:rPr lang="en-US" sz="2800" dirty="0">
                <a:latin typeface="Arial Narrow" pitchFamily="34" charset="0"/>
              </a:rPr>
              <a:t>	</a:t>
            </a:r>
            <a:r>
              <a:rPr lang="en-US" sz="2800" dirty="0" smtClean="0">
                <a:latin typeface="Arial Narrow" pitchFamily="34" charset="0"/>
              </a:rPr>
              <a:t>“I </a:t>
            </a:r>
            <a:r>
              <a:rPr lang="en-US" sz="2800" dirty="0">
                <a:latin typeface="Arial Narrow" pitchFamily="34" charset="0"/>
              </a:rPr>
              <a:t>am afraid and running </a:t>
            </a:r>
            <a:r>
              <a:rPr lang="en-US" sz="2800" dirty="0" smtClean="0">
                <a:latin typeface="Arial Narrow" pitchFamily="34" charset="0"/>
              </a:rPr>
              <a:t>and aroused!” </a:t>
            </a:r>
            <a:br>
              <a:rPr lang="en-US" sz="28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39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90600"/>
            <a:ext cx="8686800" cy="5638800"/>
          </a:xfrm>
        </p:spPr>
        <p:txBody>
          <a:bodyPr>
            <a:normAutofit fontScale="25000" lnSpcReduction="20000"/>
          </a:bodyPr>
          <a:lstStyle/>
          <a:p>
            <a:pPr>
              <a:buNone/>
            </a:pPr>
            <a:r>
              <a:rPr lang="en-US" sz="11200" b="1" dirty="0">
                <a:latin typeface="Arial Narrow" pitchFamily="34" charset="0"/>
              </a:rPr>
              <a:t>III. Schechter-Singer and Cognitive Arousal Theory</a:t>
            </a:r>
            <a:br>
              <a:rPr lang="en-US" sz="11200" b="1" dirty="0">
                <a:latin typeface="Arial Narrow" pitchFamily="34" charset="0"/>
              </a:rPr>
            </a:br>
            <a:r>
              <a:rPr lang="en-US" sz="11200" dirty="0">
                <a:latin typeface="Arial Narrow" pitchFamily="34" charset="0"/>
              </a:rPr>
              <a:t>The early theories talked about the emotion and the physical reaction, but what about the </a:t>
            </a:r>
            <a:r>
              <a:rPr lang="en-US" sz="11200" dirty="0" smtClean="0">
                <a:latin typeface="Arial Narrow" pitchFamily="34" charset="0"/>
              </a:rPr>
              <a:t>mental interpretation </a:t>
            </a:r>
            <a:r>
              <a:rPr lang="en-US" sz="11200" dirty="0">
                <a:latin typeface="Arial Narrow" pitchFamily="34" charset="0"/>
              </a:rPr>
              <a:t>of those components? </a:t>
            </a:r>
            <a:endParaRPr lang="en-US" sz="11200" dirty="0" smtClean="0">
              <a:latin typeface="Arial Narrow" pitchFamily="34" charset="0"/>
            </a:endParaRPr>
          </a:p>
          <a:p>
            <a:r>
              <a:rPr lang="en-US" sz="11200" dirty="0" smtClean="0">
                <a:latin typeface="Arial Narrow" pitchFamily="34" charset="0"/>
              </a:rPr>
              <a:t>In </a:t>
            </a:r>
            <a:r>
              <a:rPr lang="en-US" sz="11200" dirty="0">
                <a:latin typeface="Arial Narrow" pitchFamily="34" charset="0"/>
              </a:rPr>
              <a:t>their </a:t>
            </a:r>
            <a:r>
              <a:rPr lang="en-US" sz="11200" b="1" dirty="0">
                <a:latin typeface="Arial Narrow" pitchFamily="34" charset="0"/>
              </a:rPr>
              <a:t>cognitive arousal theory</a:t>
            </a:r>
            <a:r>
              <a:rPr lang="en-US" sz="11200" dirty="0">
                <a:latin typeface="Arial Narrow" pitchFamily="34" charset="0"/>
              </a:rPr>
              <a:t>, </a:t>
            </a:r>
            <a:r>
              <a:rPr lang="en-US" sz="11200" dirty="0" err="1">
                <a:latin typeface="Arial Narrow" pitchFamily="34" charset="0"/>
              </a:rPr>
              <a:t>Schachter</a:t>
            </a:r>
            <a:r>
              <a:rPr lang="en-US" sz="11200" dirty="0">
                <a:latin typeface="Arial Narrow" pitchFamily="34" charset="0"/>
              </a:rPr>
              <a:t>-Singer (1962</a:t>
            </a:r>
            <a:r>
              <a:rPr lang="en-US" sz="11200" dirty="0" smtClean="0">
                <a:latin typeface="Arial Narrow" pitchFamily="34" charset="0"/>
              </a:rPr>
              <a:t>) proposed </a:t>
            </a:r>
            <a:r>
              <a:rPr lang="en-US" sz="11200" dirty="0">
                <a:latin typeface="Arial Narrow" pitchFamily="34" charset="0"/>
              </a:rPr>
              <a:t>that </a:t>
            </a:r>
            <a:r>
              <a:rPr lang="en-US" sz="11200" dirty="0">
                <a:solidFill>
                  <a:srgbClr val="FF0000"/>
                </a:solidFill>
                <a:latin typeface="Arial Narrow" pitchFamily="34" charset="0"/>
              </a:rPr>
              <a:t>two things have to happen before emotion occurs</a:t>
            </a:r>
            <a:r>
              <a:rPr lang="en-US" sz="11200" dirty="0">
                <a:latin typeface="Arial Narrow" pitchFamily="34" charset="0"/>
              </a:rPr>
              <a:t>: the physical arousal and labeling </a:t>
            </a:r>
            <a:r>
              <a:rPr lang="en-US" sz="11200" dirty="0" smtClean="0">
                <a:latin typeface="Arial Narrow" pitchFamily="34" charset="0"/>
              </a:rPr>
              <a:t>of the arousal. </a:t>
            </a:r>
          </a:p>
          <a:p>
            <a:r>
              <a:rPr lang="en-US" sz="11200" dirty="0" smtClean="0">
                <a:latin typeface="Arial Narrow" pitchFamily="34" charset="0"/>
              </a:rPr>
              <a:t>These </a:t>
            </a:r>
            <a:r>
              <a:rPr lang="en-US" sz="11200" dirty="0">
                <a:latin typeface="Arial Narrow" pitchFamily="34" charset="0"/>
              </a:rPr>
              <a:t>two things happen at the </a:t>
            </a:r>
            <a:r>
              <a:rPr lang="en-US" sz="11200" dirty="0" smtClean="0">
                <a:latin typeface="Arial Narrow" pitchFamily="34" charset="0"/>
              </a:rPr>
              <a:t>same time</a:t>
            </a:r>
            <a:r>
              <a:rPr lang="en-US" sz="11200" dirty="0">
                <a:latin typeface="Arial Narrow" pitchFamily="34" charset="0"/>
              </a:rPr>
              <a:t>, resulting in the labeling of the emotion. </a:t>
            </a:r>
            <a:endParaRPr lang="en-US" sz="11200" dirty="0" smtClean="0">
              <a:latin typeface="Arial Narrow" pitchFamily="34" charset="0"/>
            </a:endParaRPr>
          </a:p>
          <a:p>
            <a:r>
              <a:rPr lang="en-US" sz="11200" dirty="0" smtClean="0">
                <a:latin typeface="Arial Narrow" pitchFamily="34" charset="0"/>
              </a:rPr>
              <a:t>For </a:t>
            </a:r>
            <a:r>
              <a:rPr lang="en-US" sz="11200" dirty="0">
                <a:latin typeface="Arial Narrow" pitchFamily="34" charset="0"/>
              </a:rPr>
              <a:t>example, if a person comes across a snarling </a:t>
            </a:r>
            <a:r>
              <a:rPr lang="en-US" sz="11200" dirty="0" smtClean="0">
                <a:latin typeface="Arial Narrow" pitchFamily="34" charset="0"/>
              </a:rPr>
              <a:t>dog while </a:t>
            </a:r>
            <a:r>
              <a:rPr lang="en-US" sz="11200" dirty="0">
                <a:latin typeface="Arial Narrow" pitchFamily="34" charset="0"/>
              </a:rPr>
              <a:t>taking a walk, the physical arousal (heart racing, eyes opening wide) is accompanied by </a:t>
            </a:r>
            <a:r>
              <a:rPr lang="en-US" sz="11200" dirty="0" smtClean="0">
                <a:latin typeface="Arial Narrow" pitchFamily="34" charset="0"/>
              </a:rPr>
              <a:t>the thought </a:t>
            </a:r>
            <a:r>
              <a:rPr lang="en-US" sz="11200" dirty="0">
                <a:latin typeface="Arial Narrow" pitchFamily="34" charset="0"/>
              </a:rPr>
              <a:t>(cognition) that this must be fear. Then and only then will the person experience the fear </a:t>
            </a:r>
            <a:r>
              <a:rPr lang="en-US" sz="11200" dirty="0" smtClean="0">
                <a:latin typeface="Arial Narrow" pitchFamily="34" charset="0"/>
              </a:rPr>
              <a:t>of emotion</a:t>
            </a:r>
            <a:r>
              <a:rPr lang="en-US" sz="11200" dirty="0">
                <a:latin typeface="Arial Narrow" pitchFamily="34" charset="0"/>
              </a:rPr>
              <a:t>. </a:t>
            </a:r>
            <a:endParaRPr lang="en-US" sz="11200" dirty="0" smtClean="0">
              <a:latin typeface="Arial Narrow" pitchFamily="34" charset="0"/>
            </a:endParaRPr>
          </a:p>
          <a:p>
            <a:r>
              <a:rPr lang="en-US" sz="11200" dirty="0" smtClean="0">
                <a:latin typeface="Arial Narrow" pitchFamily="34" charset="0"/>
              </a:rPr>
              <a:t>In </a:t>
            </a:r>
            <a:r>
              <a:rPr lang="en-US" sz="11200" dirty="0">
                <a:latin typeface="Arial Narrow" pitchFamily="34" charset="0"/>
              </a:rPr>
              <a:t>other words, </a:t>
            </a:r>
            <a:r>
              <a:rPr lang="en-US" sz="11200" dirty="0" smtClean="0">
                <a:latin typeface="Arial Narrow" pitchFamily="34" charset="0"/>
              </a:rPr>
              <a:t>“I </a:t>
            </a:r>
            <a:r>
              <a:rPr lang="en-US" sz="11200" dirty="0">
                <a:latin typeface="Arial Narrow" pitchFamily="34" charset="0"/>
              </a:rPr>
              <a:t>am aroused in the presence of a scary dog; therefore, I must be afraid</a:t>
            </a:r>
            <a:r>
              <a:rPr lang="en-US" sz="11200" dirty="0" smtClean="0">
                <a:latin typeface="Arial Narrow" pitchFamily="34" charset="0"/>
              </a:rPr>
              <a:t>.”</a:t>
            </a:r>
            <a:r>
              <a:rPr lang="en-US" dirty="0" smtClean="0"/>
              <a:t> </a:t>
            </a:r>
            <a:br>
              <a:rPr lang="en-US" dirty="0" smtClean="0"/>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4"/>
          <p:cNvSpPr>
            <a:spLocks noGrp="1"/>
          </p:cNvSpPr>
          <p:nvPr>
            <p:ph type="ftr" sz="quarter" idx="11"/>
          </p:nvPr>
        </p:nvSpPr>
        <p:spPr/>
        <p:txBody>
          <a:bodyPr/>
          <a:lstStyle/>
          <a:p>
            <a:r>
              <a:rPr lang="en-US" smtClean="0">
                <a:latin typeface="Constantia" pitchFamily="-112" charset="0"/>
                <a:ea typeface="ＭＳ Ｐゴシック" pitchFamily="-112" charset="-128"/>
              </a:rPr>
              <a:t>Copyright © Allyn &amp; Bacon 2007</a:t>
            </a:r>
            <a:endParaRPr lang="en-US" smtClean="0">
              <a:latin typeface="Constantia" pitchFamily="-112" charset="0"/>
              <a:ea typeface="ＭＳ Ｐゴシック" pitchFamily="-112" charset="-128"/>
              <a:cs typeface="Arial" charset="0"/>
            </a:endParaRPr>
          </a:p>
        </p:txBody>
      </p:sp>
      <p:grpSp>
        <p:nvGrpSpPr>
          <p:cNvPr id="2" name="Group 39"/>
          <p:cNvGrpSpPr>
            <a:grpSpLocks/>
          </p:cNvGrpSpPr>
          <p:nvPr/>
        </p:nvGrpSpPr>
        <p:grpSpPr bwMode="auto">
          <a:xfrm>
            <a:off x="7010400" y="4800600"/>
            <a:ext cx="1920875" cy="1219200"/>
            <a:chOff x="4416" y="3024"/>
            <a:chExt cx="1210" cy="768"/>
          </a:xfrm>
        </p:grpSpPr>
        <p:sp>
          <p:nvSpPr>
            <p:cNvPr id="38944" name="Line 32"/>
            <p:cNvSpPr>
              <a:spLocks noChangeShapeType="1"/>
            </p:cNvSpPr>
            <p:nvPr/>
          </p:nvSpPr>
          <p:spPr bwMode="auto">
            <a:xfrm>
              <a:off x="4416" y="3024"/>
              <a:ext cx="384" cy="384"/>
            </a:xfrm>
            <a:prstGeom prst="line">
              <a:avLst/>
            </a:prstGeom>
            <a:noFill/>
            <a:ln w="38100">
              <a:solidFill>
                <a:schemeClr val="tx1"/>
              </a:solidFill>
              <a:round/>
              <a:headEnd/>
              <a:tailEnd type="triangle" w="med" len="med"/>
            </a:ln>
          </p:spPr>
          <p:txBody>
            <a:bodyPr wrap="none" anchor="ctr"/>
            <a:lstStyle/>
            <a:p>
              <a:endParaRPr lang="en-US"/>
            </a:p>
          </p:txBody>
        </p:sp>
        <p:sp>
          <p:nvSpPr>
            <p:cNvPr id="38945" name="Text Box 22"/>
            <p:cNvSpPr txBox="1">
              <a:spLocks noChangeArrowheads="1"/>
            </p:cNvSpPr>
            <p:nvPr/>
          </p:nvSpPr>
          <p:spPr bwMode="auto">
            <a:xfrm>
              <a:off x="4800" y="3248"/>
              <a:ext cx="826" cy="524"/>
            </a:xfrm>
            <a:prstGeom prst="rect">
              <a:avLst/>
            </a:prstGeom>
            <a:gradFill rotWithShape="0">
              <a:gsLst>
                <a:gs pos="0">
                  <a:srgbClr val="FF0000"/>
                </a:gs>
                <a:gs pos="100000">
                  <a:srgbClr val="C10000"/>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a:t>Emotion</a:t>
              </a:r>
              <a:br>
                <a:rPr lang="en-US"/>
              </a:br>
              <a:r>
                <a:rPr lang="en-US"/>
                <a:t>fear</a:t>
              </a:r>
            </a:p>
          </p:txBody>
        </p:sp>
        <p:sp>
          <p:nvSpPr>
            <p:cNvPr id="38946" name="Line 31"/>
            <p:cNvSpPr>
              <a:spLocks noChangeShapeType="1"/>
            </p:cNvSpPr>
            <p:nvPr/>
          </p:nvSpPr>
          <p:spPr bwMode="auto">
            <a:xfrm flipV="1">
              <a:off x="4560" y="3612"/>
              <a:ext cx="240" cy="180"/>
            </a:xfrm>
            <a:prstGeom prst="line">
              <a:avLst/>
            </a:prstGeom>
            <a:noFill/>
            <a:ln w="38100">
              <a:solidFill>
                <a:schemeClr val="tx1"/>
              </a:solidFill>
              <a:round/>
              <a:headEnd/>
              <a:tailEnd type="triangle" w="med" len="med"/>
            </a:ln>
          </p:spPr>
          <p:txBody>
            <a:bodyPr wrap="none" anchor="ctr"/>
            <a:lstStyle/>
            <a:p>
              <a:endParaRPr lang="en-US"/>
            </a:p>
          </p:txBody>
        </p:sp>
      </p:grpSp>
      <p:grpSp>
        <p:nvGrpSpPr>
          <p:cNvPr id="3" name="Group 41"/>
          <p:cNvGrpSpPr>
            <a:grpSpLocks/>
          </p:cNvGrpSpPr>
          <p:nvPr/>
        </p:nvGrpSpPr>
        <p:grpSpPr bwMode="auto">
          <a:xfrm>
            <a:off x="3505200" y="4357688"/>
            <a:ext cx="3733800" cy="2112962"/>
            <a:chOff x="2208" y="2745"/>
            <a:chExt cx="2352" cy="1331"/>
          </a:xfrm>
        </p:grpSpPr>
        <p:grpSp>
          <p:nvGrpSpPr>
            <p:cNvPr id="4" name="Group 38"/>
            <p:cNvGrpSpPr>
              <a:grpSpLocks/>
            </p:cNvGrpSpPr>
            <p:nvPr/>
          </p:nvGrpSpPr>
          <p:grpSpPr bwMode="auto">
            <a:xfrm>
              <a:off x="2208" y="3552"/>
              <a:ext cx="2352" cy="524"/>
              <a:chOff x="2208" y="3552"/>
              <a:chExt cx="2352" cy="524"/>
            </a:xfrm>
          </p:grpSpPr>
          <p:sp>
            <p:nvSpPr>
              <p:cNvPr id="38942" name="Line 30"/>
              <p:cNvSpPr>
                <a:spLocks noChangeShapeType="1"/>
              </p:cNvSpPr>
              <p:nvPr/>
            </p:nvSpPr>
            <p:spPr bwMode="auto">
              <a:xfrm>
                <a:off x="2208" y="3552"/>
                <a:ext cx="240" cy="240"/>
              </a:xfrm>
              <a:prstGeom prst="line">
                <a:avLst/>
              </a:prstGeom>
              <a:noFill/>
              <a:ln w="38100">
                <a:solidFill>
                  <a:schemeClr val="tx1"/>
                </a:solidFill>
                <a:round/>
                <a:headEnd/>
                <a:tailEnd type="triangle" w="med" len="med"/>
              </a:ln>
            </p:spPr>
            <p:txBody>
              <a:bodyPr wrap="none" anchor="ctr"/>
              <a:lstStyle/>
              <a:p>
                <a:endParaRPr lang="en-US"/>
              </a:p>
            </p:txBody>
          </p:sp>
          <p:sp>
            <p:nvSpPr>
              <p:cNvPr id="25621" name="Text Box 21"/>
              <p:cNvSpPr txBox="1">
                <a:spLocks noChangeArrowheads="1"/>
              </p:cNvSpPr>
              <p:nvPr/>
            </p:nvSpPr>
            <p:spPr bwMode="auto">
              <a:xfrm>
                <a:off x="2464" y="3552"/>
                <a:ext cx="2096" cy="524"/>
              </a:xfrm>
              <a:prstGeom prst="rect">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miter lim="800000"/>
                <a:headEnd/>
                <a:tailEnd/>
              </a:ln>
              <a:effectLst/>
            </p:spPr>
            <p:txBody>
              <a:bodyPr wrap="none">
                <a:spAutoFit/>
              </a:bodyPr>
              <a:lstStyle/>
              <a:p>
                <a:pPr marL="230188" indent="-230188"/>
                <a:r>
                  <a:rPr lang="en-US"/>
                  <a:t>Cognitive interpretation</a:t>
                </a:r>
                <a:br>
                  <a:rPr lang="en-US"/>
                </a:br>
                <a:r>
                  <a:rPr lang="en-US"/>
                  <a:t>“I feel afraid!”</a:t>
                </a:r>
              </a:p>
            </p:txBody>
          </p:sp>
        </p:grpSp>
        <p:grpSp>
          <p:nvGrpSpPr>
            <p:cNvPr id="5" name="Group 37"/>
            <p:cNvGrpSpPr>
              <a:grpSpLocks/>
            </p:cNvGrpSpPr>
            <p:nvPr/>
          </p:nvGrpSpPr>
          <p:grpSpPr bwMode="auto">
            <a:xfrm>
              <a:off x="2208" y="2745"/>
              <a:ext cx="2231" cy="754"/>
              <a:chOff x="2208" y="2745"/>
              <a:chExt cx="2231" cy="754"/>
            </a:xfrm>
          </p:grpSpPr>
          <p:sp>
            <p:nvSpPr>
              <p:cNvPr id="38940" name="Line 29"/>
              <p:cNvSpPr>
                <a:spLocks noChangeShapeType="1"/>
              </p:cNvSpPr>
              <p:nvPr/>
            </p:nvSpPr>
            <p:spPr bwMode="auto">
              <a:xfrm flipV="1">
                <a:off x="2208" y="3168"/>
                <a:ext cx="240" cy="180"/>
              </a:xfrm>
              <a:prstGeom prst="line">
                <a:avLst/>
              </a:prstGeom>
              <a:noFill/>
              <a:ln w="38100">
                <a:solidFill>
                  <a:schemeClr val="tx1"/>
                </a:solidFill>
                <a:round/>
                <a:headEnd/>
                <a:tailEnd type="triangle" w="med" len="med"/>
              </a:ln>
            </p:spPr>
            <p:txBody>
              <a:bodyPr wrap="none" anchor="ctr"/>
              <a:lstStyle/>
              <a:p>
                <a:endParaRPr lang="en-US"/>
              </a:p>
            </p:txBody>
          </p:sp>
          <p:sp>
            <p:nvSpPr>
              <p:cNvPr id="38941" name="Text Box 20"/>
              <p:cNvSpPr txBox="1">
                <a:spLocks noChangeArrowheads="1"/>
              </p:cNvSpPr>
              <p:nvPr/>
            </p:nvSpPr>
            <p:spPr bwMode="auto">
              <a:xfrm>
                <a:off x="2464" y="2745"/>
                <a:ext cx="1975" cy="754"/>
              </a:xfrm>
              <a:prstGeom prst="rect">
                <a:avLst/>
              </a:prstGeom>
              <a:gradFill rotWithShape="0">
                <a:gsLst>
                  <a:gs pos="0">
                    <a:srgbClr val="FFFF00"/>
                  </a:gs>
                  <a:gs pos="100000">
                    <a:srgbClr val="FF8000"/>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dirty="0"/>
                  <a:t>Physiological arousal</a:t>
                </a:r>
                <a:br>
                  <a:rPr lang="en-US" dirty="0"/>
                </a:br>
                <a:r>
                  <a:rPr lang="en-US" dirty="0"/>
                  <a:t>trembling</a:t>
                </a:r>
                <a:br>
                  <a:rPr lang="en-US" dirty="0"/>
                </a:br>
                <a:r>
                  <a:rPr lang="en-US" dirty="0"/>
                  <a:t>increased heart rate</a:t>
                </a:r>
              </a:p>
            </p:txBody>
          </p:sp>
        </p:grpSp>
      </p:grpSp>
      <p:sp>
        <p:nvSpPr>
          <p:cNvPr id="25609" name="Text Box 9"/>
          <p:cNvSpPr txBox="1">
            <a:spLocks noChangeArrowheads="1"/>
          </p:cNvSpPr>
          <p:nvPr/>
        </p:nvSpPr>
        <p:spPr bwMode="auto">
          <a:xfrm>
            <a:off x="152400" y="144463"/>
            <a:ext cx="1905000" cy="1379537"/>
          </a:xfrm>
          <a:prstGeom prst="rect">
            <a:avLst/>
          </a:prstGeom>
          <a:gradFill rotWithShape="0">
            <a:gsLst>
              <a:gs pos="0">
                <a:srgbClr val="0000FF"/>
              </a:gs>
              <a:gs pos="100000">
                <a:srgbClr val="0000FF">
                  <a:gamma/>
                  <a:shade val="48627"/>
                  <a:invGamma/>
                </a:srgbClr>
              </a:gs>
            </a:gsLst>
            <a:path path="shape">
              <a:fillToRect l="50000" t="50000" r="50000" b="50000"/>
            </a:path>
          </a:gradFill>
          <a:ln w="6350">
            <a:solidFill>
              <a:schemeClr val="tx1"/>
            </a:solidFill>
            <a:miter lim="800000"/>
            <a:headEnd/>
            <a:tailEnd/>
          </a:ln>
          <a:effectLst/>
        </p:spPr>
        <p:txBody>
          <a:bodyPr anchor="ctr">
            <a:spAutoFit/>
          </a:bodyPr>
          <a:lstStyle/>
          <a:p>
            <a:pPr algn="ctr">
              <a:spcBef>
                <a:spcPct val="50000"/>
              </a:spcBef>
              <a:defRPr/>
            </a:pPr>
            <a:r>
              <a:rPr lang="en-US" sz="2800" b="1" dirty="0">
                <a:solidFill>
                  <a:srgbClr val="FFFF00"/>
                </a:solidFill>
                <a:effectLst>
                  <a:outerShdw blurRad="38100" dist="38100" dir="2700000" algn="tl">
                    <a:srgbClr val="000000"/>
                  </a:outerShdw>
                </a:effectLst>
                <a:latin typeface="Arial" pitchFamily="-112" charset="0"/>
                <a:cs typeface="ＭＳ Ｐゴシック" pitchFamily="-112" charset="-128"/>
              </a:rPr>
              <a:t>James-Lange theory</a:t>
            </a:r>
          </a:p>
        </p:txBody>
      </p:sp>
      <p:sp>
        <p:nvSpPr>
          <p:cNvPr id="25610" name="Text Box 10"/>
          <p:cNvSpPr txBox="1">
            <a:spLocks noChangeArrowheads="1"/>
          </p:cNvSpPr>
          <p:nvPr/>
        </p:nvSpPr>
        <p:spPr bwMode="auto">
          <a:xfrm>
            <a:off x="152400" y="2328863"/>
            <a:ext cx="1905000" cy="1379537"/>
          </a:xfrm>
          <a:prstGeom prst="rect">
            <a:avLst/>
          </a:prstGeom>
          <a:gradFill rotWithShape="0">
            <a:gsLst>
              <a:gs pos="0">
                <a:srgbClr val="0000FF"/>
              </a:gs>
              <a:gs pos="100000">
                <a:srgbClr val="0000FF">
                  <a:gamma/>
                  <a:shade val="48627"/>
                  <a:invGamma/>
                </a:srgbClr>
              </a:gs>
            </a:gsLst>
            <a:path path="shape">
              <a:fillToRect l="50000" t="50000" r="50000" b="50000"/>
            </a:path>
          </a:gradFill>
          <a:ln w="6350">
            <a:solidFill>
              <a:schemeClr val="tx1"/>
            </a:solidFill>
            <a:miter lim="800000"/>
            <a:headEnd/>
            <a:tailEnd/>
          </a:ln>
          <a:effectLst/>
        </p:spPr>
        <p:txBody>
          <a:bodyPr anchor="ctr">
            <a:spAutoFit/>
          </a:bodyPr>
          <a:lstStyle/>
          <a:p>
            <a:pPr algn="ctr">
              <a:spcBef>
                <a:spcPct val="50000"/>
              </a:spcBef>
              <a:defRPr/>
            </a:pPr>
            <a:r>
              <a:rPr lang="en-US" sz="2800" b="1">
                <a:solidFill>
                  <a:srgbClr val="FFFF00"/>
                </a:solidFill>
                <a:effectLst>
                  <a:outerShdw blurRad="38100" dist="38100" dir="2700000" algn="tl">
                    <a:srgbClr val="000000"/>
                  </a:outerShdw>
                </a:effectLst>
                <a:latin typeface="Arial" pitchFamily="-112" charset="0"/>
                <a:cs typeface="ＭＳ Ｐゴシック" pitchFamily="-112" charset="-128"/>
              </a:rPr>
              <a:t>Cannon-bard theory</a:t>
            </a:r>
          </a:p>
        </p:txBody>
      </p:sp>
      <p:sp>
        <p:nvSpPr>
          <p:cNvPr id="25611" name="Text Box 11"/>
          <p:cNvSpPr txBox="1">
            <a:spLocks noChangeArrowheads="1"/>
          </p:cNvSpPr>
          <p:nvPr/>
        </p:nvSpPr>
        <p:spPr bwMode="auto">
          <a:xfrm>
            <a:off x="152400" y="4582429"/>
            <a:ext cx="1981200" cy="1815882"/>
          </a:xfrm>
          <a:prstGeom prst="rect">
            <a:avLst/>
          </a:prstGeom>
          <a:gradFill rotWithShape="0">
            <a:gsLst>
              <a:gs pos="0">
                <a:srgbClr val="0000FF"/>
              </a:gs>
              <a:gs pos="100000">
                <a:srgbClr val="0000FF">
                  <a:gamma/>
                  <a:shade val="48627"/>
                  <a:invGamma/>
                </a:srgbClr>
              </a:gs>
            </a:gsLst>
            <a:path path="shape">
              <a:fillToRect l="50000" t="50000" r="50000" b="50000"/>
            </a:path>
          </a:gradFill>
          <a:ln w="6350">
            <a:solidFill>
              <a:schemeClr val="tx1"/>
            </a:solidFill>
            <a:miter lim="800000"/>
            <a:headEnd/>
            <a:tailEnd/>
          </a:ln>
          <a:effectLst/>
        </p:spPr>
        <p:txBody>
          <a:bodyPr wrap="square" anchor="ctr">
            <a:spAutoFit/>
          </a:bodyPr>
          <a:lstStyle/>
          <a:p>
            <a:pPr algn="ctr">
              <a:spcBef>
                <a:spcPct val="50000"/>
              </a:spcBef>
              <a:defRPr/>
            </a:pPr>
            <a:r>
              <a:rPr lang="en-US" sz="2800" b="1" dirty="0" smtClean="0">
                <a:solidFill>
                  <a:srgbClr val="FFFF00"/>
                </a:solidFill>
                <a:effectLst>
                  <a:outerShdw blurRad="38100" dist="38100" dir="2700000" algn="tl">
                    <a:srgbClr val="000000"/>
                  </a:outerShdw>
                </a:effectLst>
                <a:latin typeface="Arial" pitchFamily="-112" charset="0"/>
                <a:cs typeface="ＭＳ Ｐゴシック" pitchFamily="-112" charset="-128"/>
              </a:rPr>
              <a:t> Schechter- singer theory</a:t>
            </a:r>
            <a:endParaRPr lang="en-US" sz="2800" b="1" dirty="0">
              <a:solidFill>
                <a:srgbClr val="FFFF00"/>
              </a:solidFill>
              <a:effectLst>
                <a:outerShdw blurRad="38100" dist="38100" dir="2700000" algn="tl">
                  <a:srgbClr val="000000"/>
                </a:outerShdw>
              </a:effectLst>
              <a:latin typeface="Arial" pitchFamily="-112" charset="0"/>
              <a:cs typeface="ＭＳ Ｐゴシック" pitchFamily="-112" charset="-128"/>
            </a:endParaRPr>
          </a:p>
        </p:txBody>
      </p:sp>
      <p:sp>
        <p:nvSpPr>
          <p:cNvPr id="25612" name="Text Box 12"/>
          <p:cNvSpPr txBox="1">
            <a:spLocks noChangeArrowheads="1"/>
          </p:cNvSpPr>
          <p:nvPr/>
        </p:nvSpPr>
        <p:spPr bwMode="auto">
          <a:xfrm>
            <a:off x="2209800" y="419100"/>
            <a:ext cx="1362075" cy="831850"/>
          </a:xfrm>
          <a:prstGeom prst="rect">
            <a:avLst/>
          </a:prstGeom>
          <a:gradFill rotWithShape="0">
            <a:gsLst>
              <a:gs pos="0">
                <a:srgbClr val="2E7924"/>
              </a:gs>
              <a:gs pos="100000">
                <a:srgbClr val="1D4C17"/>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a:solidFill>
                  <a:schemeClr val="bg1"/>
                </a:solidFill>
              </a:rPr>
              <a:t>Stimulus</a:t>
            </a:r>
            <a:br>
              <a:rPr lang="en-US">
                <a:solidFill>
                  <a:schemeClr val="bg1"/>
                </a:solidFill>
              </a:rPr>
            </a:br>
            <a:r>
              <a:rPr lang="en-US">
                <a:solidFill>
                  <a:schemeClr val="bg1"/>
                </a:solidFill>
              </a:rPr>
              <a:t>snake</a:t>
            </a:r>
          </a:p>
        </p:txBody>
      </p:sp>
      <p:sp>
        <p:nvSpPr>
          <p:cNvPr id="25613" name="Text Box 13"/>
          <p:cNvSpPr txBox="1">
            <a:spLocks noChangeArrowheads="1"/>
          </p:cNvSpPr>
          <p:nvPr/>
        </p:nvSpPr>
        <p:spPr bwMode="auto">
          <a:xfrm>
            <a:off x="2209800" y="2603500"/>
            <a:ext cx="1295399" cy="646331"/>
          </a:xfrm>
          <a:prstGeom prst="rect">
            <a:avLst/>
          </a:prstGeom>
          <a:gradFill rotWithShape="0">
            <a:gsLst>
              <a:gs pos="0">
                <a:srgbClr val="2E7924"/>
              </a:gs>
              <a:gs pos="100000">
                <a:srgbClr val="1D4C17"/>
              </a:gs>
            </a:gsLst>
            <a:path path="shape">
              <a:fillToRect l="50000" t="50000" r="50000" b="50000"/>
            </a:path>
          </a:gradFill>
          <a:ln w="9525">
            <a:solidFill>
              <a:schemeClr val="tx1"/>
            </a:solidFill>
            <a:miter lim="800000"/>
            <a:headEnd/>
            <a:tailEnd/>
          </a:ln>
        </p:spPr>
        <p:txBody>
          <a:bodyPr wrap="square">
            <a:spAutoFit/>
          </a:bodyPr>
          <a:lstStyle/>
          <a:p>
            <a:pPr marL="230188" indent="-230188"/>
            <a:r>
              <a:rPr lang="en-US" dirty="0">
                <a:solidFill>
                  <a:schemeClr val="bg1"/>
                </a:solidFill>
              </a:rPr>
              <a:t>Stimulus</a:t>
            </a:r>
            <a:br>
              <a:rPr lang="en-US" dirty="0">
                <a:solidFill>
                  <a:schemeClr val="bg1"/>
                </a:solidFill>
              </a:rPr>
            </a:br>
            <a:r>
              <a:rPr lang="en-US" dirty="0">
                <a:solidFill>
                  <a:schemeClr val="bg1"/>
                </a:solidFill>
              </a:rPr>
              <a:t>snake</a:t>
            </a:r>
          </a:p>
        </p:txBody>
      </p:sp>
      <p:sp>
        <p:nvSpPr>
          <p:cNvPr id="25614" name="Text Box 14"/>
          <p:cNvSpPr txBox="1">
            <a:spLocks noChangeArrowheads="1"/>
          </p:cNvSpPr>
          <p:nvPr/>
        </p:nvSpPr>
        <p:spPr bwMode="auto">
          <a:xfrm>
            <a:off x="2209800" y="5257800"/>
            <a:ext cx="1362075" cy="466725"/>
          </a:xfrm>
          <a:prstGeom prst="rect">
            <a:avLst/>
          </a:prstGeom>
          <a:gradFill rotWithShape="0">
            <a:gsLst>
              <a:gs pos="0">
                <a:srgbClr val="2E7924"/>
              </a:gs>
              <a:gs pos="100000">
                <a:srgbClr val="1D4C17"/>
              </a:gs>
            </a:gsLst>
            <a:path path="shape">
              <a:fillToRect l="50000" t="50000" r="50000" b="50000"/>
            </a:path>
          </a:gradFill>
          <a:ln w="9525">
            <a:solidFill>
              <a:schemeClr val="tx1"/>
            </a:solidFill>
            <a:miter lim="800000"/>
            <a:headEnd/>
            <a:tailEnd/>
          </a:ln>
        </p:spPr>
        <p:txBody>
          <a:bodyPr wrap="none">
            <a:spAutoFit/>
          </a:bodyPr>
          <a:lstStyle/>
          <a:p>
            <a:r>
              <a:rPr lang="en-US">
                <a:solidFill>
                  <a:schemeClr val="bg1"/>
                </a:solidFill>
              </a:rPr>
              <a:t>Stimulus</a:t>
            </a:r>
          </a:p>
        </p:txBody>
      </p:sp>
      <p:grpSp>
        <p:nvGrpSpPr>
          <p:cNvPr id="6" name="Group 34"/>
          <p:cNvGrpSpPr>
            <a:grpSpLocks/>
          </p:cNvGrpSpPr>
          <p:nvPr/>
        </p:nvGrpSpPr>
        <p:grpSpPr bwMode="auto">
          <a:xfrm>
            <a:off x="7010400" y="417513"/>
            <a:ext cx="1920875" cy="831850"/>
            <a:chOff x="4416" y="263"/>
            <a:chExt cx="1210" cy="524"/>
          </a:xfrm>
        </p:grpSpPr>
        <p:sp>
          <p:nvSpPr>
            <p:cNvPr id="38936" name="Line 26"/>
            <p:cNvSpPr>
              <a:spLocks noChangeShapeType="1"/>
            </p:cNvSpPr>
            <p:nvPr/>
          </p:nvSpPr>
          <p:spPr bwMode="auto">
            <a:xfrm>
              <a:off x="4416" y="528"/>
              <a:ext cx="384" cy="0"/>
            </a:xfrm>
            <a:prstGeom prst="line">
              <a:avLst/>
            </a:prstGeom>
            <a:noFill/>
            <a:ln w="38100">
              <a:solidFill>
                <a:schemeClr val="tx1"/>
              </a:solidFill>
              <a:round/>
              <a:headEnd/>
              <a:tailEnd type="triangle" w="med" len="med"/>
            </a:ln>
          </p:spPr>
          <p:txBody>
            <a:bodyPr wrap="none" anchor="ctr"/>
            <a:lstStyle/>
            <a:p>
              <a:endParaRPr lang="en-US"/>
            </a:p>
          </p:txBody>
        </p:sp>
        <p:sp>
          <p:nvSpPr>
            <p:cNvPr id="38937" name="Text Box 16"/>
            <p:cNvSpPr txBox="1">
              <a:spLocks noChangeArrowheads="1"/>
            </p:cNvSpPr>
            <p:nvPr/>
          </p:nvSpPr>
          <p:spPr bwMode="auto">
            <a:xfrm>
              <a:off x="4800" y="263"/>
              <a:ext cx="826" cy="524"/>
            </a:xfrm>
            <a:prstGeom prst="rect">
              <a:avLst/>
            </a:prstGeom>
            <a:gradFill rotWithShape="0">
              <a:gsLst>
                <a:gs pos="0">
                  <a:srgbClr val="FF0000"/>
                </a:gs>
                <a:gs pos="100000">
                  <a:srgbClr val="C10000"/>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a:t>Emotion</a:t>
              </a:r>
              <a:br>
                <a:rPr lang="en-US"/>
              </a:br>
              <a:r>
                <a:rPr lang="en-US"/>
                <a:t>fear</a:t>
              </a:r>
            </a:p>
          </p:txBody>
        </p:sp>
      </p:grpSp>
      <p:sp>
        <p:nvSpPr>
          <p:cNvPr id="38924" name="Line 23"/>
          <p:cNvSpPr>
            <a:spLocks noChangeShapeType="1"/>
          </p:cNvSpPr>
          <p:nvPr/>
        </p:nvSpPr>
        <p:spPr bwMode="auto">
          <a:xfrm flipH="1">
            <a:off x="152400" y="1676400"/>
            <a:ext cx="8763000" cy="0"/>
          </a:xfrm>
          <a:prstGeom prst="line">
            <a:avLst/>
          </a:prstGeom>
          <a:noFill/>
          <a:ln w="9525">
            <a:solidFill>
              <a:schemeClr val="tx1"/>
            </a:solidFill>
            <a:round/>
            <a:headEnd/>
            <a:tailEnd/>
          </a:ln>
        </p:spPr>
        <p:txBody>
          <a:bodyPr wrap="none" anchor="ctr"/>
          <a:lstStyle/>
          <a:p>
            <a:endParaRPr lang="en-US"/>
          </a:p>
        </p:txBody>
      </p:sp>
      <p:sp>
        <p:nvSpPr>
          <p:cNvPr id="38925" name="Line 24"/>
          <p:cNvSpPr>
            <a:spLocks noChangeShapeType="1"/>
          </p:cNvSpPr>
          <p:nvPr/>
        </p:nvSpPr>
        <p:spPr bwMode="auto">
          <a:xfrm flipH="1">
            <a:off x="152400" y="4203700"/>
            <a:ext cx="8763000" cy="0"/>
          </a:xfrm>
          <a:prstGeom prst="line">
            <a:avLst/>
          </a:prstGeom>
          <a:noFill/>
          <a:ln w="9525">
            <a:solidFill>
              <a:schemeClr val="tx1"/>
            </a:solidFill>
            <a:round/>
            <a:headEnd/>
            <a:tailEnd/>
          </a:ln>
        </p:spPr>
        <p:txBody>
          <a:bodyPr wrap="none" anchor="ctr"/>
          <a:lstStyle/>
          <a:p>
            <a:endParaRPr lang="en-US"/>
          </a:p>
        </p:txBody>
      </p:sp>
      <p:grpSp>
        <p:nvGrpSpPr>
          <p:cNvPr id="7" name="Group 33"/>
          <p:cNvGrpSpPr>
            <a:grpSpLocks/>
          </p:cNvGrpSpPr>
          <p:nvPr/>
        </p:nvGrpSpPr>
        <p:grpSpPr bwMode="auto">
          <a:xfrm>
            <a:off x="3581400" y="228600"/>
            <a:ext cx="3465513" cy="1196976"/>
            <a:chOff x="2256" y="148"/>
            <a:chExt cx="2183" cy="754"/>
          </a:xfrm>
        </p:grpSpPr>
        <p:sp>
          <p:nvSpPr>
            <p:cNvPr id="38934" name="Text Box 15"/>
            <p:cNvSpPr txBox="1">
              <a:spLocks noChangeArrowheads="1"/>
            </p:cNvSpPr>
            <p:nvPr/>
          </p:nvSpPr>
          <p:spPr bwMode="auto">
            <a:xfrm>
              <a:off x="2464" y="148"/>
              <a:ext cx="1975" cy="754"/>
            </a:xfrm>
            <a:prstGeom prst="rect">
              <a:avLst/>
            </a:prstGeom>
            <a:gradFill rotWithShape="0">
              <a:gsLst>
                <a:gs pos="0">
                  <a:srgbClr val="FFFF00"/>
                </a:gs>
                <a:gs pos="100000">
                  <a:srgbClr val="FF8000"/>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dirty="0"/>
                <a:t>Physiological arousal</a:t>
              </a:r>
              <a:br>
                <a:rPr lang="en-US" dirty="0"/>
              </a:br>
              <a:r>
                <a:rPr lang="en-US" dirty="0" smtClean="0"/>
                <a:t>trembling</a:t>
              </a:r>
              <a:br>
                <a:rPr lang="en-US" dirty="0" smtClean="0"/>
              </a:br>
              <a:r>
                <a:rPr lang="en-US" dirty="0" smtClean="0"/>
                <a:t>increased </a:t>
              </a:r>
              <a:r>
                <a:rPr lang="en-US" dirty="0"/>
                <a:t>heart rate</a:t>
              </a:r>
            </a:p>
          </p:txBody>
        </p:sp>
        <p:sp>
          <p:nvSpPr>
            <p:cNvPr id="38935" name="Line 25"/>
            <p:cNvSpPr>
              <a:spLocks noChangeShapeType="1"/>
            </p:cNvSpPr>
            <p:nvPr/>
          </p:nvSpPr>
          <p:spPr bwMode="auto">
            <a:xfrm>
              <a:off x="2256" y="528"/>
              <a:ext cx="192" cy="0"/>
            </a:xfrm>
            <a:prstGeom prst="line">
              <a:avLst/>
            </a:prstGeom>
            <a:noFill/>
            <a:ln w="38100">
              <a:solidFill>
                <a:schemeClr val="tx1"/>
              </a:solidFill>
              <a:round/>
              <a:headEnd/>
              <a:tailEnd type="triangle" w="med" len="med"/>
            </a:ln>
          </p:spPr>
          <p:txBody>
            <a:bodyPr wrap="none" anchor="ctr"/>
            <a:lstStyle/>
            <a:p>
              <a:endParaRPr lang="en-US"/>
            </a:p>
          </p:txBody>
        </p:sp>
      </p:grpSp>
      <p:grpSp>
        <p:nvGrpSpPr>
          <p:cNvPr id="8" name="Group 40"/>
          <p:cNvGrpSpPr>
            <a:grpSpLocks/>
          </p:cNvGrpSpPr>
          <p:nvPr/>
        </p:nvGrpSpPr>
        <p:grpSpPr bwMode="auto">
          <a:xfrm>
            <a:off x="5486400" y="1752600"/>
            <a:ext cx="3505200" cy="2127250"/>
            <a:chOff x="2208" y="1204"/>
            <a:chExt cx="1920" cy="1340"/>
          </a:xfrm>
        </p:grpSpPr>
        <p:grpSp>
          <p:nvGrpSpPr>
            <p:cNvPr id="9" name="Group 35"/>
            <p:cNvGrpSpPr>
              <a:grpSpLocks/>
            </p:cNvGrpSpPr>
            <p:nvPr/>
          </p:nvGrpSpPr>
          <p:grpSpPr bwMode="auto">
            <a:xfrm>
              <a:off x="2208" y="1204"/>
              <a:ext cx="1920" cy="582"/>
              <a:chOff x="2208" y="1204"/>
              <a:chExt cx="1920" cy="582"/>
            </a:xfrm>
          </p:grpSpPr>
          <p:sp>
            <p:nvSpPr>
              <p:cNvPr id="38932" name="Text Box 18"/>
              <p:cNvSpPr txBox="1">
                <a:spLocks noChangeArrowheads="1"/>
              </p:cNvSpPr>
              <p:nvPr/>
            </p:nvSpPr>
            <p:spPr bwMode="auto">
              <a:xfrm>
                <a:off x="2464" y="1204"/>
                <a:ext cx="1664" cy="582"/>
              </a:xfrm>
              <a:prstGeom prst="rect">
                <a:avLst/>
              </a:prstGeom>
              <a:gradFill rotWithShape="0">
                <a:gsLst>
                  <a:gs pos="0">
                    <a:srgbClr val="FFFF00"/>
                  </a:gs>
                  <a:gs pos="100000">
                    <a:srgbClr val="FF8000"/>
                  </a:gs>
                </a:gsLst>
                <a:path path="shape">
                  <a:fillToRect l="50000" t="50000" r="50000" b="50000"/>
                </a:path>
              </a:gradFill>
              <a:ln w="9525">
                <a:solidFill>
                  <a:schemeClr val="tx1"/>
                </a:solidFill>
                <a:miter lim="800000"/>
                <a:headEnd/>
                <a:tailEnd/>
              </a:ln>
            </p:spPr>
            <p:txBody>
              <a:bodyPr wrap="square">
                <a:spAutoFit/>
              </a:bodyPr>
              <a:lstStyle/>
              <a:p>
                <a:pPr marL="230188" indent="-230188"/>
                <a:r>
                  <a:rPr lang="en-US" dirty="0"/>
                  <a:t>Physiological </a:t>
                </a:r>
                <a:r>
                  <a:rPr lang="en-US" dirty="0" smtClean="0"/>
                  <a:t>arousal </a:t>
                </a:r>
                <a:br>
                  <a:rPr lang="en-US" dirty="0" smtClean="0"/>
                </a:br>
                <a:r>
                  <a:rPr lang="en-US" dirty="0" smtClean="0"/>
                  <a:t>trembling</a:t>
                </a:r>
                <a:r>
                  <a:rPr lang="en-US" dirty="0"/>
                  <a:t/>
                </a:r>
                <a:br>
                  <a:rPr lang="en-US" dirty="0"/>
                </a:br>
                <a:r>
                  <a:rPr lang="en-US" dirty="0"/>
                  <a:t>increased heart rate</a:t>
                </a:r>
              </a:p>
            </p:txBody>
          </p:sp>
          <p:sp>
            <p:nvSpPr>
              <p:cNvPr id="38933" name="Line 27"/>
              <p:cNvSpPr>
                <a:spLocks noChangeShapeType="1"/>
              </p:cNvSpPr>
              <p:nvPr/>
            </p:nvSpPr>
            <p:spPr bwMode="auto">
              <a:xfrm flipV="1">
                <a:off x="2208" y="1584"/>
                <a:ext cx="240" cy="196"/>
              </a:xfrm>
              <a:prstGeom prst="line">
                <a:avLst/>
              </a:prstGeom>
              <a:noFill/>
              <a:ln w="38100">
                <a:solidFill>
                  <a:schemeClr val="tx1"/>
                </a:solidFill>
                <a:round/>
                <a:headEnd/>
                <a:tailEnd type="triangle" w="med" len="med"/>
              </a:ln>
            </p:spPr>
            <p:txBody>
              <a:bodyPr wrap="none" anchor="ctr"/>
              <a:lstStyle/>
              <a:p>
                <a:endParaRPr lang="en-US"/>
              </a:p>
            </p:txBody>
          </p:sp>
        </p:grpSp>
        <p:grpSp>
          <p:nvGrpSpPr>
            <p:cNvPr id="10" name="Group 36"/>
            <p:cNvGrpSpPr>
              <a:grpSpLocks/>
            </p:cNvGrpSpPr>
            <p:nvPr/>
          </p:nvGrpSpPr>
          <p:grpSpPr bwMode="auto">
            <a:xfrm>
              <a:off x="2208" y="2020"/>
              <a:ext cx="1082" cy="524"/>
              <a:chOff x="2208" y="2020"/>
              <a:chExt cx="1082" cy="524"/>
            </a:xfrm>
          </p:grpSpPr>
          <p:sp>
            <p:nvSpPr>
              <p:cNvPr id="38930" name="Text Box 19"/>
              <p:cNvSpPr txBox="1">
                <a:spLocks noChangeArrowheads="1"/>
              </p:cNvSpPr>
              <p:nvPr/>
            </p:nvSpPr>
            <p:spPr bwMode="auto">
              <a:xfrm>
                <a:off x="2464" y="2020"/>
                <a:ext cx="826" cy="524"/>
              </a:xfrm>
              <a:prstGeom prst="rect">
                <a:avLst/>
              </a:prstGeom>
              <a:gradFill rotWithShape="0">
                <a:gsLst>
                  <a:gs pos="0">
                    <a:srgbClr val="FF0000"/>
                  </a:gs>
                  <a:gs pos="100000">
                    <a:srgbClr val="C10000"/>
                  </a:gs>
                </a:gsLst>
                <a:path path="shape">
                  <a:fillToRect l="50000" t="50000" r="50000" b="50000"/>
                </a:path>
              </a:gradFill>
              <a:ln w="9525">
                <a:solidFill>
                  <a:schemeClr val="tx1"/>
                </a:solidFill>
                <a:miter lim="800000"/>
                <a:headEnd/>
                <a:tailEnd/>
              </a:ln>
            </p:spPr>
            <p:txBody>
              <a:bodyPr wrap="none">
                <a:spAutoFit/>
              </a:bodyPr>
              <a:lstStyle/>
              <a:p>
                <a:pPr marL="230188" indent="-230188"/>
                <a:r>
                  <a:rPr lang="en-US" dirty="0"/>
                  <a:t>Emotion</a:t>
                </a:r>
                <a:br>
                  <a:rPr lang="en-US" dirty="0"/>
                </a:br>
                <a:r>
                  <a:rPr lang="en-US" dirty="0"/>
                  <a:t>fear</a:t>
                </a:r>
              </a:p>
            </p:txBody>
          </p:sp>
          <p:sp>
            <p:nvSpPr>
              <p:cNvPr id="38931" name="Line 28"/>
              <p:cNvSpPr>
                <a:spLocks noChangeShapeType="1"/>
              </p:cNvSpPr>
              <p:nvPr/>
            </p:nvSpPr>
            <p:spPr bwMode="auto">
              <a:xfrm>
                <a:off x="2208" y="2020"/>
                <a:ext cx="240" cy="140"/>
              </a:xfrm>
              <a:prstGeom prst="line">
                <a:avLst/>
              </a:prstGeom>
              <a:noFill/>
              <a:ln w="38100">
                <a:solidFill>
                  <a:schemeClr val="tx1"/>
                </a:solidFill>
                <a:round/>
                <a:headEnd/>
                <a:tailEnd type="triangle" w="med" len="med"/>
              </a:ln>
            </p:spPr>
            <p:txBody>
              <a:bodyPr wrap="none" anchor="ctr"/>
              <a:lstStyle/>
              <a:p>
                <a:endParaRPr lang="en-US"/>
              </a:p>
            </p:txBody>
          </p:sp>
        </p:grpSp>
      </p:grpSp>
      <p:sp>
        <p:nvSpPr>
          <p:cNvPr id="35" name="Text Box 13"/>
          <p:cNvSpPr txBox="1">
            <a:spLocks noChangeArrowheads="1"/>
          </p:cNvSpPr>
          <p:nvPr/>
        </p:nvSpPr>
        <p:spPr bwMode="auto">
          <a:xfrm>
            <a:off x="3733800" y="2590800"/>
            <a:ext cx="1752600" cy="923330"/>
          </a:xfrm>
          <a:prstGeom prst="rect">
            <a:avLst/>
          </a:prstGeom>
          <a:gradFill rotWithShape="0">
            <a:gsLst>
              <a:gs pos="0">
                <a:srgbClr val="2E7924"/>
              </a:gs>
              <a:gs pos="100000">
                <a:srgbClr val="1D4C17"/>
              </a:gs>
            </a:gsLst>
            <a:path path="shape">
              <a:fillToRect l="50000" t="50000" r="50000" b="50000"/>
            </a:path>
          </a:gradFill>
          <a:ln w="9525">
            <a:solidFill>
              <a:schemeClr val="tx1"/>
            </a:solidFill>
            <a:miter lim="800000"/>
            <a:headEnd/>
            <a:tailEnd/>
          </a:ln>
        </p:spPr>
        <p:txBody>
          <a:bodyPr wrap="square">
            <a:spAutoFit/>
          </a:bodyPr>
          <a:lstStyle/>
          <a:p>
            <a:pPr marL="230188" indent="-230188"/>
            <a:r>
              <a:rPr lang="en-US" b="1" dirty="0" smtClean="0">
                <a:latin typeface="Arial Narrow" pitchFamily="34" charset="0"/>
              </a:rPr>
              <a:t>Sub-cortical brain -activity</a:t>
            </a:r>
            <a:r>
              <a:rPr lang="en-US" sz="1400" dirty="0" smtClean="0">
                <a:latin typeface="Arial Narrow" pitchFamily="34" charset="0"/>
              </a:rPr>
              <a:t> </a:t>
            </a:r>
            <a:r>
              <a:rPr lang="en-US" dirty="0" smtClean="0"/>
              <a:t/>
            </a:r>
            <a:br>
              <a:rPr lang="en-US" dirty="0" smtClean="0"/>
            </a:br>
            <a:endParaRPr lang="en-US" dirty="0">
              <a:solidFill>
                <a:schemeClr val="bg1"/>
              </a:solidFill>
            </a:endParaRPr>
          </a:p>
        </p:txBody>
      </p:sp>
      <p:sp>
        <p:nvSpPr>
          <p:cNvPr id="36" name="Line 25"/>
          <p:cNvSpPr>
            <a:spLocks noChangeShapeType="1"/>
          </p:cNvSpPr>
          <p:nvPr/>
        </p:nvSpPr>
        <p:spPr bwMode="auto">
          <a:xfrm>
            <a:off x="3429000" y="2971800"/>
            <a:ext cx="304800" cy="0"/>
          </a:xfrm>
          <a:prstGeom prst="line">
            <a:avLst/>
          </a:prstGeom>
          <a:noFill/>
          <a:ln w="38100">
            <a:solidFill>
              <a:schemeClr val="tx1"/>
            </a:solidFill>
            <a:round/>
            <a:headEnd/>
            <a:tailEnd type="triangle" w="med" len="me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9"/>
                                        </p:tgtEl>
                                        <p:attrNameLst>
                                          <p:attrName>style.visibility</p:attrName>
                                        </p:attrNameLst>
                                      </p:cBhvr>
                                      <p:to>
                                        <p:strVal val="visible"/>
                                      </p:to>
                                    </p:set>
                                    <p:animEffect transition="in" filter="wipe(left)">
                                      <p:cBhvr>
                                        <p:cTn id="7" dur="500"/>
                                        <p:tgtEl>
                                          <p:spTgt spid="2560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610"/>
                                        </p:tgtEl>
                                        <p:attrNameLst>
                                          <p:attrName>style.visibility</p:attrName>
                                        </p:attrNameLst>
                                      </p:cBhvr>
                                      <p:to>
                                        <p:strVal val="visible"/>
                                      </p:to>
                                    </p:set>
                                    <p:animEffect transition="in" filter="wipe(left)">
                                      <p:cBhvr>
                                        <p:cTn id="11" dur="500"/>
                                        <p:tgtEl>
                                          <p:spTgt spid="256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5611"/>
                                        </p:tgtEl>
                                        <p:attrNameLst>
                                          <p:attrName>style.visibility</p:attrName>
                                        </p:attrNameLst>
                                      </p:cBhvr>
                                      <p:to>
                                        <p:strVal val="visible"/>
                                      </p:to>
                                    </p:set>
                                    <p:animEffect transition="in" filter="wipe(left)">
                                      <p:cBhvr>
                                        <p:cTn id="15" dur="500"/>
                                        <p:tgtEl>
                                          <p:spTgt spid="256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5612"/>
                                        </p:tgtEl>
                                        <p:attrNameLst>
                                          <p:attrName>style.visibility</p:attrName>
                                        </p:attrNameLst>
                                      </p:cBhvr>
                                      <p:to>
                                        <p:strVal val="visible"/>
                                      </p:to>
                                    </p:set>
                                    <p:animEffect transition="in" filter="wipe(left)">
                                      <p:cBhvr>
                                        <p:cTn id="20" dur="500"/>
                                        <p:tgtEl>
                                          <p:spTgt spid="2561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5613"/>
                                        </p:tgtEl>
                                        <p:attrNameLst>
                                          <p:attrName>style.visibility</p:attrName>
                                        </p:attrNameLst>
                                      </p:cBhvr>
                                      <p:to>
                                        <p:strVal val="visible"/>
                                      </p:to>
                                    </p:set>
                                    <p:animEffect transition="in" filter="wipe(left)">
                                      <p:cBhvr>
                                        <p:cTn id="33" dur="500"/>
                                        <p:tgtEl>
                                          <p:spTgt spid="25613"/>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614"/>
                                        </p:tgtEl>
                                        <p:attrNameLst>
                                          <p:attrName>style.visibility</p:attrName>
                                        </p:attrNameLst>
                                      </p:cBhvr>
                                      <p:to>
                                        <p:strVal val="visible"/>
                                      </p:to>
                                    </p:set>
                                    <p:animEffect transition="in" filter="wipe(left)">
                                      <p:cBhvr>
                                        <p:cTn id="42" dur="500"/>
                                        <p:tgtEl>
                                          <p:spTgt spid="25614"/>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left)">
                                      <p:cBhvr>
                                        <p:cTn id="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9" grpId="0" animBg="1" autoUpdateAnimBg="0"/>
      <p:bldP spid="25610" grpId="0" animBg="1" autoUpdateAnimBg="0"/>
      <p:bldP spid="25611" grpId="0" animBg="1" autoUpdateAnimBg="0"/>
      <p:bldP spid="25612" grpId="0" animBg="1" autoUpdateAnimBg="0"/>
      <p:bldP spid="25613" grpId="0" animBg="1" autoUpdateAnimBg="0"/>
      <p:bldP spid="25614" grpId="0" animBg="1" autoUpdateAnimBg="0"/>
      <p:bldP spid="35" grpId="0" animBg="1"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1061</TotalTime>
  <Words>2024</Words>
  <Application>Microsoft Office PowerPoint</Application>
  <PresentationFormat>On-screen Show (4:3)</PresentationFormat>
  <Paragraphs>137</Paragraphs>
  <Slides>29</Slides>
  <Notes>2</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CHAPTER FIVE</vt:lpstr>
      <vt:lpstr> 5.1. Motivation 5.1.1. Definition and types of motivation </vt:lpstr>
      <vt:lpstr>Types of motivation</vt:lpstr>
      <vt:lpstr>5.1.2. Approaches to motivation (theories of motivation) </vt:lpstr>
      <vt:lpstr> b) Drive-reduction approaches to motivation  </vt:lpstr>
      <vt:lpstr>c) Arousal approaches: beyond drive reduction</vt:lpstr>
      <vt:lpstr>d) Incentive approaches: motivation’s pull</vt:lpstr>
      <vt:lpstr>e) Cognitive Approaches: the thoughts behind motivation</vt:lpstr>
      <vt:lpstr>f) Humanistic approaches to motivation</vt:lpstr>
      <vt:lpstr>…</vt:lpstr>
      <vt:lpstr>Maslow’s Hierarchy of Needs </vt:lpstr>
      <vt:lpstr>5.1.3. Conflict of motives and frustration</vt:lpstr>
      <vt:lpstr>…</vt:lpstr>
      <vt:lpstr>5.2. Emotions 5.2.1. Definition of emotion</vt:lpstr>
      <vt:lpstr>Emotion </vt:lpstr>
      <vt:lpstr>.</vt:lpstr>
      <vt:lpstr>Slide 17</vt:lpstr>
      <vt:lpstr>Slide 18</vt:lpstr>
      <vt:lpstr>Basic Emotions</vt:lpstr>
      <vt:lpstr>Anger</vt:lpstr>
      <vt:lpstr>Disgust</vt:lpstr>
      <vt:lpstr>Fear</vt:lpstr>
      <vt:lpstr>Happiness</vt:lpstr>
      <vt:lpstr>Sadness </vt:lpstr>
      <vt:lpstr>Surprise</vt:lpstr>
      <vt:lpstr>Theories of emotion</vt:lpstr>
      <vt:lpstr>.</vt:lpstr>
      <vt:lpstr>.</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FIVE</dc:title>
  <dc:creator>User</dc:creator>
  <cp:lastModifiedBy>User</cp:lastModifiedBy>
  <cp:revision>32</cp:revision>
  <dcterms:created xsi:type="dcterms:W3CDTF">2019-12-17T02:31:10Z</dcterms:created>
  <dcterms:modified xsi:type="dcterms:W3CDTF">2019-12-24T21:33:51Z</dcterms:modified>
</cp:coreProperties>
</file>