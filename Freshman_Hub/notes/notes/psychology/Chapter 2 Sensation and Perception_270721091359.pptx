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82" r:id="rId5"/>
    <p:sldId id="260" r:id="rId6"/>
    <p:sldId id="261" r:id="rId7"/>
    <p:sldId id="262" r:id="rId8"/>
    <p:sldId id="263" r:id="rId9"/>
    <p:sldId id="264" r:id="rId10"/>
    <p:sldId id="265" r:id="rId11"/>
    <p:sldId id="266" r:id="rId12"/>
    <p:sldId id="267" r:id="rId13"/>
    <p:sldId id="268" r:id="rId14"/>
    <p:sldId id="269" r:id="rId15"/>
    <p:sldId id="272" r:id="rId16"/>
    <p:sldId id="270" r:id="rId17"/>
    <p:sldId id="273" r:id="rId18"/>
    <p:sldId id="279" r:id="rId19"/>
    <p:sldId id="271" r:id="rId20"/>
    <p:sldId id="274" r:id="rId21"/>
    <p:sldId id="287" r:id="rId22"/>
    <p:sldId id="275" r:id="rId23"/>
    <p:sldId id="281" r:id="rId24"/>
    <p:sldId id="276" r:id="rId25"/>
    <p:sldId id="283" r:id="rId26"/>
    <p:sldId id="285" r:id="rId27"/>
    <p:sldId id="277" r:id="rId28"/>
    <p:sldId id="284" r:id="rId29"/>
    <p:sldId id="278"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588" autoAdjust="0"/>
    <p:restoredTop sz="94624" autoAdjust="0"/>
  </p:normalViewPr>
  <p:slideViewPr>
    <p:cSldViewPr>
      <p:cViewPr varScale="1">
        <p:scale>
          <a:sx n="69" d="100"/>
          <a:sy n="69" d="100"/>
        </p:scale>
        <p:origin x="-1416"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397D92D-A297-447D-9CD1-45FB793B49DA}" type="datetimeFigureOut">
              <a:rPr lang="en-US" smtClean="0"/>
              <a:pPr/>
              <a:t>12/6/2019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256CB6-7A3F-41CE-B011-E3C8DDBC386F}"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97D92D-A297-447D-9CD1-45FB793B49DA}" type="datetimeFigureOut">
              <a:rPr lang="en-US" smtClean="0"/>
              <a:pPr/>
              <a:t>12/6/2019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256CB6-7A3F-41CE-B011-E3C8DDBC386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397D92D-A297-447D-9CD1-45FB793B49DA}" type="datetimeFigureOut">
              <a:rPr lang="en-US" smtClean="0"/>
              <a:pPr/>
              <a:t>12/6/2019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256CB6-7A3F-41CE-B011-E3C8DDBC386F}"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397D92D-A297-447D-9CD1-45FB793B49DA}" type="datetimeFigureOut">
              <a:rPr lang="en-US" smtClean="0"/>
              <a:pPr/>
              <a:t>12/6/2019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256CB6-7A3F-41CE-B011-E3C8DDBC386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397D92D-A297-447D-9CD1-45FB793B49DA}" type="datetimeFigureOut">
              <a:rPr lang="en-US" smtClean="0"/>
              <a:pPr/>
              <a:t>12/6/2019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1256CB6-7A3F-41CE-B011-E3C8DDBC386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397D92D-A297-447D-9CD1-45FB793B49DA}" type="datetimeFigureOut">
              <a:rPr lang="en-US" smtClean="0"/>
              <a:pPr/>
              <a:t>12/6/2019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1256CB6-7A3F-41CE-B011-E3C8DDBC386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97D92D-A297-447D-9CD1-45FB793B49DA}" type="datetimeFigureOut">
              <a:rPr lang="en-US" smtClean="0"/>
              <a:pPr/>
              <a:t>12/6/2019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1256CB6-7A3F-41CE-B011-E3C8DDBC386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397D92D-A297-447D-9CD1-45FB793B49DA}" type="datetimeFigureOut">
              <a:rPr lang="en-US" smtClean="0"/>
              <a:pPr/>
              <a:t>12/6/2019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256CB6-7A3F-41CE-B011-E3C8DDBC386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397D92D-A297-447D-9CD1-45FB793B49DA}" type="datetimeFigureOut">
              <a:rPr lang="en-US" smtClean="0"/>
              <a:pPr/>
              <a:t>12/6/2019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256CB6-7A3F-41CE-B011-E3C8DDBC386F}"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97D92D-A297-447D-9CD1-45FB793B49DA}" type="datetimeFigureOut">
              <a:rPr lang="en-US" smtClean="0"/>
              <a:pPr/>
              <a:t>12/6/2019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256CB6-7A3F-41CE-B011-E3C8DDBC386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97D92D-A297-447D-9CD1-45FB793B49DA}" type="datetimeFigureOut">
              <a:rPr lang="en-US" smtClean="0"/>
              <a:pPr/>
              <a:t>12/6/2019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256CB6-7A3F-41CE-B011-E3C8DDBC386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97D92D-A297-447D-9CD1-45FB793B49DA}" type="datetimeFigureOut">
              <a:rPr lang="en-US" smtClean="0"/>
              <a:pPr/>
              <a:t>12/6/2019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256CB6-7A3F-41CE-B011-E3C8DDBC386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763000" cy="1143000"/>
          </a:xfrm>
        </p:spPr>
        <p:txBody>
          <a:bodyPr>
            <a:normAutofit/>
          </a:bodyPr>
          <a:lstStyle/>
          <a:p>
            <a:r>
              <a:rPr lang="am-ET" sz="3600" b="1" dirty="0" smtClean="0"/>
              <a:t>Chapter </a:t>
            </a:r>
            <a:r>
              <a:rPr lang="en-US" sz="3600" b="1" dirty="0" smtClean="0">
                <a:latin typeface="Arial Narrow" pitchFamily="34" charset="0"/>
              </a:rPr>
              <a:t>T</a:t>
            </a:r>
            <a:r>
              <a:rPr lang="am-ET" sz="3600" b="1" dirty="0" smtClean="0"/>
              <a:t>wo: </a:t>
            </a:r>
            <a:r>
              <a:rPr lang="en-US" sz="3600" b="1" dirty="0" smtClean="0">
                <a:latin typeface="Arial Narrow" pitchFamily="34" charset="0"/>
              </a:rPr>
              <a:t>S</a:t>
            </a:r>
            <a:r>
              <a:rPr lang="am-ET" sz="3600" b="1" dirty="0" smtClean="0"/>
              <a:t>ensation and </a:t>
            </a:r>
            <a:r>
              <a:rPr lang="en-US" sz="3600" b="1" dirty="0" smtClean="0">
                <a:latin typeface="Arial Narrow" pitchFamily="34" charset="0"/>
              </a:rPr>
              <a:t>P</a:t>
            </a:r>
            <a:r>
              <a:rPr lang="am-ET" sz="3600" b="1" dirty="0" smtClean="0"/>
              <a:t>erception</a:t>
            </a:r>
            <a:endParaRPr lang="en-US" sz="3600" dirty="0">
              <a:latin typeface="Arial Narrow" pitchFamily="34" charset="0"/>
            </a:endParaRPr>
          </a:p>
        </p:txBody>
      </p:sp>
      <p:sp>
        <p:nvSpPr>
          <p:cNvPr id="3" name="Content Placeholder 2"/>
          <p:cNvSpPr>
            <a:spLocks noGrp="1"/>
          </p:cNvSpPr>
          <p:nvPr>
            <p:ph idx="1"/>
          </p:nvPr>
        </p:nvSpPr>
        <p:spPr>
          <a:xfrm>
            <a:off x="304800" y="1447800"/>
            <a:ext cx="8534400" cy="5029200"/>
          </a:xfrm>
        </p:spPr>
        <p:txBody>
          <a:bodyPr>
            <a:normAutofit/>
          </a:bodyPr>
          <a:lstStyle/>
          <a:p>
            <a:r>
              <a:rPr lang="en-US" sz="3000" b="1" dirty="0">
                <a:latin typeface="Arial Narrow" pitchFamily="34" charset="0"/>
              </a:rPr>
              <a:t>M</a:t>
            </a:r>
            <a:r>
              <a:rPr lang="am-ET" sz="3000" b="1" dirty="0" smtClean="0"/>
              <a:t>eanings </a:t>
            </a:r>
            <a:r>
              <a:rPr lang="am-ET" sz="3000" b="1" dirty="0"/>
              <a:t>of </a:t>
            </a:r>
            <a:r>
              <a:rPr lang="en-US" sz="3000" b="1" dirty="0" smtClean="0"/>
              <a:t>S</a:t>
            </a:r>
            <a:r>
              <a:rPr lang="am-ET" sz="3000" b="1" dirty="0" smtClean="0"/>
              <a:t>ensation </a:t>
            </a:r>
            <a:r>
              <a:rPr lang="am-ET" sz="3000" b="1" dirty="0"/>
              <a:t>and perception </a:t>
            </a:r>
            <a:endParaRPr lang="en-US" sz="3000" b="1" dirty="0">
              <a:latin typeface="Arial Narrow" pitchFamily="34" charset="0"/>
            </a:endParaRPr>
          </a:p>
          <a:p>
            <a:r>
              <a:rPr lang="am-ET" sz="3000" b="1" dirty="0" smtClean="0"/>
              <a:t>Sensory </a:t>
            </a:r>
            <a:r>
              <a:rPr lang="am-ET" sz="3000" b="1" dirty="0"/>
              <a:t>thresholds and sensory </a:t>
            </a:r>
            <a:r>
              <a:rPr lang="am-ET" sz="3000" b="1" dirty="0" smtClean="0"/>
              <a:t>adaption </a:t>
            </a:r>
            <a:endParaRPr lang="en-US" sz="3000" b="1" dirty="0">
              <a:latin typeface="Arial Narrow" pitchFamily="34" charset="0"/>
            </a:endParaRPr>
          </a:p>
          <a:p>
            <a:r>
              <a:rPr lang="am-ET" sz="3000" b="1" dirty="0" smtClean="0"/>
              <a:t>Perception </a:t>
            </a:r>
            <a:endParaRPr lang="en-US" sz="3000" b="1" dirty="0">
              <a:latin typeface="Arial Narrow" pitchFamily="34" charset="0"/>
            </a:endParaRPr>
          </a:p>
          <a:p>
            <a:r>
              <a:rPr lang="am-ET" sz="3000" b="1" dirty="0" smtClean="0"/>
              <a:t>Selectivity </a:t>
            </a:r>
            <a:r>
              <a:rPr lang="am-ET" sz="3000" b="1" dirty="0"/>
              <a:t>of perception: Attention </a:t>
            </a:r>
            <a:endParaRPr lang="en-US" sz="3000" b="1" dirty="0">
              <a:latin typeface="Arial Narrow" pitchFamily="34" charset="0"/>
            </a:endParaRPr>
          </a:p>
          <a:p>
            <a:r>
              <a:rPr lang="am-ET" sz="3000" b="1" dirty="0" smtClean="0"/>
              <a:t>Form </a:t>
            </a:r>
            <a:r>
              <a:rPr lang="am-ET" sz="3000" b="1" dirty="0"/>
              <a:t>perception </a:t>
            </a:r>
            <a:endParaRPr lang="en-US" sz="3000" b="1" dirty="0">
              <a:latin typeface="Arial Narrow" pitchFamily="34" charset="0"/>
            </a:endParaRPr>
          </a:p>
          <a:p>
            <a:r>
              <a:rPr lang="am-ET" sz="3000" b="1" dirty="0" smtClean="0"/>
              <a:t>Depth </a:t>
            </a:r>
            <a:r>
              <a:rPr lang="am-ET" sz="3000" b="1" dirty="0"/>
              <a:t>perception </a:t>
            </a:r>
            <a:endParaRPr lang="en-US" sz="3000" b="1" dirty="0">
              <a:latin typeface="Arial Narrow" pitchFamily="34" charset="0"/>
            </a:endParaRPr>
          </a:p>
          <a:p>
            <a:r>
              <a:rPr lang="am-ET" sz="3000" b="1" dirty="0" smtClean="0"/>
              <a:t>Perceptual </a:t>
            </a:r>
            <a:r>
              <a:rPr lang="am-ET" sz="3000" b="1" dirty="0"/>
              <a:t>Constancies </a:t>
            </a:r>
            <a:endParaRPr lang="en-US" sz="3000" b="1" dirty="0">
              <a:latin typeface="Arial Narrow" pitchFamily="34" charset="0"/>
            </a:endParaRPr>
          </a:p>
          <a:p>
            <a:r>
              <a:rPr lang="am-ET" sz="3000" b="1" dirty="0" smtClean="0"/>
              <a:t>Perceptual </a:t>
            </a:r>
            <a:r>
              <a:rPr lang="am-ET" sz="3000" b="1" dirty="0"/>
              <a:t>Illusion</a:t>
            </a:r>
            <a:endParaRPr lang="en-US" sz="3000" b="1" dirty="0">
              <a:latin typeface="Arial Narrow" pitchFamily="34" charset="0"/>
            </a:endParaRP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839200" cy="868362"/>
          </a:xfrm>
        </p:spPr>
        <p:txBody>
          <a:bodyPr>
            <a:normAutofit/>
          </a:bodyPr>
          <a:lstStyle/>
          <a:p>
            <a:r>
              <a:rPr lang="en-US" sz="3200" b="1" dirty="0" smtClean="0">
                <a:latin typeface="Arial Narrow" pitchFamily="34" charset="0"/>
              </a:rPr>
              <a:t>2.1 M</a:t>
            </a:r>
            <a:r>
              <a:rPr lang="am-ET" sz="3200" b="1" dirty="0" smtClean="0"/>
              <a:t>eanings of </a:t>
            </a:r>
            <a:r>
              <a:rPr lang="en-US" sz="3200" b="1" dirty="0" smtClean="0"/>
              <a:t>S</a:t>
            </a:r>
            <a:r>
              <a:rPr lang="am-ET" sz="3200" b="1" dirty="0" smtClean="0"/>
              <a:t>ensation and </a:t>
            </a:r>
            <a:r>
              <a:rPr lang="en-US" sz="3200" b="1" dirty="0" smtClean="0"/>
              <a:t>P</a:t>
            </a:r>
            <a:r>
              <a:rPr lang="am-ET" sz="3200" b="1" dirty="0" smtClean="0"/>
              <a:t>erception</a:t>
            </a:r>
            <a:endParaRPr lang="en-US" sz="3600" dirty="0"/>
          </a:p>
        </p:txBody>
      </p:sp>
      <p:sp>
        <p:nvSpPr>
          <p:cNvPr id="3" name="Content Placeholder 2"/>
          <p:cNvSpPr>
            <a:spLocks noGrp="1"/>
          </p:cNvSpPr>
          <p:nvPr>
            <p:ph idx="1"/>
          </p:nvPr>
        </p:nvSpPr>
        <p:spPr>
          <a:xfrm>
            <a:off x="228600" y="990600"/>
            <a:ext cx="8763000" cy="5638800"/>
          </a:xfrm>
        </p:spPr>
        <p:txBody>
          <a:bodyPr>
            <a:normAutofit fontScale="92500" lnSpcReduction="20000"/>
          </a:bodyPr>
          <a:lstStyle/>
          <a:p>
            <a:r>
              <a:rPr lang="en-US" sz="3000" i="1" dirty="0" smtClean="0">
                <a:latin typeface="Arial Narrow" pitchFamily="34" charset="0"/>
              </a:rPr>
              <a:t>What do these statements suggest to you? </a:t>
            </a:r>
          </a:p>
          <a:p>
            <a:pPr lvl="1">
              <a:buNone/>
            </a:pPr>
            <a:r>
              <a:rPr lang="en-US" sz="3000" i="1" dirty="0" smtClean="0">
                <a:latin typeface="Arial Narrow" pitchFamily="34" charset="0"/>
              </a:rPr>
              <a:t>“I heard </a:t>
            </a:r>
            <a:r>
              <a:rPr lang="en-US" sz="3000" i="1" dirty="0">
                <a:latin typeface="Arial Narrow" pitchFamily="34" charset="0"/>
              </a:rPr>
              <a:t>but </a:t>
            </a:r>
            <a:r>
              <a:rPr lang="en-US" sz="3000" i="1" dirty="0" smtClean="0">
                <a:latin typeface="Arial Narrow" pitchFamily="34" charset="0"/>
              </a:rPr>
              <a:t>I didn’t listen” </a:t>
            </a:r>
          </a:p>
          <a:p>
            <a:pPr lvl="1">
              <a:buNone/>
            </a:pPr>
            <a:r>
              <a:rPr lang="en-US" sz="3000" i="1" dirty="0" smtClean="0">
                <a:latin typeface="Arial Narrow" pitchFamily="34" charset="0"/>
              </a:rPr>
              <a:t>“I touched </a:t>
            </a:r>
            <a:r>
              <a:rPr lang="en-US" sz="3000" i="1" dirty="0">
                <a:latin typeface="Arial Narrow" pitchFamily="34" charset="0"/>
              </a:rPr>
              <a:t>but </a:t>
            </a:r>
            <a:r>
              <a:rPr lang="en-US" sz="3000" i="1" dirty="0" smtClean="0">
                <a:latin typeface="Arial Narrow" pitchFamily="34" charset="0"/>
              </a:rPr>
              <a:t>I didn’t grasp” </a:t>
            </a:r>
          </a:p>
          <a:p>
            <a:pPr marL="274320" lvl="1" indent="-274320" algn="just">
              <a:buFont typeface="Wingdings" pitchFamily="2" charset="2"/>
              <a:buChar char="§"/>
            </a:pPr>
            <a:r>
              <a:rPr lang="en-US" sz="3000" dirty="0" smtClean="0">
                <a:latin typeface="Arial Narrow" pitchFamily="34" charset="0"/>
              </a:rPr>
              <a:t>Sensation </a:t>
            </a:r>
            <a:r>
              <a:rPr lang="en-US" sz="3000" dirty="0">
                <a:latin typeface="Arial Narrow" pitchFamily="34" charset="0"/>
              </a:rPr>
              <a:t>is </a:t>
            </a:r>
            <a:r>
              <a:rPr lang="en-US" sz="3000" dirty="0" smtClean="0">
                <a:latin typeface="Arial Narrow" pitchFamily="34" charset="0"/>
              </a:rPr>
              <a:t>the </a:t>
            </a:r>
            <a:r>
              <a:rPr lang="en-US" sz="3000" dirty="0">
                <a:latin typeface="Arial Narrow" pitchFamily="34" charset="0"/>
              </a:rPr>
              <a:t>process </a:t>
            </a:r>
            <a:r>
              <a:rPr lang="en-US" sz="3000" dirty="0" smtClean="0">
                <a:latin typeface="Arial Narrow" pitchFamily="34" charset="0"/>
              </a:rPr>
              <a:t>through which sense organs </a:t>
            </a:r>
            <a:r>
              <a:rPr lang="en-US" sz="3000" dirty="0">
                <a:latin typeface="Arial Narrow" pitchFamily="34" charset="0"/>
              </a:rPr>
              <a:t>detects </a:t>
            </a:r>
            <a:r>
              <a:rPr lang="en-US" sz="3000" dirty="0" smtClean="0">
                <a:latin typeface="Arial Narrow" pitchFamily="34" charset="0"/>
              </a:rPr>
              <a:t>stimulus </a:t>
            </a:r>
            <a:r>
              <a:rPr lang="en-US" sz="3000" dirty="0">
                <a:latin typeface="Arial Narrow" pitchFamily="34" charset="0"/>
              </a:rPr>
              <a:t>from </a:t>
            </a:r>
            <a:r>
              <a:rPr lang="en-US" sz="3000" dirty="0" smtClean="0">
                <a:latin typeface="Arial Narrow" pitchFamily="34" charset="0"/>
              </a:rPr>
              <a:t>the environment and the </a:t>
            </a:r>
            <a:r>
              <a:rPr lang="en-US" sz="3000" dirty="0">
                <a:latin typeface="Arial Narrow" pitchFamily="34" charset="0"/>
              </a:rPr>
              <a:t>receptor cells in the </a:t>
            </a:r>
            <a:r>
              <a:rPr lang="en-US" sz="3000" dirty="0" smtClean="0">
                <a:latin typeface="Arial Narrow" pitchFamily="34" charset="0"/>
              </a:rPr>
              <a:t>sense organs recode the physical energy or stimulations in to a neural message a phenomenon called transduction and sends the nerve </a:t>
            </a:r>
            <a:r>
              <a:rPr lang="en-US" sz="3000" dirty="0">
                <a:latin typeface="Arial Narrow" pitchFamily="34" charset="0"/>
              </a:rPr>
              <a:t>impulses to the </a:t>
            </a:r>
            <a:r>
              <a:rPr lang="en-US" sz="3000" dirty="0" smtClean="0">
                <a:latin typeface="Arial Narrow" pitchFamily="34" charset="0"/>
              </a:rPr>
              <a:t>brain.</a:t>
            </a:r>
          </a:p>
          <a:p>
            <a:pPr algn="just"/>
            <a:r>
              <a:rPr lang="en-US" sz="3000" dirty="0" smtClean="0">
                <a:latin typeface="Arial Narrow" pitchFamily="34" charset="0"/>
              </a:rPr>
              <a:t>Perception is the process that organizes sensations into meaningful patterns. It is the process whereby the brain interprets sensations, giving them order and meaning. </a:t>
            </a:r>
          </a:p>
          <a:p>
            <a:pPr algn="just"/>
            <a:r>
              <a:rPr lang="en-US" sz="3000" dirty="0" smtClean="0">
                <a:latin typeface="Arial Narrow" pitchFamily="34" charset="0"/>
              </a:rPr>
              <a:t>Thus, hearing sounds and seeing colors is largely a sensory process, but forming a melody and detecting patterns and shapes is largely a perceptual process.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15962"/>
          </a:xfrm>
        </p:spPr>
        <p:txBody>
          <a:bodyPr>
            <a:normAutofit/>
          </a:bodyPr>
          <a:lstStyle/>
          <a:p>
            <a:pPr algn="l"/>
            <a:r>
              <a:rPr lang="en-US" sz="3200" b="1" dirty="0" smtClean="0">
                <a:latin typeface="Arial Narrow" pitchFamily="34" charset="0"/>
              </a:rPr>
              <a:t>2.2 The Sensory </a:t>
            </a:r>
            <a:r>
              <a:rPr lang="en-US" sz="3200" b="1" dirty="0">
                <a:latin typeface="Arial Narrow" pitchFamily="34" charset="0"/>
              </a:rPr>
              <a:t>L</a:t>
            </a:r>
            <a:r>
              <a:rPr lang="en-US" sz="3200" b="1" dirty="0" smtClean="0">
                <a:latin typeface="Arial Narrow" pitchFamily="34" charset="0"/>
              </a:rPr>
              <a:t>aws</a:t>
            </a:r>
            <a:endParaRPr lang="en-US" sz="3200" dirty="0">
              <a:latin typeface="Arial Narrow" pitchFamily="34" charset="0"/>
            </a:endParaRPr>
          </a:p>
        </p:txBody>
      </p:sp>
      <p:sp>
        <p:nvSpPr>
          <p:cNvPr id="3" name="Content Placeholder 2"/>
          <p:cNvSpPr>
            <a:spLocks noGrp="1"/>
          </p:cNvSpPr>
          <p:nvPr>
            <p:ph idx="1"/>
          </p:nvPr>
        </p:nvSpPr>
        <p:spPr>
          <a:xfrm>
            <a:off x="304800" y="1066800"/>
            <a:ext cx="8610600" cy="5638800"/>
          </a:xfrm>
        </p:spPr>
        <p:txBody>
          <a:bodyPr>
            <a:normAutofit fontScale="25000" lnSpcReduction="20000"/>
          </a:bodyPr>
          <a:lstStyle/>
          <a:p>
            <a:r>
              <a:rPr lang="en-US" sz="11200" dirty="0" smtClean="0">
                <a:latin typeface="Arial Narrow" pitchFamily="34" charset="0"/>
              </a:rPr>
              <a:t>Sensory </a:t>
            </a:r>
            <a:r>
              <a:rPr lang="en-US" sz="11200" dirty="0">
                <a:latin typeface="Arial Narrow" pitchFamily="34" charset="0"/>
              </a:rPr>
              <a:t>threshold </a:t>
            </a:r>
            <a:r>
              <a:rPr lang="en-US" sz="11200" dirty="0" smtClean="0">
                <a:latin typeface="Arial Narrow" pitchFamily="34" charset="0"/>
              </a:rPr>
              <a:t>and sensory </a:t>
            </a:r>
            <a:r>
              <a:rPr lang="en-US" sz="11200" dirty="0">
                <a:latin typeface="Arial Narrow" pitchFamily="34" charset="0"/>
              </a:rPr>
              <a:t>adaptation are the two general laws of </a:t>
            </a:r>
            <a:r>
              <a:rPr lang="en-US" sz="11200" dirty="0" smtClean="0">
                <a:latin typeface="Arial Narrow" pitchFamily="34" charset="0"/>
              </a:rPr>
              <a:t>sensation, that explain how sensation works. </a:t>
            </a:r>
          </a:p>
          <a:p>
            <a:r>
              <a:rPr lang="en-US" sz="11200" dirty="0">
                <a:latin typeface="Arial Narrow" pitchFamily="34" charset="0"/>
              </a:rPr>
              <a:t>How much intense must a </a:t>
            </a:r>
            <a:r>
              <a:rPr lang="en-US" sz="11200" dirty="0" smtClean="0">
                <a:latin typeface="Arial Narrow" pitchFamily="34" charset="0"/>
              </a:rPr>
              <a:t>stimulus </a:t>
            </a:r>
            <a:r>
              <a:rPr lang="en-US" sz="11200" dirty="0">
                <a:latin typeface="Arial Narrow" pitchFamily="34" charset="0"/>
              </a:rPr>
              <a:t>be for you to detect it?</a:t>
            </a:r>
            <a:r>
              <a:rPr lang="en-US" sz="11200" dirty="0" smtClean="0">
                <a:latin typeface="Arial Narrow" pitchFamily="34" charset="0"/>
              </a:rPr>
              <a:t> </a:t>
            </a:r>
          </a:p>
          <a:p>
            <a:r>
              <a:rPr lang="en-US" sz="11200" b="1" dirty="0">
                <a:latin typeface="Arial Narrow" pitchFamily="34" charset="0"/>
              </a:rPr>
              <a:t>Sensory threshold </a:t>
            </a:r>
            <a:r>
              <a:rPr lang="en-US" sz="11200" dirty="0">
                <a:latin typeface="Arial Narrow" pitchFamily="34" charset="0"/>
              </a:rPr>
              <a:t>is the </a:t>
            </a:r>
            <a:r>
              <a:rPr lang="en-US" sz="11200" i="1" u="sng" dirty="0">
                <a:latin typeface="Arial Narrow" pitchFamily="34" charset="0"/>
              </a:rPr>
              <a:t>minimum point of intensity </a:t>
            </a:r>
            <a:r>
              <a:rPr lang="en-US" sz="11200" dirty="0">
                <a:latin typeface="Arial Narrow" pitchFamily="34" charset="0"/>
              </a:rPr>
              <a:t>a sound can be detected. There are </a:t>
            </a:r>
            <a:r>
              <a:rPr lang="en-US" sz="11200" dirty="0" smtClean="0">
                <a:latin typeface="Arial Narrow" pitchFamily="34" charset="0"/>
              </a:rPr>
              <a:t>two laws </a:t>
            </a:r>
            <a:r>
              <a:rPr lang="en-US" sz="11200" dirty="0">
                <a:latin typeface="Arial Narrow" pitchFamily="34" charset="0"/>
              </a:rPr>
              <a:t>of sensory threshold: The law of </a:t>
            </a:r>
            <a:r>
              <a:rPr lang="en-US" sz="11200" i="1" dirty="0">
                <a:latin typeface="Arial Narrow" pitchFamily="34" charset="0"/>
              </a:rPr>
              <a:t>absolute threshold </a:t>
            </a:r>
            <a:r>
              <a:rPr lang="en-US" sz="11200" dirty="0">
                <a:latin typeface="Arial Narrow" pitchFamily="34" charset="0"/>
              </a:rPr>
              <a:t>and the law of </a:t>
            </a:r>
            <a:r>
              <a:rPr lang="en-US" sz="11200" i="1" dirty="0">
                <a:latin typeface="Arial Narrow" pitchFamily="34" charset="0"/>
              </a:rPr>
              <a:t>difference threshold</a:t>
            </a:r>
            <a:r>
              <a:rPr lang="en-US" sz="11200" dirty="0" smtClean="0">
                <a:latin typeface="Arial Narrow" pitchFamily="34" charset="0"/>
              </a:rPr>
              <a:t>.</a:t>
            </a:r>
          </a:p>
          <a:p>
            <a:pPr lvl="1">
              <a:buFont typeface="Wingdings" pitchFamily="2" charset="2"/>
              <a:buChar char="Ø"/>
            </a:pPr>
            <a:r>
              <a:rPr lang="en-US" sz="11200" dirty="0" smtClean="0">
                <a:latin typeface="Arial Narrow" pitchFamily="34" charset="0"/>
              </a:rPr>
              <a:t>Absolute threshold (</a:t>
            </a:r>
            <a:r>
              <a:rPr lang="en-US" sz="11200" dirty="0" err="1" smtClean="0">
                <a:latin typeface="Arial Narrow" pitchFamily="34" charset="0"/>
              </a:rPr>
              <a:t>Limen</a:t>
            </a:r>
            <a:r>
              <a:rPr lang="en-US" sz="11200" dirty="0" smtClean="0">
                <a:latin typeface="Arial Narrow" pitchFamily="34" charset="0"/>
              </a:rPr>
              <a:t>) is </a:t>
            </a:r>
            <a:r>
              <a:rPr lang="en-US" sz="11200" dirty="0">
                <a:latin typeface="Arial Narrow" pitchFamily="34" charset="0"/>
              </a:rPr>
              <a:t>the minimum level </a:t>
            </a:r>
            <a:r>
              <a:rPr lang="en-US" sz="11200" dirty="0" smtClean="0">
                <a:latin typeface="Arial Narrow" pitchFamily="34" charset="0"/>
              </a:rPr>
              <a:t>of stimulation </a:t>
            </a:r>
            <a:r>
              <a:rPr lang="en-US" sz="11200" dirty="0">
                <a:latin typeface="Arial Narrow" pitchFamily="34" charset="0"/>
              </a:rPr>
              <a:t>that can be </a:t>
            </a:r>
            <a:r>
              <a:rPr lang="en-US" sz="11200" dirty="0" smtClean="0">
                <a:latin typeface="Arial Narrow" pitchFamily="34" charset="0"/>
              </a:rPr>
              <a:t>detected. E.g., </a:t>
            </a:r>
            <a:r>
              <a:rPr lang="en-US" sz="11200" dirty="0">
                <a:latin typeface="Arial Narrow" pitchFamily="34" charset="0"/>
              </a:rPr>
              <a:t>a cup of </a:t>
            </a:r>
            <a:r>
              <a:rPr lang="en-US" sz="11200" dirty="0" smtClean="0">
                <a:latin typeface="Arial Narrow" pitchFamily="34" charset="0"/>
              </a:rPr>
              <a:t>coffee </a:t>
            </a:r>
            <a:r>
              <a:rPr lang="en-US" sz="11200" dirty="0">
                <a:latin typeface="Arial Narrow" pitchFamily="34" charset="0"/>
              </a:rPr>
              <a:t>require a certain amount of sugar before </a:t>
            </a:r>
            <a:r>
              <a:rPr lang="en-US" sz="11200" dirty="0" smtClean="0">
                <a:latin typeface="Arial Narrow" pitchFamily="34" charset="0"/>
              </a:rPr>
              <a:t>you could </a:t>
            </a:r>
            <a:r>
              <a:rPr lang="en-US" sz="11200" dirty="0">
                <a:latin typeface="Arial Narrow" pitchFamily="34" charset="0"/>
              </a:rPr>
              <a:t>detect a sweet taste. </a:t>
            </a:r>
            <a:endParaRPr lang="en-US" sz="11200" dirty="0" smtClean="0">
              <a:latin typeface="Arial Narrow" pitchFamily="34" charset="0"/>
            </a:endParaRPr>
          </a:p>
          <a:p>
            <a:pPr lvl="1">
              <a:buFont typeface="Wingdings" pitchFamily="2" charset="2"/>
              <a:buChar char="Ø"/>
            </a:pPr>
            <a:r>
              <a:rPr lang="en-US" sz="11200" dirty="0" smtClean="0">
                <a:latin typeface="Arial Narrow" pitchFamily="34" charset="0"/>
              </a:rPr>
              <a:t>In addition to the intensity of the stimulus, absolute </a:t>
            </a:r>
            <a:r>
              <a:rPr lang="en-US" sz="11200" dirty="0">
                <a:latin typeface="Arial Narrow" pitchFamily="34" charset="0"/>
              </a:rPr>
              <a:t>threshold </a:t>
            </a:r>
            <a:r>
              <a:rPr lang="en-US" sz="11200" dirty="0" smtClean="0">
                <a:latin typeface="Arial Narrow" pitchFamily="34" charset="0"/>
              </a:rPr>
              <a:t>is also </a:t>
            </a:r>
            <a:r>
              <a:rPr lang="en-US" sz="11200" dirty="0">
                <a:latin typeface="Arial Narrow" pitchFamily="34" charset="0"/>
              </a:rPr>
              <a:t>affected </a:t>
            </a:r>
            <a:r>
              <a:rPr lang="en-US" sz="11200" dirty="0" smtClean="0">
                <a:latin typeface="Arial Narrow" pitchFamily="34" charset="0"/>
              </a:rPr>
              <a:t>by physical and psychological factors of the individual such as response-bias.</a:t>
            </a:r>
          </a:p>
          <a:p>
            <a:pPr lvl="1">
              <a:buFont typeface="Wingdings" pitchFamily="2" charset="2"/>
              <a:buChar char="Ø"/>
            </a:pPr>
            <a:r>
              <a:rPr lang="en-US" sz="11200" dirty="0" smtClean="0">
                <a:latin typeface="Arial Narrow" pitchFamily="34" charset="0"/>
              </a:rPr>
              <a:t>Thus, psychologists define absolute </a:t>
            </a:r>
            <a:r>
              <a:rPr lang="en-US" sz="11200" dirty="0">
                <a:latin typeface="Arial Narrow" pitchFamily="34" charset="0"/>
              </a:rPr>
              <a:t>threshold as the minimum level </a:t>
            </a:r>
            <a:r>
              <a:rPr lang="en-US" sz="11200" dirty="0" smtClean="0">
                <a:latin typeface="Arial Narrow" pitchFamily="34" charset="0"/>
              </a:rPr>
              <a:t>of stimulation </a:t>
            </a:r>
            <a:r>
              <a:rPr lang="en-US" sz="11200" dirty="0">
                <a:latin typeface="Arial Narrow" pitchFamily="34" charset="0"/>
              </a:rPr>
              <a:t>that can be detected 50 </a:t>
            </a:r>
            <a:r>
              <a:rPr lang="en-US" sz="11200" dirty="0" smtClean="0">
                <a:latin typeface="Arial Narrow" pitchFamily="34" charset="0"/>
              </a:rPr>
              <a:t>% of </a:t>
            </a:r>
            <a:r>
              <a:rPr lang="en-US" sz="11200" dirty="0">
                <a:latin typeface="Arial Narrow" pitchFamily="34" charset="0"/>
              </a:rPr>
              <a:t>the time when a stimulus is presented </a:t>
            </a:r>
            <a:r>
              <a:rPr lang="en-US" sz="11200" dirty="0" smtClean="0">
                <a:latin typeface="Arial Narrow" pitchFamily="34" charset="0"/>
              </a:rPr>
              <a:t>again and again.</a:t>
            </a:r>
            <a:endParaRPr lang="en-US" sz="11200" dirty="0">
              <a:latin typeface="Arial Narrow"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2"/>
          <p:cNvPicPr>
            <a:picLocks noGrp="1" noChangeAspect="1" noChangeArrowheads="1"/>
          </p:cNvPicPr>
          <p:nvPr>
            <p:ph idx="1"/>
          </p:nvPr>
        </p:nvPicPr>
        <p:blipFill>
          <a:blip r:embed="rId2"/>
          <a:srcRect/>
          <a:stretch>
            <a:fillRect/>
          </a:stretch>
        </p:blipFill>
        <p:spPr bwMode="auto">
          <a:xfrm>
            <a:off x="1800217" y="1600200"/>
            <a:ext cx="5543565" cy="4525963"/>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Autofit/>
          </a:bodyPr>
          <a:lstStyle/>
          <a:p>
            <a:r>
              <a:rPr lang="en-US" sz="3600" b="1" dirty="0" smtClean="0">
                <a:latin typeface="Arial Narrow" pitchFamily="34" charset="0"/>
              </a:rPr>
              <a:t>Difference threshold</a:t>
            </a:r>
            <a:endParaRPr lang="en-US" sz="1200" b="1" dirty="0"/>
          </a:p>
        </p:txBody>
      </p:sp>
      <p:sp>
        <p:nvSpPr>
          <p:cNvPr id="3" name="Content Placeholder 2"/>
          <p:cNvSpPr>
            <a:spLocks noGrp="1"/>
          </p:cNvSpPr>
          <p:nvPr>
            <p:ph idx="1"/>
          </p:nvPr>
        </p:nvSpPr>
        <p:spPr>
          <a:xfrm>
            <a:off x="228600" y="1143000"/>
            <a:ext cx="8686800" cy="5486400"/>
          </a:xfrm>
        </p:spPr>
        <p:txBody>
          <a:bodyPr>
            <a:normAutofit lnSpcReduction="10000"/>
          </a:bodyPr>
          <a:lstStyle/>
          <a:p>
            <a:pPr marL="342900" lvl="1" indent="-342900">
              <a:buFont typeface="Arial" pitchFamily="34" charset="0"/>
              <a:buChar char="•"/>
            </a:pPr>
            <a:r>
              <a:rPr lang="en-US" dirty="0" smtClean="0">
                <a:latin typeface="Arial Narrow" pitchFamily="34" charset="0"/>
              </a:rPr>
              <a:t>Difference threshold or </a:t>
            </a:r>
            <a:r>
              <a:rPr lang="en-US" dirty="0">
                <a:latin typeface="Arial Narrow" pitchFamily="34" charset="0"/>
              </a:rPr>
              <a:t>just </a:t>
            </a:r>
            <a:r>
              <a:rPr lang="en-US" dirty="0" smtClean="0">
                <a:latin typeface="Arial Narrow" pitchFamily="34" charset="0"/>
              </a:rPr>
              <a:t>noticeable difference (</a:t>
            </a:r>
            <a:r>
              <a:rPr lang="en-US" b="1" dirty="0" smtClean="0">
                <a:latin typeface="Arial Narrow" pitchFamily="34" charset="0"/>
              </a:rPr>
              <a:t>JND</a:t>
            </a:r>
            <a:r>
              <a:rPr lang="en-US" dirty="0" smtClean="0">
                <a:latin typeface="Arial Narrow" pitchFamily="34" charset="0"/>
              </a:rPr>
              <a:t>) is the minimum amount of change in the intensity/amount of a stimulus needed for us to recognize that a change has occurred. E.g., a cup of coffee require a certain additional  amount of sugar in a cup of coffee to detect an increase in its sweetness. </a:t>
            </a:r>
          </a:p>
          <a:p>
            <a:r>
              <a:rPr lang="en-US" sz="2800" dirty="0" smtClean="0">
                <a:latin typeface="Arial Narrow" pitchFamily="34" charset="0"/>
              </a:rPr>
              <a:t>Like in absolute </a:t>
            </a:r>
            <a:r>
              <a:rPr lang="en-US" sz="2800" dirty="0">
                <a:latin typeface="Arial Narrow" pitchFamily="34" charset="0"/>
              </a:rPr>
              <a:t>threshold, the difference threshold for a particular sensory experience </a:t>
            </a:r>
            <a:r>
              <a:rPr lang="en-US" sz="2800" dirty="0" smtClean="0">
                <a:latin typeface="Arial Narrow" pitchFamily="34" charset="0"/>
              </a:rPr>
              <a:t>varies from </a:t>
            </a:r>
            <a:r>
              <a:rPr lang="en-US" sz="2800" dirty="0">
                <a:latin typeface="Arial Narrow" pitchFamily="34" charset="0"/>
              </a:rPr>
              <a:t>person to person and from occasion to occasion</a:t>
            </a:r>
            <a:r>
              <a:rPr lang="en-US" sz="2800" dirty="0" smtClean="0">
                <a:latin typeface="Arial Narrow" pitchFamily="34" charset="0"/>
              </a:rPr>
              <a:t>. </a:t>
            </a:r>
          </a:p>
          <a:p>
            <a:r>
              <a:rPr lang="en-US" sz="2800" dirty="0" smtClean="0">
                <a:latin typeface="Arial Narrow" pitchFamily="34" charset="0"/>
              </a:rPr>
              <a:t>Thus, </a:t>
            </a:r>
            <a:r>
              <a:rPr lang="en-US" sz="2800" dirty="0">
                <a:latin typeface="Arial Narrow" pitchFamily="34" charset="0"/>
              </a:rPr>
              <a:t>psychologists </a:t>
            </a:r>
            <a:r>
              <a:rPr lang="en-US" sz="2800" dirty="0" smtClean="0">
                <a:latin typeface="Arial Narrow" pitchFamily="34" charset="0"/>
              </a:rPr>
              <a:t>formally define </a:t>
            </a:r>
            <a:r>
              <a:rPr lang="en-US" sz="2800" dirty="0">
                <a:latin typeface="Arial Narrow" pitchFamily="34" charset="0"/>
              </a:rPr>
              <a:t>the difference threshold as the minimum change in stimulation that can be detected </a:t>
            </a:r>
            <a:r>
              <a:rPr lang="en-US" sz="2800" dirty="0" smtClean="0">
                <a:latin typeface="Arial Narrow" pitchFamily="34" charset="0"/>
              </a:rPr>
              <a:t>50 percent </a:t>
            </a:r>
            <a:r>
              <a:rPr lang="en-US" sz="2800" dirty="0">
                <a:latin typeface="Arial Narrow" pitchFamily="34" charset="0"/>
              </a:rPr>
              <a:t>of the time by a given person.</a:t>
            </a:r>
            <a:r>
              <a:rPr lang="en-US" sz="2800" dirty="0" smtClean="0">
                <a:latin typeface="Arial Narrow" pitchFamily="34" charset="0"/>
              </a:rPr>
              <a:t> </a:t>
            </a:r>
            <a:br>
              <a:rPr lang="en-US" sz="2800" dirty="0" smtClean="0">
                <a:latin typeface="Arial Narrow" pitchFamily="34" charset="0"/>
              </a:rPr>
            </a:br>
            <a:endParaRPr lang="en-US" sz="2800" dirty="0">
              <a:latin typeface="Arial Narrow"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a:t>Sensory Adaptation</a:t>
            </a:r>
            <a:r>
              <a:rPr lang="en-US" dirty="0" smtClean="0"/>
              <a:t> </a:t>
            </a:r>
            <a:endParaRPr lang="en-US" dirty="0"/>
          </a:p>
        </p:txBody>
      </p:sp>
      <p:sp>
        <p:nvSpPr>
          <p:cNvPr id="3" name="Content Placeholder 2"/>
          <p:cNvSpPr>
            <a:spLocks noGrp="1"/>
          </p:cNvSpPr>
          <p:nvPr>
            <p:ph idx="1"/>
          </p:nvPr>
        </p:nvSpPr>
        <p:spPr>
          <a:xfrm>
            <a:off x="228600" y="990600"/>
            <a:ext cx="8686800" cy="5135563"/>
          </a:xfrm>
        </p:spPr>
        <p:txBody>
          <a:bodyPr>
            <a:normAutofit fontScale="92500" lnSpcReduction="10000"/>
          </a:bodyPr>
          <a:lstStyle/>
          <a:p>
            <a:r>
              <a:rPr lang="en-US" sz="3000" dirty="0" smtClean="0">
                <a:latin typeface="Arial Narrow" pitchFamily="34" charset="0"/>
              </a:rPr>
              <a:t>Your </a:t>
            </a:r>
            <a:r>
              <a:rPr lang="en-US" sz="3000" dirty="0">
                <a:latin typeface="Arial Narrow" pitchFamily="34" charset="0"/>
              </a:rPr>
              <a:t>senses </a:t>
            </a:r>
            <a:r>
              <a:rPr lang="en-US" sz="3000" dirty="0" smtClean="0">
                <a:latin typeface="Arial Narrow" pitchFamily="34" charset="0"/>
              </a:rPr>
              <a:t>are </a:t>
            </a:r>
            <a:r>
              <a:rPr lang="en-US" sz="3000" dirty="0">
                <a:latin typeface="Arial Narrow" pitchFamily="34" charset="0"/>
              </a:rPr>
              <a:t>constantly bombarded by stimulation, </a:t>
            </a:r>
            <a:r>
              <a:rPr lang="en-US" sz="3000" dirty="0" smtClean="0">
                <a:latin typeface="Arial Narrow" pitchFamily="34" charset="0"/>
              </a:rPr>
              <a:t>but why </a:t>
            </a:r>
            <a:r>
              <a:rPr lang="en-US" sz="3000" dirty="0">
                <a:latin typeface="Arial Narrow" pitchFamily="34" charset="0"/>
              </a:rPr>
              <a:t>do </a:t>
            </a:r>
            <a:r>
              <a:rPr lang="en-US" sz="3000" dirty="0" smtClean="0">
                <a:latin typeface="Arial Narrow" pitchFamily="34" charset="0"/>
              </a:rPr>
              <a:t>you notice </a:t>
            </a:r>
            <a:r>
              <a:rPr lang="en-US" sz="3000" dirty="0">
                <a:latin typeface="Arial Narrow" pitchFamily="34" charset="0"/>
              </a:rPr>
              <a:t>only certain stimuli</a:t>
            </a:r>
            <a:r>
              <a:rPr lang="en-US" sz="3000" dirty="0" smtClean="0">
                <a:latin typeface="Arial Narrow" pitchFamily="34" charset="0"/>
              </a:rPr>
              <a:t>?</a:t>
            </a:r>
          </a:p>
          <a:p>
            <a:r>
              <a:rPr lang="en-US" sz="3000" b="1" dirty="0" smtClean="0">
                <a:latin typeface="Arial Narrow" pitchFamily="34" charset="0"/>
              </a:rPr>
              <a:t>Sensory adaptation</a:t>
            </a:r>
            <a:r>
              <a:rPr lang="en-US" sz="3000" dirty="0" smtClean="0">
                <a:latin typeface="Arial Narrow" pitchFamily="34" charset="0"/>
              </a:rPr>
              <a:t> is a tendency </a:t>
            </a:r>
            <a:r>
              <a:rPr lang="en-US" sz="3000" dirty="0">
                <a:latin typeface="Arial Narrow" pitchFamily="34" charset="0"/>
              </a:rPr>
              <a:t>of our </a:t>
            </a:r>
            <a:r>
              <a:rPr lang="en-US" sz="3000" dirty="0" smtClean="0">
                <a:latin typeface="Arial Narrow" pitchFamily="34" charset="0"/>
              </a:rPr>
              <a:t>sensory receptors </a:t>
            </a:r>
            <a:r>
              <a:rPr lang="en-US" sz="3000" dirty="0">
                <a:latin typeface="Arial Narrow" pitchFamily="34" charset="0"/>
              </a:rPr>
              <a:t>to have decreasing responsiveness to unchanging </a:t>
            </a:r>
            <a:r>
              <a:rPr lang="en-US" sz="3000" dirty="0" smtClean="0">
                <a:latin typeface="Arial Narrow" pitchFamily="34" charset="0"/>
              </a:rPr>
              <a:t>stimulus.</a:t>
            </a:r>
          </a:p>
          <a:p>
            <a:r>
              <a:rPr lang="en-US" sz="3000" dirty="0">
                <a:latin typeface="Arial Narrow" pitchFamily="34" charset="0"/>
              </a:rPr>
              <a:t>Sensory adaptation lets you detect potentially important change in your environment </a:t>
            </a:r>
            <a:r>
              <a:rPr lang="en-US" sz="3000" dirty="0" smtClean="0">
                <a:latin typeface="Arial Narrow" pitchFamily="34" charset="0"/>
              </a:rPr>
              <a:t>while ignoring </a:t>
            </a:r>
            <a:r>
              <a:rPr lang="en-US" sz="3000" dirty="0">
                <a:latin typeface="Arial Narrow" pitchFamily="34" charset="0"/>
              </a:rPr>
              <a:t>unchanging aspects of it. For example, </a:t>
            </a:r>
            <a:r>
              <a:rPr lang="en-US" sz="3000" dirty="0" smtClean="0">
                <a:latin typeface="Arial Narrow" pitchFamily="34" charset="0"/>
              </a:rPr>
              <a:t>people living in “</a:t>
            </a:r>
            <a:r>
              <a:rPr lang="en-US" sz="3000" dirty="0" err="1" smtClean="0">
                <a:latin typeface="Arial Narrow" pitchFamily="34" charset="0"/>
              </a:rPr>
              <a:t>Kera</a:t>
            </a:r>
            <a:r>
              <a:rPr lang="en-US" sz="3000" dirty="0" smtClean="0">
                <a:latin typeface="Arial Narrow" pitchFamily="34" charset="0"/>
              </a:rPr>
              <a:t>”/Addis Ababa stopped </a:t>
            </a:r>
            <a:r>
              <a:rPr lang="en-US" sz="3000" dirty="0">
                <a:latin typeface="Arial Narrow" pitchFamily="34" charset="0"/>
              </a:rPr>
              <a:t>noticing </a:t>
            </a:r>
            <a:r>
              <a:rPr lang="en-US" sz="3000" dirty="0" smtClean="0">
                <a:latin typeface="Arial Narrow" pitchFamily="34" charset="0"/>
              </a:rPr>
              <a:t>the bad smell of that environment. </a:t>
            </a:r>
          </a:p>
          <a:p>
            <a:pPr lvl="1">
              <a:buFont typeface="Wingdings" pitchFamily="2" charset="2"/>
              <a:buChar char="§"/>
            </a:pPr>
            <a:r>
              <a:rPr lang="en-US" sz="3000" dirty="0" smtClean="0">
                <a:latin typeface="Arial Narrow" pitchFamily="34" charset="0"/>
              </a:rPr>
              <a:t>We may not adapt extremely intense sensations</a:t>
            </a:r>
          </a:p>
          <a:p>
            <a:pPr lvl="1">
              <a:buFont typeface="Wingdings" pitchFamily="2" charset="2"/>
              <a:buChar char="§"/>
            </a:pPr>
            <a:r>
              <a:rPr lang="en-US" sz="3000" dirty="0" smtClean="0">
                <a:latin typeface="Arial Narrow" pitchFamily="34" charset="0"/>
              </a:rPr>
              <a:t>Adapting harmful stimuli </a:t>
            </a:r>
            <a:r>
              <a:rPr lang="en-US" sz="3000" dirty="0">
                <a:latin typeface="Arial Narrow" pitchFamily="34" charset="0"/>
              </a:rPr>
              <a:t>might be harmful or even fatal</a:t>
            </a:r>
            <a:r>
              <a:rPr lang="en-US" sz="3000" dirty="0" smtClean="0">
                <a:latin typeface="Arial Narrow" pitchFamily="34" charset="0"/>
              </a:rPr>
              <a:t>  </a:t>
            </a:r>
            <a:r>
              <a:rPr lang="en-US" dirty="0" smtClean="0"/>
              <a:t/>
            </a:r>
            <a:br>
              <a:rPr lang="en-US" dirty="0" smtClean="0"/>
            </a:br>
            <a:r>
              <a:rPr lang="en-US" dirty="0" smtClean="0"/>
              <a:t/>
            </a:r>
            <a:br>
              <a:rPr lang="en-US" dirty="0" smtClean="0"/>
            </a:b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62000"/>
          </a:xfrm>
        </p:spPr>
        <p:txBody>
          <a:bodyPr>
            <a:normAutofit/>
          </a:bodyPr>
          <a:lstStyle/>
          <a:p>
            <a:r>
              <a:rPr lang="en-US" b="1" dirty="0" smtClean="0"/>
              <a:t>2.3.Perception</a:t>
            </a:r>
            <a:endParaRPr lang="en-US" dirty="0"/>
          </a:p>
        </p:txBody>
      </p:sp>
      <p:sp>
        <p:nvSpPr>
          <p:cNvPr id="3" name="Content Placeholder 2"/>
          <p:cNvSpPr>
            <a:spLocks noGrp="1"/>
          </p:cNvSpPr>
          <p:nvPr>
            <p:ph idx="1"/>
          </p:nvPr>
        </p:nvSpPr>
        <p:spPr>
          <a:xfrm>
            <a:off x="228600" y="914400"/>
            <a:ext cx="8686800" cy="5715000"/>
          </a:xfrm>
        </p:spPr>
        <p:txBody>
          <a:bodyPr>
            <a:normAutofit fontScale="25000" lnSpcReduction="20000"/>
          </a:bodyPr>
          <a:lstStyle/>
          <a:p>
            <a:pPr>
              <a:lnSpc>
                <a:spcPct val="120000"/>
              </a:lnSpc>
              <a:spcBef>
                <a:spcPts val="600"/>
              </a:spcBef>
              <a:spcAft>
                <a:spcPts val="600"/>
              </a:spcAft>
            </a:pPr>
            <a:r>
              <a:rPr lang="en-US" sz="11200" dirty="0" smtClean="0">
                <a:latin typeface="Arial Narrow" pitchFamily="34" charset="0"/>
              </a:rPr>
              <a:t>Perception </a:t>
            </a:r>
            <a:r>
              <a:rPr lang="en-US" sz="11200" dirty="0">
                <a:latin typeface="Arial Narrow" pitchFamily="34" charset="0"/>
              </a:rPr>
              <a:t>is a meaning making </a:t>
            </a:r>
            <a:r>
              <a:rPr lang="en-US" sz="11200" dirty="0" smtClean="0">
                <a:latin typeface="Arial Narrow" pitchFamily="34" charset="0"/>
              </a:rPr>
              <a:t>process</a:t>
            </a:r>
          </a:p>
          <a:p>
            <a:pPr>
              <a:lnSpc>
                <a:spcPct val="120000"/>
              </a:lnSpc>
              <a:spcBef>
                <a:spcPts val="600"/>
              </a:spcBef>
              <a:spcAft>
                <a:spcPts val="600"/>
              </a:spcAft>
            </a:pPr>
            <a:r>
              <a:rPr lang="en-US" sz="11200" dirty="0" smtClean="0">
                <a:latin typeface="Arial Narrow" pitchFamily="34" charset="0"/>
              </a:rPr>
              <a:t>The major </a:t>
            </a:r>
            <a:r>
              <a:rPr lang="en-US" sz="11200" dirty="0">
                <a:latin typeface="Arial Narrow" pitchFamily="34" charset="0"/>
              </a:rPr>
              <a:t>characteristics of the perceptual </a:t>
            </a:r>
            <a:r>
              <a:rPr lang="en-US" sz="11200" dirty="0" smtClean="0">
                <a:latin typeface="Arial Narrow" pitchFamily="34" charset="0"/>
              </a:rPr>
              <a:t>process includes;</a:t>
            </a:r>
          </a:p>
          <a:p>
            <a:pPr lvl="1">
              <a:lnSpc>
                <a:spcPct val="120000"/>
              </a:lnSpc>
              <a:spcBef>
                <a:spcPts val="0"/>
              </a:spcBef>
              <a:buFont typeface="Wingdings" pitchFamily="2" charset="2"/>
              <a:buChar char="§"/>
            </a:pPr>
            <a:r>
              <a:rPr lang="en-US" sz="11200" dirty="0" smtClean="0">
                <a:latin typeface="Arial Narrow" pitchFamily="34" charset="0"/>
              </a:rPr>
              <a:t> </a:t>
            </a:r>
            <a:r>
              <a:rPr lang="en-US" sz="11200" i="1" dirty="0" smtClean="0">
                <a:latin typeface="Arial Narrow" pitchFamily="34" charset="0"/>
              </a:rPr>
              <a:t>Selectivity </a:t>
            </a:r>
            <a:r>
              <a:rPr lang="en-US" sz="11200" i="1" dirty="0">
                <a:latin typeface="Arial Narrow" pitchFamily="34" charset="0"/>
              </a:rPr>
              <a:t>of </a:t>
            </a:r>
            <a:r>
              <a:rPr lang="en-US" sz="11200" i="1" dirty="0" smtClean="0">
                <a:latin typeface="Arial Narrow" pitchFamily="34" charset="0"/>
              </a:rPr>
              <a:t>perception (attention), </a:t>
            </a:r>
          </a:p>
          <a:p>
            <a:pPr lvl="1">
              <a:lnSpc>
                <a:spcPct val="120000"/>
              </a:lnSpc>
              <a:spcBef>
                <a:spcPts val="0"/>
              </a:spcBef>
              <a:buFont typeface="Wingdings" pitchFamily="2" charset="2"/>
              <a:buChar char="§"/>
            </a:pPr>
            <a:r>
              <a:rPr lang="en-US" sz="11200" i="1" dirty="0">
                <a:latin typeface="Arial Narrow" pitchFamily="34" charset="0"/>
              </a:rPr>
              <a:t>F</a:t>
            </a:r>
            <a:r>
              <a:rPr lang="en-US" sz="11200" i="1" dirty="0" smtClean="0">
                <a:latin typeface="Arial Narrow" pitchFamily="34" charset="0"/>
              </a:rPr>
              <a:t>orm </a:t>
            </a:r>
            <a:r>
              <a:rPr lang="en-US" sz="11200" i="1" dirty="0">
                <a:latin typeface="Arial Narrow" pitchFamily="34" charset="0"/>
              </a:rPr>
              <a:t>perception</a:t>
            </a:r>
            <a:r>
              <a:rPr lang="en-US" sz="11200" i="1" dirty="0" smtClean="0">
                <a:latin typeface="Arial Narrow" pitchFamily="34" charset="0"/>
              </a:rPr>
              <a:t>, </a:t>
            </a:r>
          </a:p>
          <a:p>
            <a:pPr lvl="1">
              <a:lnSpc>
                <a:spcPct val="120000"/>
              </a:lnSpc>
              <a:spcBef>
                <a:spcPts val="0"/>
              </a:spcBef>
              <a:buFont typeface="Wingdings" pitchFamily="2" charset="2"/>
              <a:buChar char="§"/>
            </a:pPr>
            <a:r>
              <a:rPr lang="en-US" sz="11200" i="1" dirty="0">
                <a:latin typeface="Arial Narrow" pitchFamily="34" charset="0"/>
              </a:rPr>
              <a:t>D</a:t>
            </a:r>
            <a:r>
              <a:rPr lang="en-US" sz="11200" i="1" dirty="0" smtClean="0">
                <a:latin typeface="Arial Narrow" pitchFamily="34" charset="0"/>
              </a:rPr>
              <a:t>epth </a:t>
            </a:r>
            <a:r>
              <a:rPr lang="en-US" sz="11200" i="1" dirty="0">
                <a:latin typeface="Arial Narrow" pitchFamily="34" charset="0"/>
              </a:rPr>
              <a:t>perception, </a:t>
            </a:r>
            <a:endParaRPr lang="en-US" sz="11200" i="1" dirty="0" smtClean="0">
              <a:latin typeface="Arial Narrow" pitchFamily="34" charset="0"/>
            </a:endParaRPr>
          </a:p>
          <a:p>
            <a:pPr lvl="1">
              <a:lnSpc>
                <a:spcPct val="120000"/>
              </a:lnSpc>
              <a:spcBef>
                <a:spcPts val="0"/>
              </a:spcBef>
              <a:buFont typeface="Wingdings" pitchFamily="2" charset="2"/>
              <a:buChar char="§"/>
            </a:pPr>
            <a:r>
              <a:rPr lang="en-US" sz="11200" i="1" dirty="0">
                <a:latin typeface="Arial Narrow" pitchFamily="34" charset="0"/>
              </a:rPr>
              <a:t>P</a:t>
            </a:r>
            <a:r>
              <a:rPr lang="en-US" sz="11200" i="1" dirty="0" smtClean="0">
                <a:latin typeface="Arial Narrow" pitchFamily="34" charset="0"/>
              </a:rPr>
              <a:t>erceptual </a:t>
            </a:r>
            <a:r>
              <a:rPr lang="en-US" sz="11200" i="1" dirty="0">
                <a:latin typeface="Arial Narrow" pitchFamily="34" charset="0"/>
              </a:rPr>
              <a:t>constancy, and </a:t>
            </a:r>
            <a:endParaRPr lang="en-US" sz="11200" i="1" dirty="0" smtClean="0">
              <a:latin typeface="Arial Narrow" pitchFamily="34" charset="0"/>
            </a:endParaRPr>
          </a:p>
          <a:p>
            <a:pPr lvl="1">
              <a:lnSpc>
                <a:spcPct val="120000"/>
              </a:lnSpc>
              <a:spcBef>
                <a:spcPts val="0"/>
              </a:spcBef>
              <a:buFont typeface="Wingdings" pitchFamily="2" charset="2"/>
              <a:buChar char="§"/>
            </a:pPr>
            <a:r>
              <a:rPr lang="en-US" sz="11200" i="1" dirty="0">
                <a:latin typeface="Arial Narrow" pitchFamily="34" charset="0"/>
              </a:rPr>
              <a:t>P</a:t>
            </a:r>
            <a:r>
              <a:rPr lang="en-US" sz="11200" i="1" dirty="0" smtClean="0">
                <a:latin typeface="Arial Narrow" pitchFamily="34" charset="0"/>
              </a:rPr>
              <a:t>erceptual </a:t>
            </a:r>
            <a:r>
              <a:rPr lang="en-US" sz="11200" i="1" dirty="0">
                <a:latin typeface="Arial Narrow" pitchFamily="34" charset="0"/>
              </a:rPr>
              <a:t>illusion</a:t>
            </a:r>
            <a:r>
              <a:rPr lang="en-US" sz="11200" dirty="0">
                <a:latin typeface="Arial Narrow" pitchFamily="34" charset="0"/>
              </a:rPr>
              <a:t>.</a:t>
            </a:r>
            <a:r>
              <a:rPr lang="en-US" sz="11200" dirty="0" smtClean="0">
                <a:latin typeface="Arial Narrow" pitchFamily="34" charset="0"/>
              </a:rPr>
              <a:t> </a:t>
            </a:r>
          </a:p>
          <a:p>
            <a:pPr>
              <a:lnSpc>
                <a:spcPct val="120000"/>
              </a:lnSpc>
              <a:spcBef>
                <a:spcPts val="600"/>
              </a:spcBef>
              <a:spcAft>
                <a:spcPts val="600"/>
              </a:spcAft>
              <a:buNone/>
            </a:pPr>
            <a:r>
              <a:rPr lang="en-US" sz="11200" b="1" dirty="0">
                <a:latin typeface="Arial Narrow" pitchFamily="34" charset="0"/>
              </a:rPr>
              <a:t>1</a:t>
            </a:r>
            <a:r>
              <a:rPr lang="en-US" sz="11200" b="1" dirty="0" smtClean="0">
                <a:latin typeface="Arial Narrow" pitchFamily="34" charset="0"/>
              </a:rPr>
              <a:t>. Selectivity of perception (Attention): refers to </a:t>
            </a:r>
            <a:r>
              <a:rPr lang="en-US" sz="11200" dirty="0" smtClean="0">
                <a:latin typeface="Arial Narrow" pitchFamily="34" charset="0"/>
              </a:rPr>
              <a:t>the perceptual process that selects certain inputs for inclusion in your conscious experience, or awareness, at any given time, ignoring others. </a:t>
            </a: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t>
            </a:r>
            <a:br>
              <a:rPr lang="en-US" dirty="0" smtClean="0"/>
            </a:b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33400"/>
          </a:xfrm>
        </p:spPr>
        <p:txBody>
          <a:bodyPr>
            <a:normAutofit fontScale="90000"/>
          </a:bodyPr>
          <a:lstStyle/>
          <a:p>
            <a:r>
              <a:rPr lang="en-US" dirty="0" smtClean="0"/>
              <a:t>…</a:t>
            </a:r>
            <a:endParaRPr lang="en-US" dirty="0"/>
          </a:p>
        </p:txBody>
      </p:sp>
      <p:sp>
        <p:nvSpPr>
          <p:cNvPr id="3" name="Content Placeholder 2"/>
          <p:cNvSpPr>
            <a:spLocks noGrp="1"/>
          </p:cNvSpPr>
          <p:nvPr>
            <p:ph idx="1"/>
          </p:nvPr>
        </p:nvSpPr>
        <p:spPr>
          <a:xfrm>
            <a:off x="228600" y="838200"/>
            <a:ext cx="8686800" cy="5791200"/>
          </a:xfrm>
        </p:spPr>
        <p:txBody>
          <a:bodyPr>
            <a:normAutofit/>
          </a:bodyPr>
          <a:lstStyle/>
          <a:p>
            <a:r>
              <a:rPr lang="en-US" sz="2800" dirty="0" smtClean="0">
                <a:latin typeface="Arial Narrow" pitchFamily="34" charset="0"/>
              </a:rPr>
              <a:t>The selectivity of perception implies, that our field of experience is divided into what is known as - Focus &amp; - Margin. </a:t>
            </a:r>
          </a:p>
          <a:p>
            <a:r>
              <a:rPr lang="en-US" sz="2800" dirty="0" smtClean="0">
                <a:latin typeface="Arial Narrow" pitchFamily="34" charset="0"/>
              </a:rPr>
              <a:t>Events or stimuli that you perceive clearly are the focus of your experience and other items or stimuli that you perceive dimly or vaguely are in the margin of your attention. </a:t>
            </a:r>
          </a:p>
          <a:p>
            <a:r>
              <a:rPr lang="en-US" sz="2800" dirty="0" smtClean="0">
                <a:latin typeface="Arial Narrow" pitchFamily="34" charset="0"/>
              </a:rPr>
              <a:t>Attention shifts constantly. What is in the focus of your attention one moment may be in margin; and what is in the margin may become in your focus. </a:t>
            </a:r>
          </a:p>
          <a:p>
            <a:pPr>
              <a:buNone/>
            </a:pPr>
            <a:endParaRPr lang="en-US" sz="2800" dirty="0" smtClean="0">
              <a:latin typeface="Arial Narrow" pitchFamily="34" charset="0"/>
            </a:endParaRPr>
          </a:p>
          <a:p>
            <a:r>
              <a:rPr lang="en-US" sz="2800" dirty="0" smtClean="0">
                <a:latin typeface="Arial Narrow" pitchFamily="34" charset="0"/>
              </a:rPr>
              <a:t>What factors do you think determine your attention?</a:t>
            </a:r>
            <a:endParaRPr lang="en-US"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09600"/>
          </a:xfrm>
        </p:spPr>
        <p:txBody>
          <a:bodyPr>
            <a:normAutofit fontScale="90000"/>
          </a:bodyPr>
          <a:lstStyle/>
          <a:p>
            <a:r>
              <a:rPr lang="en-US" dirty="0" smtClean="0">
                <a:latin typeface="Arial Narrow" pitchFamily="34" charset="0"/>
              </a:rPr>
              <a:t/>
            </a:r>
            <a:br>
              <a:rPr lang="en-US" dirty="0" smtClean="0">
                <a:latin typeface="Arial Narrow" pitchFamily="34" charset="0"/>
              </a:rPr>
            </a:br>
            <a:endParaRPr lang="en-US" dirty="0"/>
          </a:p>
        </p:txBody>
      </p:sp>
      <p:sp>
        <p:nvSpPr>
          <p:cNvPr id="3" name="Content Placeholder 2"/>
          <p:cNvSpPr>
            <a:spLocks noGrp="1"/>
          </p:cNvSpPr>
          <p:nvPr>
            <p:ph idx="1"/>
          </p:nvPr>
        </p:nvSpPr>
        <p:spPr>
          <a:xfrm>
            <a:off x="228600" y="838200"/>
            <a:ext cx="8686800" cy="5791200"/>
          </a:xfrm>
        </p:spPr>
        <p:txBody>
          <a:bodyPr>
            <a:normAutofit fontScale="85000" lnSpcReduction="10000"/>
          </a:bodyPr>
          <a:lstStyle/>
          <a:p>
            <a:r>
              <a:rPr lang="en-US" sz="3300" dirty="0">
                <a:latin typeface="Arial Narrow" pitchFamily="34" charset="0"/>
              </a:rPr>
              <a:t>Paying attention is in general a function of two factors: factors external to the perceiver </a:t>
            </a:r>
            <a:r>
              <a:rPr lang="en-US" sz="3300" dirty="0" smtClean="0">
                <a:latin typeface="Arial Narrow" pitchFamily="34" charset="0"/>
              </a:rPr>
              <a:t>and factors </a:t>
            </a:r>
            <a:r>
              <a:rPr lang="en-US" sz="3300" dirty="0">
                <a:latin typeface="Arial Narrow" pitchFamily="34" charset="0"/>
              </a:rPr>
              <a:t>internal to the perceiver. </a:t>
            </a:r>
            <a:endParaRPr lang="en-US" sz="3300" dirty="0" smtClean="0">
              <a:latin typeface="Arial Narrow" pitchFamily="34" charset="0"/>
            </a:endParaRPr>
          </a:p>
          <a:p>
            <a:r>
              <a:rPr lang="en-US" sz="3300" dirty="0" smtClean="0">
                <a:latin typeface="Arial Narrow" pitchFamily="34" charset="0"/>
              </a:rPr>
              <a:t>External </a:t>
            </a:r>
            <a:r>
              <a:rPr lang="en-US" sz="3300" dirty="0">
                <a:latin typeface="Arial Narrow" pitchFamily="34" charset="0"/>
              </a:rPr>
              <a:t>factors refer to factors that are generally found </a:t>
            </a:r>
            <a:r>
              <a:rPr lang="en-US" sz="3300" dirty="0" smtClean="0">
                <a:latin typeface="Arial Narrow" pitchFamily="34" charset="0"/>
              </a:rPr>
              <a:t>in the </a:t>
            </a:r>
            <a:r>
              <a:rPr lang="en-US" sz="3300" dirty="0">
                <a:latin typeface="Arial Narrow" pitchFamily="34" charset="0"/>
              </a:rPr>
              <a:t>objects or stimuli to be perceived. </a:t>
            </a:r>
            <a:endParaRPr lang="en-US" sz="3300" dirty="0" smtClean="0">
              <a:latin typeface="Arial Narrow" pitchFamily="34" charset="0"/>
            </a:endParaRPr>
          </a:p>
          <a:p>
            <a:r>
              <a:rPr lang="en-US" sz="3300" dirty="0" smtClean="0">
                <a:latin typeface="Arial Narrow" pitchFamily="34" charset="0"/>
              </a:rPr>
              <a:t>Some </a:t>
            </a:r>
            <a:r>
              <a:rPr lang="en-US" sz="3300" dirty="0">
                <a:latin typeface="Arial Narrow" pitchFamily="34" charset="0"/>
              </a:rPr>
              <a:t>of the external characteristics of objects </a:t>
            </a:r>
            <a:r>
              <a:rPr lang="en-US" sz="3300" dirty="0" smtClean="0">
                <a:latin typeface="Arial Narrow" pitchFamily="34" charset="0"/>
              </a:rPr>
              <a:t>that determine </a:t>
            </a:r>
            <a:r>
              <a:rPr lang="en-US" sz="3300" dirty="0">
                <a:latin typeface="Arial Narrow" pitchFamily="34" charset="0"/>
              </a:rPr>
              <a:t>whether you are going to attend them or not are size and intensity, repetition</a:t>
            </a:r>
            <a:r>
              <a:rPr lang="en-US" sz="3300" dirty="0" smtClean="0">
                <a:latin typeface="Arial Narrow" pitchFamily="34" charset="0"/>
              </a:rPr>
              <a:t>, novelty </a:t>
            </a:r>
            <a:r>
              <a:rPr lang="en-US" sz="3300" dirty="0">
                <a:latin typeface="Arial Narrow" pitchFamily="34" charset="0"/>
              </a:rPr>
              <a:t>(or newness), and movement. </a:t>
            </a:r>
            <a:endParaRPr lang="en-US" sz="3300" dirty="0" smtClean="0">
              <a:latin typeface="Arial Narrow" pitchFamily="34" charset="0"/>
            </a:endParaRPr>
          </a:p>
          <a:p>
            <a:r>
              <a:rPr lang="en-US" sz="3300" dirty="0">
                <a:latin typeface="Arial Narrow" pitchFamily="34" charset="0"/>
              </a:rPr>
              <a:t>In general, stimuli in the environment that, are bigger and brighter, </a:t>
            </a:r>
            <a:r>
              <a:rPr lang="en-US" sz="3300" dirty="0" smtClean="0">
                <a:latin typeface="Arial Narrow" pitchFamily="34" charset="0"/>
              </a:rPr>
              <a:t>more frequently occurring, or </a:t>
            </a:r>
            <a:r>
              <a:rPr lang="en-US" sz="3300" dirty="0">
                <a:latin typeface="Arial Narrow" pitchFamily="34" charset="0"/>
              </a:rPr>
              <a:t>newer or moving are likely to get your attention.</a:t>
            </a:r>
            <a:r>
              <a:rPr lang="en-US" dirty="0"/>
              <a:t> </a:t>
            </a:r>
            <a:endParaRPr lang="en-US" dirty="0" smtClean="0"/>
          </a:p>
          <a:p>
            <a:pPr>
              <a:buNone/>
            </a:pPr>
            <a:r>
              <a:rPr lang="en-US" dirty="0" smtClean="0"/>
              <a:t/>
            </a:r>
            <a:br>
              <a:rPr lang="en-US" dirty="0" smtClean="0"/>
            </a:br>
            <a:r>
              <a:rPr lang="en-US" dirty="0" smtClean="0"/>
              <a:t> </a:t>
            </a:r>
            <a:br>
              <a:rPr lang="en-US" dirty="0" smtClean="0"/>
            </a:br>
            <a:r>
              <a:rPr lang="en-US" dirty="0" smtClean="0"/>
              <a:t> </a:t>
            </a:r>
            <a:br>
              <a:rPr lang="en-US" dirty="0" smtClean="0"/>
            </a:b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86800" cy="685800"/>
          </a:xfrm>
        </p:spPr>
        <p:txBody>
          <a:bodyPr>
            <a:normAutofit fontScale="90000"/>
          </a:bodyPr>
          <a:lstStyle/>
          <a:p>
            <a:endParaRPr lang="en-US" dirty="0"/>
          </a:p>
        </p:txBody>
      </p:sp>
      <p:sp>
        <p:nvSpPr>
          <p:cNvPr id="3" name="Content Placeholder 2"/>
          <p:cNvSpPr>
            <a:spLocks noGrp="1"/>
          </p:cNvSpPr>
          <p:nvPr>
            <p:ph idx="1"/>
          </p:nvPr>
        </p:nvSpPr>
        <p:spPr>
          <a:xfrm>
            <a:off x="228600" y="990600"/>
            <a:ext cx="8686800" cy="5638800"/>
          </a:xfrm>
        </p:spPr>
        <p:txBody>
          <a:bodyPr>
            <a:normAutofit/>
          </a:bodyPr>
          <a:lstStyle/>
          <a:p>
            <a:pPr>
              <a:spcBef>
                <a:spcPts val="0"/>
              </a:spcBef>
              <a:spcAft>
                <a:spcPts val="600"/>
              </a:spcAft>
            </a:pPr>
            <a:r>
              <a:rPr lang="en-US" sz="2800" dirty="0">
                <a:latin typeface="Arial Narrow" pitchFamily="34" charset="0"/>
              </a:rPr>
              <a:t>P</a:t>
            </a:r>
            <a:r>
              <a:rPr lang="en-US" sz="2800" dirty="0" smtClean="0">
                <a:latin typeface="Arial Narrow" pitchFamily="34" charset="0"/>
              </a:rPr>
              <a:t>aying attention is not determined only by the characteristics of objects. </a:t>
            </a:r>
          </a:p>
          <a:p>
            <a:pPr>
              <a:spcBef>
                <a:spcPts val="0"/>
              </a:spcBef>
              <a:spcAft>
                <a:spcPts val="600"/>
              </a:spcAft>
            </a:pPr>
            <a:r>
              <a:rPr lang="en-US" sz="2800" dirty="0" smtClean="0">
                <a:latin typeface="Arial Narrow" pitchFamily="34" charset="0"/>
              </a:rPr>
              <a:t>Even when a stimulus is bigger, brighter, new frequent, or moving, you may not give it attention if you are not psychologically ready to attend to it. Hence, attention giving also depends on your psychological states as an observer. </a:t>
            </a:r>
          </a:p>
          <a:p>
            <a:pPr>
              <a:spcBef>
                <a:spcPts val="0"/>
              </a:spcBef>
              <a:spcAft>
                <a:spcPts val="600"/>
              </a:spcAft>
            </a:pPr>
            <a:r>
              <a:rPr lang="en-US" sz="2800" dirty="0" smtClean="0">
                <a:latin typeface="Arial Narrow" pitchFamily="34" charset="0"/>
              </a:rPr>
              <a:t>Psychologists have identified two important psychological factors: </a:t>
            </a:r>
          </a:p>
          <a:p>
            <a:pPr lvl="1">
              <a:spcBef>
                <a:spcPts val="0"/>
              </a:spcBef>
              <a:spcAft>
                <a:spcPts val="600"/>
              </a:spcAft>
              <a:buFont typeface="Wingdings" pitchFamily="2" charset="2"/>
              <a:buChar char="§"/>
            </a:pPr>
            <a:r>
              <a:rPr lang="en-US" b="1" dirty="0" smtClean="0">
                <a:latin typeface="Arial Narrow" pitchFamily="34" charset="0"/>
              </a:rPr>
              <a:t>Set or expectancy </a:t>
            </a:r>
            <a:r>
              <a:rPr lang="en-US" dirty="0" smtClean="0">
                <a:latin typeface="Arial Narrow" pitchFamily="34" charset="0"/>
              </a:rPr>
              <a:t>and </a:t>
            </a:r>
          </a:p>
          <a:p>
            <a:pPr lvl="1">
              <a:spcBef>
                <a:spcPts val="0"/>
              </a:spcBef>
              <a:spcAft>
                <a:spcPts val="600"/>
              </a:spcAft>
              <a:buFont typeface="Wingdings" pitchFamily="2" charset="2"/>
              <a:buChar char="§"/>
            </a:pPr>
            <a:r>
              <a:rPr lang="en-US" b="1" dirty="0" smtClean="0">
                <a:latin typeface="Arial Narrow" pitchFamily="34" charset="0"/>
              </a:rPr>
              <a:t>Motives </a:t>
            </a:r>
            <a:r>
              <a:rPr lang="en-US" dirty="0" smtClean="0">
                <a:latin typeface="Arial Narrow" pitchFamily="34" charset="0"/>
              </a:rPr>
              <a:t>or </a:t>
            </a:r>
            <a:r>
              <a:rPr lang="en-US" b="1" dirty="0" smtClean="0">
                <a:latin typeface="Arial Narrow" pitchFamily="34" charset="0"/>
              </a:rPr>
              <a:t>needs. </a:t>
            </a:r>
            <a:endParaRPr lang="en-US" dirty="0">
              <a:latin typeface="Arial Narrow"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763000" cy="563562"/>
          </a:xfrm>
        </p:spPr>
        <p:txBody>
          <a:bodyPr>
            <a:normAutofit fontScale="90000"/>
          </a:bodyPr>
          <a:lstStyle/>
          <a:p>
            <a:pPr algn="l"/>
            <a:r>
              <a:rPr lang="en-US" b="1" dirty="0"/>
              <a:t>2</a:t>
            </a:r>
            <a:r>
              <a:rPr lang="en-US" b="1" dirty="0" smtClean="0"/>
              <a:t>. Form </a:t>
            </a:r>
            <a:r>
              <a:rPr lang="en-US" b="1" dirty="0"/>
              <a:t>perception</a:t>
            </a:r>
            <a:r>
              <a:rPr lang="en-US" dirty="0" smtClean="0"/>
              <a:t> </a:t>
            </a:r>
            <a:endParaRPr lang="en-US" dirty="0"/>
          </a:p>
        </p:txBody>
      </p:sp>
      <p:sp>
        <p:nvSpPr>
          <p:cNvPr id="3" name="Content Placeholder 2"/>
          <p:cNvSpPr>
            <a:spLocks noGrp="1"/>
          </p:cNvSpPr>
          <p:nvPr>
            <p:ph idx="1"/>
          </p:nvPr>
        </p:nvSpPr>
        <p:spPr>
          <a:xfrm>
            <a:off x="228600" y="914400"/>
            <a:ext cx="8763000" cy="5715000"/>
          </a:xfrm>
        </p:spPr>
        <p:txBody>
          <a:bodyPr>
            <a:normAutofit/>
          </a:bodyPr>
          <a:lstStyle/>
          <a:p>
            <a:r>
              <a:rPr lang="en-US" sz="3000" dirty="0">
                <a:latin typeface="Arial Narrow" pitchFamily="34" charset="0"/>
              </a:rPr>
              <a:t>Visual sensations, </a:t>
            </a:r>
            <a:r>
              <a:rPr lang="en-US" sz="3000" dirty="0" smtClean="0">
                <a:latin typeface="Arial Narrow" pitchFamily="34" charset="0"/>
              </a:rPr>
              <a:t>provide </a:t>
            </a:r>
            <a:r>
              <a:rPr lang="en-US" sz="3000" dirty="0">
                <a:latin typeface="Arial Narrow" pitchFamily="34" charset="0"/>
              </a:rPr>
              <a:t>the raw materials that are to </a:t>
            </a:r>
            <a:r>
              <a:rPr lang="en-US" sz="3000" dirty="0" smtClean="0">
                <a:latin typeface="Arial Narrow" pitchFamily="34" charset="0"/>
              </a:rPr>
              <a:t>be organized </a:t>
            </a:r>
            <a:r>
              <a:rPr lang="en-US" sz="3000" dirty="0">
                <a:latin typeface="Arial Narrow" pitchFamily="34" charset="0"/>
              </a:rPr>
              <a:t>into meaningful patterns, shapes, forms, and concepts or ideas or form </a:t>
            </a:r>
            <a:r>
              <a:rPr lang="en-US" sz="3000" dirty="0" smtClean="0">
                <a:latin typeface="Arial Narrow" pitchFamily="34" charset="0"/>
              </a:rPr>
              <a:t>perception.</a:t>
            </a:r>
          </a:p>
          <a:p>
            <a:r>
              <a:rPr lang="en-US" sz="3000" dirty="0">
                <a:latin typeface="Arial Narrow" pitchFamily="34" charset="0"/>
              </a:rPr>
              <a:t>The meaningful shapes or patterns or ideas that are made perhaps out of meaningless </a:t>
            </a:r>
            <a:r>
              <a:rPr lang="en-US" sz="3000" dirty="0" smtClean="0">
                <a:latin typeface="Arial Narrow" pitchFamily="34" charset="0"/>
              </a:rPr>
              <a:t>and discrete </a:t>
            </a:r>
            <a:r>
              <a:rPr lang="en-US" sz="3000" dirty="0">
                <a:latin typeface="Arial Narrow" pitchFamily="34" charset="0"/>
              </a:rPr>
              <a:t>or pieces and bites of sensations refer to form perception. </a:t>
            </a:r>
            <a:endParaRPr lang="en-US" sz="3000" dirty="0" smtClean="0">
              <a:latin typeface="Arial Narrow" pitchFamily="34" charset="0"/>
            </a:endParaRPr>
          </a:p>
          <a:p>
            <a:r>
              <a:rPr lang="en-US" sz="3000" dirty="0" smtClean="0">
                <a:latin typeface="Arial Narrow" pitchFamily="34" charset="0"/>
              </a:rPr>
              <a:t>To </a:t>
            </a:r>
            <a:r>
              <a:rPr lang="en-US" sz="3000" dirty="0">
                <a:latin typeface="Arial Narrow" pitchFamily="34" charset="0"/>
              </a:rPr>
              <a:t>perceive </a:t>
            </a:r>
            <a:r>
              <a:rPr lang="en-US" sz="3000" dirty="0" smtClean="0">
                <a:latin typeface="Arial Narrow" pitchFamily="34" charset="0"/>
              </a:rPr>
              <a:t>forms (</a:t>
            </a:r>
            <a:r>
              <a:rPr lang="en-US" sz="3000" dirty="0">
                <a:latin typeface="Arial Narrow" pitchFamily="34" charset="0"/>
              </a:rPr>
              <a:t>meaningful shapes or patterns), you need to distinguish a </a:t>
            </a:r>
            <a:r>
              <a:rPr lang="en-US" sz="3000" b="1" dirty="0">
                <a:latin typeface="Arial Narrow" pitchFamily="34" charset="0"/>
              </a:rPr>
              <a:t>figure </a:t>
            </a:r>
            <a:r>
              <a:rPr lang="en-US" sz="3000" dirty="0">
                <a:latin typeface="Arial Narrow" pitchFamily="34" charset="0"/>
              </a:rPr>
              <a:t>(an object) from its </a:t>
            </a:r>
            <a:r>
              <a:rPr lang="en-US" sz="3000" b="1" dirty="0" smtClean="0">
                <a:latin typeface="Arial Narrow" pitchFamily="34" charset="0"/>
              </a:rPr>
              <a:t>ground </a:t>
            </a:r>
            <a:r>
              <a:rPr lang="en-US" sz="3000" dirty="0" smtClean="0">
                <a:latin typeface="Arial Narrow" pitchFamily="34" charset="0"/>
              </a:rPr>
              <a:t>(</a:t>
            </a:r>
            <a:r>
              <a:rPr lang="en-US" sz="3000" dirty="0">
                <a:latin typeface="Arial Narrow" pitchFamily="34" charset="0"/>
              </a:rPr>
              <a:t>or its surrounding). </a:t>
            </a:r>
            <a:endParaRPr lang="en-US" sz="3000" dirty="0" smtClean="0">
              <a:latin typeface="Arial Narrow" pitchFamily="34" charset="0"/>
            </a:endParaRPr>
          </a:p>
          <a:p>
            <a:pPr>
              <a:buNone/>
            </a:pPr>
            <a:r>
              <a:rPr lang="en-US" dirty="0" smtClean="0"/>
              <a:t> </a:t>
            </a:r>
            <a:br>
              <a:rPr lang="en-US" dirty="0" smtClean="0"/>
            </a:br>
            <a:endParaRPr lang="en-US" dirty="0"/>
          </a:p>
        </p:txBody>
      </p:sp>
      <p:pic>
        <p:nvPicPr>
          <p:cNvPr id="5" name="Picture 7" descr="0429.jpg                                                       0016F1CAsmeagol                        BB150139:"/>
          <p:cNvPicPr>
            <a:picLocks noChangeAspect="1" noChangeArrowheads="1"/>
          </p:cNvPicPr>
          <p:nvPr/>
        </p:nvPicPr>
        <p:blipFill>
          <a:blip r:embed="rId2" cstate="print"/>
          <a:srcRect/>
          <a:stretch>
            <a:fillRect/>
          </a:stretch>
        </p:blipFill>
        <p:spPr bwMode="auto">
          <a:xfrm>
            <a:off x="3124200" y="4876800"/>
            <a:ext cx="2057400" cy="1981200"/>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sz="3600" b="1" dirty="0" smtClean="0">
                <a:latin typeface="Arial Narrow" pitchFamily="34" charset="0"/>
              </a:rPr>
              <a:t>What </a:t>
            </a:r>
            <a:r>
              <a:rPr lang="en-US" sz="3600" b="1" dirty="0">
                <a:latin typeface="Arial Narrow" pitchFamily="34" charset="0"/>
              </a:rPr>
              <a:t>helps </a:t>
            </a:r>
            <a:r>
              <a:rPr lang="en-US" sz="3600" b="1" dirty="0" smtClean="0">
                <a:latin typeface="Arial Narrow" pitchFamily="34" charset="0"/>
              </a:rPr>
              <a:t>us </a:t>
            </a:r>
            <a:r>
              <a:rPr lang="en-US" sz="3600" b="1" dirty="0">
                <a:latin typeface="Arial Narrow" pitchFamily="34" charset="0"/>
              </a:rPr>
              <a:t>to separate the figure from the </a:t>
            </a:r>
            <a:r>
              <a:rPr lang="en-US" sz="3600" b="1" dirty="0" smtClean="0">
                <a:latin typeface="Arial Narrow" pitchFamily="34" charset="0"/>
              </a:rPr>
              <a:t>ground in our </a:t>
            </a:r>
            <a:r>
              <a:rPr lang="en-US" sz="3600" b="1" dirty="0">
                <a:latin typeface="Arial Narrow" pitchFamily="34" charset="0"/>
              </a:rPr>
              <a:t>visual perception</a:t>
            </a:r>
            <a:r>
              <a:rPr lang="en-US" sz="3600" b="1" dirty="0" smtClean="0">
                <a:latin typeface="Arial Narrow" pitchFamily="34" charset="0"/>
              </a:rPr>
              <a:t>?</a:t>
            </a:r>
            <a:endParaRPr lang="en-US" dirty="0"/>
          </a:p>
        </p:txBody>
      </p:sp>
      <p:sp>
        <p:nvSpPr>
          <p:cNvPr id="3" name="Content Placeholder 2"/>
          <p:cNvSpPr>
            <a:spLocks noGrp="1"/>
          </p:cNvSpPr>
          <p:nvPr>
            <p:ph idx="1"/>
          </p:nvPr>
        </p:nvSpPr>
        <p:spPr>
          <a:xfrm>
            <a:off x="228600" y="1371600"/>
            <a:ext cx="8686800" cy="5257800"/>
          </a:xfrm>
        </p:spPr>
        <p:txBody>
          <a:bodyPr>
            <a:normAutofit fontScale="25000" lnSpcReduction="20000"/>
          </a:bodyPr>
          <a:lstStyle/>
          <a:p>
            <a:pPr marL="571500" indent="-571500">
              <a:buAutoNum type="romanUcPeriod"/>
            </a:pPr>
            <a:r>
              <a:rPr lang="en-US" sz="11200" b="1" dirty="0" smtClean="0">
                <a:latin typeface="Arial Narrow" pitchFamily="34" charset="0"/>
              </a:rPr>
              <a:t>Contours </a:t>
            </a:r>
            <a:r>
              <a:rPr lang="en-US" sz="11200" b="1" dirty="0">
                <a:latin typeface="Arial Narrow" pitchFamily="34" charset="0"/>
              </a:rPr>
              <a:t>in Form Perception</a:t>
            </a:r>
            <a:br>
              <a:rPr lang="en-US" sz="11200" b="1" dirty="0">
                <a:latin typeface="Arial Narrow" pitchFamily="34" charset="0"/>
              </a:rPr>
            </a:br>
            <a:r>
              <a:rPr lang="en-US" sz="11200" dirty="0">
                <a:latin typeface="Arial Narrow" pitchFamily="34" charset="0"/>
              </a:rPr>
              <a:t>You are able to separate forms from the general ground only because you can </a:t>
            </a:r>
            <a:r>
              <a:rPr lang="en-US" sz="11200" dirty="0" smtClean="0">
                <a:latin typeface="Arial Narrow" pitchFamily="34" charset="0"/>
              </a:rPr>
              <a:t>perceive contours</a:t>
            </a:r>
            <a:r>
              <a:rPr lang="en-US" sz="11200" dirty="0">
                <a:latin typeface="Arial Narrow" pitchFamily="34" charset="0"/>
              </a:rPr>
              <a:t>. </a:t>
            </a:r>
            <a:r>
              <a:rPr lang="en-US" sz="9600" dirty="0">
                <a:latin typeface="Arial Narrow" pitchFamily="34" charset="0"/>
              </a:rPr>
              <a:t>Contours are formed whenever a marked difference occurs in the brightness </a:t>
            </a:r>
            <a:r>
              <a:rPr lang="en-US" sz="9600" dirty="0" smtClean="0">
                <a:latin typeface="Arial Narrow" pitchFamily="34" charset="0"/>
              </a:rPr>
              <a:t>or color </a:t>
            </a:r>
            <a:endParaRPr lang="en-US" sz="9600" dirty="0" smtClean="0">
              <a:latin typeface="Arial Narrow" pitchFamily="34" charset="0"/>
            </a:endParaRPr>
          </a:p>
          <a:p>
            <a:pPr marL="571500" indent="-571500">
              <a:buNone/>
            </a:pPr>
            <a:r>
              <a:rPr lang="en-US" sz="9600" dirty="0" smtClean="0">
                <a:latin typeface="Arial Narrow" pitchFamily="34" charset="0"/>
              </a:rPr>
              <a:t>	</a:t>
            </a:r>
            <a:r>
              <a:rPr lang="en-US" sz="9600" dirty="0" smtClean="0">
                <a:latin typeface="Arial Narrow" pitchFamily="34" charset="0"/>
              </a:rPr>
              <a:t>of </a:t>
            </a:r>
            <a:r>
              <a:rPr lang="en-US" sz="9600" dirty="0">
                <a:latin typeface="Arial Narrow" pitchFamily="34" charset="0"/>
              </a:rPr>
              <a:t>the </a:t>
            </a:r>
            <a:r>
              <a:rPr lang="en-US" sz="9600" dirty="0" smtClean="0">
                <a:latin typeface="Arial Narrow" pitchFamily="34" charset="0"/>
              </a:rPr>
              <a:t>background. </a:t>
            </a:r>
            <a:endParaRPr lang="en-US" sz="9600" dirty="0" smtClean="0">
              <a:latin typeface="Arial Narrow" pitchFamily="34" charset="0"/>
            </a:endParaRPr>
          </a:p>
          <a:p>
            <a:pPr marL="571500" indent="-571500">
              <a:buNone/>
            </a:pPr>
            <a:r>
              <a:rPr lang="en-US" sz="9600" b="1" dirty="0" smtClean="0">
                <a:latin typeface="Arial Narrow" pitchFamily="34" charset="0"/>
              </a:rPr>
              <a:t>II.  </a:t>
            </a:r>
            <a:r>
              <a:rPr lang="en-US" sz="11200" b="1" dirty="0" smtClean="0">
                <a:latin typeface="Arial Narrow" pitchFamily="34" charset="0"/>
              </a:rPr>
              <a:t>Organization </a:t>
            </a:r>
            <a:r>
              <a:rPr lang="en-US" sz="11200" b="1" dirty="0">
                <a:latin typeface="Arial Narrow" pitchFamily="34" charset="0"/>
              </a:rPr>
              <a:t>in </a:t>
            </a:r>
            <a:r>
              <a:rPr lang="en-US" sz="11200" b="1" dirty="0" smtClean="0">
                <a:latin typeface="Arial Narrow" pitchFamily="34" charset="0"/>
              </a:rPr>
              <a:t>Form Perception </a:t>
            </a:r>
            <a:r>
              <a:rPr lang="en-US" sz="11200" b="1" dirty="0">
                <a:latin typeface="Arial Narrow" pitchFamily="34" charset="0"/>
              </a:rPr>
              <a:t/>
            </a:r>
            <a:br>
              <a:rPr lang="en-US" sz="11200" b="1" dirty="0">
                <a:latin typeface="Arial Narrow" pitchFamily="34" charset="0"/>
              </a:rPr>
            </a:br>
            <a:r>
              <a:rPr lang="en-US" sz="11200" dirty="0">
                <a:latin typeface="Arial Narrow" pitchFamily="34" charset="0"/>
              </a:rPr>
              <a:t>When several objects are present in the visual field, we tend to perceive them as </a:t>
            </a:r>
            <a:r>
              <a:rPr lang="en-US" sz="11200" dirty="0" smtClean="0">
                <a:latin typeface="Arial Narrow" pitchFamily="34" charset="0"/>
              </a:rPr>
              <a:t>organized into </a:t>
            </a:r>
            <a:r>
              <a:rPr lang="en-US" sz="11200" dirty="0">
                <a:latin typeface="Arial Narrow" pitchFamily="34" charset="0"/>
              </a:rPr>
              <a:t>patterns or groupings.</a:t>
            </a:r>
            <a:r>
              <a:rPr lang="en-US" sz="11200" dirty="0" smtClean="0">
                <a:latin typeface="Arial Narrow" pitchFamily="34" charset="0"/>
              </a:rPr>
              <a:t> As </a:t>
            </a:r>
            <a:r>
              <a:rPr lang="en-US" sz="11200" dirty="0">
                <a:latin typeface="Arial Narrow" pitchFamily="34" charset="0"/>
              </a:rPr>
              <a:t>Gestalt psychologist said -</a:t>
            </a:r>
            <a:r>
              <a:rPr lang="en-US" sz="11200" dirty="0" smtClean="0">
                <a:latin typeface="Arial Narrow" pitchFamily="34" charset="0"/>
              </a:rPr>
              <a:t> the </a:t>
            </a:r>
            <a:r>
              <a:rPr lang="en-US" sz="11200" dirty="0">
                <a:latin typeface="Arial Narrow" pitchFamily="34" charset="0"/>
              </a:rPr>
              <a:t>whole is more than the sum of its parts</a:t>
            </a:r>
            <a:r>
              <a:rPr lang="en-US" sz="11200" dirty="0" smtClean="0">
                <a:latin typeface="Arial Narrow" pitchFamily="34" charset="0"/>
              </a:rPr>
              <a:t>. </a:t>
            </a:r>
          </a:p>
          <a:p>
            <a:pPr marL="971550" lvl="1" indent="-571500">
              <a:buNone/>
            </a:pPr>
            <a:r>
              <a:rPr lang="en-US" sz="11200" dirty="0" smtClean="0">
                <a:latin typeface="Arial Narrow" pitchFamily="34" charset="0"/>
              </a:rPr>
              <a:t>Organization </a:t>
            </a:r>
            <a:r>
              <a:rPr lang="en-US" sz="11200" dirty="0">
                <a:latin typeface="Arial Narrow" pitchFamily="34" charset="0"/>
              </a:rPr>
              <a:t>in perception partially explains our perception of complex patterns as </a:t>
            </a:r>
            <a:r>
              <a:rPr lang="en-US" sz="11200" dirty="0" smtClean="0">
                <a:latin typeface="Arial Narrow" pitchFamily="34" charset="0"/>
              </a:rPr>
              <a:t>unitary forms</a:t>
            </a:r>
            <a:r>
              <a:rPr lang="en-US" sz="11200" dirty="0">
                <a:latin typeface="Arial Narrow" pitchFamily="34" charset="0"/>
              </a:rPr>
              <a:t>, or objects.</a:t>
            </a:r>
            <a:r>
              <a:rPr lang="en-US" sz="11200" dirty="0" smtClean="0">
                <a:latin typeface="Arial Narrow" pitchFamily="34" charset="0"/>
              </a:rPr>
              <a:t> </a:t>
            </a:r>
          </a:p>
          <a:p>
            <a:pPr marL="571500" indent="-571500">
              <a:buNone/>
            </a:pPr>
            <a:endParaRPr lang="en-US" sz="5900" dirty="0" smtClean="0">
              <a:latin typeface="Arial Narrow" pitchFamily="34" charset="0"/>
            </a:endParaRPr>
          </a:p>
          <a:p>
            <a:pPr marL="571500" indent="-571500">
              <a:buNone/>
            </a:pPr>
            <a:r>
              <a:rPr lang="en-US" sz="11200" b="1" dirty="0">
                <a:latin typeface="Arial Narrow" pitchFamily="34" charset="0"/>
              </a:rPr>
              <a:t>	</a:t>
            </a:r>
            <a:r>
              <a:rPr lang="en-US" sz="11200" b="1" dirty="0" smtClean="0">
                <a:latin typeface="Arial Narrow" pitchFamily="34" charset="0"/>
              </a:rPr>
              <a:t>How do we organize sensory data in form Perception?</a:t>
            </a:r>
            <a:r>
              <a:rPr lang="en-US" sz="11200" dirty="0" smtClean="0">
                <a:latin typeface="Arial Narrow" pitchFamily="34" charset="0"/>
              </a:rPr>
              <a:t> </a:t>
            </a:r>
            <a:br>
              <a:rPr lang="en-US" sz="11200" dirty="0" smtClean="0">
                <a:latin typeface="Arial Narrow" pitchFamily="34" charset="0"/>
              </a:rPr>
            </a:br>
            <a:r>
              <a:rPr lang="en-US" dirty="0" smtClean="0"/>
              <a:t> </a:t>
            </a:r>
            <a:br>
              <a:rPr lang="en-US" dirty="0" smtClean="0"/>
            </a:br>
            <a:r>
              <a:rPr lang="en-US" dirty="0" smtClean="0"/>
              <a:t> </a:t>
            </a:r>
            <a:br>
              <a:rPr lang="en-US" dirty="0" smtClean="0"/>
            </a:br>
            <a:r>
              <a:rPr lang="en-US" dirty="0" smtClean="0"/>
              <a:t> </a:t>
            </a:r>
            <a:br>
              <a:rPr lang="en-US" dirty="0" smtClean="0"/>
            </a:br>
            <a:endParaRPr lang="en-US" dirty="0"/>
          </a:p>
        </p:txBody>
      </p:sp>
      <p:pic>
        <p:nvPicPr>
          <p:cNvPr id="4" name="Picture 3" descr="á¨law of good figure ááµá áá¤áµ"/>
          <p:cNvPicPr/>
          <p:nvPr/>
        </p:nvPicPr>
        <p:blipFill>
          <a:blip r:embed="rId2"/>
          <a:srcRect/>
          <a:stretch>
            <a:fillRect/>
          </a:stretch>
        </p:blipFill>
        <p:spPr bwMode="auto">
          <a:xfrm>
            <a:off x="7924800" y="2057400"/>
            <a:ext cx="1066800" cy="1143000"/>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86800" cy="838200"/>
          </a:xfrm>
        </p:spPr>
        <p:txBody>
          <a:bodyPr>
            <a:noAutofit/>
          </a:bodyPr>
          <a:lstStyle/>
          <a:p>
            <a:r>
              <a:rPr lang="en-US" sz="3200" b="1" dirty="0" smtClean="0">
                <a:latin typeface="Arial Narrow" pitchFamily="34" charset="0"/>
              </a:rPr>
              <a:t>Some laws of perceptual organization?</a:t>
            </a:r>
            <a:endParaRPr lang="en-US" sz="3200" dirty="0">
              <a:latin typeface="Arial Narrow" pitchFamily="34" charset="0"/>
            </a:endParaRPr>
          </a:p>
        </p:txBody>
      </p:sp>
      <p:sp>
        <p:nvSpPr>
          <p:cNvPr id="3" name="Content Placeholder 2"/>
          <p:cNvSpPr>
            <a:spLocks noGrp="1"/>
          </p:cNvSpPr>
          <p:nvPr>
            <p:ph idx="1"/>
          </p:nvPr>
        </p:nvSpPr>
        <p:spPr>
          <a:xfrm>
            <a:off x="228600" y="1219200"/>
            <a:ext cx="8686800" cy="5410200"/>
          </a:xfrm>
        </p:spPr>
        <p:txBody>
          <a:bodyPr/>
          <a:lstStyle/>
          <a:p>
            <a:pPr>
              <a:buNone/>
            </a:pPr>
            <a:r>
              <a:rPr lang="en-US" dirty="0" smtClean="0"/>
              <a:t>I</a:t>
            </a:r>
            <a:r>
              <a:rPr lang="en-US" b="1" dirty="0" smtClean="0"/>
              <a:t>. </a:t>
            </a:r>
            <a:r>
              <a:rPr lang="en-US" sz="2800" b="1" dirty="0" smtClean="0">
                <a:latin typeface="Arial Narrow" pitchFamily="34" charset="0"/>
              </a:rPr>
              <a:t>Law of Proximity</a:t>
            </a:r>
            <a:r>
              <a:rPr lang="en-US" sz="2800" dirty="0" smtClean="0">
                <a:latin typeface="Arial Narrow" pitchFamily="34" charset="0"/>
              </a:rPr>
              <a:t>: The </a:t>
            </a:r>
            <a:r>
              <a:rPr lang="en-US" sz="2800" dirty="0">
                <a:latin typeface="Arial Narrow" pitchFamily="34" charset="0"/>
              </a:rPr>
              <a:t>laws of proximity says that </a:t>
            </a:r>
            <a:r>
              <a:rPr lang="en-US" sz="2800" dirty="0" smtClean="0">
                <a:latin typeface="Arial Narrow" pitchFamily="34" charset="0"/>
              </a:rPr>
              <a:t>items which </a:t>
            </a:r>
            <a:r>
              <a:rPr lang="en-US" sz="2800" dirty="0">
                <a:latin typeface="Arial Narrow" pitchFamily="34" charset="0"/>
              </a:rPr>
              <a:t>are close together in space or time tend to be perceived as belonging together </a:t>
            </a:r>
            <a:r>
              <a:rPr lang="en-US" sz="2800" dirty="0" smtClean="0">
                <a:latin typeface="Arial Narrow" pitchFamily="34" charset="0"/>
              </a:rPr>
              <a:t>or forming </a:t>
            </a:r>
            <a:r>
              <a:rPr lang="en-US" sz="2800" dirty="0">
                <a:latin typeface="Arial Narrow" pitchFamily="34" charset="0"/>
              </a:rPr>
              <a:t>an organized group.</a:t>
            </a:r>
            <a:r>
              <a:rPr lang="en-US" sz="2800" dirty="0" smtClean="0">
                <a:latin typeface="Arial Narrow" pitchFamily="34" charset="0"/>
              </a:rPr>
              <a:t> </a:t>
            </a:r>
          </a:p>
          <a:p>
            <a:pPr>
              <a:buNone/>
            </a:pPr>
            <a:r>
              <a:rPr lang="en-US" dirty="0" smtClean="0"/>
              <a:t> </a:t>
            </a:r>
            <a:br>
              <a:rPr lang="en-US" dirty="0" smtClean="0"/>
            </a:br>
            <a:endParaRPr lang="en-US" dirty="0"/>
          </a:p>
        </p:txBody>
      </p:sp>
      <p:pic>
        <p:nvPicPr>
          <p:cNvPr id="5" name="Picture 4" descr="Proximity."/>
          <p:cNvPicPr/>
          <p:nvPr/>
        </p:nvPicPr>
        <p:blipFill>
          <a:blip r:embed="rId2"/>
          <a:srcRect/>
          <a:stretch>
            <a:fillRect/>
          </a:stretch>
        </p:blipFill>
        <p:spPr bwMode="auto">
          <a:xfrm>
            <a:off x="533400" y="3505200"/>
            <a:ext cx="4761865" cy="2036445"/>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86800" cy="685800"/>
          </a:xfrm>
        </p:spPr>
        <p:txBody>
          <a:bodyPr>
            <a:normAutofit/>
          </a:bodyPr>
          <a:lstStyle/>
          <a:p>
            <a:pPr algn="l"/>
            <a:r>
              <a:rPr lang="en-US" sz="3600" b="1" dirty="0" smtClean="0">
                <a:latin typeface="Arial Narrow" pitchFamily="34" charset="0"/>
              </a:rPr>
              <a:t>II. Law of </a:t>
            </a:r>
            <a:r>
              <a:rPr lang="en-US" sz="3600" b="1" dirty="0">
                <a:latin typeface="Arial Narrow" pitchFamily="34" charset="0"/>
              </a:rPr>
              <a:t>similarity</a:t>
            </a:r>
            <a:r>
              <a:rPr lang="en-US" sz="3600" b="1" dirty="0" smtClean="0">
                <a:latin typeface="Arial Narrow" pitchFamily="34" charset="0"/>
              </a:rPr>
              <a:t> </a:t>
            </a:r>
            <a:endParaRPr lang="en-US" dirty="0"/>
          </a:p>
        </p:txBody>
      </p:sp>
      <p:sp>
        <p:nvSpPr>
          <p:cNvPr id="3" name="Content Placeholder 2"/>
          <p:cNvSpPr>
            <a:spLocks noGrp="1"/>
          </p:cNvSpPr>
          <p:nvPr>
            <p:ph idx="1"/>
          </p:nvPr>
        </p:nvSpPr>
        <p:spPr>
          <a:xfrm>
            <a:off x="228600" y="914400"/>
            <a:ext cx="8686800" cy="5715000"/>
          </a:xfrm>
        </p:spPr>
        <p:txBody>
          <a:bodyPr>
            <a:normAutofit/>
          </a:bodyPr>
          <a:lstStyle/>
          <a:p>
            <a:r>
              <a:rPr lang="en-US" sz="2800" dirty="0" smtClean="0">
                <a:latin typeface="Arial Narrow" pitchFamily="34" charset="0"/>
              </a:rPr>
              <a:t>According to the law of similarity, similar items tend to </a:t>
            </a:r>
            <a:r>
              <a:rPr lang="en-US" sz="2800" dirty="0">
                <a:latin typeface="Arial Narrow" pitchFamily="34" charset="0"/>
              </a:rPr>
              <a:t>be organized together.</a:t>
            </a:r>
            <a:r>
              <a:rPr lang="en-US" dirty="0" smtClean="0"/>
              <a:t> </a:t>
            </a:r>
            <a:r>
              <a:rPr lang="en-US" sz="2800" dirty="0" smtClean="0">
                <a:latin typeface="Arial Narrow" pitchFamily="34" charset="0"/>
              </a:rPr>
              <a:t>E.g., three dots in a ring/ circle is seen as a triangle. However, grouping </a:t>
            </a:r>
            <a:r>
              <a:rPr lang="en-US" sz="2800" dirty="0">
                <a:latin typeface="Arial Narrow" pitchFamily="34" charset="0"/>
              </a:rPr>
              <a:t>according to similarity, </a:t>
            </a:r>
            <a:r>
              <a:rPr lang="en-US" sz="2800" dirty="0" smtClean="0">
                <a:latin typeface="Arial Narrow" pitchFamily="34" charset="0"/>
              </a:rPr>
              <a:t>does </a:t>
            </a:r>
            <a:r>
              <a:rPr lang="en-US" sz="2800" dirty="0">
                <a:latin typeface="Arial Narrow" pitchFamily="34" charset="0"/>
              </a:rPr>
              <a:t>not always occur.</a:t>
            </a:r>
            <a:r>
              <a:rPr lang="en-US" sz="2800" dirty="0" smtClean="0">
                <a:latin typeface="Arial Narrow" pitchFamily="34" charset="0"/>
              </a:rPr>
              <a:t> </a:t>
            </a:r>
            <a:r>
              <a:rPr lang="en-US" sz="2800" dirty="0">
                <a:latin typeface="Arial Narrow" pitchFamily="34" charset="0"/>
              </a:rPr>
              <a:t>S</a:t>
            </a:r>
            <a:r>
              <a:rPr lang="en-US" sz="2800" dirty="0" smtClean="0">
                <a:latin typeface="Arial Narrow" pitchFamily="34" charset="0"/>
              </a:rPr>
              <a:t>imilarity </a:t>
            </a:r>
            <a:r>
              <a:rPr lang="en-US" sz="2800" dirty="0">
                <a:latin typeface="Arial Narrow" pitchFamily="34" charset="0"/>
              </a:rPr>
              <a:t>is competing with the organizing principle of symmetry, or </a:t>
            </a:r>
            <a:r>
              <a:rPr lang="en-US" sz="2800" b="1" dirty="0" smtClean="0">
                <a:latin typeface="Arial Narrow" pitchFamily="34" charset="0"/>
              </a:rPr>
              <a:t>good figure</a:t>
            </a:r>
            <a:r>
              <a:rPr lang="en-US" sz="2800" b="1" dirty="0">
                <a:latin typeface="Arial Narrow" pitchFamily="34" charset="0"/>
              </a:rPr>
              <a:t>. </a:t>
            </a:r>
            <a:endParaRPr lang="en-US" sz="2800" b="1" dirty="0" smtClean="0">
              <a:latin typeface="Arial Narrow" pitchFamily="34" charset="0"/>
            </a:endParaRPr>
          </a:p>
          <a:p>
            <a:pPr>
              <a:buNone/>
            </a:pPr>
            <a:r>
              <a:rPr lang="en-US" dirty="0" smtClean="0"/>
              <a:t/>
            </a:r>
            <a:br>
              <a:rPr lang="en-US" dirty="0" smtClean="0"/>
            </a:br>
            <a:endParaRPr lang="en-US" dirty="0"/>
          </a:p>
        </p:txBody>
      </p:sp>
      <p:pic>
        <p:nvPicPr>
          <p:cNvPr id="4" name="Picture 3" descr="á¨Law of similarity ááµá áá¤áµ"/>
          <p:cNvPicPr/>
          <p:nvPr/>
        </p:nvPicPr>
        <p:blipFill>
          <a:blip r:embed="rId2"/>
          <a:srcRect/>
          <a:stretch>
            <a:fillRect/>
          </a:stretch>
        </p:blipFill>
        <p:spPr bwMode="auto">
          <a:xfrm>
            <a:off x="990600" y="3352800"/>
            <a:ext cx="2753995" cy="2601595"/>
          </a:xfrm>
          <a:prstGeom prst="rect">
            <a:avLst/>
          </a:prstGeom>
          <a:noFill/>
          <a:ln w="9525">
            <a:noFill/>
            <a:miter lim="800000"/>
            <a:headEnd/>
            <a:tailEnd/>
          </a:ln>
        </p:spPr>
      </p:pic>
      <p:sp>
        <p:nvSpPr>
          <p:cNvPr id="10242" name="AutoShape 2" descr="á¨Law of similarity ááµá áá¤áµ"/>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09600"/>
          </a:xfrm>
        </p:spPr>
        <p:txBody>
          <a:bodyPr>
            <a:normAutofit fontScale="90000"/>
          </a:bodyPr>
          <a:lstStyle/>
          <a:p>
            <a:pPr algn="l"/>
            <a:r>
              <a:rPr lang="en-US" b="1" dirty="0" smtClean="0">
                <a:latin typeface="Arial Narrow" pitchFamily="34" charset="0"/>
              </a:rPr>
              <a:t>III. The law of good figure: </a:t>
            </a:r>
            <a:endParaRPr lang="en-US" dirty="0"/>
          </a:p>
        </p:txBody>
      </p:sp>
      <p:sp>
        <p:nvSpPr>
          <p:cNvPr id="3" name="Content Placeholder 2"/>
          <p:cNvSpPr>
            <a:spLocks noGrp="1"/>
          </p:cNvSpPr>
          <p:nvPr>
            <p:ph idx="1"/>
          </p:nvPr>
        </p:nvSpPr>
        <p:spPr>
          <a:xfrm>
            <a:off x="228600" y="914400"/>
            <a:ext cx="8686800" cy="5715000"/>
          </a:xfrm>
        </p:spPr>
        <p:txBody>
          <a:bodyPr/>
          <a:lstStyle/>
          <a:p>
            <a:pPr>
              <a:buNone/>
            </a:pPr>
            <a:r>
              <a:rPr lang="en-US" dirty="0" smtClean="0">
                <a:latin typeface="Arial Narrow" pitchFamily="34" charset="0"/>
              </a:rPr>
              <a:t>It is  a tendency to organize things to make a balanced or symmetrical figure that includes all the parts. E.g., six dots in a circle may be seen as a hexagon, star or another symmetrical figure.</a:t>
            </a:r>
          </a:p>
          <a:p>
            <a:pPr>
              <a:buNone/>
            </a:pPr>
            <a:endParaRPr lang="en-US" dirty="0"/>
          </a:p>
        </p:txBody>
      </p:sp>
      <p:pic>
        <p:nvPicPr>
          <p:cNvPr id="6" name="Picture 5" descr="á¨law of good figure example ááµá áá¤áµ"/>
          <p:cNvPicPr/>
          <p:nvPr/>
        </p:nvPicPr>
        <p:blipFill>
          <a:blip r:embed="rId2"/>
          <a:srcRect t="20240" r="49161"/>
          <a:stretch>
            <a:fillRect/>
          </a:stretch>
        </p:blipFill>
        <p:spPr bwMode="auto">
          <a:xfrm>
            <a:off x="5181600" y="2895600"/>
            <a:ext cx="3554433" cy="3556659"/>
          </a:xfrm>
          <a:prstGeom prst="rect">
            <a:avLst/>
          </a:prstGeom>
          <a:noFill/>
          <a:ln w="9525">
            <a:noFill/>
            <a:miter lim="800000"/>
            <a:headEnd/>
            <a:tailEnd/>
          </a:ln>
        </p:spPr>
      </p:pic>
      <p:pic>
        <p:nvPicPr>
          <p:cNvPr id="7" name="Picture 6" descr="Gestalt - Law of PrÃ¤gnanz (Good Figure, Law of Simplicity)."/>
          <p:cNvPicPr/>
          <p:nvPr/>
        </p:nvPicPr>
        <p:blipFill>
          <a:blip r:embed="rId3"/>
          <a:srcRect r="50381"/>
          <a:stretch>
            <a:fillRect/>
          </a:stretch>
        </p:blipFill>
        <p:spPr bwMode="auto">
          <a:xfrm>
            <a:off x="609600" y="3048000"/>
            <a:ext cx="3657600" cy="327660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8763000" cy="685800"/>
          </a:xfrm>
        </p:spPr>
        <p:txBody>
          <a:bodyPr>
            <a:normAutofit fontScale="90000"/>
          </a:bodyPr>
          <a:lstStyle/>
          <a:p>
            <a:pPr algn="l"/>
            <a:r>
              <a:rPr lang="en-US" b="1" dirty="0" smtClean="0"/>
              <a:t>IV. Law of Continuity</a:t>
            </a:r>
            <a:endParaRPr lang="en-US" b="1" dirty="0"/>
          </a:p>
        </p:txBody>
      </p:sp>
      <p:sp>
        <p:nvSpPr>
          <p:cNvPr id="3" name="Content Placeholder 2"/>
          <p:cNvSpPr>
            <a:spLocks noGrp="1"/>
          </p:cNvSpPr>
          <p:nvPr>
            <p:ph idx="1"/>
          </p:nvPr>
        </p:nvSpPr>
        <p:spPr>
          <a:xfrm>
            <a:off x="228600" y="990600"/>
            <a:ext cx="8686800" cy="5638800"/>
          </a:xfrm>
        </p:spPr>
        <p:txBody>
          <a:bodyPr/>
          <a:lstStyle/>
          <a:p>
            <a:pPr>
              <a:buNone/>
            </a:pPr>
            <a:r>
              <a:rPr lang="en-US" dirty="0" smtClean="0">
                <a:latin typeface="Arial Narrow" pitchFamily="34" charset="0"/>
              </a:rPr>
              <a:t>It is the </a:t>
            </a:r>
            <a:r>
              <a:rPr lang="en-US" dirty="0">
                <a:latin typeface="Arial Narrow" pitchFamily="34" charset="0"/>
              </a:rPr>
              <a:t>tendency to perceive a line </a:t>
            </a:r>
            <a:r>
              <a:rPr lang="en-US" dirty="0" smtClean="0">
                <a:latin typeface="Arial Narrow" pitchFamily="34" charset="0"/>
              </a:rPr>
              <a:t>that starts </a:t>
            </a:r>
            <a:r>
              <a:rPr lang="en-US" dirty="0">
                <a:latin typeface="Arial Narrow" pitchFamily="34" charset="0"/>
              </a:rPr>
              <a:t>in one way as continuing in the same way. </a:t>
            </a:r>
            <a:r>
              <a:rPr lang="en-US" dirty="0" smtClean="0">
                <a:latin typeface="Arial Narrow" pitchFamily="34" charset="0"/>
              </a:rPr>
              <a:t>E.g., a </a:t>
            </a:r>
            <a:r>
              <a:rPr lang="en-US" dirty="0">
                <a:latin typeface="Arial Narrow" pitchFamily="34" charset="0"/>
              </a:rPr>
              <a:t>line that starts out as a </a:t>
            </a:r>
            <a:r>
              <a:rPr lang="en-US" dirty="0" smtClean="0">
                <a:latin typeface="Arial Narrow" pitchFamily="34" charset="0"/>
              </a:rPr>
              <a:t>curve is </a:t>
            </a:r>
            <a:r>
              <a:rPr lang="en-US" dirty="0">
                <a:latin typeface="Arial Narrow" pitchFamily="34" charset="0"/>
              </a:rPr>
              <a:t>seen as continuing on smoothly curved course</a:t>
            </a:r>
            <a:r>
              <a:rPr lang="en-US" dirty="0"/>
              <a:t>.</a:t>
            </a:r>
            <a:r>
              <a:rPr lang="en-US" dirty="0" smtClean="0"/>
              <a:t> </a:t>
            </a:r>
          </a:p>
          <a:p>
            <a:pPr>
              <a:buNone/>
            </a:pPr>
            <a:r>
              <a:rPr lang="en-US" dirty="0" smtClean="0"/>
              <a:t/>
            </a:r>
            <a:br>
              <a:rPr lang="en-US" dirty="0" smtClean="0"/>
            </a:br>
            <a:endParaRPr lang="en-US" dirty="0"/>
          </a:p>
        </p:txBody>
      </p:sp>
      <p:pic>
        <p:nvPicPr>
          <p:cNvPr id="4" name="Picture 3" descr="á¨Law of continuity ááµá áá¤áµ"/>
          <p:cNvPicPr/>
          <p:nvPr/>
        </p:nvPicPr>
        <p:blipFill>
          <a:blip r:embed="rId2"/>
          <a:srcRect/>
          <a:stretch>
            <a:fillRect/>
          </a:stretch>
        </p:blipFill>
        <p:spPr bwMode="auto">
          <a:xfrm>
            <a:off x="381000" y="3352800"/>
            <a:ext cx="4114800" cy="3048000"/>
          </a:xfrm>
          <a:prstGeom prst="rect">
            <a:avLst/>
          </a:prstGeom>
          <a:noFill/>
          <a:ln w="9525">
            <a:noFill/>
            <a:miter lim="800000"/>
            <a:headEnd/>
            <a:tailEnd/>
          </a:ln>
        </p:spPr>
      </p:pic>
      <p:pic>
        <p:nvPicPr>
          <p:cNvPr id="5" name="Picture 4" descr="Continuation."/>
          <p:cNvPicPr/>
          <p:nvPr/>
        </p:nvPicPr>
        <p:blipFill>
          <a:blip r:embed="rId3"/>
          <a:srcRect/>
          <a:stretch>
            <a:fillRect/>
          </a:stretch>
        </p:blipFill>
        <p:spPr bwMode="auto">
          <a:xfrm>
            <a:off x="4495800" y="3276600"/>
            <a:ext cx="4343400" cy="304800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763000" cy="685800"/>
          </a:xfrm>
        </p:spPr>
        <p:txBody>
          <a:bodyPr>
            <a:normAutofit fontScale="90000"/>
          </a:bodyPr>
          <a:lstStyle/>
          <a:p>
            <a:pPr algn="l"/>
            <a:r>
              <a:rPr lang="en-US" b="1" dirty="0" smtClean="0"/>
              <a:t>V. Law of closure</a:t>
            </a:r>
            <a:endParaRPr lang="en-US" b="1" dirty="0"/>
          </a:p>
        </p:txBody>
      </p:sp>
      <p:sp>
        <p:nvSpPr>
          <p:cNvPr id="3" name="Content Placeholder 2"/>
          <p:cNvSpPr>
            <a:spLocks noGrp="1"/>
          </p:cNvSpPr>
          <p:nvPr>
            <p:ph idx="1"/>
          </p:nvPr>
        </p:nvSpPr>
        <p:spPr>
          <a:xfrm>
            <a:off x="228600" y="990600"/>
            <a:ext cx="8686800" cy="5638800"/>
          </a:xfrm>
        </p:spPr>
        <p:txBody>
          <a:bodyPr/>
          <a:lstStyle/>
          <a:p>
            <a:r>
              <a:rPr lang="en-US" dirty="0" smtClean="0"/>
              <a:t>The </a:t>
            </a:r>
            <a:r>
              <a:rPr lang="en-US" dirty="0"/>
              <a:t>law of closure refers to perceptual processes </a:t>
            </a:r>
            <a:r>
              <a:rPr lang="en-US" dirty="0" smtClean="0"/>
              <a:t>that organize </a:t>
            </a:r>
            <a:r>
              <a:rPr lang="en-US" dirty="0"/>
              <a:t>the perceived world </a:t>
            </a:r>
            <a:r>
              <a:rPr lang="en-US" dirty="0" smtClean="0"/>
              <a:t>as complete by </a:t>
            </a:r>
            <a:r>
              <a:rPr lang="en-US" dirty="0"/>
              <a:t>filling in gaps in </a:t>
            </a:r>
            <a:r>
              <a:rPr lang="en-US" dirty="0" smtClean="0"/>
              <a:t>stimulation. </a:t>
            </a:r>
          </a:p>
          <a:p>
            <a:pPr>
              <a:buNone/>
            </a:pPr>
            <a:r>
              <a:rPr lang="en-US" dirty="0" smtClean="0"/>
              <a:t/>
            </a:r>
            <a:br>
              <a:rPr lang="en-US" dirty="0" smtClean="0"/>
            </a:br>
            <a:endParaRPr lang="en-US" dirty="0"/>
          </a:p>
        </p:txBody>
      </p:sp>
      <p:pic>
        <p:nvPicPr>
          <p:cNvPr id="4" name="Picture 3" descr="http://2.bp.blogspot.com/-IhgeCxAAa1Q/TfipzLH3NgI/AAAAAAAAAWw/lQ7vqy5ft9k/s400/Kanizsa-triangle.jpg"/>
          <p:cNvPicPr/>
          <p:nvPr/>
        </p:nvPicPr>
        <p:blipFill>
          <a:blip r:embed="rId2"/>
          <a:srcRect/>
          <a:stretch>
            <a:fillRect/>
          </a:stretch>
        </p:blipFill>
        <p:spPr bwMode="auto">
          <a:xfrm>
            <a:off x="609600" y="2590800"/>
            <a:ext cx="3657600" cy="3124200"/>
          </a:xfrm>
          <a:prstGeom prst="rect">
            <a:avLst/>
          </a:prstGeom>
          <a:noFill/>
          <a:ln w="9525">
            <a:noFill/>
            <a:miter lim="800000"/>
            <a:headEnd/>
            <a:tailEnd/>
          </a:ln>
        </p:spPr>
      </p:pic>
      <p:pic>
        <p:nvPicPr>
          <p:cNvPr id="6" name="Picture 5"/>
          <p:cNvPicPr/>
          <p:nvPr/>
        </p:nvPicPr>
        <p:blipFill>
          <a:blip r:embed="rId3" cstate="print"/>
          <a:srcRect/>
          <a:stretch>
            <a:fillRect/>
          </a:stretch>
        </p:blipFill>
        <p:spPr bwMode="auto">
          <a:xfrm>
            <a:off x="5029200" y="2667000"/>
            <a:ext cx="3200400" cy="2895600"/>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33400"/>
          </a:xfrm>
        </p:spPr>
        <p:txBody>
          <a:bodyPr>
            <a:normAutofit fontScale="90000"/>
          </a:bodyPr>
          <a:lstStyle/>
          <a:p>
            <a:r>
              <a:rPr lang="en-US" b="1" dirty="0" smtClean="0"/>
              <a:t>VI.</a:t>
            </a:r>
            <a:r>
              <a:rPr lang="en-US" dirty="0" smtClean="0"/>
              <a:t>	</a:t>
            </a:r>
            <a:r>
              <a:rPr lang="en-US" b="1" dirty="0" smtClean="0"/>
              <a:t>Law of Common Fate</a:t>
            </a:r>
            <a:endParaRPr lang="en-US" dirty="0"/>
          </a:p>
        </p:txBody>
      </p:sp>
      <p:sp>
        <p:nvSpPr>
          <p:cNvPr id="3" name="Content Placeholder 2"/>
          <p:cNvSpPr>
            <a:spLocks noGrp="1"/>
          </p:cNvSpPr>
          <p:nvPr>
            <p:ph idx="1"/>
          </p:nvPr>
        </p:nvSpPr>
        <p:spPr>
          <a:xfrm>
            <a:off x="228600" y="838200"/>
            <a:ext cx="8686800" cy="5715000"/>
          </a:xfrm>
        </p:spPr>
        <p:txBody>
          <a:bodyPr>
            <a:normAutofit/>
          </a:bodyPr>
          <a:lstStyle/>
          <a:p>
            <a:r>
              <a:rPr lang="en-US" sz="2800" dirty="0" smtClean="0">
                <a:latin typeface="Arial Narrow" pitchFamily="34" charset="0"/>
              </a:rPr>
              <a:t>It is the tendency to group objects as part of the same group, that move together, or seem to move together, and in the same direction</a:t>
            </a:r>
            <a:r>
              <a:rPr lang="en-US" sz="2800" b="1" dirty="0" smtClean="0">
                <a:latin typeface="Arial Narrow" pitchFamily="34" charset="0"/>
              </a:rPr>
              <a:t>.</a:t>
            </a:r>
            <a:r>
              <a:rPr lang="en-US" sz="2800" dirty="0" smtClean="0">
                <a:latin typeface="Arial Narrow" pitchFamily="34" charset="0"/>
              </a:rPr>
              <a:t> E.g., we often see flocks of birds or herds of cattle, or boys or girls playing together as one group.</a:t>
            </a:r>
          </a:p>
          <a:p>
            <a:endParaRPr lang="en-US" sz="2800" dirty="0" smtClean="0">
              <a:latin typeface="Arial Narrow" pitchFamily="34" charset="0"/>
            </a:endParaRPr>
          </a:p>
          <a:p>
            <a:endParaRPr lang="en-US" dirty="0"/>
          </a:p>
        </p:txBody>
      </p:sp>
      <p:pic>
        <p:nvPicPr>
          <p:cNvPr id="4" name="Picture 3" descr="F:\aksi 10 November 2010\materi PPK\untuk buletin HMAK\motivasi_1.gif"/>
          <p:cNvPicPr/>
          <p:nvPr/>
        </p:nvPicPr>
        <p:blipFill>
          <a:blip r:embed="rId2" cstate="print"/>
          <a:srcRect/>
          <a:stretch>
            <a:fillRect/>
          </a:stretch>
        </p:blipFill>
        <p:spPr bwMode="auto">
          <a:xfrm>
            <a:off x="762000" y="2667000"/>
            <a:ext cx="6019800" cy="3810000"/>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86800" cy="685800"/>
          </a:xfrm>
        </p:spPr>
        <p:txBody>
          <a:bodyPr>
            <a:normAutofit fontScale="90000"/>
          </a:bodyPr>
          <a:lstStyle/>
          <a:p>
            <a:r>
              <a:rPr lang="en-US" dirty="0"/>
              <a:t>3</a:t>
            </a:r>
            <a:r>
              <a:rPr lang="en-US" dirty="0" smtClean="0"/>
              <a:t>. Depth Perception </a:t>
            </a:r>
            <a:endParaRPr lang="en-US" dirty="0"/>
          </a:p>
        </p:txBody>
      </p:sp>
      <p:sp>
        <p:nvSpPr>
          <p:cNvPr id="3" name="Content Placeholder 2"/>
          <p:cNvSpPr>
            <a:spLocks noGrp="1"/>
          </p:cNvSpPr>
          <p:nvPr>
            <p:ph idx="1"/>
          </p:nvPr>
        </p:nvSpPr>
        <p:spPr>
          <a:xfrm>
            <a:off x="152400" y="990600"/>
            <a:ext cx="8839200" cy="5638800"/>
          </a:xfrm>
        </p:spPr>
        <p:txBody>
          <a:bodyPr>
            <a:normAutofit fontScale="25000" lnSpcReduction="20000"/>
          </a:bodyPr>
          <a:lstStyle/>
          <a:p>
            <a:pPr>
              <a:buNone/>
            </a:pPr>
            <a:r>
              <a:rPr lang="en-US" sz="11200" dirty="0" smtClean="0">
                <a:latin typeface="Arial Narrow" pitchFamily="34" charset="0"/>
              </a:rPr>
              <a:t>While form perception is our understanding of the world from two-dimensions (height &amp; width), depth perception is our judgment of the world from the third dimension (distance or depth </a:t>
            </a:r>
            <a:r>
              <a:rPr lang="en-US" sz="11200" dirty="0">
                <a:latin typeface="Arial Narrow" pitchFamily="34" charset="0"/>
              </a:rPr>
              <a:t>of </a:t>
            </a:r>
            <a:r>
              <a:rPr lang="en-US" sz="11200" dirty="0" smtClean="0">
                <a:latin typeface="Arial Narrow" pitchFamily="34" charset="0"/>
              </a:rPr>
              <a:t>objects)</a:t>
            </a:r>
          </a:p>
          <a:p>
            <a:pPr>
              <a:buNone/>
            </a:pPr>
            <a:r>
              <a:rPr lang="en-US" sz="11200" dirty="0">
                <a:latin typeface="Arial Narrow" pitchFamily="34" charset="0"/>
              </a:rPr>
              <a:t>Depth perception depends on the use </a:t>
            </a:r>
            <a:r>
              <a:rPr lang="en-US" sz="11200" b="1" i="1" dirty="0">
                <a:latin typeface="Arial Narrow" pitchFamily="34" charset="0"/>
              </a:rPr>
              <a:t>binocular </a:t>
            </a:r>
            <a:r>
              <a:rPr lang="en-US" sz="11200" b="1" i="1" dirty="0" smtClean="0">
                <a:latin typeface="Arial Narrow" pitchFamily="34" charset="0"/>
              </a:rPr>
              <a:t>cues (require two eyes)</a:t>
            </a:r>
            <a:r>
              <a:rPr lang="en-US" sz="11200" dirty="0" smtClean="0">
                <a:latin typeface="Arial Narrow" pitchFamily="34" charset="0"/>
              </a:rPr>
              <a:t> &amp; </a:t>
            </a:r>
            <a:r>
              <a:rPr lang="en-US" sz="11200" b="1" i="1" dirty="0" smtClean="0">
                <a:latin typeface="Arial Narrow" pitchFamily="34" charset="0"/>
              </a:rPr>
              <a:t>monocular </a:t>
            </a:r>
            <a:r>
              <a:rPr lang="en-US" sz="11200" b="1" i="1" dirty="0">
                <a:latin typeface="Arial Narrow" pitchFamily="34" charset="0"/>
              </a:rPr>
              <a:t>cues </a:t>
            </a:r>
            <a:r>
              <a:rPr lang="en-US" sz="11200" b="1" i="1" dirty="0" smtClean="0">
                <a:latin typeface="Arial Narrow" pitchFamily="34" charset="0"/>
              </a:rPr>
              <a:t>(require one eye).</a:t>
            </a:r>
          </a:p>
          <a:p>
            <a:pPr>
              <a:buNone/>
            </a:pPr>
            <a:r>
              <a:rPr lang="en-US" sz="11200" dirty="0" smtClean="0">
                <a:latin typeface="Arial Narrow" pitchFamily="34" charset="0"/>
              </a:rPr>
              <a:t>There </a:t>
            </a:r>
            <a:r>
              <a:rPr lang="en-US" sz="11200" dirty="0">
                <a:latin typeface="Arial Narrow" pitchFamily="34" charset="0"/>
              </a:rPr>
              <a:t>are two </a:t>
            </a:r>
            <a:r>
              <a:rPr lang="en-US" sz="11200" dirty="0" smtClean="0">
                <a:latin typeface="Arial Narrow" pitchFamily="34" charset="0"/>
              </a:rPr>
              <a:t>kinds of </a:t>
            </a:r>
            <a:r>
              <a:rPr lang="en-US" sz="11200" dirty="0">
                <a:latin typeface="Arial Narrow" pitchFamily="34" charset="0"/>
              </a:rPr>
              <a:t>binocular cues: </a:t>
            </a:r>
            <a:r>
              <a:rPr lang="en-US" sz="11200" u="sng" dirty="0">
                <a:latin typeface="Arial Narrow" pitchFamily="34" charset="0"/>
              </a:rPr>
              <a:t>retinal disparity </a:t>
            </a:r>
            <a:r>
              <a:rPr lang="en-US" sz="11200" dirty="0">
                <a:latin typeface="Arial Narrow" pitchFamily="34" charset="0"/>
              </a:rPr>
              <a:t>and </a:t>
            </a:r>
            <a:r>
              <a:rPr lang="en-US" sz="11200" u="sng" dirty="0">
                <a:latin typeface="Arial Narrow" pitchFamily="34" charset="0"/>
              </a:rPr>
              <a:t>convergence</a:t>
            </a:r>
            <a:r>
              <a:rPr lang="en-US" sz="11200" dirty="0">
                <a:latin typeface="Arial Narrow" pitchFamily="34" charset="0"/>
              </a:rPr>
              <a:t>. </a:t>
            </a:r>
            <a:r>
              <a:rPr lang="en-US" sz="11200" dirty="0" smtClean="0">
                <a:latin typeface="Arial Narrow" pitchFamily="34" charset="0"/>
              </a:rPr>
              <a:t>The </a:t>
            </a:r>
            <a:r>
              <a:rPr lang="en-US" sz="11200" dirty="0">
                <a:latin typeface="Arial Narrow" pitchFamily="34" charset="0"/>
              </a:rPr>
              <a:t>two kinds of binocular cues </a:t>
            </a:r>
            <a:r>
              <a:rPr lang="en-US" sz="11200" dirty="0" smtClean="0">
                <a:latin typeface="Arial Narrow" pitchFamily="34" charset="0"/>
              </a:rPr>
              <a:t>require the </a:t>
            </a:r>
            <a:r>
              <a:rPr lang="en-US" sz="11200" dirty="0">
                <a:latin typeface="Arial Narrow" pitchFamily="34" charset="0"/>
              </a:rPr>
              <a:t>interaction of both eyes. </a:t>
            </a:r>
            <a:endParaRPr lang="en-US" sz="11200" dirty="0" smtClean="0">
              <a:latin typeface="Arial Narrow" pitchFamily="34" charset="0"/>
            </a:endParaRPr>
          </a:p>
          <a:p>
            <a:pPr>
              <a:buNone/>
            </a:pPr>
            <a:r>
              <a:rPr lang="en-US" sz="11200" b="1" dirty="0" smtClean="0">
                <a:latin typeface="Arial Narrow" pitchFamily="34" charset="0"/>
              </a:rPr>
              <a:t>Retinal </a:t>
            </a:r>
            <a:r>
              <a:rPr lang="en-US" sz="11200" b="1" dirty="0">
                <a:latin typeface="Arial Narrow" pitchFamily="34" charset="0"/>
              </a:rPr>
              <a:t>disparity </a:t>
            </a:r>
            <a:r>
              <a:rPr lang="en-US" sz="11200" dirty="0">
                <a:latin typeface="Arial Narrow" pitchFamily="34" charset="0"/>
              </a:rPr>
              <a:t>is, the </a:t>
            </a:r>
            <a:r>
              <a:rPr lang="en-US" sz="11200" i="1" dirty="0">
                <a:latin typeface="Arial Narrow" pitchFamily="34" charset="0"/>
              </a:rPr>
              <a:t>degree of difference between the </a:t>
            </a:r>
            <a:r>
              <a:rPr lang="en-US" sz="11200" i="1" dirty="0" smtClean="0">
                <a:latin typeface="Arial Narrow" pitchFamily="34" charset="0"/>
              </a:rPr>
              <a:t>image</a:t>
            </a:r>
            <a:r>
              <a:rPr lang="en-US" sz="11200" dirty="0" smtClean="0">
                <a:latin typeface="Arial Narrow" pitchFamily="34" charset="0"/>
              </a:rPr>
              <a:t> of </a:t>
            </a:r>
            <a:r>
              <a:rPr lang="en-US" sz="11200" dirty="0">
                <a:latin typeface="Arial Narrow" pitchFamily="34" charset="0"/>
              </a:rPr>
              <a:t>an object that are focused on the two retinas. </a:t>
            </a:r>
            <a:r>
              <a:rPr lang="en-US" sz="11200" dirty="0" smtClean="0">
                <a:latin typeface="Arial Narrow" pitchFamily="34" charset="0"/>
              </a:rPr>
              <a:t>The </a:t>
            </a:r>
            <a:r>
              <a:rPr lang="en-US" sz="11200" dirty="0">
                <a:latin typeface="Arial Narrow" pitchFamily="34" charset="0"/>
              </a:rPr>
              <a:t>closer the object, the greater is the </a:t>
            </a:r>
            <a:r>
              <a:rPr lang="en-US" sz="11200" dirty="0" smtClean="0">
                <a:latin typeface="Arial Narrow" pitchFamily="34" charset="0"/>
              </a:rPr>
              <a:t>retinal disparity. </a:t>
            </a:r>
          </a:p>
          <a:p>
            <a:pPr>
              <a:buNone/>
            </a:pPr>
            <a:r>
              <a:rPr lang="en-US" sz="11200" b="1" dirty="0" smtClean="0">
                <a:latin typeface="Arial Narrow" pitchFamily="34" charset="0"/>
              </a:rPr>
              <a:t>Convergence </a:t>
            </a:r>
            <a:r>
              <a:rPr lang="en-US" sz="11200" dirty="0" smtClean="0">
                <a:latin typeface="Arial Narrow" pitchFamily="34" charset="0"/>
              </a:rPr>
              <a:t>is</a:t>
            </a:r>
            <a:r>
              <a:rPr lang="en-US" sz="11200" b="1" dirty="0" smtClean="0">
                <a:latin typeface="Arial Narrow" pitchFamily="34" charset="0"/>
              </a:rPr>
              <a:t> </a:t>
            </a:r>
            <a:r>
              <a:rPr lang="en-US" sz="11200" dirty="0">
                <a:latin typeface="Arial Narrow" pitchFamily="34" charset="0"/>
              </a:rPr>
              <a:t>the </a:t>
            </a:r>
            <a:r>
              <a:rPr lang="en-US" sz="11200" i="1" dirty="0">
                <a:latin typeface="Arial Narrow" pitchFamily="34" charset="0"/>
              </a:rPr>
              <a:t>degree to which the eyes turn </a:t>
            </a:r>
            <a:r>
              <a:rPr lang="en-US" sz="11200" i="1" dirty="0" smtClean="0">
                <a:latin typeface="Arial Narrow" pitchFamily="34" charset="0"/>
              </a:rPr>
              <a:t>inward </a:t>
            </a:r>
            <a:r>
              <a:rPr lang="en-US" sz="11200" dirty="0" smtClean="0">
                <a:latin typeface="Arial Narrow" pitchFamily="34" charset="0"/>
              </a:rPr>
              <a:t>to </a:t>
            </a:r>
            <a:r>
              <a:rPr lang="en-US" sz="11200" dirty="0">
                <a:latin typeface="Arial Narrow" pitchFamily="34" charset="0"/>
              </a:rPr>
              <a:t>focus on an object. </a:t>
            </a:r>
            <a:r>
              <a:rPr lang="en-US" sz="11200" dirty="0" smtClean="0">
                <a:latin typeface="Arial Narrow" pitchFamily="34" charset="0"/>
              </a:rPr>
              <a:t>The </a:t>
            </a:r>
            <a:r>
              <a:rPr lang="en-US" sz="11200" dirty="0">
                <a:latin typeface="Arial Narrow" pitchFamily="34" charset="0"/>
              </a:rPr>
              <a:t>closer the objects are the </a:t>
            </a:r>
            <a:r>
              <a:rPr lang="en-US" sz="11200" dirty="0" smtClean="0">
                <a:latin typeface="Arial Narrow" pitchFamily="34" charset="0"/>
              </a:rPr>
              <a:t>greater the </a:t>
            </a:r>
            <a:r>
              <a:rPr lang="en-US" sz="11200" dirty="0">
                <a:latin typeface="Arial Narrow" pitchFamily="34" charset="0"/>
              </a:rPr>
              <a:t>convergence of the eyes.</a:t>
            </a:r>
            <a:r>
              <a:rPr lang="en-US" sz="3300" dirty="0">
                <a:latin typeface="Arial Narrow" pitchFamily="34" charset="0"/>
              </a:rPr>
              <a:t> </a:t>
            </a:r>
            <a:r>
              <a:rPr lang="en-US" sz="2800" dirty="0" smtClean="0"/>
              <a:t/>
            </a:r>
            <a:br>
              <a:rPr lang="en-US" sz="2800" dirty="0" smtClean="0"/>
            </a:br>
            <a:endParaRPr lang="en-US" sz="2800" dirty="0" smtClean="0">
              <a:latin typeface="Arial Narrow" pitchFamily="34" charset="0"/>
            </a:endParaRPr>
          </a:p>
          <a:p>
            <a:pPr>
              <a:buNone/>
            </a:pPr>
            <a:r>
              <a:rPr lang="en-US" sz="2800" dirty="0" smtClean="0"/>
              <a:t/>
            </a:r>
            <a:br>
              <a:rPr lang="en-US" sz="2800" dirty="0" smtClean="0"/>
            </a:br>
            <a:r>
              <a:rPr lang="en-US" sz="2800" dirty="0" smtClean="0">
                <a:latin typeface="Arial Narrow" pitchFamily="34" charset="0"/>
              </a:rPr>
              <a:t> </a:t>
            </a:r>
            <a:r>
              <a:rPr lang="en-US" dirty="0" smtClean="0"/>
              <a:t/>
            </a:r>
            <a:br>
              <a:rPr lang="en-US" dirty="0" smtClean="0"/>
            </a:b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86800" cy="685800"/>
          </a:xfrm>
        </p:spPr>
        <p:txBody>
          <a:bodyPr>
            <a:normAutofit fontScale="90000"/>
          </a:bodyPr>
          <a:lstStyle/>
          <a:p>
            <a:r>
              <a:rPr lang="en-US" b="1" dirty="0"/>
              <a:t>M</a:t>
            </a:r>
            <a:r>
              <a:rPr lang="en-US" b="1" dirty="0" smtClean="0"/>
              <a:t>onocular cues</a:t>
            </a:r>
            <a:endParaRPr lang="en-US" dirty="0"/>
          </a:p>
        </p:txBody>
      </p:sp>
      <p:sp>
        <p:nvSpPr>
          <p:cNvPr id="3" name="Content Placeholder 2"/>
          <p:cNvSpPr>
            <a:spLocks noGrp="1"/>
          </p:cNvSpPr>
          <p:nvPr>
            <p:ph idx="1"/>
          </p:nvPr>
        </p:nvSpPr>
        <p:spPr>
          <a:xfrm>
            <a:off x="228600" y="990600"/>
            <a:ext cx="8763000" cy="5638800"/>
          </a:xfrm>
        </p:spPr>
        <p:txBody>
          <a:bodyPr>
            <a:normAutofit fontScale="25000" lnSpcReduction="20000"/>
          </a:bodyPr>
          <a:lstStyle/>
          <a:p>
            <a:pPr>
              <a:buNone/>
            </a:pPr>
            <a:r>
              <a:rPr lang="en-US" sz="11200" dirty="0" smtClean="0">
                <a:latin typeface="Arial Narrow" pitchFamily="34" charset="0"/>
              </a:rPr>
              <a:t>People </a:t>
            </a:r>
            <a:r>
              <a:rPr lang="en-US" sz="11200" dirty="0">
                <a:latin typeface="Arial Narrow" pitchFamily="34" charset="0"/>
              </a:rPr>
              <a:t>who have lost sight in one eye may still have good depth </a:t>
            </a:r>
            <a:r>
              <a:rPr lang="en-US" sz="11200" dirty="0" smtClean="0">
                <a:latin typeface="Arial Narrow" pitchFamily="34" charset="0"/>
              </a:rPr>
              <a:t>perception with </a:t>
            </a:r>
            <a:r>
              <a:rPr lang="en-US" sz="11200" b="1" dirty="0" smtClean="0">
                <a:latin typeface="Arial Narrow" pitchFamily="34" charset="0"/>
              </a:rPr>
              <a:t>monocular cues, </a:t>
            </a:r>
            <a:r>
              <a:rPr lang="en-US" sz="11200" dirty="0" smtClean="0">
                <a:latin typeface="Arial Narrow" pitchFamily="34" charset="0"/>
              </a:rPr>
              <a:t>mentioned below. </a:t>
            </a:r>
          </a:p>
          <a:p>
            <a:pPr marL="274320" indent="-274320">
              <a:buAutoNum type="alphaUcPeriod"/>
            </a:pPr>
            <a:r>
              <a:rPr lang="en-US" sz="11200" b="1" dirty="0" smtClean="0">
                <a:latin typeface="Arial Narrow" pitchFamily="34" charset="0"/>
              </a:rPr>
              <a:t>Accommodation - </a:t>
            </a:r>
            <a:r>
              <a:rPr lang="en-US" sz="11200" dirty="0" smtClean="0">
                <a:latin typeface="Arial Narrow" pitchFamily="34" charset="0"/>
              </a:rPr>
              <a:t>change </a:t>
            </a:r>
            <a:r>
              <a:rPr lang="en-US" sz="11200" dirty="0">
                <a:latin typeface="Arial Narrow" pitchFamily="34" charset="0"/>
              </a:rPr>
              <a:t>in the shape of the lens that lets </a:t>
            </a:r>
            <a:r>
              <a:rPr lang="en-US" sz="11200" dirty="0" smtClean="0">
                <a:latin typeface="Arial Narrow" pitchFamily="34" charset="0"/>
              </a:rPr>
              <a:t>you  focus </a:t>
            </a:r>
            <a:r>
              <a:rPr lang="en-US" sz="11200" dirty="0">
                <a:latin typeface="Arial Narrow" pitchFamily="34" charset="0"/>
              </a:rPr>
              <a:t>the image of an object on the retina.</a:t>
            </a:r>
            <a:r>
              <a:rPr lang="en-US" sz="11200" dirty="0" smtClean="0">
                <a:latin typeface="Arial Narrow" pitchFamily="34" charset="0"/>
              </a:rPr>
              <a:t> </a:t>
            </a:r>
            <a:r>
              <a:rPr lang="en-US" sz="11200" dirty="0">
                <a:latin typeface="Arial Narrow" pitchFamily="34" charset="0"/>
              </a:rPr>
              <a:t>T</a:t>
            </a:r>
            <a:r>
              <a:rPr lang="en-US" sz="11200" dirty="0" smtClean="0">
                <a:latin typeface="Arial Narrow" pitchFamily="34" charset="0"/>
              </a:rPr>
              <a:t>he closer the object the </a:t>
            </a:r>
            <a:r>
              <a:rPr lang="en-US" sz="11200" dirty="0">
                <a:latin typeface="Arial Narrow" pitchFamily="34" charset="0"/>
              </a:rPr>
              <a:t>greater </a:t>
            </a:r>
            <a:r>
              <a:rPr lang="en-US" sz="11200" dirty="0" smtClean="0">
                <a:latin typeface="Arial Narrow" pitchFamily="34" charset="0"/>
              </a:rPr>
              <a:t>the accommodation </a:t>
            </a:r>
            <a:r>
              <a:rPr lang="en-US" sz="11200" dirty="0">
                <a:latin typeface="Arial Narrow" pitchFamily="34" charset="0"/>
              </a:rPr>
              <a:t>of the </a:t>
            </a:r>
            <a:r>
              <a:rPr lang="en-US" sz="11200" dirty="0" smtClean="0">
                <a:latin typeface="Arial Narrow" pitchFamily="34" charset="0"/>
              </a:rPr>
              <a:t>lens but, prolonged </a:t>
            </a:r>
            <a:r>
              <a:rPr lang="en-US" sz="11200" dirty="0">
                <a:latin typeface="Arial Narrow" pitchFamily="34" charset="0"/>
              </a:rPr>
              <a:t>accommodation can </a:t>
            </a:r>
            <a:r>
              <a:rPr lang="en-US" sz="11200" dirty="0" smtClean="0">
                <a:latin typeface="Arial Narrow" pitchFamily="34" charset="0"/>
              </a:rPr>
              <a:t>alter your </a:t>
            </a:r>
            <a:r>
              <a:rPr lang="en-US" sz="11200" dirty="0">
                <a:latin typeface="Arial Narrow" pitchFamily="34" charset="0"/>
              </a:rPr>
              <a:t>depth perception.</a:t>
            </a:r>
            <a:r>
              <a:rPr lang="en-US" sz="11200" dirty="0" smtClean="0">
                <a:latin typeface="Arial Narrow" pitchFamily="34" charset="0"/>
              </a:rPr>
              <a:t> </a:t>
            </a:r>
          </a:p>
          <a:p>
            <a:pPr marL="274320" indent="-274320">
              <a:buAutoNum type="alphaUcPeriod"/>
            </a:pPr>
            <a:r>
              <a:rPr lang="en-US" sz="11200" b="1" dirty="0" smtClean="0">
                <a:latin typeface="Arial Narrow" pitchFamily="34" charset="0"/>
              </a:rPr>
              <a:t>Motion </a:t>
            </a:r>
            <a:r>
              <a:rPr lang="en-US" sz="11200" b="1" dirty="0">
                <a:latin typeface="Arial Narrow" pitchFamily="34" charset="0"/>
              </a:rPr>
              <a:t>parallax</a:t>
            </a:r>
            <a:r>
              <a:rPr lang="en-US" sz="11200" dirty="0" smtClean="0">
                <a:latin typeface="Arial Narrow" pitchFamily="34" charset="0"/>
              </a:rPr>
              <a:t> - the </a:t>
            </a:r>
            <a:r>
              <a:rPr lang="en-US" sz="11200" dirty="0">
                <a:latin typeface="Arial Narrow" pitchFamily="34" charset="0"/>
              </a:rPr>
              <a:t>tendency to perceive ourselves as </a:t>
            </a:r>
            <a:r>
              <a:rPr lang="en-US" sz="11200" dirty="0" smtClean="0">
                <a:latin typeface="Arial Narrow" pitchFamily="34" charset="0"/>
              </a:rPr>
              <a:t>passing objects </a:t>
            </a:r>
            <a:r>
              <a:rPr lang="en-US" sz="11200" dirty="0">
                <a:latin typeface="Arial Narrow" pitchFamily="34" charset="0"/>
              </a:rPr>
              <a:t>faster when </a:t>
            </a:r>
            <a:r>
              <a:rPr lang="en-US" sz="11200" dirty="0" smtClean="0">
                <a:latin typeface="Arial Narrow" pitchFamily="34" charset="0"/>
              </a:rPr>
              <a:t>objects </a:t>
            </a:r>
            <a:r>
              <a:rPr lang="en-US" sz="11200" dirty="0">
                <a:latin typeface="Arial Narrow" pitchFamily="34" charset="0"/>
              </a:rPr>
              <a:t>are closer to us than when they are farther </a:t>
            </a:r>
            <a:r>
              <a:rPr lang="en-US" sz="11200" dirty="0" smtClean="0">
                <a:latin typeface="Arial Narrow" pitchFamily="34" charset="0"/>
              </a:rPr>
              <a:t>away.</a:t>
            </a:r>
          </a:p>
          <a:p>
            <a:pPr>
              <a:buNone/>
            </a:pPr>
            <a:r>
              <a:rPr lang="en-US" sz="11200" b="1" dirty="0" smtClean="0">
                <a:latin typeface="Arial Narrow" pitchFamily="34" charset="0"/>
              </a:rPr>
              <a:t>C</a:t>
            </a:r>
            <a:r>
              <a:rPr lang="en-US" sz="11200" dirty="0" smtClean="0">
                <a:latin typeface="Arial Narrow" pitchFamily="34" charset="0"/>
              </a:rPr>
              <a:t>. </a:t>
            </a:r>
            <a:r>
              <a:rPr lang="en-US" sz="11200" b="1" dirty="0" smtClean="0">
                <a:latin typeface="Arial Narrow" pitchFamily="34" charset="0"/>
              </a:rPr>
              <a:t>Pictorial cues</a:t>
            </a:r>
            <a:r>
              <a:rPr lang="en-US" sz="11200" dirty="0" smtClean="0">
                <a:latin typeface="Arial Narrow" pitchFamily="34" charset="0"/>
              </a:rPr>
              <a:t> – are cues</a:t>
            </a:r>
            <a:r>
              <a:rPr lang="en-US" sz="11200" b="1" dirty="0" smtClean="0">
                <a:latin typeface="Arial Narrow" pitchFamily="34" charset="0"/>
              </a:rPr>
              <a:t> </a:t>
            </a:r>
            <a:r>
              <a:rPr lang="en-US" sz="11200" dirty="0" smtClean="0">
                <a:latin typeface="Arial Narrow" pitchFamily="34" charset="0"/>
              </a:rPr>
              <a:t>which </a:t>
            </a:r>
            <a:r>
              <a:rPr lang="en-US" sz="11200" dirty="0">
                <a:latin typeface="Arial Narrow" pitchFamily="34" charset="0"/>
              </a:rPr>
              <a:t>artists use them to create</a:t>
            </a:r>
            <a:br>
              <a:rPr lang="en-US" sz="11200" dirty="0">
                <a:latin typeface="Arial Narrow" pitchFamily="34" charset="0"/>
              </a:rPr>
            </a:br>
            <a:r>
              <a:rPr lang="en-US" sz="11200" dirty="0">
                <a:latin typeface="Arial Narrow" pitchFamily="34" charset="0"/>
              </a:rPr>
              <a:t>depth in their drawings and paintings.</a:t>
            </a:r>
            <a:r>
              <a:rPr lang="en-US" sz="11200" dirty="0" smtClean="0">
                <a:latin typeface="Arial Narrow" pitchFamily="34" charset="0"/>
              </a:rPr>
              <a:t> </a:t>
            </a:r>
          </a:p>
          <a:p>
            <a:pPr>
              <a:buNone/>
            </a:pPr>
            <a:r>
              <a:rPr lang="en-US" sz="11200" dirty="0">
                <a:latin typeface="Arial Narrow" pitchFamily="34" charset="0"/>
              </a:rPr>
              <a:t>	</a:t>
            </a:r>
            <a:r>
              <a:rPr lang="en-US" sz="11200" dirty="0" smtClean="0">
                <a:latin typeface="Arial Narrow" pitchFamily="34" charset="0"/>
              </a:rPr>
              <a:t>Pictorial cues </a:t>
            </a:r>
            <a:r>
              <a:rPr lang="en-US" sz="11200" dirty="0">
                <a:latin typeface="Arial Narrow" pitchFamily="34" charset="0"/>
              </a:rPr>
              <a:t>i</a:t>
            </a:r>
            <a:r>
              <a:rPr lang="en-US" sz="11200" dirty="0" smtClean="0">
                <a:latin typeface="Arial Narrow" pitchFamily="34" charset="0"/>
              </a:rPr>
              <a:t>nclude </a:t>
            </a:r>
            <a:r>
              <a:rPr lang="en-US" sz="11200" i="1" dirty="0" smtClean="0">
                <a:latin typeface="Arial Narrow" pitchFamily="34" charset="0"/>
              </a:rPr>
              <a:t>Interposition, Relative size, Linear perspective, Elevation, Shading patterns, Aerial perspective, and Texture gradient </a:t>
            </a:r>
            <a:r>
              <a:rPr lang="en-US" sz="11200" dirty="0" smtClean="0">
                <a:latin typeface="Arial Narrow" pitchFamily="34" charset="0"/>
              </a:rPr>
              <a:t/>
            </a:r>
            <a:br>
              <a:rPr lang="en-US" sz="11200" dirty="0" smtClean="0">
                <a:latin typeface="Arial Narrow" pitchFamily="34" charset="0"/>
              </a:rPr>
            </a:br>
            <a:r>
              <a:rPr lang="en-US" dirty="0" smtClean="0"/>
              <a:t/>
            </a:r>
            <a:br>
              <a:rPr lang="en-US" dirty="0" smtClean="0"/>
            </a:br>
            <a:r>
              <a:rPr lang="en-US" dirty="0" smtClean="0"/>
              <a:t> </a:t>
            </a:r>
            <a:br>
              <a:rPr lang="en-US" dirty="0" smtClean="0"/>
            </a:br>
            <a:r>
              <a:rPr lang="en-US" sz="3600" b="1" dirty="0" smtClean="0">
                <a:latin typeface="Arial Narrow" pitchFamily="34" charset="0"/>
              </a:rPr>
              <a:t> </a:t>
            </a:r>
            <a:r>
              <a:rPr lang="en-US" dirty="0" smtClean="0"/>
              <a:t/>
            </a:r>
            <a:br>
              <a:rPr lang="en-US" dirty="0" smtClean="0"/>
            </a:br>
            <a:endParaRPr lang="en-US" dirty="0" smtClean="0"/>
          </a:p>
          <a:p>
            <a:pPr>
              <a:buNone/>
            </a:pP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09600"/>
          </a:xfrm>
        </p:spPr>
        <p:txBody>
          <a:bodyPr>
            <a:normAutofit fontScale="90000"/>
          </a:bodyPr>
          <a:lstStyle/>
          <a:p>
            <a:r>
              <a:rPr lang="en-US" dirty="0" smtClean="0"/>
              <a:t>.</a:t>
            </a:r>
            <a:endParaRPr lang="en-US" dirty="0"/>
          </a:p>
        </p:txBody>
      </p:sp>
      <p:pic>
        <p:nvPicPr>
          <p:cNvPr id="4" name="Picture 7" descr="0441.jpg                                                       0016F1CAsmeagol                        BB150139:"/>
          <p:cNvPicPr>
            <a:picLocks noGrp="1" noChangeAspect="1" noChangeArrowheads="1"/>
          </p:cNvPicPr>
          <p:nvPr>
            <p:ph idx="1"/>
          </p:nvPr>
        </p:nvPicPr>
        <p:blipFill>
          <a:blip r:embed="rId2"/>
          <a:srcRect/>
          <a:stretch>
            <a:fillRect/>
          </a:stretch>
        </p:blipFill>
        <p:spPr bwMode="auto">
          <a:xfrm>
            <a:off x="457200" y="762001"/>
            <a:ext cx="8382000" cy="4114800"/>
          </a:xfrm>
          <a:prstGeom prst="rect">
            <a:avLst/>
          </a:prstGeom>
          <a:noFill/>
          <a:ln w="9525">
            <a:noFill/>
            <a:miter lim="800000"/>
            <a:headEnd/>
            <a:tailEnd/>
          </a:ln>
        </p:spPr>
      </p:pic>
      <p:sp>
        <p:nvSpPr>
          <p:cNvPr id="5" name="Rectangle 4"/>
          <p:cNvSpPr/>
          <p:nvPr/>
        </p:nvSpPr>
        <p:spPr>
          <a:xfrm>
            <a:off x="381000" y="4953000"/>
            <a:ext cx="8534400" cy="1477328"/>
          </a:xfrm>
          <a:prstGeom prst="rect">
            <a:avLst/>
          </a:prstGeom>
        </p:spPr>
        <p:txBody>
          <a:bodyPr wrap="square">
            <a:spAutoFit/>
          </a:bodyPr>
          <a:lstStyle/>
          <a:p>
            <a:r>
              <a:rPr lang="en-US" altLang="en-US" b="1" dirty="0" smtClean="0"/>
              <a:t>FIGURE 4.41</a:t>
            </a:r>
            <a:r>
              <a:rPr lang="en-US" altLang="en-US" dirty="0" smtClean="0"/>
              <a:t> The apparent motion of objects viewed during travel depends on their distance from the observer. Apparent motion can also be influenced by an observer’s point of fixation. At middle distances, objects closer than the point of fixation appear to move backward; those beyond the point of fixation appear to move forward. Objects at great distances, such as the sun or moon, always appear to move forward. </a:t>
            </a:r>
            <a:endParaRPr lang="en-US"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sz="3100" b="1" dirty="0" smtClean="0">
                <a:latin typeface="Arial Narrow" pitchFamily="34" charset="0"/>
              </a:rPr>
              <a:t>Pictorial cues</a:t>
            </a:r>
            <a:r>
              <a:rPr lang="en-US" sz="3100" dirty="0" smtClean="0">
                <a:latin typeface="Arial Narrow" pitchFamily="34" charset="0"/>
              </a:rPr>
              <a:t> </a:t>
            </a:r>
            <a:r>
              <a:rPr lang="en-US" dirty="0" smtClean="0"/>
              <a:t>…</a:t>
            </a:r>
            <a:endParaRPr lang="en-US" dirty="0"/>
          </a:p>
        </p:txBody>
      </p:sp>
      <p:sp>
        <p:nvSpPr>
          <p:cNvPr id="3" name="Content Placeholder 2"/>
          <p:cNvSpPr>
            <a:spLocks noGrp="1"/>
          </p:cNvSpPr>
          <p:nvPr>
            <p:ph idx="1"/>
          </p:nvPr>
        </p:nvSpPr>
        <p:spPr>
          <a:xfrm>
            <a:off x="152400" y="990600"/>
            <a:ext cx="8839200" cy="5715000"/>
          </a:xfrm>
        </p:spPr>
        <p:txBody>
          <a:bodyPr>
            <a:normAutofit fontScale="25000" lnSpcReduction="20000"/>
          </a:bodyPr>
          <a:lstStyle/>
          <a:p>
            <a:pPr marL="274320" indent="-274320">
              <a:buNone/>
            </a:pPr>
            <a:r>
              <a:rPr lang="en-US" sz="11200" b="1" dirty="0" smtClean="0">
                <a:latin typeface="Arial Narrow" pitchFamily="34" charset="0"/>
              </a:rPr>
              <a:t>A. Interposition: </a:t>
            </a:r>
            <a:r>
              <a:rPr lang="en-US" sz="10400" dirty="0" smtClean="0">
                <a:latin typeface="Arial Narrow" pitchFamily="34" charset="0"/>
              </a:rPr>
              <a:t>object that overlaps another object appears  closer.</a:t>
            </a:r>
          </a:p>
          <a:p>
            <a:pPr marL="274320" indent="-274320">
              <a:buNone/>
            </a:pPr>
            <a:r>
              <a:rPr lang="en-US" sz="11200" b="1" dirty="0" smtClean="0">
                <a:latin typeface="Arial Narrow" pitchFamily="34" charset="0"/>
              </a:rPr>
              <a:t>B. Relative size: </a:t>
            </a:r>
            <a:r>
              <a:rPr lang="en-US" sz="10400" dirty="0" smtClean="0">
                <a:latin typeface="Arial Narrow" pitchFamily="34" charset="0"/>
              </a:rPr>
              <a:t>if two people have the same height and one casts a smaller image on your retina, you will perceive that person as farther away.</a:t>
            </a:r>
          </a:p>
          <a:p>
            <a:pPr marL="274320" indent="-274320">
              <a:buNone/>
            </a:pPr>
            <a:r>
              <a:rPr lang="en-US" sz="11200" b="1" dirty="0" smtClean="0">
                <a:latin typeface="Arial Narrow" pitchFamily="34" charset="0"/>
              </a:rPr>
              <a:t>C. Linear perspective: </a:t>
            </a:r>
            <a:r>
              <a:rPr lang="en-US" sz="10400" dirty="0" smtClean="0">
                <a:latin typeface="Arial Narrow" pitchFamily="34" charset="0"/>
              </a:rPr>
              <a:t>parallel objects seem to get closer as they further away. </a:t>
            </a:r>
          </a:p>
          <a:p>
            <a:pPr marL="274320" indent="-274320">
              <a:buNone/>
            </a:pPr>
            <a:r>
              <a:rPr lang="en-US" sz="11200" b="1" dirty="0" smtClean="0">
                <a:latin typeface="Arial Narrow" pitchFamily="34" charset="0"/>
              </a:rPr>
              <a:t>D.</a:t>
            </a:r>
            <a:r>
              <a:rPr lang="en-US" sz="11200" dirty="0" smtClean="0">
                <a:latin typeface="Arial Narrow" pitchFamily="34" charset="0"/>
              </a:rPr>
              <a:t> </a:t>
            </a:r>
            <a:r>
              <a:rPr lang="en-US" sz="11200" b="1" dirty="0" smtClean="0">
                <a:latin typeface="Arial Narrow" pitchFamily="34" charset="0"/>
              </a:rPr>
              <a:t>Elevation - </a:t>
            </a:r>
            <a:r>
              <a:rPr lang="en-US" sz="11200" dirty="0" smtClean="0">
                <a:latin typeface="Arial Narrow" pitchFamily="34" charset="0"/>
              </a:rPr>
              <a:t>Objects that are higher in your visual field seem to be farther away. If you paint a picture, you create depth by placing more distant objects higher on the Canvas.</a:t>
            </a:r>
          </a:p>
          <a:p>
            <a:pPr marL="274320" indent="-274320">
              <a:buNone/>
            </a:pPr>
            <a:r>
              <a:rPr lang="en-US" sz="11200" b="1" dirty="0" smtClean="0">
                <a:latin typeface="Arial Narrow" pitchFamily="34" charset="0"/>
              </a:rPr>
              <a:t>E.</a:t>
            </a:r>
            <a:r>
              <a:rPr lang="en-US" sz="11200" dirty="0" smtClean="0">
                <a:latin typeface="Arial Narrow" pitchFamily="34" charset="0"/>
              </a:rPr>
              <a:t> </a:t>
            </a:r>
            <a:r>
              <a:rPr lang="en-US" sz="11200" b="1" dirty="0" smtClean="0">
                <a:latin typeface="Arial Narrow" pitchFamily="34" charset="0"/>
              </a:rPr>
              <a:t>Shading patterns: </a:t>
            </a:r>
            <a:r>
              <a:rPr lang="en-US" sz="11200" dirty="0" smtClean="0">
                <a:latin typeface="Arial Narrow" pitchFamily="34" charset="0"/>
              </a:rPr>
              <a:t>areas that are in shadow tend to recede, while areas that are in light tend to stand out. </a:t>
            </a:r>
          </a:p>
          <a:p>
            <a:pPr marL="274320" indent="-274320">
              <a:buNone/>
            </a:pPr>
            <a:r>
              <a:rPr lang="en-US" sz="11200" b="1" dirty="0" smtClean="0">
                <a:latin typeface="Arial Narrow" pitchFamily="34" charset="0"/>
              </a:rPr>
              <a:t>F.</a:t>
            </a:r>
            <a:r>
              <a:rPr lang="en-US" sz="11200" dirty="0" smtClean="0">
                <a:latin typeface="Arial Narrow" pitchFamily="34" charset="0"/>
              </a:rPr>
              <a:t> </a:t>
            </a:r>
            <a:r>
              <a:rPr lang="en-US" sz="11200" b="1" dirty="0" smtClean="0">
                <a:latin typeface="Arial Narrow" pitchFamily="34" charset="0"/>
              </a:rPr>
              <a:t>Aerial perspective (</a:t>
            </a:r>
            <a:r>
              <a:rPr lang="en-US" sz="11200" dirty="0" smtClean="0">
                <a:latin typeface="Arial Narrow" pitchFamily="34" charset="0"/>
              </a:rPr>
              <a:t>clarity of objects): Closer objects seem clearer than more distant ones. </a:t>
            </a:r>
          </a:p>
          <a:p>
            <a:pPr marL="274320" indent="-274320">
              <a:buNone/>
            </a:pPr>
            <a:r>
              <a:rPr lang="en-US" sz="11200" b="1" dirty="0" smtClean="0">
                <a:latin typeface="Arial Narrow" pitchFamily="34" charset="0"/>
              </a:rPr>
              <a:t>G.</a:t>
            </a:r>
            <a:r>
              <a:rPr lang="en-US" sz="11200" dirty="0" smtClean="0">
                <a:latin typeface="Arial Narrow" pitchFamily="34" charset="0"/>
              </a:rPr>
              <a:t> </a:t>
            </a:r>
            <a:r>
              <a:rPr lang="en-US" sz="11200" b="1" dirty="0" smtClean="0">
                <a:latin typeface="Arial Narrow" pitchFamily="34" charset="0"/>
              </a:rPr>
              <a:t>Texture gradient: </a:t>
            </a:r>
            <a:r>
              <a:rPr lang="en-US" sz="10400" dirty="0" smtClean="0">
                <a:latin typeface="Arial Narrow" pitchFamily="34" charset="0"/>
              </a:rPr>
              <a:t>the nearer an object, the more details we can make out &amp; the farther an object, the fewer details we can make out.</a:t>
            </a:r>
            <a:r>
              <a:rPr lang="en-US" sz="9600" dirty="0" smtClean="0">
                <a:latin typeface="Arial Narrow" pitchFamily="34" charset="0"/>
              </a:rPr>
              <a:t/>
            </a:r>
            <a:br>
              <a:rPr lang="en-US" sz="9600" dirty="0" smtClean="0">
                <a:latin typeface="Arial Narrow" pitchFamily="34" charset="0"/>
              </a:rPr>
            </a:br>
            <a:r>
              <a:rPr lang="en-US" dirty="0" smtClean="0"/>
              <a:t> </a:t>
            </a:r>
            <a:br>
              <a:rPr lang="en-US" dirty="0" smtClean="0"/>
            </a:br>
            <a:r>
              <a:rPr lang="en-US" dirty="0" smtClean="0"/>
              <a:t> </a:t>
            </a:r>
            <a:br>
              <a:rPr lang="en-US" dirty="0" smtClean="0"/>
            </a:br>
            <a:r>
              <a:rPr lang="en-US" dirty="0" smtClean="0"/>
              <a:t> </a:t>
            </a:r>
            <a:br>
              <a:rPr lang="en-US" dirty="0" smtClean="0"/>
            </a:b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Picture 7" descr="0438.jpg                                                       0016F1CAsmeagol                        BB150139:"/>
          <p:cNvPicPr>
            <a:picLocks noGrp="1" noChangeAspect="1" noChangeArrowheads="1"/>
          </p:cNvPicPr>
          <p:nvPr>
            <p:ph idx="1"/>
          </p:nvPr>
        </p:nvPicPr>
        <p:blipFill>
          <a:blip r:embed="rId2"/>
          <a:srcRect/>
          <a:stretch>
            <a:fillRect/>
          </a:stretch>
        </p:blipFill>
        <p:spPr bwMode="auto">
          <a:xfrm>
            <a:off x="457200" y="1447800"/>
            <a:ext cx="8229600" cy="3616524"/>
          </a:xfrm>
          <a:prstGeom prst="rect">
            <a:avLst/>
          </a:prstGeom>
          <a:noFill/>
          <a:ln w="9525">
            <a:noFill/>
            <a:miter lim="800000"/>
            <a:headEnd/>
            <a:tailEnd/>
          </a:ln>
        </p:spPr>
      </p:pic>
      <p:sp>
        <p:nvSpPr>
          <p:cNvPr id="5" name="Rectangle 4"/>
          <p:cNvSpPr/>
          <p:nvPr/>
        </p:nvSpPr>
        <p:spPr>
          <a:xfrm>
            <a:off x="533400" y="5029200"/>
            <a:ext cx="8153400" cy="1200329"/>
          </a:xfrm>
          <a:prstGeom prst="rect">
            <a:avLst/>
          </a:prstGeom>
        </p:spPr>
        <p:txBody>
          <a:bodyPr wrap="square">
            <a:spAutoFit/>
          </a:bodyPr>
          <a:lstStyle/>
          <a:p>
            <a:r>
              <a:rPr lang="en-US" altLang="en-US" b="1" dirty="0" smtClean="0"/>
              <a:t>FIGURE4.38</a:t>
            </a:r>
            <a:r>
              <a:rPr lang="en-US" altLang="en-US" dirty="0" smtClean="0"/>
              <a:t> (a) Linear perspective. (b) Relative size. (c) Light and shadow. (d) Overlap. (e) Texture gradients. Drawings in the top row show fairly “pure” examples of each of the pictorial depth cues. In the bottom row, the pictorial depth cues are used to assemble a more realistic scene. </a:t>
            </a:r>
            <a:endParaRPr lang="en-US"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763000" cy="762000"/>
          </a:xfrm>
        </p:spPr>
        <p:txBody>
          <a:bodyPr>
            <a:normAutofit/>
          </a:bodyPr>
          <a:lstStyle/>
          <a:p>
            <a:pPr algn="l"/>
            <a:r>
              <a:rPr lang="en-US" sz="3200" b="1" dirty="0" smtClean="0">
                <a:latin typeface="Arial Narrow" pitchFamily="34" charset="0"/>
              </a:rPr>
              <a:t>4. Perceptual Constancies</a:t>
            </a:r>
            <a:endParaRPr lang="en-US" sz="3200" dirty="0">
              <a:latin typeface="Arial Narrow" pitchFamily="34" charset="0"/>
            </a:endParaRPr>
          </a:p>
        </p:txBody>
      </p:sp>
      <p:sp>
        <p:nvSpPr>
          <p:cNvPr id="3" name="Content Placeholder 2"/>
          <p:cNvSpPr>
            <a:spLocks noGrp="1"/>
          </p:cNvSpPr>
          <p:nvPr>
            <p:ph idx="1"/>
          </p:nvPr>
        </p:nvSpPr>
        <p:spPr>
          <a:xfrm>
            <a:off x="228600" y="990600"/>
            <a:ext cx="8763000" cy="5715000"/>
          </a:xfrm>
        </p:spPr>
        <p:txBody>
          <a:bodyPr>
            <a:normAutofit fontScale="25000" lnSpcReduction="20000"/>
          </a:bodyPr>
          <a:lstStyle/>
          <a:p>
            <a:pPr>
              <a:buNone/>
            </a:pPr>
            <a:r>
              <a:rPr lang="en-US" sz="11200" dirty="0">
                <a:latin typeface="Arial Narrow" pitchFamily="34" charset="0"/>
              </a:rPr>
              <a:t>T</a:t>
            </a:r>
            <a:r>
              <a:rPr lang="en-US" sz="11200" dirty="0" smtClean="0">
                <a:latin typeface="Arial Narrow" pitchFamily="34" charset="0"/>
              </a:rPr>
              <a:t>he </a:t>
            </a:r>
            <a:r>
              <a:rPr lang="en-US" sz="11200" dirty="0">
                <a:latin typeface="Arial Narrow" pitchFamily="34" charset="0"/>
              </a:rPr>
              <a:t>image of a given object focused on your retina may vary in size, shape, and brightness</a:t>
            </a:r>
            <a:r>
              <a:rPr lang="en-US" sz="11200" dirty="0" smtClean="0">
                <a:latin typeface="Arial Narrow" pitchFamily="34" charset="0"/>
              </a:rPr>
              <a:t>. Yet we </a:t>
            </a:r>
            <a:r>
              <a:rPr lang="en-US" sz="11200" dirty="0">
                <a:latin typeface="Arial Narrow" pitchFamily="34" charset="0"/>
              </a:rPr>
              <a:t>continue to perceive the object as stable in size, shape, and brightness because </a:t>
            </a:r>
            <a:r>
              <a:rPr lang="en-US" sz="11200" dirty="0" smtClean="0">
                <a:latin typeface="Arial Narrow" pitchFamily="34" charset="0"/>
              </a:rPr>
              <a:t>of perceptual </a:t>
            </a:r>
            <a:r>
              <a:rPr lang="en-US" sz="11200" dirty="0">
                <a:latin typeface="Arial Narrow" pitchFamily="34" charset="0"/>
              </a:rPr>
              <a:t>constancy. </a:t>
            </a:r>
            <a:endParaRPr lang="en-US" sz="11200" dirty="0" smtClean="0">
              <a:latin typeface="Arial Narrow" pitchFamily="34" charset="0"/>
            </a:endParaRPr>
          </a:p>
          <a:p>
            <a:pPr>
              <a:buNone/>
            </a:pPr>
            <a:r>
              <a:rPr lang="en-US" sz="11200" dirty="0">
                <a:latin typeface="Arial Narrow" pitchFamily="34" charset="0"/>
              </a:rPr>
              <a:t>This </a:t>
            </a:r>
            <a:r>
              <a:rPr lang="en-US" sz="11200" dirty="0" smtClean="0">
                <a:latin typeface="Arial Narrow" pitchFamily="34" charset="0"/>
              </a:rPr>
              <a:t>adaptive process of perceiving the world as stable object includes;</a:t>
            </a:r>
          </a:p>
          <a:p>
            <a:pPr lvl="1">
              <a:buFont typeface="Wingdings" pitchFamily="2" charset="2"/>
              <a:buChar char="§"/>
            </a:pPr>
            <a:r>
              <a:rPr lang="en-US" sz="11200" b="1" dirty="0" smtClean="0">
                <a:latin typeface="Arial Narrow" pitchFamily="34" charset="0"/>
              </a:rPr>
              <a:t>Size constancy </a:t>
            </a:r>
            <a:r>
              <a:rPr lang="en-US" sz="11200" dirty="0" smtClean="0">
                <a:latin typeface="Arial Narrow" pitchFamily="34" charset="0"/>
              </a:rPr>
              <a:t>- </a:t>
            </a:r>
            <a:r>
              <a:rPr lang="en-US" sz="11200" dirty="0">
                <a:latin typeface="Arial Narrow" pitchFamily="34" charset="0"/>
              </a:rPr>
              <a:t>makes you interpret a change in its retinal size as a change in its distance </a:t>
            </a:r>
            <a:r>
              <a:rPr lang="en-US" sz="11200" dirty="0" smtClean="0">
                <a:latin typeface="Arial Narrow" pitchFamily="34" charset="0"/>
              </a:rPr>
              <a:t>rather than in </a:t>
            </a:r>
            <a:r>
              <a:rPr lang="en-US" sz="11200" dirty="0">
                <a:latin typeface="Arial Narrow" pitchFamily="34" charset="0"/>
              </a:rPr>
              <a:t>its size</a:t>
            </a:r>
            <a:r>
              <a:rPr lang="en-US" sz="11200" dirty="0" smtClean="0">
                <a:latin typeface="Arial Narrow" pitchFamily="34" charset="0"/>
              </a:rPr>
              <a:t>.</a:t>
            </a:r>
          </a:p>
          <a:p>
            <a:pPr lvl="1">
              <a:buFont typeface="Wingdings" pitchFamily="2" charset="2"/>
              <a:buChar char="§"/>
            </a:pPr>
            <a:r>
              <a:rPr lang="en-US" sz="11200" b="1" dirty="0">
                <a:latin typeface="Arial Narrow" pitchFamily="34" charset="0"/>
              </a:rPr>
              <a:t>Shape constancy </a:t>
            </a:r>
            <a:r>
              <a:rPr lang="en-US" sz="11200" b="1" dirty="0" smtClean="0">
                <a:latin typeface="Arial Narrow" pitchFamily="34" charset="0"/>
              </a:rPr>
              <a:t>- </a:t>
            </a:r>
            <a:r>
              <a:rPr lang="en-US" sz="11200" dirty="0" smtClean="0">
                <a:latin typeface="Arial Narrow" pitchFamily="34" charset="0"/>
              </a:rPr>
              <a:t>assures </a:t>
            </a:r>
            <a:r>
              <a:rPr lang="en-US" sz="11200" dirty="0">
                <a:latin typeface="Arial Narrow" pitchFamily="34" charset="0"/>
              </a:rPr>
              <a:t>that an object of known shape will appear to maintain its </a:t>
            </a:r>
            <a:r>
              <a:rPr lang="en-US" sz="11200" dirty="0" smtClean="0">
                <a:latin typeface="Arial Narrow" pitchFamily="34" charset="0"/>
              </a:rPr>
              <a:t>normal shape </a:t>
            </a:r>
            <a:r>
              <a:rPr lang="en-US" sz="11200" dirty="0">
                <a:latin typeface="Arial Narrow" pitchFamily="34" charset="0"/>
              </a:rPr>
              <a:t>regardless of the angle from which you view it</a:t>
            </a:r>
            <a:r>
              <a:rPr lang="en-US" sz="11200" dirty="0" smtClean="0">
                <a:latin typeface="Arial Narrow" pitchFamily="34" charset="0"/>
              </a:rPr>
              <a:t>.</a:t>
            </a:r>
          </a:p>
          <a:p>
            <a:pPr lvl="1">
              <a:buFont typeface="Wingdings" pitchFamily="2" charset="2"/>
              <a:buChar char="§"/>
            </a:pPr>
            <a:r>
              <a:rPr lang="en-US" sz="11200" b="1" dirty="0">
                <a:latin typeface="Arial Narrow" pitchFamily="34" charset="0"/>
              </a:rPr>
              <a:t>B</a:t>
            </a:r>
            <a:r>
              <a:rPr lang="en-US" sz="11200" b="1" dirty="0" smtClean="0">
                <a:latin typeface="Arial Narrow" pitchFamily="34" charset="0"/>
              </a:rPr>
              <a:t>rightness constancy - </a:t>
            </a:r>
            <a:r>
              <a:rPr lang="en-US" sz="11200" dirty="0" smtClean="0">
                <a:latin typeface="Arial Narrow" pitchFamily="34" charset="0"/>
              </a:rPr>
              <a:t>we perceive the object as having a constant brightness though </a:t>
            </a:r>
            <a:r>
              <a:rPr lang="en-US" sz="11200" dirty="0">
                <a:latin typeface="Arial Narrow" pitchFamily="34" charset="0"/>
              </a:rPr>
              <a:t>the amount of light reflected from a given object can </a:t>
            </a:r>
            <a:r>
              <a:rPr lang="en-US" sz="11200" dirty="0" smtClean="0">
                <a:latin typeface="Arial Narrow" pitchFamily="34" charset="0"/>
              </a:rPr>
              <a:t>vary. </a:t>
            </a:r>
            <a:r>
              <a:rPr lang="en-US" dirty="0" smtClean="0"/>
              <a:t/>
            </a:r>
            <a:br>
              <a:rPr lang="en-US" dirty="0" smtClean="0"/>
            </a:br>
            <a:r>
              <a:rPr lang="en-US" dirty="0" smtClean="0"/>
              <a:t> </a:t>
            </a:r>
            <a:br>
              <a:rPr lang="en-US" dirty="0" smtClean="0"/>
            </a:br>
            <a:r>
              <a:rPr lang="en-US" dirty="0" smtClean="0"/>
              <a:t> </a:t>
            </a:r>
            <a:br>
              <a:rPr lang="en-US" dirty="0" smtClean="0"/>
            </a:br>
            <a:r>
              <a:rPr lang="en-US" dirty="0" smtClean="0"/>
              <a:t> </a:t>
            </a:r>
            <a:br>
              <a:rPr lang="en-US" dirty="0" smtClean="0"/>
            </a:b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latin typeface="Arial Narrow" pitchFamily="34" charset="0"/>
              </a:rPr>
              <a:t>Size constancy</a:t>
            </a:r>
            <a:endParaRPr lang="en-US" sz="3200" dirty="0">
              <a:latin typeface="Arial Narrow" pitchFamily="34" charset="0"/>
            </a:endParaRPr>
          </a:p>
        </p:txBody>
      </p:sp>
      <p:pic>
        <p:nvPicPr>
          <p:cNvPr id="4" name="Picture 4" descr="SizeConstancy1"/>
          <p:cNvPicPr>
            <a:picLocks noGrp="1" noChangeAspect="1" noChangeArrowheads="1"/>
          </p:cNvPicPr>
          <p:nvPr>
            <p:ph idx="1"/>
          </p:nvPr>
        </p:nvPicPr>
        <p:blipFill>
          <a:blip r:embed="rId2"/>
          <a:srcRect/>
          <a:stretch>
            <a:fillRect/>
          </a:stretch>
        </p:blipFill>
        <p:spPr bwMode="auto">
          <a:xfrm>
            <a:off x="5029200" y="1676400"/>
            <a:ext cx="3600450" cy="4419600"/>
          </a:xfrm>
          <a:prstGeom prst="rect">
            <a:avLst/>
          </a:prstGeom>
          <a:noFill/>
          <a:ln w="9525">
            <a:noFill/>
            <a:miter lim="800000"/>
            <a:headEnd/>
            <a:tailEnd/>
          </a:ln>
        </p:spPr>
      </p:pic>
      <p:pic>
        <p:nvPicPr>
          <p:cNvPr id="5" name="Content Placeholder 3"/>
          <p:cNvPicPr>
            <a:picLocks noChangeAspect="1" noChangeArrowheads="1"/>
          </p:cNvPicPr>
          <p:nvPr/>
        </p:nvPicPr>
        <p:blipFill>
          <a:blip r:embed="rId3"/>
          <a:srcRect/>
          <a:stretch>
            <a:fillRect/>
          </a:stretch>
        </p:blipFill>
        <p:spPr bwMode="auto">
          <a:xfrm>
            <a:off x="457200" y="1676400"/>
            <a:ext cx="4343400" cy="3733800"/>
          </a:xfrm>
          <a:prstGeom prst="rect">
            <a:avLst/>
          </a:prstGeom>
          <a:noFill/>
          <a:ln w="9525">
            <a:noFill/>
            <a:miter lim="800000"/>
            <a:headEnd/>
            <a:tailEnd/>
          </a:ln>
        </p:spPr>
      </p:pic>
      <p:sp>
        <p:nvSpPr>
          <p:cNvPr id="6" name="Rectangle 5"/>
          <p:cNvSpPr/>
          <p:nvPr/>
        </p:nvSpPr>
        <p:spPr>
          <a:xfrm>
            <a:off x="457200" y="5410200"/>
            <a:ext cx="4343400" cy="646331"/>
          </a:xfrm>
          <a:prstGeom prst="rect">
            <a:avLst/>
          </a:prstGeom>
        </p:spPr>
        <p:txBody>
          <a:bodyPr wrap="square">
            <a:spAutoFit/>
          </a:bodyPr>
          <a:lstStyle/>
          <a:p>
            <a:r>
              <a:rPr lang="en-US" altLang="en-US" dirty="0" smtClean="0"/>
              <a:t>We perceive all three doors as rectangles and all three hands as equal in size.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33400"/>
          </a:xfrm>
        </p:spPr>
        <p:txBody>
          <a:bodyPr>
            <a:normAutofit fontScale="90000"/>
          </a:bodyPr>
          <a:lstStyle/>
          <a:p>
            <a:r>
              <a:rPr lang="en-US" dirty="0" smtClean="0"/>
              <a:t>.</a:t>
            </a:r>
            <a:endParaRPr lang="en-US" dirty="0"/>
          </a:p>
        </p:txBody>
      </p:sp>
      <p:pic>
        <p:nvPicPr>
          <p:cNvPr id="4" name="Picture 13" descr="0428.jpg                                                       001DF902Cesare                         BA94C69E:"/>
          <p:cNvPicPr>
            <a:picLocks noGrp="1" noChangeAspect="1" noChangeArrowheads="1"/>
          </p:cNvPicPr>
          <p:nvPr>
            <p:ph idx="1"/>
          </p:nvPr>
        </p:nvPicPr>
        <p:blipFill>
          <a:blip r:embed="rId2"/>
          <a:srcRect/>
          <a:stretch>
            <a:fillRect/>
          </a:stretch>
        </p:blipFill>
        <p:spPr bwMode="auto">
          <a:xfrm>
            <a:off x="304800" y="838200"/>
            <a:ext cx="8229600" cy="4343401"/>
          </a:xfrm>
          <a:prstGeom prst="rect">
            <a:avLst/>
          </a:prstGeom>
          <a:noFill/>
          <a:ln w="9525">
            <a:noFill/>
            <a:miter lim="800000"/>
            <a:headEnd/>
            <a:tailEnd/>
          </a:ln>
        </p:spPr>
      </p:pic>
      <p:sp>
        <p:nvSpPr>
          <p:cNvPr id="5" name="Rectangle 4"/>
          <p:cNvSpPr/>
          <p:nvPr/>
        </p:nvSpPr>
        <p:spPr>
          <a:xfrm>
            <a:off x="304800" y="5181600"/>
            <a:ext cx="8610600" cy="1200329"/>
          </a:xfrm>
          <a:prstGeom prst="rect">
            <a:avLst/>
          </a:prstGeom>
        </p:spPr>
        <p:txBody>
          <a:bodyPr wrap="square">
            <a:spAutoFit/>
          </a:bodyPr>
          <a:lstStyle/>
          <a:p>
            <a:r>
              <a:rPr lang="en-US" altLang="en-US" dirty="0" smtClean="0"/>
              <a:t>Shape constancy. (a) When a door is open, its image actually forms a trapezoid. Shape constancy is indicated by the fact that it is still perceived as a rectangle. (b)With great effort you may be able to see this design as a collection of flat shapes. However, if you maintain shape constancy, the distorted squares strongly suggest the surface of a sphere. </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86800" cy="609600"/>
          </a:xfrm>
        </p:spPr>
        <p:txBody>
          <a:bodyPr>
            <a:normAutofit fontScale="90000"/>
          </a:bodyPr>
          <a:lstStyle/>
          <a:p>
            <a:r>
              <a:rPr lang="en-US" b="1" dirty="0">
                <a:latin typeface="Times New Roman" pitchFamily="18" charset="0"/>
                <a:cs typeface="Times New Roman" pitchFamily="18" charset="0"/>
              </a:rPr>
              <a:t>5.Perceptual </a:t>
            </a:r>
            <a:r>
              <a:rPr lang="en-US" b="1" dirty="0" smtClean="0">
                <a:latin typeface="Times New Roman" pitchFamily="18" charset="0"/>
                <a:cs typeface="Times New Roman" pitchFamily="18" charset="0"/>
              </a:rPr>
              <a:t>Illusion</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228600" y="838200"/>
            <a:ext cx="8763000" cy="5867400"/>
          </a:xfrm>
        </p:spPr>
        <p:txBody>
          <a:bodyPr>
            <a:normAutofit fontScale="25000" lnSpcReduction="20000"/>
          </a:bodyPr>
          <a:lstStyle/>
          <a:p>
            <a:pPr>
              <a:buNone/>
            </a:pPr>
            <a:r>
              <a:rPr lang="en-US" sz="11200" b="1" dirty="0" smtClean="0">
                <a:latin typeface="Arial Narrow" pitchFamily="34" charset="0"/>
                <a:cs typeface="Times New Roman" pitchFamily="18" charset="0"/>
              </a:rPr>
              <a:t>Illusions</a:t>
            </a:r>
            <a:r>
              <a:rPr lang="en-US" sz="11200" b="1" dirty="0" smtClean="0">
                <a:latin typeface="Arial Narrow" pitchFamily="34" charset="0"/>
              </a:rPr>
              <a:t> </a:t>
            </a:r>
            <a:r>
              <a:rPr lang="en-US" sz="11200" dirty="0" smtClean="0">
                <a:latin typeface="Arial Narrow" pitchFamily="34" charset="0"/>
              </a:rPr>
              <a:t>are misperceptions or false perceptions of an object, which include;</a:t>
            </a:r>
          </a:p>
          <a:p>
            <a:r>
              <a:rPr lang="en-US" sz="11200" b="1" dirty="0" smtClean="0">
                <a:latin typeface="Arial Narrow" pitchFamily="34" charset="0"/>
              </a:rPr>
              <a:t>Visual or Optical illusions </a:t>
            </a:r>
            <a:r>
              <a:rPr lang="en-US" sz="11200" dirty="0" smtClean="0">
                <a:latin typeface="Arial Narrow" pitchFamily="34" charset="0"/>
              </a:rPr>
              <a:t>are </a:t>
            </a:r>
            <a:r>
              <a:rPr lang="en-US" sz="11200" dirty="0">
                <a:latin typeface="Arial Narrow" pitchFamily="34" charset="0"/>
              </a:rPr>
              <a:t>physical stimuli that consistently </a:t>
            </a:r>
            <a:r>
              <a:rPr lang="en-US" sz="11200" dirty="0" smtClean="0">
                <a:latin typeface="Arial Narrow" pitchFamily="34" charset="0"/>
              </a:rPr>
              <a:t>produce errors </a:t>
            </a:r>
            <a:r>
              <a:rPr lang="en-US" sz="11200" dirty="0">
                <a:latin typeface="Arial Narrow" pitchFamily="34" charset="0"/>
              </a:rPr>
              <a:t>in perception. </a:t>
            </a:r>
            <a:r>
              <a:rPr lang="en-US" sz="11200" dirty="0" smtClean="0">
                <a:latin typeface="Arial Narrow" pitchFamily="34" charset="0"/>
              </a:rPr>
              <a:t>E.g., Moon illusion and </a:t>
            </a:r>
            <a:r>
              <a:rPr lang="en-US" sz="11200" dirty="0">
                <a:latin typeface="Arial Narrow" pitchFamily="34" charset="0"/>
              </a:rPr>
              <a:t>Muller-</a:t>
            </a:r>
            <a:r>
              <a:rPr lang="en-US" sz="11200" dirty="0" err="1">
                <a:latin typeface="Arial Narrow" pitchFamily="34" charset="0"/>
              </a:rPr>
              <a:t>Lyer</a:t>
            </a:r>
            <a:r>
              <a:rPr lang="en-US" sz="11200" dirty="0">
                <a:latin typeface="Arial Narrow" pitchFamily="34" charset="0"/>
              </a:rPr>
              <a:t> </a:t>
            </a:r>
            <a:r>
              <a:rPr lang="en-US" sz="11200" dirty="0" smtClean="0">
                <a:latin typeface="Arial Narrow" pitchFamily="34" charset="0"/>
              </a:rPr>
              <a:t>illusion on length of lines.</a:t>
            </a:r>
          </a:p>
          <a:p>
            <a:r>
              <a:rPr lang="en-US" sz="11200" dirty="0" smtClean="0">
                <a:latin typeface="Arial Narrow" pitchFamily="34" charset="0"/>
              </a:rPr>
              <a:t>Visual </a:t>
            </a:r>
            <a:r>
              <a:rPr lang="en-US" sz="11200" dirty="0">
                <a:latin typeface="Arial Narrow" pitchFamily="34" charset="0"/>
              </a:rPr>
              <a:t>or </a:t>
            </a:r>
            <a:r>
              <a:rPr lang="en-US" sz="11200" dirty="0" smtClean="0">
                <a:latin typeface="Arial Narrow" pitchFamily="34" charset="0"/>
              </a:rPr>
              <a:t>auditory </a:t>
            </a:r>
            <a:r>
              <a:rPr lang="en-US" sz="11200" b="1" dirty="0">
                <a:latin typeface="Arial Narrow" pitchFamily="34" charset="0"/>
              </a:rPr>
              <a:t>hallucinations </a:t>
            </a:r>
            <a:r>
              <a:rPr lang="en-US" sz="11200" dirty="0">
                <a:latin typeface="Arial Narrow" pitchFamily="34" charset="0"/>
              </a:rPr>
              <a:t>(sensory experiences </a:t>
            </a:r>
            <a:r>
              <a:rPr lang="en-US" sz="11200" dirty="0" smtClean="0">
                <a:latin typeface="Arial Narrow" pitchFamily="34" charset="0"/>
              </a:rPr>
              <a:t>and perceptions that do not </a:t>
            </a:r>
            <a:r>
              <a:rPr lang="en-US" sz="11200" dirty="0">
                <a:latin typeface="Arial Narrow" pitchFamily="34" charset="0"/>
              </a:rPr>
              <a:t>corresponding </a:t>
            </a:r>
            <a:r>
              <a:rPr lang="en-US" sz="11200" dirty="0" smtClean="0">
                <a:latin typeface="Arial Narrow" pitchFamily="34" charset="0"/>
              </a:rPr>
              <a:t>to the reality). </a:t>
            </a:r>
          </a:p>
          <a:p>
            <a:r>
              <a:rPr lang="en-US" sz="11200" b="1" dirty="0" smtClean="0">
                <a:latin typeface="Arial Narrow" pitchFamily="34" charset="0"/>
              </a:rPr>
              <a:t>Delusions </a:t>
            </a:r>
            <a:r>
              <a:rPr lang="en-US" sz="11200" dirty="0" smtClean="0">
                <a:latin typeface="Arial Narrow" pitchFamily="34" charset="0"/>
              </a:rPr>
              <a:t>are unfounded beliefs that are strongly held despite a lack of evidence for them. The three common types are;</a:t>
            </a:r>
          </a:p>
          <a:p>
            <a:pPr lvl="1">
              <a:buFont typeface="Wingdings" pitchFamily="2" charset="2"/>
              <a:buChar char="§"/>
            </a:pPr>
            <a:r>
              <a:rPr lang="en-US" sz="11200" dirty="0" smtClean="0">
                <a:latin typeface="Arial Narrow" pitchFamily="34" charset="0"/>
              </a:rPr>
              <a:t>A </a:t>
            </a:r>
            <a:r>
              <a:rPr lang="en-US" sz="11200" b="1" dirty="0" smtClean="0">
                <a:latin typeface="Arial Narrow" pitchFamily="34" charset="0"/>
              </a:rPr>
              <a:t>delusion of persecution </a:t>
            </a:r>
            <a:r>
              <a:rPr lang="en-US" sz="11200" dirty="0" smtClean="0">
                <a:latin typeface="Arial Narrow" pitchFamily="34" charset="0"/>
              </a:rPr>
              <a:t>is a belief that dangerous enemies are persecuting you. </a:t>
            </a:r>
          </a:p>
          <a:p>
            <a:pPr lvl="1">
              <a:buFont typeface="Wingdings" pitchFamily="2" charset="2"/>
              <a:buChar char="§"/>
            </a:pPr>
            <a:r>
              <a:rPr lang="en-US" sz="11200" dirty="0" smtClean="0">
                <a:latin typeface="Arial Narrow" pitchFamily="34" charset="0"/>
              </a:rPr>
              <a:t>A </a:t>
            </a:r>
            <a:r>
              <a:rPr lang="en-US" sz="11200" b="1" dirty="0" smtClean="0">
                <a:latin typeface="Arial Narrow" pitchFamily="34" charset="0"/>
              </a:rPr>
              <a:t>delusion of grandeur </a:t>
            </a:r>
            <a:r>
              <a:rPr lang="en-US" sz="11200" dirty="0" smtClean="0">
                <a:latin typeface="Arial Narrow" pitchFamily="34" charset="0"/>
              </a:rPr>
              <a:t>is a belief that you are unusually important, perhaps a special messenger from God or a person of central importance to the future of the world. </a:t>
            </a:r>
          </a:p>
          <a:p>
            <a:pPr lvl="1">
              <a:buFont typeface="Wingdings" pitchFamily="2" charset="2"/>
              <a:buChar char="§"/>
            </a:pPr>
            <a:r>
              <a:rPr lang="en-US" sz="11200" dirty="0" smtClean="0">
                <a:latin typeface="Arial Narrow" pitchFamily="34" charset="0"/>
              </a:rPr>
              <a:t>A </a:t>
            </a:r>
            <a:r>
              <a:rPr lang="en-US" sz="11200" b="1" dirty="0" smtClean="0">
                <a:latin typeface="Arial Narrow" pitchFamily="34" charset="0"/>
              </a:rPr>
              <a:t>delusion of reference </a:t>
            </a:r>
            <a:r>
              <a:rPr lang="en-US" sz="11200" dirty="0" smtClean="0">
                <a:latin typeface="Arial Narrow" pitchFamily="34" charset="0"/>
              </a:rPr>
              <a:t>is a tendency to interpret all sorts of messages as if they were meant for yourself. </a:t>
            </a:r>
          </a:p>
          <a:p>
            <a:pPr lvl="1">
              <a:buNone/>
            </a:pPr>
            <a:r>
              <a:rPr lang="en-US" sz="11200" dirty="0" smtClean="0">
                <a:latin typeface="Arial Narrow" pitchFamily="34" charset="0"/>
              </a:rPr>
              <a:t/>
            </a:r>
            <a:br>
              <a:rPr lang="en-US" sz="11200" dirty="0" smtClean="0">
                <a:latin typeface="Arial Narrow" pitchFamily="34" charset="0"/>
              </a:rPr>
            </a:br>
            <a:r>
              <a:rPr lang="en-US" dirty="0" smtClean="0"/>
              <a:t/>
            </a:r>
            <a:br>
              <a:rPr lang="en-US" dirty="0" smtClean="0"/>
            </a:br>
            <a:r>
              <a:rPr lang="en-US" dirty="0" smtClean="0">
                <a:latin typeface="Arial Narrow" pitchFamily="34" charset="0"/>
              </a:rPr>
              <a:t/>
            </a:r>
            <a:br>
              <a:rPr lang="en-US" dirty="0" smtClean="0">
                <a:latin typeface="Arial Narrow" pitchFamily="34" charset="0"/>
              </a:rPr>
            </a:br>
            <a:endParaRPr lang="en-US" dirty="0">
              <a:latin typeface="Arial Narrow"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4"/>
          <p:cNvPicPr>
            <a:picLocks noGrp="1" noChangeAspect="1" noChangeArrowheads="1"/>
          </p:cNvPicPr>
          <p:nvPr>
            <p:ph idx="1"/>
          </p:nvPr>
        </p:nvPicPr>
        <p:blipFill>
          <a:blip r:embed="rId2"/>
          <a:srcRect/>
          <a:stretch>
            <a:fillRect/>
          </a:stretch>
        </p:blipFill>
        <p:spPr bwMode="auto">
          <a:xfrm>
            <a:off x="457200" y="1524000"/>
            <a:ext cx="8229600" cy="4648200"/>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686800" cy="715962"/>
          </a:xfrm>
        </p:spPr>
        <p:txBody>
          <a:bodyPr>
            <a:normAutofit fontScale="90000"/>
          </a:bodyPr>
          <a:lstStyle/>
          <a:p>
            <a:r>
              <a:rPr lang="en-US" sz="3600" b="1" dirty="0" smtClean="0">
                <a:latin typeface="Arial Narrow" pitchFamily="34" charset="0"/>
                <a:cs typeface="Times New Roman" pitchFamily="18" charset="0"/>
              </a:rPr>
              <a:t>Extra Sensory Perception </a:t>
            </a:r>
            <a:r>
              <a:rPr lang="en-US" sz="3600" b="1" dirty="0">
                <a:latin typeface="Arial Narrow" pitchFamily="34" charset="0"/>
                <a:cs typeface="Times New Roman" pitchFamily="18" charset="0"/>
              </a:rPr>
              <a:t>(ESP) or </a:t>
            </a:r>
            <a:r>
              <a:rPr lang="en-US" sz="3600" b="1" dirty="0" smtClean="0">
                <a:latin typeface="Arial Narrow" pitchFamily="34" charset="0"/>
                <a:cs typeface="Times New Roman" pitchFamily="18" charset="0"/>
              </a:rPr>
              <a:t>Paranormal Ability</a:t>
            </a:r>
            <a:endParaRPr lang="en-US" b="1" dirty="0"/>
          </a:p>
        </p:txBody>
      </p:sp>
      <p:sp>
        <p:nvSpPr>
          <p:cNvPr id="3" name="Content Placeholder 2"/>
          <p:cNvSpPr>
            <a:spLocks noGrp="1"/>
          </p:cNvSpPr>
          <p:nvPr>
            <p:ph idx="1"/>
          </p:nvPr>
        </p:nvSpPr>
        <p:spPr>
          <a:xfrm>
            <a:off x="152400" y="1143000"/>
            <a:ext cx="8839200" cy="5486400"/>
          </a:xfrm>
        </p:spPr>
        <p:txBody>
          <a:bodyPr>
            <a:normAutofit fontScale="92500" lnSpcReduction="10000"/>
          </a:bodyPr>
          <a:lstStyle/>
          <a:p>
            <a:pPr>
              <a:buNone/>
            </a:pPr>
            <a:r>
              <a:rPr lang="en-US" sz="3000" dirty="0" smtClean="0">
                <a:latin typeface="Arial Narrow" pitchFamily="34" charset="0"/>
              </a:rPr>
              <a:t>ESP</a:t>
            </a:r>
            <a:r>
              <a:rPr lang="en-US" sz="3000" dirty="0">
                <a:latin typeface="Arial Narrow" pitchFamily="34" charset="0"/>
              </a:rPr>
              <a:t> </a:t>
            </a:r>
            <a:r>
              <a:rPr lang="en-US" sz="3000" dirty="0" smtClean="0">
                <a:latin typeface="Arial Narrow" pitchFamily="34" charset="0"/>
              </a:rPr>
              <a:t>is perception</a:t>
            </a:r>
            <a:r>
              <a:rPr lang="en-US" sz="3000" dirty="0">
                <a:latin typeface="Arial Narrow" pitchFamily="34" charset="0"/>
              </a:rPr>
              <a:t> that occurs independently of the known sensory processes. Usually included in this category of phenomena </a:t>
            </a:r>
            <a:r>
              <a:rPr lang="en-US" sz="3000" dirty="0" smtClean="0">
                <a:latin typeface="Arial Narrow" pitchFamily="34" charset="0"/>
              </a:rPr>
              <a:t>are;</a:t>
            </a:r>
            <a:r>
              <a:rPr lang="en-US" sz="3000" dirty="0">
                <a:latin typeface="Arial Narrow" pitchFamily="34" charset="0"/>
              </a:rPr>
              <a:t> </a:t>
            </a:r>
            <a:endParaRPr lang="en-US" sz="3000" dirty="0" smtClean="0">
              <a:latin typeface="Arial Narrow" pitchFamily="34" charset="0"/>
            </a:endParaRPr>
          </a:p>
          <a:p>
            <a:r>
              <a:rPr lang="en-US" sz="3000" b="1" dirty="0" smtClean="0">
                <a:latin typeface="Arial Narrow" pitchFamily="34" charset="0"/>
              </a:rPr>
              <a:t>Telepathy or </a:t>
            </a:r>
            <a:r>
              <a:rPr lang="en-US" sz="3000" dirty="0" smtClean="0">
                <a:latin typeface="Arial Narrow" pitchFamily="34" charset="0"/>
              </a:rPr>
              <a:t>thought transference between persons - The </a:t>
            </a:r>
            <a:r>
              <a:rPr lang="en-US" sz="3000" dirty="0">
                <a:latin typeface="Arial Narrow" pitchFamily="34" charset="0"/>
              </a:rPr>
              <a:t>ability to read the minds of others &amp;</a:t>
            </a:r>
            <a:r>
              <a:rPr lang="en-US" sz="3000" dirty="0" smtClean="0">
                <a:latin typeface="Arial Narrow" pitchFamily="34" charset="0"/>
              </a:rPr>
              <a:t> </a:t>
            </a:r>
            <a:r>
              <a:rPr lang="en-US" sz="3000" dirty="0">
                <a:latin typeface="Arial Narrow" pitchFamily="34" charset="0"/>
              </a:rPr>
              <a:t>know what they’re thinking</a:t>
            </a:r>
            <a:r>
              <a:rPr lang="en-US" sz="3000" dirty="0" smtClean="0">
                <a:latin typeface="Arial Narrow" pitchFamily="34" charset="0"/>
              </a:rPr>
              <a:t>.</a:t>
            </a:r>
          </a:p>
          <a:p>
            <a:r>
              <a:rPr lang="en-US" sz="3000" b="1" dirty="0" smtClean="0">
                <a:latin typeface="Arial Narrow" pitchFamily="34" charset="0"/>
              </a:rPr>
              <a:t>Clairvoyance</a:t>
            </a:r>
            <a:r>
              <a:rPr lang="en-US" sz="3000" dirty="0" smtClean="0">
                <a:latin typeface="Arial Narrow" pitchFamily="34" charset="0"/>
              </a:rPr>
              <a:t> - The </a:t>
            </a:r>
            <a:r>
              <a:rPr lang="en-US" sz="3000" dirty="0">
                <a:latin typeface="Arial Narrow" pitchFamily="34" charset="0"/>
              </a:rPr>
              <a:t>ability to see events without being physically present. S</a:t>
            </a:r>
            <a:r>
              <a:rPr lang="en-US" sz="3000" dirty="0" smtClean="0">
                <a:latin typeface="Arial Narrow" pitchFamily="34" charset="0"/>
              </a:rPr>
              <a:t>upernormal </a:t>
            </a:r>
            <a:r>
              <a:rPr lang="en-US" sz="3000" dirty="0">
                <a:latin typeface="Arial Narrow" pitchFamily="34" charset="0"/>
              </a:rPr>
              <a:t>awareness of objects or events not necessarily known to </a:t>
            </a:r>
            <a:r>
              <a:rPr lang="en-US" sz="3000" dirty="0" smtClean="0">
                <a:latin typeface="Arial Narrow" pitchFamily="34" charset="0"/>
              </a:rPr>
              <a:t>others; </a:t>
            </a:r>
            <a:r>
              <a:rPr lang="en-US" sz="3000" dirty="0">
                <a:latin typeface="Arial Narrow" pitchFamily="34" charset="0"/>
              </a:rPr>
              <a:t>and </a:t>
            </a:r>
            <a:endParaRPr lang="en-US" sz="3000" dirty="0" smtClean="0">
              <a:latin typeface="Arial Narrow" pitchFamily="34" charset="0"/>
            </a:endParaRPr>
          </a:p>
          <a:p>
            <a:r>
              <a:rPr lang="en-US" sz="3000" b="1" dirty="0" smtClean="0">
                <a:latin typeface="Arial Narrow" pitchFamily="34" charset="0"/>
              </a:rPr>
              <a:t>Precognition - </a:t>
            </a:r>
            <a:r>
              <a:rPr lang="en-US" sz="3000" dirty="0" smtClean="0">
                <a:latin typeface="Arial Narrow" pitchFamily="34" charset="0"/>
              </a:rPr>
              <a:t>The </a:t>
            </a:r>
            <a:r>
              <a:rPr lang="en-US" sz="3000" dirty="0">
                <a:latin typeface="Arial Narrow" pitchFamily="34" charset="0"/>
              </a:rPr>
              <a:t>ability to see into the future</a:t>
            </a:r>
            <a:r>
              <a:rPr lang="en-US" sz="3000" dirty="0" smtClean="0">
                <a:latin typeface="Arial Narrow" pitchFamily="34" charset="0"/>
              </a:rPr>
              <a:t>.</a:t>
            </a:r>
          </a:p>
          <a:p>
            <a:r>
              <a:rPr lang="en-US" sz="3000" b="1" dirty="0" err="1">
                <a:latin typeface="Arial Narrow" pitchFamily="34" charset="0"/>
              </a:rPr>
              <a:t>Mediumship</a:t>
            </a:r>
            <a:r>
              <a:rPr lang="en-US" sz="3000" dirty="0">
                <a:latin typeface="Arial Narrow" pitchFamily="34" charset="0"/>
              </a:rPr>
              <a:t> </a:t>
            </a:r>
            <a:r>
              <a:rPr lang="en-US" sz="3000" dirty="0" smtClean="0">
                <a:latin typeface="Arial Narrow" pitchFamily="34" charset="0"/>
              </a:rPr>
              <a:t>- </a:t>
            </a:r>
            <a:r>
              <a:rPr lang="en-US" sz="3000" dirty="0">
                <a:latin typeface="Arial Narrow" pitchFamily="34" charset="0"/>
              </a:rPr>
              <a:t>T</a:t>
            </a:r>
            <a:r>
              <a:rPr lang="en-US" sz="3000" dirty="0" smtClean="0">
                <a:latin typeface="Arial Narrow" pitchFamily="34" charset="0"/>
              </a:rPr>
              <a:t>he </a:t>
            </a:r>
            <a:r>
              <a:rPr lang="en-US" sz="3000" dirty="0">
                <a:latin typeface="Arial Narrow" pitchFamily="34" charset="0"/>
              </a:rPr>
              <a:t>ability to communicate with spiritual world and talk to the </a:t>
            </a:r>
            <a:r>
              <a:rPr lang="en-US" sz="3000" dirty="0" smtClean="0">
                <a:latin typeface="Arial Narrow" pitchFamily="34" charset="0"/>
              </a:rPr>
              <a:t>deceased.</a:t>
            </a:r>
          </a:p>
          <a:p>
            <a:r>
              <a:rPr lang="en-US" sz="3000" b="1" dirty="0" err="1">
                <a:latin typeface="Arial Narrow" pitchFamily="34" charset="0"/>
              </a:rPr>
              <a:t>Clairgustance</a:t>
            </a:r>
            <a:r>
              <a:rPr lang="en-US" sz="3000" dirty="0">
                <a:latin typeface="Arial Narrow" pitchFamily="34" charset="0"/>
              </a:rPr>
              <a:t> </a:t>
            </a:r>
            <a:r>
              <a:rPr lang="en-US" sz="3000" dirty="0" smtClean="0">
                <a:latin typeface="Arial Narrow" pitchFamily="34" charset="0"/>
              </a:rPr>
              <a:t>- </a:t>
            </a:r>
            <a:r>
              <a:rPr lang="en-US" sz="3000" dirty="0">
                <a:latin typeface="Arial Narrow" pitchFamily="34" charset="0"/>
              </a:rPr>
              <a:t>The paranormal ability to taste a substance without putting it in mouth.</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3904</TotalTime>
  <Words>2214</Words>
  <Application>Microsoft Office PowerPoint</Application>
  <PresentationFormat>On-screen Show (4:3)</PresentationFormat>
  <Paragraphs>137</Paragraphs>
  <Slides>29</Slides>
  <Notes>0</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Office Theme</vt:lpstr>
      <vt:lpstr>Chapter Two: Sensation and Perception</vt:lpstr>
      <vt:lpstr>2.1 Meanings of Sensation and Perception</vt:lpstr>
      <vt:lpstr>2.2 The Sensory Laws</vt:lpstr>
      <vt:lpstr>Slide 4</vt:lpstr>
      <vt:lpstr>Difference threshold</vt:lpstr>
      <vt:lpstr>Sensory Adaptation </vt:lpstr>
      <vt:lpstr>2.3.Perception</vt:lpstr>
      <vt:lpstr>…</vt:lpstr>
      <vt:lpstr> </vt:lpstr>
      <vt:lpstr>Slide 10</vt:lpstr>
      <vt:lpstr>2. Form perception </vt:lpstr>
      <vt:lpstr>What helps us to separate the figure from the ground in our visual perception?</vt:lpstr>
      <vt:lpstr>Some laws of perceptual organization?</vt:lpstr>
      <vt:lpstr>II. Law of similarity </vt:lpstr>
      <vt:lpstr>III. The law of good figure: </vt:lpstr>
      <vt:lpstr>IV. Law of Continuity</vt:lpstr>
      <vt:lpstr>V. Law of closure</vt:lpstr>
      <vt:lpstr>VI. Law of Common Fate</vt:lpstr>
      <vt:lpstr>3. Depth Perception </vt:lpstr>
      <vt:lpstr>Monocular cues</vt:lpstr>
      <vt:lpstr>.</vt:lpstr>
      <vt:lpstr>Pictorial cues …</vt:lpstr>
      <vt:lpstr>Slide 23</vt:lpstr>
      <vt:lpstr>4. Perceptual Constancies</vt:lpstr>
      <vt:lpstr>Size constancy</vt:lpstr>
      <vt:lpstr>.</vt:lpstr>
      <vt:lpstr>5.Perceptual Illusion</vt:lpstr>
      <vt:lpstr>Slide 28</vt:lpstr>
      <vt:lpstr>Extra Sensory Perception (ESP) or Paranormal Ability</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Two: Sensation and Perception</dc:title>
  <dc:creator>user</dc:creator>
  <cp:lastModifiedBy>User</cp:lastModifiedBy>
  <cp:revision>46</cp:revision>
  <dcterms:created xsi:type="dcterms:W3CDTF">2019-10-30T06:13:24Z</dcterms:created>
  <dcterms:modified xsi:type="dcterms:W3CDTF">2019-12-06T18:08:12Z</dcterms:modified>
</cp:coreProperties>
</file>